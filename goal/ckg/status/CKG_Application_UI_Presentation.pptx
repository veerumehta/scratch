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Cultural Knowledge Graph (CKG)</a:t>
            </a:r>
          </a:p>
          <a:p>
            <a:r>
              <a:t>Streamlit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UI Guide - All Tabs and Features</a:t>
            </a:r>
          </a:p>
          <a:p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Dynamic Ontology Generator (DOG) - Cultural Knowledge Graph</a:t>
            </a:r>
          </a:p>
          <a:p>
            <a:pPr/>
            <a:r>
              <a:t>Web-based interface built with Streamlit</a:t>
            </a:r>
          </a:p>
          <a:p>
            <a:pPr/>
            <a:r>
              <a:t>9 main tabs for different functionalities</a:t>
            </a:r>
          </a:p>
          <a:p>
            <a:pPr/>
            <a:r>
              <a:t>Settings page for configuration</a:t>
            </a:r>
          </a:p>
          <a:p>
            <a:pPr/>
            <a:r>
              <a:t>URL: http://44.247.238.121:8501</a:t>
            </a:r>
          </a:p>
          <a:p>
            <a:pPr/>
            <a:r>
              <a:t>Backend: Memory Store (in-memory data) or Neo4j (production)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Bar: Application name, subtitle, and settings button</a:t>
            </a:r>
          </a:p>
          <a:p>
            <a:pPr/>
            <a:r>
              <a:t>Tab Selector: Horizontal radio buttons for 9 main tabs</a:t>
            </a:r>
          </a:p>
          <a:p>
            <a:pPr/>
            <a:r>
              <a:t>Active Domain Indicator: Shows currently selected domain</a:t>
            </a:r>
          </a:p>
          <a:p>
            <a:pPr/>
            <a:r>
              <a:t>Footer: Version information</a:t>
            </a:r>
          </a:p>
          <a:p>
            <a:pPr/>
            <a:r>
              <a:t>Clean, single-page design - no sidebar</a:t>
            </a:r>
          </a:p>
          <a:p>
            <a:pPr/>
            <a:r>
              <a:t>All tabs accessible from main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9 Main 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Upload - Document and data upload interface</a:t>
            </a:r>
          </a:p>
          <a:p>
            <a:pPr/>
            <a:r>
              <a:t>🔗 Ontology - Ontology structure and management</a:t>
            </a:r>
          </a:p>
          <a:p>
            <a:pPr/>
            <a:r>
              <a:t>📋 Proposals - Review and manage proposals</a:t>
            </a:r>
          </a:p>
          <a:p>
            <a:pPr/>
            <a:r>
              <a:t>🕸️ Knowledge Graph - Visualize and explore the graph</a:t>
            </a:r>
          </a:p>
          <a:p>
            <a:pPr/>
            <a:r>
              <a:t>🗣️ Ask - Natural language query interface</a:t>
            </a:r>
          </a:p>
          <a:p>
            <a:pPr/>
            <a:r>
              <a:t>🔍 Query KG - Advanced knowledge graph queries</a:t>
            </a:r>
          </a:p>
          <a:p>
            <a:pPr/>
            <a:r>
              <a:t>💬 Chat - Interactive chat assistant</a:t>
            </a:r>
          </a:p>
          <a:p>
            <a:pPr/>
            <a:r>
              <a:t>📚 Docs - Documentation and guides</a:t>
            </a:r>
          </a:p>
          <a:p>
            <a:pPr/>
            <a:r>
              <a:t>📊 Benchmark - Performance benchmarking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📄 Tab 1: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Upload documents and data files to the system</a:t>
            </a:r>
          </a:p>
          <a:p>
            <a:pPr/>
            <a:r>
              <a:t>Features:</a:t>
            </a:r>
          </a:p>
          <a:p>
            <a:pPr/>
            <a:r>
              <a:t>  • File upload interface (drag &amp; drop or browse)</a:t>
            </a:r>
          </a:p>
          <a:p>
            <a:pPr/>
            <a:r>
              <a:t>  • Supports multiple file formats</a:t>
            </a:r>
          </a:p>
          <a:p>
            <a:pPr/>
            <a:r>
              <a:t>  • Document preprocessing and validation</a:t>
            </a:r>
          </a:p>
          <a:p>
            <a:pPr/>
            <a:r>
              <a:t>  • Status indicators for upload progress</a:t>
            </a:r>
          </a:p>
          <a:p>
            <a:pPr/>
            <a:r>
              <a:t>Use Cases:</a:t>
            </a:r>
          </a:p>
          <a:p>
            <a:pPr/>
            <a:r>
              <a:t>  • Upload cultural compliance rules (CSV)</a:t>
            </a:r>
          </a:p>
          <a:p>
            <a:pPr/>
            <a:r>
              <a:t>  • Upload cultural knowledge criteria (CSV)</a:t>
            </a:r>
          </a:p>
          <a:p>
            <a:pPr/>
            <a:r>
              <a:t>  • Import cross-reference mappings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🔗 Tab 2: Ontology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Manage and view ontology structures</a:t>
            </a:r>
          </a:p>
          <a:p>
            <a:pPr/>
            <a:r>
              <a:t>Features:</a:t>
            </a:r>
          </a:p>
          <a:p>
            <a:pPr/>
            <a:r>
              <a:t>  • View ontology hierarchy</a:t>
            </a:r>
          </a:p>
          <a:p>
            <a:pPr/>
            <a:r>
              <a:t>  • Explore entity relationships</a:t>
            </a:r>
          </a:p>
          <a:p>
            <a:pPr/>
            <a:r>
              <a:t>  • Domain and category organization</a:t>
            </a:r>
          </a:p>
          <a:p>
            <a:pPr/>
            <a:r>
              <a:t>  • Entity type definitions</a:t>
            </a:r>
          </a:p>
          <a:p>
            <a:pPr/>
            <a:r>
              <a:t>Key Ontology Components:</a:t>
            </a:r>
          </a:p>
          <a:p>
            <a:pPr/>
            <a:r>
              <a:t>  • Compliance Rules (484 patterns)</a:t>
            </a:r>
          </a:p>
          <a:p>
            <a:pPr/>
            <a:r>
              <a:t>  • Cultural Criteria (39,520 items)</a:t>
            </a:r>
          </a:p>
          <a:p>
            <a:pPr/>
            <a:r>
              <a:t>  • Cross-references (181 mappings)</a:t>
            </a:r>
          </a:p>
          <a:p>
            <a:pPr/>
            <a:r>
              <a:t>  • Territories (200+), Domains (21)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Tab 3: Proposals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Review and manage knowledge proposals</a:t>
            </a:r>
          </a:p>
          <a:p>
            <a:pPr/>
            <a:r>
              <a:t>Features:</a:t>
            </a:r>
          </a:p>
          <a:p>
            <a:pPr/>
            <a:r>
              <a:t>  • List of pending proposals</a:t>
            </a:r>
          </a:p>
          <a:p>
            <a:pPr/>
            <a:r>
              <a:t>  • Proposal details and metadata</a:t>
            </a:r>
          </a:p>
          <a:p>
            <a:pPr/>
            <a:r>
              <a:t>  • Review and approval workflow</a:t>
            </a:r>
          </a:p>
          <a:p>
            <a:pPr/>
            <a:r>
              <a:t>  • Accept/reject controls</a:t>
            </a:r>
          </a:p>
          <a:p>
            <a:pPr/>
            <a:r>
              <a:t>Proposal Types:</a:t>
            </a:r>
          </a:p>
          <a:p>
            <a:pPr/>
            <a:r>
              <a:t>  • New cultural criteria additions</a:t>
            </a:r>
          </a:p>
          <a:p>
            <a:pPr/>
            <a:r>
              <a:t>  • Compliance pattern updates</a:t>
            </a:r>
          </a:p>
          <a:p>
            <a:pPr/>
            <a:r>
              <a:t>  • Cross-reference modifications</a:t>
            </a:r>
          </a:p>
          <a:p>
            <a:pPr/>
            <a:r>
              <a:t>  • Territory data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🕸️ Tab 4: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Visualize and explore the knowledge graph</a:t>
            </a:r>
          </a:p>
          <a:p>
            <a:pPr/>
            <a:r>
              <a:t>Features:</a:t>
            </a:r>
          </a:p>
          <a:p>
            <a:pPr/>
            <a:r>
              <a:t>  • Interactive graph visualization</a:t>
            </a:r>
          </a:p>
          <a:p>
            <a:pPr/>
            <a:r>
              <a:t>  • Node and edge exploration</a:t>
            </a:r>
          </a:p>
          <a:p>
            <a:pPr/>
            <a:r>
              <a:t>  • Zoom, pan, and filter controls</a:t>
            </a:r>
          </a:p>
          <a:p>
            <a:pPr/>
            <a:r>
              <a:t>  • Relationship path highlighting</a:t>
            </a:r>
          </a:p>
          <a:p>
            <a:pPr/>
            <a:r>
              <a:t>Graph Elements:</a:t>
            </a:r>
          </a:p>
          <a:p>
            <a:pPr/>
            <a:r>
              <a:t>  • Nodes: Territories, Patterns, Criteria, Domains</a:t>
            </a:r>
          </a:p>
          <a:p>
            <a:pPr/>
            <a:r>
              <a:t>  • Edges: Cross-references, compliance links</a:t>
            </a:r>
          </a:p>
          <a:p>
            <a:pPr/>
            <a:r>
              <a:t>  • Color coding by entity type</a:t>
            </a:r>
          </a:p>
          <a:p>
            <a:pPr/>
            <a:r>
              <a:t>  • Interactive tooltips with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🗣️ Tab 5: Ask (Natural Language Query)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Query cultural knowledge using natural language</a:t>
            </a:r>
          </a:p>
          <a:p>
            <a:pPr/>
            <a:r>
              <a:t>Features:</a:t>
            </a:r>
          </a:p>
          <a:p>
            <a:pPr/>
            <a:r>
              <a:t>  • Free-text query input</a:t>
            </a:r>
          </a:p>
          <a:p>
            <a:pPr/>
            <a:r>
              <a:t>  • Automatic territory extraction</a:t>
            </a:r>
          </a:p>
          <a:p>
            <a:pPr/>
            <a:r>
              <a:t>  • Domain detection and routing</a:t>
            </a:r>
          </a:p>
          <a:p>
            <a:pPr/>
            <a:r>
              <a:t>  • Ranked results with relevance scores</a:t>
            </a:r>
          </a:p>
          <a:p>
            <a:pPr/>
            <a:r>
              <a:t>Example Queries:</a:t>
            </a:r>
          </a:p>
          <a:p>
            <a:pPr/>
            <a:r>
              <a:t>  • 'What does red mean in Thailand?'</a:t>
            </a:r>
          </a:p>
          <a:p>
            <a:pPr/>
            <a:r>
              <a:t>  • 'Tell me about Indian wedding traditions'</a:t>
            </a:r>
          </a:p>
          <a:p>
            <a:pPr/>
            <a:r>
              <a:t>  • 'What are the food customs in Japan?'</a:t>
            </a:r>
          </a:p>
          <a:p>
            <a:pPr/>
            <a:r>
              <a:t>Returns: Cultural facts with AI SHOULD/SHOULD NOT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Tab 6: Query KG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Advanced knowledge graph queries</a:t>
            </a:r>
          </a:p>
          <a:p>
            <a:pPr/>
            <a:r>
              <a:t>Features:</a:t>
            </a:r>
          </a:p>
          <a:p>
            <a:pPr/>
            <a:r>
              <a:t>  • Structured query builder</a:t>
            </a:r>
          </a:p>
          <a:p>
            <a:pPr/>
            <a:r>
              <a:t>  • Filter by territory, domain, category</a:t>
            </a:r>
          </a:p>
          <a:p>
            <a:pPr/>
            <a:r>
              <a:t>  • Custom query parameters</a:t>
            </a:r>
          </a:p>
          <a:p>
            <a:pPr/>
            <a:r>
              <a:t>  • Export results functionality</a:t>
            </a:r>
          </a:p>
          <a:p>
            <a:pPr/>
            <a:r>
              <a:t>Query Types:</a:t>
            </a:r>
          </a:p>
          <a:p>
            <a:pPr/>
            <a:r>
              <a:t>  • Compliance pattern lookup</a:t>
            </a:r>
          </a:p>
          <a:p>
            <a:pPr/>
            <a:r>
              <a:t>  • Cultural criteria by domain</a:t>
            </a:r>
          </a:p>
          <a:p>
            <a:pPr/>
            <a:r>
              <a:t>  • Cross-reference exploration</a:t>
            </a:r>
          </a:p>
          <a:p>
            <a:pPr/>
            <a:r>
              <a:t>  • Regulatory requirements by territory</a:t>
            </a:r>
          </a:p>
          <a:p>
            <a:pPr/>
            <a:r>
              <a:t>Output: Detailed results with all metadata fields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💬 Tab 7: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Interactive chat interface with CKG</a:t>
            </a:r>
          </a:p>
          <a:p>
            <a:pPr/>
            <a:r>
              <a:t>Features:</a:t>
            </a:r>
          </a:p>
          <a:p>
            <a:pPr/>
            <a:r>
              <a:t>  • Conversational AI interface</a:t>
            </a:r>
          </a:p>
          <a:p>
            <a:pPr/>
            <a:r>
              <a:t>  • Context-aware responses</a:t>
            </a:r>
          </a:p>
          <a:p>
            <a:pPr/>
            <a:r>
              <a:t>  • Chat history tracking</a:t>
            </a:r>
          </a:p>
          <a:p>
            <a:pPr/>
            <a:r>
              <a:t>  • Multi-turn conversations</a:t>
            </a:r>
          </a:p>
          <a:p>
            <a:pPr/>
            <a:r>
              <a:t>Integration:</a:t>
            </a:r>
          </a:p>
          <a:p>
            <a:pPr/>
            <a:r>
              <a:t>  • Uses MCP (Model Context Protocol)</a:t>
            </a:r>
          </a:p>
          <a:p>
            <a:pPr/>
            <a:r>
              <a:t>  • Calls 8 CKG tools automatically</a:t>
            </a:r>
          </a:p>
          <a:p>
            <a:pPr/>
            <a:r>
              <a:t>  • Smart routing based on query type</a:t>
            </a:r>
          </a:p>
          <a:p>
            <a:pPr/>
            <a:r>
              <a:t>  • Combines compliance and cultural knowledge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Tab 8: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Access documentation and guides</a:t>
            </a:r>
          </a:p>
          <a:p>
            <a:pPr/>
            <a:r>
              <a:t>Features:</a:t>
            </a:r>
          </a:p>
          <a:p>
            <a:pPr/>
            <a:r>
              <a:t>  • User guides and tutorials</a:t>
            </a:r>
          </a:p>
          <a:p>
            <a:pPr/>
            <a:r>
              <a:t>  • API documentation</a:t>
            </a:r>
          </a:p>
          <a:p>
            <a:pPr/>
            <a:r>
              <a:t>  • Integration guides</a:t>
            </a:r>
          </a:p>
          <a:p>
            <a:pPr/>
            <a:r>
              <a:t>  • Best practices</a:t>
            </a:r>
          </a:p>
          <a:p>
            <a:pPr/>
            <a:r>
              <a:t>Documentation Topics:</a:t>
            </a:r>
          </a:p>
          <a:p>
            <a:pPr/>
            <a:r>
              <a:t>  • Getting started guide</a:t>
            </a:r>
          </a:p>
          <a:p>
            <a:pPr/>
            <a:r>
              <a:t>  • Query syntax and examples</a:t>
            </a:r>
          </a:p>
          <a:p>
            <a:pPr/>
            <a:r>
              <a:t>  • MCP tool reference</a:t>
            </a:r>
          </a:p>
          <a:p>
            <a:pPr/>
            <a:r>
              <a:t>  • Data format specifications</a:t>
            </a:r>
          </a:p>
          <a:p>
            <a:pPr/>
            <a:r>
              <a:t>  • Troubleshooting and FAQ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Tab 9: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Run performance benchmarks and tests</a:t>
            </a:r>
          </a:p>
          <a:p>
            <a:pPr/>
            <a:r>
              <a:t>Features:</a:t>
            </a:r>
          </a:p>
          <a:p>
            <a:pPr/>
            <a:r>
              <a:t>  • Query performance testing</a:t>
            </a:r>
          </a:p>
          <a:p>
            <a:pPr/>
            <a:r>
              <a:t>  • Accuracy measurement</a:t>
            </a:r>
          </a:p>
          <a:p>
            <a:pPr/>
            <a:r>
              <a:t>  • Response time tracking</a:t>
            </a:r>
          </a:p>
          <a:p>
            <a:pPr/>
            <a:r>
              <a:t>  • Comparison with baseline</a:t>
            </a:r>
          </a:p>
          <a:p>
            <a:pPr/>
            <a:r>
              <a:t>Benchmark Tests:</a:t>
            </a:r>
          </a:p>
          <a:p>
            <a:pPr/>
            <a:r>
              <a:t>  • Cultural query accuracy (100 questions)</a:t>
            </a:r>
          </a:p>
          <a:p>
            <a:pPr/>
            <a:r>
              <a:t>  • Compliance detection precision</a:t>
            </a:r>
          </a:p>
          <a:p>
            <a:pPr/>
            <a:r>
              <a:t>  • Ranking quality metrics</a:t>
            </a:r>
          </a:p>
          <a:p>
            <a:pPr/>
            <a:r>
              <a:t>  • Performance regression tracking</a:t>
            </a:r>
          </a:p>
          <a:p>
            <a:pPr/>
            <a:r>
              <a:t>Results: Detailed metrics with pass/fail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Settings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Access: Click settings button in top bar (⚙️ domain_name)</a:t>
            </a:r>
          </a:p>
          <a:p>
            <a:pPr/>
            <a:r>
              <a:t>Features:</a:t>
            </a:r>
          </a:p>
          <a:p>
            <a:pPr/>
            <a:r>
              <a:t>  • Domain selection and preferences</a:t>
            </a:r>
          </a:p>
          <a:p>
            <a:pPr/>
            <a:r>
              <a:t>  • Backend configuration (Memory vs Neo4j)</a:t>
            </a:r>
          </a:p>
          <a:p>
            <a:pPr/>
            <a:r>
              <a:t>  • API settings and authentication</a:t>
            </a:r>
          </a:p>
          <a:p>
            <a:pPr/>
            <a:r>
              <a:t>  • Display preferences</a:t>
            </a:r>
          </a:p>
          <a:p>
            <a:pPr/>
            <a:r>
              <a:t>Configuration Options:</a:t>
            </a:r>
          </a:p>
          <a:p>
            <a:pPr/>
            <a:r>
              <a:t>  • Active domain selection</a:t>
            </a:r>
          </a:p>
          <a:p>
            <a:pPr/>
            <a:r>
              <a:t>  • Connection settings</a:t>
            </a:r>
          </a:p>
          <a:p>
            <a:pPr/>
            <a:r>
              <a:t>  • Cache settings</a:t>
            </a:r>
          </a:p>
          <a:p>
            <a:pPr/>
            <a:r>
              <a:t>  • Logging and debug options</a:t>
            </a:r>
          </a:p>
          <a:p>
            <a:pPr/>
            <a:r>
              <a:t>Back button returns to main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📄 Upload Tab - Detailed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File Upload Interface:</a:t>
            </a:r>
          </a:p>
          <a:p>
            <a:r>
              <a:t>• Drag and drop area</a:t>
            </a:r>
          </a:p>
          <a:p>
            <a:r>
              <a:t>• Browse files button</a:t>
            </a:r>
          </a:p>
          <a:p>
            <a:r>
              <a:t>• Multiple file selection</a:t>
            </a:r>
          </a:p>
          <a:p>
            <a:r>
              <a:t>• Progress indicators</a:t>
            </a:r>
          </a:p>
          <a:p/>
          <a:p>
            <a:r>
              <a:t>Supported Formats:</a:t>
            </a:r>
          </a:p>
          <a:p>
            <a:r>
              <a:t>• CSV (compliance, cultural data)</a:t>
            </a:r>
          </a:p>
          <a:p>
            <a:r>
              <a:t>• JSON (configuration, exports)</a:t>
            </a:r>
          </a:p>
          <a:p>
            <a:r>
              <a:t>• Excel (bulk data imports)</a:t>
            </a:r>
          </a:p>
          <a:p>
            <a:r>
              <a:t>• Text files (documentation)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Processing Steps:</a:t>
            </a:r>
          </a:p>
          <a:p>
            <a:r>
              <a:t>1. File validation</a:t>
            </a:r>
          </a:p>
          <a:p>
            <a:r>
              <a:t>2. Format detection</a:t>
            </a:r>
          </a:p>
          <a:p>
            <a:r>
              <a:t>3. Data parsing</a:t>
            </a:r>
          </a:p>
          <a:p>
            <a:r>
              <a:t>4. Schema validation</a:t>
            </a:r>
          </a:p>
          <a:p>
            <a:r>
              <a:t>5. Import to datastore</a:t>
            </a:r>
          </a:p>
          <a:p>
            <a:r>
              <a:t>6. Confirmation message</a:t>
            </a:r>
          </a:p>
          <a:p/>
          <a:p>
            <a:r>
              <a:t>Error Handling:</a:t>
            </a:r>
          </a:p>
          <a:p>
            <a:r>
              <a:t>• Format validation errors</a:t>
            </a:r>
          </a:p>
          <a:p>
            <a:r>
              <a:t>• Schema mismatch warnings</a:t>
            </a:r>
          </a:p>
          <a:p>
            <a:r>
              <a:t>• Duplicate detection</a:t>
            </a:r>
          </a:p>
          <a:p>
            <a:r>
              <a:t>• Rollback on failure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🗣️ Ask Tab - Query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1: Color Symbolism</a:t>
            </a:r>
          </a:p>
          <a:p>
            <a:pPr/>
            <a:r>
              <a:t>  Query: 'What does red mean in Thailand?'</a:t>
            </a:r>
          </a:p>
          <a:p>
            <a:pPr/>
            <a:r>
              <a:t>  Response: Red is Sunday's color (Lord Surya), AI SHOULD NOT apply Western readings</a:t>
            </a:r>
          </a:p>
          <a:p>
            <a:pPr/>
          </a:p>
          <a:p>
            <a:pPr/>
            <a:r>
              <a:t>Example 2: Cultural Customs</a:t>
            </a:r>
          </a:p>
          <a:p>
            <a:pPr/>
            <a:r>
              <a:t>  Query: 'What are Indian wedding traditions?'</a:t>
            </a:r>
          </a:p>
          <a:p>
            <a:pPr/>
            <a:r>
              <a:t>  Response: Multiple results about bridal colors, ceremonies, symbols</a:t>
            </a:r>
          </a:p>
          <a:p>
            <a:pPr/>
          </a:p>
          <a:p>
            <a:pPr/>
            <a:r>
              <a:t>Example 3: Compliance</a:t>
            </a:r>
          </a:p>
          <a:p>
            <a:pPr/>
            <a:r>
              <a:t>  Query: 'Is alcohol content allowed in Saudi Arabia?'</a:t>
            </a:r>
          </a:p>
          <a:p>
            <a:pPr/>
            <a:r>
              <a:t>  Response: Sensitivity level 5 (very high), requires removal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🕸️ Knowledge Graph -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Features:</a:t>
            </a:r>
          </a:p>
          <a:p>
            <a:pPr/>
            <a:r>
              <a:t>  • Click nodes to see details</a:t>
            </a:r>
          </a:p>
          <a:p>
            <a:pPr/>
            <a:r>
              <a:t>  • Drag to reposition</a:t>
            </a:r>
          </a:p>
          <a:p>
            <a:pPr/>
            <a:r>
              <a:t>  • Zoom in/out with mouse wheel</a:t>
            </a:r>
          </a:p>
          <a:p>
            <a:pPr/>
            <a:r>
              <a:t>  • Pan by dragging background</a:t>
            </a:r>
          </a:p>
          <a:p>
            <a:pPr/>
            <a:r>
              <a:t>Visual Encoding:</a:t>
            </a:r>
          </a:p>
          <a:p>
            <a:pPr/>
            <a:r>
              <a:t>  • Node colors = entity types</a:t>
            </a:r>
          </a:p>
          <a:p>
            <a:pPr/>
            <a:r>
              <a:t>  • Node sizes = importance/connections</a:t>
            </a:r>
          </a:p>
          <a:p>
            <a:pPr/>
            <a:r>
              <a:t>  • Edge thickness = relationship strength</a:t>
            </a:r>
          </a:p>
          <a:p>
            <a:pPr/>
            <a:r>
              <a:t>  • Edge colors = relationship types</a:t>
            </a:r>
          </a:p>
          <a:p>
            <a:pPr/>
            <a:r>
              <a:t>Use Cases: Explore compliance → culture links, territory relationships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💬 Chat Tab - 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Input: Type natural language question</a:t>
            </a:r>
          </a:p>
          <a:p>
            <a:pPr/>
            <a:r>
              <a:t>System Processing:</a:t>
            </a:r>
          </a:p>
          <a:p>
            <a:pPr/>
            <a:r>
              <a:t>  1. Route query to appropriate MCP tool</a:t>
            </a:r>
          </a:p>
          <a:p>
            <a:pPr/>
            <a:r>
              <a:t>  2. Execute cultural_query or compliance_check</a:t>
            </a:r>
          </a:p>
          <a:p>
            <a:pPr/>
            <a:r>
              <a:t>  3. Retrieve and rank results</a:t>
            </a:r>
          </a:p>
          <a:p>
            <a:pPr/>
            <a:r>
              <a:t>  4. Format response for chat</a:t>
            </a:r>
          </a:p>
          <a:p>
            <a:pPr/>
            <a:r>
              <a:t>Response: Conversational answer with structured data</a:t>
            </a:r>
          </a:p>
          <a:p>
            <a:pPr/>
            <a:r>
              <a:t>Follow-up: Ask clarifying questions, request more details</a:t>
            </a:r>
          </a:p>
          <a:p>
            <a:pPr/>
            <a:r>
              <a:t>Example: 'Tell me more about Thai color traditions' → 'What about blue?'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Benchmark -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Accuracy Metrics:</a:t>
            </a:r>
          </a:p>
          <a:p>
            <a:pPr/>
            <a:r>
              <a:t>  • Top-1 accuracy (correct answer at position 1)</a:t>
            </a:r>
          </a:p>
          <a:p>
            <a:pPr/>
            <a:r>
              <a:t>  • Top-3 accuracy (correct answer in top 3)</a:t>
            </a:r>
          </a:p>
          <a:p>
            <a:pPr/>
            <a:r>
              <a:t>  • Mean reciprocal rank (average position)</a:t>
            </a:r>
          </a:p>
          <a:p>
            <a:pPr/>
            <a:r>
              <a:t>Performance Metrics:</a:t>
            </a:r>
          </a:p>
          <a:p>
            <a:pPr/>
            <a:r>
              <a:t>  • Average response time (&lt; 100ms target)</a:t>
            </a:r>
          </a:p>
          <a:p>
            <a:pPr/>
            <a:r>
              <a:t>  • 95th percentile latency</a:t>
            </a:r>
          </a:p>
          <a:p>
            <a:pPr/>
            <a:r>
              <a:t>  • Throughput (queries per second)</a:t>
            </a:r>
          </a:p>
          <a:p>
            <a:pPr/>
            <a:r>
              <a:t>Recent Results: 100% accuracy on territory-specific queries after fix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 web application (Python)</a:t>
            </a:r>
          </a:p>
          <a:p>
            <a:pPr/>
            <a:r>
              <a:t>Backend: CKG MCP Server (FastAPI)</a:t>
            </a:r>
          </a:p>
          <a:p>
            <a:pPr/>
            <a:r>
              <a:t>Data Storage:</a:t>
            </a:r>
          </a:p>
          <a:p>
            <a:pPr/>
            <a:r>
              <a:t>  • Memory Store: In-memory (dev/testing)</a:t>
            </a:r>
          </a:p>
          <a:p>
            <a:pPr/>
            <a:r>
              <a:t>  • Neo4j Store: Graph database (production)</a:t>
            </a:r>
          </a:p>
          <a:p>
            <a:pPr/>
            <a:r>
              <a:t>Integration: MCP (Model Context Protocol) - 8 tools</a:t>
            </a:r>
          </a:p>
          <a:p>
            <a:pPr/>
            <a:r>
              <a:t>Deployment: AWS EC2, port 8501 (Streamlit), port 8000 (MCP)</a:t>
            </a:r>
          </a:p>
          <a:p>
            <a:pPr/>
            <a:r>
              <a:t>Performance: &lt;100ms average query response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(Model Context Protocol) - 8 Cultural Intelligence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MCP?</a:t>
            </a:r>
          </a:p>
          <a:p>
            <a:pPr/>
            <a:r>
              <a:t>  • Anthropic's standard for AI tool integration</a:t>
            </a:r>
          </a:p>
          <a:p>
            <a:pPr/>
            <a:r>
              <a:t>  • Enables Claude and other LLMs to use CKG capabilities</a:t>
            </a:r>
          </a:p>
          <a:p>
            <a:pPr/>
            <a:r>
              <a:t>  • HTTP/SSE transport via FastAPI</a:t>
            </a:r>
          </a:p>
          <a:p>
            <a:pPr/>
            <a:r>
              <a:t>The 8 Tools:</a:t>
            </a:r>
          </a:p>
          <a:p>
            <a:pPr/>
            <a:r>
              <a:t>  1. compliance_check - Detect content compliance issues</a:t>
            </a:r>
          </a:p>
          <a:p>
            <a:pPr/>
            <a:r>
              <a:t>  2. cultural_guidance - Flagship dual-path engine</a:t>
            </a:r>
          </a:p>
          <a:p>
            <a:pPr/>
            <a:r>
              <a:t>  3. regulatory_check - Territory regulations lookup</a:t>
            </a:r>
          </a:p>
          <a:p>
            <a:pPr/>
            <a:r>
              <a:t>  4. cultural_context - Cultural briefing (no content eval)</a:t>
            </a:r>
          </a:p>
          <a:p>
            <a:pPr/>
            <a:r>
              <a:t>  5. cultural_lookup - Direct knowledge retrieval</a:t>
            </a:r>
          </a:p>
          <a:p>
            <a:pPr/>
            <a:r>
              <a:t>  6. cultural_query - Natural language interface</a:t>
            </a:r>
          </a:p>
          <a:p>
            <a:pPr/>
            <a:r>
              <a:t>  7. smart_query - Auto-routing entry point</a:t>
            </a:r>
          </a:p>
          <a:p>
            <a:pPr/>
            <a:r>
              <a:t>  8. get_metadata - Configuration and constants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Tools: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compliance_check</a:t>
            </a:r>
          </a:p>
          <a:p>
            <a:r>
              <a:t>• Scans text for sensitive patterns</a:t>
            </a:r>
          </a:p>
          <a:p>
            <a:r>
              <a:t>• Returns per-territory sensitivity scores (0-10)</a:t>
            </a:r>
          </a:p>
          <a:p>
            <a:r>
              <a:t>• Identifies required modifications</a:t>
            </a:r>
          </a:p>
          <a:p>
            <a:r>
              <a:t>• Groups territories by action</a:t>
            </a:r>
          </a:p>
          <a:p/>
          <a:p>
            <a:r>
              <a:t>Input:</a:t>
            </a:r>
          </a:p>
          <a:p>
            <a:r>
              <a:t>• content_text (max 10,000 chars)</a:t>
            </a:r>
          </a:p>
          <a:p>
            <a:r>
              <a:t>• territories (ISO codes)</a:t>
            </a:r>
          </a:p>
          <a:p>
            <a:r>
              <a:t>• audience_level (1-5)</a:t>
            </a:r>
          </a:p>
          <a:p/>
          <a:p>
            <a:r>
              <a:t>Example:</a:t>
            </a:r>
          </a:p>
          <a:p>
            <a:r>
              <a:t>"Beer advertisement" in ["SA", "AE", "US"]</a:t>
            </a:r>
          </a:p>
          <a:p>
            <a:r>
              <a:t>→ SA: prohibit (sensitivity 5)</a:t>
            </a:r>
          </a:p>
          <a:p>
            <a:r>
              <a:t>→ AE: restrict (sensitivity 4)</a:t>
            </a:r>
          </a:p>
          <a:p>
            <a:r>
              <a:t>→ US: allow (sensitivity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cultural_guidance (FLAGSHIP)</a:t>
            </a:r>
          </a:p>
          <a:p>
            <a:r>
              <a:t>• Dual-path parallel engine</a:t>
            </a:r>
          </a:p>
          <a:p>
            <a:r>
              <a:t>• Path A: Pattern → cultural cross-ref</a:t>
            </a:r>
          </a:p>
          <a:p>
            <a:r>
              <a:t>• Path B: Context → domain routing</a:t>
            </a:r>
          </a:p>
          <a:p>
            <a:r>
              <a:t>• Runs in parallel via asyncio</a:t>
            </a:r>
          </a:p>
          <a:p/>
          <a:p>
            <a:r>
              <a:t>Output:</a:t>
            </a:r>
          </a:p>
          <a:p>
            <a:r>
              <a:t>• Compliance triggers detected</a:t>
            </a:r>
          </a:p>
          <a:p>
            <a:r>
              <a:t>• Cultural considerations (dos/don'ts)</a:t>
            </a:r>
          </a:p>
          <a:p>
            <a:r>
              <a:t>• Content ratings by territory</a:t>
            </a:r>
          </a:p>
          <a:p>
            <a:r>
              <a:t>• Regulatory overrides</a:t>
            </a:r>
          </a:p>
          <a:p/>
          <a:p>
            <a:r>
              <a:t>Key Innovation:</a:t>
            </a:r>
          </a:p>
          <a:p>
            <a:r>
              <a:t>Balanced round-robin selection</a:t>
            </a:r>
          </a:p>
          <a:p>
            <a:r>
              <a:t>ensures diverse domain coverage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Tools: Knowledge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regulatory_check</a:t>
            </a:r>
          </a:p>
          <a:p>
            <a:r>
              <a:t>• Lookup regulations by territory</a:t>
            </a:r>
          </a:p>
          <a:p>
            <a:r>
              <a:t>• Filter by category (alcohol, nudity, etc.)</a:t>
            </a:r>
          </a:p>
          <a:p>
            <a:r>
              <a:t>• Returns requirements and age ratings</a:t>
            </a:r>
          </a:p>
          <a:p/>
          <a:p>
            <a:r>
              <a:t>Example:</a:t>
            </a:r>
          </a:p>
          <a:p>
            <a:r>
              <a:t>regulatory_check("SA", ["alcohol"])</a:t>
            </a:r>
          </a:p>
          <a:p>
            <a:r>
              <a:t>→ Requirement: Complete prohibition</a:t>
            </a:r>
          </a:p>
          <a:p>
            <a:r>
              <a:t>→ Override sensitivity: Yes</a:t>
            </a:r>
          </a:p>
          <a:p>
            <a:r>
              <a:t>→ Applies to: All audiences</a:t>
            </a:r>
          </a:p>
          <a:p/>
          <a:p>
            <a:r>
              <a:t>4. cultural_context</a:t>
            </a:r>
          </a:p>
          <a:p>
            <a:r>
              <a:t>• Cultural briefing without content eval</a:t>
            </a:r>
          </a:p>
          <a:p>
            <a:r>
              <a:t>• Uses hybrid context classifier</a:t>
            </a:r>
          </a:p>
          <a:p>
            <a:r>
              <a:t>• Routes to relevant domains</a:t>
            </a:r>
          </a:p>
          <a:p/>
          <a:p>
            <a:r>
              <a:t>Example:</a:t>
            </a:r>
          </a:p>
          <a:p>
            <a:r>
              <a:t>cultural_context("JP", "business meeting")</a:t>
            </a:r>
          </a:p>
          <a:p>
            <a:r>
              <a:t>→ Returns etiquette, hierarchy, gift-giving norms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cultural_lookup</a:t>
            </a:r>
          </a:p>
          <a:p>
            <a:r>
              <a:t>• Direct database search</a:t>
            </a:r>
          </a:p>
          <a:p>
            <a:r>
              <a:t>• Structured query (fast, programmatic)</a:t>
            </a:r>
          </a:p>
          <a:p>
            <a:r>
              <a:t>• Filter by territory + domain + keyword</a:t>
            </a:r>
          </a:p>
          <a:p/>
          <a:p>
            <a:r>
              <a:t>Example:</a:t>
            </a:r>
          </a:p>
          <a:p>
            <a:r>
              <a:t>cultural_lookup(</a:t>
            </a:r>
          </a:p>
          <a:p>
            <a:r>
              <a:t>  territory="JP",</a:t>
            </a:r>
          </a:p>
          <a:p>
            <a:r>
              <a:t>  domain="Colors",</a:t>
            </a:r>
          </a:p>
          <a:p>
            <a:r>
              <a:t>  keyword="white"</a:t>
            </a:r>
          </a:p>
          <a:p>
            <a:r>
              <a:t>)</a:t>
            </a:r>
          </a:p>
          <a:p>
            <a:r>
              <a:t>→ Returns white color meaning in Japan</a:t>
            </a:r>
          </a:p>
          <a:p/>
          <a:p>
            <a:r>
              <a:t>Use Case:</a:t>
            </a:r>
          </a:p>
          <a:p>
            <a:r>
              <a:t>Best for API integrations and</a:t>
            </a:r>
          </a:p>
          <a:p>
            <a:r>
              <a:t>precise programmatic queries</a:t>
            </a:r>
          </a:p>
          <a:p>
            <a:r>
              <a:t>when you know exact parameters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Tools: Natural Language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cultural_query (Recommended for Questions)</a:t>
            </a:r>
          </a:p>
          <a:p>
            <a:pPr/>
            <a:r>
              <a:t>  • Natural language interface with auto-extraction</a:t>
            </a:r>
          </a:p>
          <a:p>
            <a:pPr/>
            <a:r>
              <a:t>  • Extracts territory, domain, keywords from query</a:t>
            </a:r>
          </a:p>
          <a:p>
            <a:pPr/>
            <a:r>
              <a:t>  • Ranks results by relevance with dimension-aware scoring</a:t>
            </a:r>
          </a:p>
          <a:p>
            <a:pPr/>
            <a:r>
              <a:t>  • Configurable sensitivity parameter (0.0 = strict, 1.0 = loose)</a:t>
            </a:r>
          </a:p>
          <a:p>
            <a:pPr/>
          </a:p>
          <a:p>
            <a:pPr/>
            <a:r>
              <a:t>7. smart_query (Auto-Router for Chat)</a:t>
            </a:r>
          </a:p>
          <a:p>
            <a:pPr/>
            <a:r>
              <a:t>  • Intelligent entry point that detects intent</a:t>
            </a:r>
          </a:p>
          <a:p>
            <a:pPr/>
            <a:r>
              <a:t>  • Routes to appropriate tool automatically</a:t>
            </a:r>
          </a:p>
          <a:p>
            <a:pPr/>
            <a:r>
              <a:t>  • Best for chat interfaces and conversational AI</a:t>
            </a:r>
          </a:p>
          <a:p>
            <a:pPr/>
            <a:r>
              <a:t>  Routing Logic:</a:t>
            </a:r>
          </a:p>
          <a:p>
            <a:pPr/>
            <a:r>
              <a:t>    - Content provided → compliance_check</a:t>
            </a:r>
          </a:p>
          <a:p>
            <a:pPr/>
            <a:r>
              <a:t>    - Regulatory keywords → regulatory_check</a:t>
            </a:r>
          </a:p>
          <a:p>
            <a:pPr/>
            <a:r>
              <a:t>    - Cultural question → cultural_query</a:t>
            </a:r>
          </a:p>
          <a:p>
            <a:pPr/>
            <a:r>
              <a:t>    - General question → cultural_query (fallback)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 Usage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cultural_query("What does red mean in China?")</a:t>
            </a:r>
          </a:p>
          <a:p>
            <a:pPr/>
            <a:r>
              <a:t>  → Extracts: territory="China", domain="Colors", keywords=["red", "mean"]</a:t>
            </a:r>
          </a:p>
          <a:p>
            <a:pPr/>
            <a:r>
              <a:t>  → Returns: Red symbolizes luck, joy, prosperity (ranked results)</a:t>
            </a:r>
          </a:p>
          <a:p>
            <a:pPr/>
          </a:p>
          <a:p>
            <a:pPr/>
            <a:r>
              <a:t>smart_query("Is it rude to tip in Japan?")</a:t>
            </a:r>
          </a:p>
          <a:p>
            <a:pPr/>
            <a:r>
              <a:t>  → Detects: question + cultural indicator</a:t>
            </a:r>
          </a:p>
          <a:p>
            <a:pPr/>
            <a:r>
              <a:t>  → Routes to: cultural_query</a:t>
            </a:r>
          </a:p>
          <a:p>
            <a:pPr/>
            <a:r>
              <a:t>  → Returns: Tipping not customary, can be confusing or offensive</a:t>
            </a:r>
          </a:p>
          <a:p>
            <a:pPr/>
          </a:p>
          <a:p>
            <a:pPr/>
            <a:r>
              <a:t>compliance_check("Beer party scene", territories=["SA", "AE"])</a:t>
            </a:r>
          </a:p>
          <a:p>
            <a:pPr/>
            <a:r>
              <a:t>  → Detects: alcohol pattern</a:t>
            </a:r>
          </a:p>
          <a:p>
            <a:pPr/>
            <a:r>
              <a:t>  → Returns: SA=prohibit (sensitivity 5), AE=restrict (sensitivity 4)</a:t>
            </a:r>
          </a:p>
          <a:p>
            <a:pPr/>
          </a:p>
          <a:p>
            <a:pPr/>
            <a:r>
              <a:t>All tools return JSON with request_id and processing_time_ms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MCP Tools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Query: "What does red mean in China?"</a:t>
            </a:r>
          </a:p>
          <a:p>
            <a:pPr/>
            <a:r>
              <a:t>  ↓</a:t>
            </a:r>
          </a:p>
          <a:p>
            <a:pPr/>
            <a:r>
              <a:t>smart_query (auto-router)</a:t>
            </a:r>
          </a:p>
          <a:p>
            <a:pPr/>
            <a:r>
              <a:t>  ↓ detects: question + cultural indicator</a:t>
            </a:r>
          </a:p>
          <a:p>
            <a:pPr/>
            <a:r>
              <a:t>  ↓ routes to:</a:t>
            </a:r>
          </a:p>
          <a:p>
            <a:pPr/>
            <a:r>
              <a:t>cultural_query</a:t>
            </a:r>
          </a:p>
          <a:p>
            <a:pPr/>
            <a:r>
              <a:t>  ↓ extracts: territory='China', domain='Colors', keywords=['red', 'mean']</a:t>
            </a:r>
          </a:p>
          <a:p>
            <a:pPr/>
            <a:r>
              <a:t>  ↓ calls:</a:t>
            </a:r>
          </a:p>
          <a:p>
            <a:pPr/>
            <a:r>
              <a:t>cultural_lookup(territory='China', domain='Colors', keyword='red')</a:t>
            </a:r>
          </a:p>
          <a:p>
            <a:pPr/>
            <a:r>
              <a:t>  ↓ ranks results using dimension-aware scoring</a:t>
            </a:r>
          </a:p>
          <a:p>
            <a:pPr/>
            <a:r>
              <a:t>  ↓ filters by sensitivity threshold</a:t>
            </a:r>
          </a:p>
          <a:p>
            <a:pPr/>
            <a:r>
              <a:t>  ↓</a:t>
            </a:r>
          </a:p>
          <a:p>
            <a:pPr/>
            <a:r>
              <a:t>Final Output: Ranked cultural facts with AI SHOULD/SHOULD NOT guidance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 in MCP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Dual-Path Parallel Processing (cultural_guidance)</a:t>
            </a:r>
          </a:p>
          <a:p>
            <a:pPr/>
            <a:r>
              <a:t>  • Path A + Path B run concurrently via asyncio.gather()</a:t>
            </a:r>
          </a:p>
          <a:p>
            <a:pPr/>
            <a:r>
              <a:t>  • 30-50% faster than sequential processing</a:t>
            </a:r>
          </a:p>
          <a:p>
            <a:pPr/>
          </a:p>
          <a:p>
            <a:pPr/>
            <a:r>
              <a:t>2. Hybrid Context Classifier</a:t>
            </a:r>
          </a:p>
          <a:p>
            <a:pPr/>
            <a:r>
              <a:t>  • Classifies text into cultural domains</a:t>
            </a:r>
          </a:p>
          <a:p>
            <a:pPr/>
            <a:r>
              <a:t>  • Powers Path B routing in cultural_guidance and cultural_context</a:t>
            </a:r>
          </a:p>
          <a:p>
            <a:pPr/>
          </a:p>
          <a:p>
            <a:pPr/>
            <a:r>
              <a:t>3. Relevance Ranking with Dimension-Aware Scoring</a:t>
            </a:r>
          </a:p>
          <a:p>
            <a:pPr/>
            <a:r>
              <a:t>  • New in commits 9316177 and da20edd</a:t>
            </a:r>
          </a:p>
          <a:p>
            <a:pPr/>
            <a:r>
              <a:t>  • Scores by keyword matches + dimension specificity</a:t>
            </a:r>
          </a:p>
          <a:p>
            <a:pPr/>
            <a:r>
              <a:t>  • Configurable sensitivity thresholds</a:t>
            </a:r>
          </a:p>
          <a:p>
            <a:pPr/>
          </a:p>
          <a:p>
            <a:pPr/>
            <a:r>
              <a:t>4. Territory &amp; Domain Auto-Extraction</a:t>
            </a:r>
          </a:p>
          <a:p>
            <a:pPr/>
            <a:r>
              <a:t>  • Handles aliases: 'Japanese' → 'JP', 'Saudi Arabia' → 'SA'</a:t>
            </a:r>
          </a:p>
          <a:p>
            <a:pPr/>
            <a:r>
              <a:t>  • Detects 21 cultural domains from natural language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MCP Tool Should I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Interface? → smart_query (auto-routing)</a:t>
            </a:r>
          </a:p>
          <a:p>
            <a:pPr/>
          </a:p>
          <a:p>
            <a:pPr/>
            <a:r>
              <a:t>Natural Language Question? → cultural_query</a:t>
            </a:r>
          </a:p>
          <a:p>
            <a:pPr/>
            <a:r>
              <a:t>  Example: 'What does red mean in Thailand?'</a:t>
            </a:r>
          </a:p>
          <a:p>
            <a:pPr/>
          </a:p>
          <a:p>
            <a:pPr/>
            <a:r>
              <a:t>Content Compliance Check? → compliance_check or cultural_guidance</a:t>
            </a:r>
          </a:p>
          <a:p>
            <a:pPr/>
            <a:r>
              <a:t>  Example: Check ad copy for multiple territories</a:t>
            </a:r>
          </a:p>
          <a:p>
            <a:pPr/>
          </a:p>
          <a:p>
            <a:pPr/>
            <a:r>
              <a:t>Territory Regulations? → regulatory_check</a:t>
            </a:r>
          </a:p>
          <a:p>
            <a:pPr/>
            <a:r>
              <a:t>  Example: Alcohol laws in Saudi Arabia</a:t>
            </a:r>
          </a:p>
          <a:p>
            <a:pPr/>
          </a:p>
          <a:p>
            <a:pPr/>
            <a:r>
              <a:t>Structured API Query? → cultural_lookup</a:t>
            </a:r>
          </a:p>
          <a:p>
            <a:pPr/>
            <a:r>
              <a:t>  Example: territory='JP', domain='Colors', keyword='white'</a:t>
            </a:r>
          </a:p>
          <a:p>
            <a:pPr/>
          </a:p>
          <a:p>
            <a:pPr/>
            <a:r>
              <a:t>Need Available Options? → get_metadata</a:t>
            </a:r>
          </a:p>
          <a:p>
            <a:pPr/>
            <a:r>
              <a:t>  Returns all territories, domains, categories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Coverage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Patterns:</a:t>
            </a:r>
          </a:p>
          <a:p>
            <a:pPr/>
            <a:r>
              <a:t>  • 484 rules across 20 categories</a:t>
            </a:r>
          </a:p>
          <a:p>
            <a:pPr/>
            <a:r>
              <a:t>  • 127 territories with group mappings</a:t>
            </a:r>
          </a:p>
          <a:p>
            <a:pPr/>
            <a:r>
              <a:t>  • 1,385 detection keywords</a:t>
            </a:r>
          </a:p>
          <a:p>
            <a:pPr/>
            <a:r>
              <a:t>Cultural Knowledge:</a:t>
            </a:r>
          </a:p>
          <a:p>
            <a:pPr/>
            <a:r>
              <a:t>  • 39,520 expert-curated criteria</a:t>
            </a:r>
          </a:p>
          <a:p>
            <a:pPr/>
            <a:r>
              <a:t>  • 200+ territories covered</a:t>
            </a:r>
          </a:p>
          <a:p>
            <a:pPr/>
            <a:r>
              <a:t>  • 21 cultural domains</a:t>
            </a:r>
          </a:p>
          <a:p>
            <a:pPr/>
            <a:r>
              <a:t>  • AI SHOULD/SHOULD NOT guardrails</a:t>
            </a:r>
          </a:p>
          <a:p>
            <a:pPr/>
            <a:r>
              <a:t>Cross-References: 181 semantic mappings (8 link types)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What Makes CKG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Expert-Curated Knowledge (not AI-generated)</a:t>
            </a:r>
          </a:p>
          <a:p>
            <a:pPr/>
            <a:r>
              <a:t>2. Prescriptive Guidance (AI SHOULD/SHOULD NOT)</a:t>
            </a:r>
          </a:p>
          <a:p>
            <a:pPr/>
            <a:r>
              <a:t>3. Territory-Specific Intelligence (200+ territories)</a:t>
            </a:r>
          </a:p>
          <a:p>
            <a:pPr/>
            <a:r>
              <a:t>4. Fast Performance (&lt;100ms queries)</a:t>
            </a:r>
          </a:p>
          <a:p>
            <a:pPr/>
            <a:r>
              <a:t>5. Multiple Query Interfaces (NL, structured, chat)</a:t>
            </a:r>
          </a:p>
          <a:p>
            <a:pPr/>
            <a:r>
              <a:t>6. Production-Ready (benchmarked, validated)</a:t>
            </a:r>
          </a:p>
          <a:p>
            <a:pPr/>
            <a:r>
              <a:t>7. MCP Integration (composable tools)</a:t>
            </a:r>
          </a:p>
          <a:p>
            <a:pPr/>
            <a:r>
              <a:t>8. Comprehensive Coverage (compliance + culture)</a:t>
            </a:r>
          </a:p>
          <a:p>
            <a:pPr/>
            <a:r>
              <a:t>9. Real-time Updates (CSV edit → restart)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User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 1: Cultural Research</a:t>
            </a:r>
          </a:p>
          <a:p>
            <a:pPr/>
            <a:r>
              <a:t>  Upload → Ask → Review Results → Export</a:t>
            </a:r>
          </a:p>
          <a:p>
            <a:pPr/>
          </a:p>
          <a:p>
            <a:pPr/>
            <a:r>
              <a:t>Workflow 2: Compliance Checking</a:t>
            </a:r>
          </a:p>
          <a:p>
            <a:pPr/>
            <a:r>
              <a:t>  Query KG → Filter by Territory → Analyze Patterns → Document</a:t>
            </a:r>
          </a:p>
          <a:p>
            <a:pPr/>
          </a:p>
          <a:p>
            <a:pPr/>
            <a:r>
              <a:t>Workflow 3: Data Exploration</a:t>
            </a:r>
          </a:p>
          <a:p>
            <a:pPr/>
            <a:r>
              <a:t>  Knowledge Graph → Explore Nodes → Chat for Details → Benchmark</a:t>
            </a:r>
          </a:p>
          <a:p>
            <a:pPr/>
          </a:p>
          <a:p>
            <a:pPr/>
            <a:r>
              <a:t>Workflow 4: Content Adaptation</a:t>
            </a:r>
          </a:p>
          <a:p>
            <a:pPr/>
            <a:r>
              <a:t>  Chat → Ask about cultural norms → Apply guidance → Verify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Using CKG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with Settings: Configure your active domain</a:t>
            </a:r>
          </a:p>
          <a:p>
            <a:pPr/>
            <a:r>
              <a:t>2. Use Ask Tab for Quick Queries: Natural language is fastest</a:t>
            </a:r>
          </a:p>
          <a:p>
            <a:pPr/>
            <a:r>
              <a:t>3. Use Query KG for Detailed Exploration: Structured queries when needed</a:t>
            </a:r>
          </a:p>
          <a:p>
            <a:pPr/>
            <a:r>
              <a:t>4. Leverage Chat for Context: Multi-turn conversations for complex topics</a:t>
            </a:r>
          </a:p>
          <a:p>
            <a:pPr/>
            <a:r>
              <a:t>5. Check Benchmark: Verify accuracy on your use case</a:t>
            </a:r>
          </a:p>
          <a:p>
            <a:pPr/>
            <a:r>
              <a:t>6. Review Documentation: Understand query syntax and options</a:t>
            </a:r>
          </a:p>
          <a:p>
            <a:pPr/>
            <a:r>
              <a:t>7. Explore Knowledge Graph: Visual understanding of relationships</a:t>
            </a:r>
          </a:p>
          <a:p>
            <a:pPr/>
            <a:r>
              <a:t>8. Regular Benchmarking: Track performance over time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Preparation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Starting the Demo:</a:t>
            </a:r>
          </a:p>
          <a:p>
            <a:pPr/>
            <a:r>
              <a:t>  ✓ Verify VM is running: http://44.247.238.121:8501</a:t>
            </a:r>
          </a:p>
          <a:p>
            <a:pPr/>
            <a:r>
              <a:t>  ✓ Have sample queries ready</a:t>
            </a:r>
          </a:p>
          <a:p>
            <a:pPr/>
            <a:r>
              <a:t>  ✓ Test all tabs are loading correctly</a:t>
            </a:r>
          </a:p>
          <a:p>
            <a:pPr/>
            <a:r>
              <a:t>  ✓ Clear browser cache for fresh session</a:t>
            </a:r>
          </a:p>
          <a:p>
            <a:pPr/>
            <a:r>
              <a:t>  ✓ Prepare 2-3 real-world use case scenarios</a:t>
            </a:r>
          </a:p>
          <a:p>
            <a:pPr/>
          </a:p>
          <a:p>
            <a:pPr/>
            <a:r>
              <a:t>Have Ready:</a:t>
            </a:r>
          </a:p>
          <a:p>
            <a:pPr/>
            <a:r>
              <a:t>  • Sample CSV files for upload demo</a:t>
            </a:r>
          </a:p>
          <a:p>
            <a:pPr/>
            <a:r>
              <a:t>  • List of territories (SA, JP, TH, IN, MX)</a:t>
            </a:r>
          </a:p>
          <a:p>
            <a:pPr/>
            <a:r>
              <a:t>  • Example queries (red in Thailand, namaste, alcohol in SA)</a:t>
            </a:r>
          </a:p>
          <a:p>
            <a:pPr/>
            <a:r>
              <a:t>  • Backup plan if live demo fails (screenshots/video)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- 15-20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 1: Introduction (2 min)</a:t>
            </a:r>
          </a:p>
          <a:p>
            <a:pPr/>
            <a:r>
              <a:t>  • Quick overview of CKG purpose and capabilities</a:t>
            </a:r>
          </a:p>
          <a:p>
            <a:pPr/>
            <a:r>
              <a:t>  • Show homepage with 9 tabs</a:t>
            </a:r>
          </a:p>
          <a:p>
            <a:pPr/>
          </a:p>
          <a:p>
            <a:pPr/>
            <a:r>
              <a:t>Part 2: Core Features Demo (8-10 min)</a:t>
            </a:r>
          </a:p>
          <a:p>
            <a:pPr/>
            <a:r>
              <a:t>  • Natural Language Query (Ask tab) - 3 min</a:t>
            </a:r>
          </a:p>
          <a:p>
            <a:pPr/>
            <a:r>
              <a:t>  • Knowledge Graph Visualization - 2 min</a:t>
            </a:r>
          </a:p>
          <a:p>
            <a:pPr/>
            <a:r>
              <a:t>  • Chat Assistant with MCP tools - 3 min</a:t>
            </a:r>
          </a:p>
          <a:p>
            <a:pPr/>
          </a:p>
          <a:p>
            <a:pPr/>
            <a:r>
              <a:t>Part 3: Advanced Features (3-5 min)</a:t>
            </a:r>
          </a:p>
          <a:p>
            <a:pPr/>
            <a:r>
              <a:t>  • Query KG with filters</a:t>
            </a:r>
          </a:p>
          <a:p>
            <a:pPr/>
            <a:r>
              <a:t>  • Benchmark results</a:t>
            </a:r>
          </a:p>
          <a:p>
            <a:pPr/>
          </a:p>
          <a:p>
            <a:pPr/>
            <a:r>
              <a:t>Part 4: Q&amp;A (5 min)</a:t>
            </a:r>
          </a:p>
          <a:p>
            <a:pPr/>
            <a:r>
              <a:t>  • Answer questions and show relevant features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Upload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to Show:</a:t>
            </a:r>
          </a:p>
          <a:p>
            <a:r>
              <a:t>• Click 'Upload' tab</a:t>
            </a:r>
          </a:p>
          <a:p>
            <a:r>
              <a:t>• Explain supported file formats</a:t>
            </a:r>
          </a:p>
          <a:p>
            <a:r>
              <a:t>• Show drag-and-drop area</a:t>
            </a:r>
          </a:p>
          <a:p>
            <a:r>
              <a:t>• Upload sample CSV (if available)</a:t>
            </a:r>
          </a:p>
          <a:p/>
          <a:p>
            <a:r>
              <a:t>Key Talking Points:</a:t>
            </a:r>
          </a:p>
          <a:p>
            <a:r>
              <a:t>• 'Upload cultural criteria CSV files'</a:t>
            </a:r>
          </a:p>
          <a:p>
            <a:r>
              <a:t>• 'System validates format automatically'</a:t>
            </a:r>
          </a:p>
          <a:p>
            <a:r>
              <a:t>• 'Data is immediately available after upload'</a:t>
            </a:r>
          </a:p>
          <a:p>
            <a:r>
              <a:t>• 'Used to add new territories or update rules'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Script:</a:t>
            </a:r>
          </a:p>
          <a:p>
            <a:r>
              <a:t>1. Click Upload tab</a:t>
            </a:r>
          </a:p>
          <a:p>
            <a:r>
              <a:t>2. Show file upload interface</a:t>
            </a:r>
          </a:p>
          <a:p>
            <a:r>
              <a:t>3. Explain: 'Here you can upload</a:t>
            </a:r>
          </a:p>
          <a:p>
            <a:r>
              <a:t>   compliance rules, cultural criteria,</a:t>
            </a:r>
          </a:p>
          <a:p>
            <a:r>
              <a:t>   or cross-reference data'</a:t>
            </a:r>
          </a:p>
          <a:p>
            <a:r>
              <a:t>4. If time permits, upload sample file</a:t>
            </a:r>
          </a:p>
          <a:p>
            <a:r>
              <a:t>5. Show success message</a:t>
            </a:r>
          </a:p>
          <a:p/>
          <a:p>
            <a:r>
              <a:t>Time: 1-2 minutes</a:t>
            </a:r>
          </a:p>
          <a:p/>
          <a:p>
            <a:r>
              <a:t>Skip if short on time - not critical</a:t>
            </a:r>
          </a:p>
          <a:p>
            <a:r>
              <a:t>for understanding core functionality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Ask Tab (MOST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Script:</a:t>
            </a:r>
          </a:p>
          <a:p>
            <a:pPr/>
            <a:r>
              <a:t>1. Click 'Ask' tab</a:t>
            </a:r>
          </a:p>
          <a:p>
            <a:pPr/>
            <a:r>
              <a:t>2. Type query: 'What does red mean in Thailand?'</a:t>
            </a:r>
          </a:p>
          <a:p>
            <a:pPr/>
            <a:r>
              <a:t>3. Submit and wait for results (should be &lt;100ms)</a:t>
            </a:r>
          </a:p>
          <a:p>
            <a:pPr/>
            <a:r>
              <a:t>4. Point out extracted information:</a:t>
            </a:r>
          </a:p>
          <a:p>
            <a:pPr/>
            <a:r>
              <a:t>   • Territory: Thailand</a:t>
            </a:r>
          </a:p>
          <a:p>
            <a:pPr/>
            <a:r>
              <a:t>   • Domain: Colors</a:t>
            </a:r>
          </a:p>
          <a:p>
            <a:pPr/>
            <a:r>
              <a:t>   • Keywords: red, mean, thailand</a:t>
            </a:r>
          </a:p>
          <a:p>
            <a:pPr/>
            <a:r>
              <a:t>5. Show top result: Red = Sunday color, Lord Surya association</a:t>
            </a:r>
          </a:p>
          <a:p>
            <a:pPr/>
            <a:r>
              <a:t>6. Highlight AI SHOULD / SHOULD NOT guidance</a:t>
            </a:r>
          </a:p>
          <a:p>
            <a:pPr/>
          </a:p>
          <a:p>
            <a:pPr/>
            <a:r>
              <a:t>Alternative Queries to Try:</a:t>
            </a:r>
          </a:p>
          <a:p>
            <a:pPr/>
            <a:r>
              <a:t>  • 'Tell me about Indian wedding traditions'</a:t>
            </a:r>
          </a:p>
          <a:p>
            <a:pPr/>
            <a:r>
              <a:t>  • 'What is namaste in India?'</a:t>
            </a:r>
          </a:p>
          <a:p>
            <a:pPr/>
            <a:r>
              <a:t>  • 'What colors are important in Mexico?'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Knowledge Graph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Script:</a:t>
            </a:r>
          </a:p>
          <a:p>
            <a:pPr/>
            <a:r>
              <a:t>1. Go to Settings → Select 'culture' domain (REQUIRED!)</a:t>
            </a:r>
          </a:p>
          <a:p>
            <a:pPr/>
            <a:r>
              <a:t>2. Return to main page, click 'Knowledge Graph' tab</a:t>
            </a:r>
          </a:p>
          <a:p>
            <a:pPr/>
            <a:r>
              <a:t>3. Wait for graph to load (2-3 seconds)</a:t>
            </a:r>
          </a:p>
          <a:p>
            <a:pPr/>
            <a:r>
              <a:t>4. Show interactive features:</a:t>
            </a:r>
          </a:p>
          <a:p>
            <a:pPr/>
            <a:r>
              <a:t>   • Zoom in/out with mouse wheel</a:t>
            </a:r>
          </a:p>
          <a:p>
            <a:pPr/>
            <a:r>
              <a:t>   • Click nodes to see details</a:t>
            </a:r>
          </a:p>
          <a:p>
            <a:pPr/>
            <a:r>
              <a:t>   • Drag nodes to reposition</a:t>
            </a:r>
          </a:p>
          <a:p>
            <a:pPr/>
            <a:r>
              <a:t>5. Explain node types (colors indicate entity types)</a:t>
            </a:r>
          </a:p>
          <a:p>
            <a:pPr/>
            <a:r>
              <a:t>6. Show relationships between territories and cultural criteria</a:t>
            </a:r>
          </a:p>
          <a:p>
            <a:pPr/>
          </a:p>
          <a:p>
            <a:pPr/>
            <a:r>
              <a:t>Key Points:</a:t>
            </a:r>
          </a:p>
          <a:p>
            <a:pPr/>
            <a:r>
              <a:t>  • 'Visual representation of 39,520 cultural facts'</a:t>
            </a:r>
          </a:p>
          <a:p>
            <a:pPr/>
            <a:r>
              <a:t>  • 'Explore relationships between territories and domains'</a:t>
            </a:r>
          </a:p>
          <a:p>
            <a:pPr/>
            <a:r>
              <a:t>  • 'Interactive - click any node for details'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Chat Tab (Show MCP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Script:</a:t>
            </a:r>
          </a:p>
          <a:p>
            <a:pPr/>
            <a:r>
              <a:t>1. Click 'Chat' tab</a:t>
            </a:r>
          </a:p>
          <a:p>
            <a:pPr/>
            <a:r>
              <a:t>2. Type: 'Is it rude to tip in Japan?'</a:t>
            </a:r>
          </a:p>
          <a:p>
            <a:pPr/>
            <a:r>
              <a:t>3. Show how chat routes to cultural_query tool automatically</a:t>
            </a:r>
          </a:p>
          <a:p>
            <a:pPr/>
            <a:r>
              <a:t>4. Display conversational response with cultural guidance</a:t>
            </a:r>
          </a:p>
          <a:p>
            <a:pPr/>
            <a:r>
              <a:t>5. Follow-up question: 'What about business gift-giving?'</a:t>
            </a:r>
          </a:p>
          <a:p>
            <a:pPr/>
            <a:r>
              <a:t>6. Show multi-turn conversation capability</a:t>
            </a:r>
          </a:p>
          <a:p>
            <a:pPr/>
          </a:p>
          <a:p>
            <a:pPr/>
            <a:r>
              <a:t>Explain MCP Integration:</a:t>
            </a:r>
          </a:p>
          <a:p>
            <a:pPr/>
            <a:r>
              <a:t>  • 'Chat uses 8 MCP tools under the hood'</a:t>
            </a:r>
          </a:p>
          <a:p>
            <a:pPr/>
            <a:r>
              <a:t>  • 'smart_query auto-routes to appropriate tool'</a:t>
            </a:r>
          </a:p>
          <a:p>
            <a:pPr/>
            <a:r>
              <a:t>  • 'Combines compliance and cultural knowledge'</a:t>
            </a:r>
          </a:p>
          <a:p>
            <a:pPr/>
            <a:r>
              <a:t>  • 'Same backend as Claude with MCP'</a:t>
            </a:r>
          </a:p>
          <a:p>
            <a:pPr/>
          </a:p>
          <a:p>
            <a:pPr/>
            <a:r>
              <a:t>Time: 3-4 minutes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Query KG Tab (If Time Permits)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Script:</a:t>
            </a:r>
          </a:p>
          <a:p>
            <a:pPr/>
            <a:r>
              <a:t>1. Click 'Query KG' tab</a:t>
            </a:r>
          </a:p>
          <a:p>
            <a:pPr/>
            <a:r>
              <a:t>2. Show structured query builder</a:t>
            </a:r>
          </a:p>
          <a:p>
            <a:pPr/>
            <a:r>
              <a:t>3. Select filters:</a:t>
            </a:r>
          </a:p>
          <a:p>
            <a:pPr/>
            <a:r>
              <a:t>   • Territory: Saudi Arabia (SA)</a:t>
            </a:r>
          </a:p>
          <a:p>
            <a:pPr/>
            <a:r>
              <a:t>   • Category: alcohol</a:t>
            </a:r>
          </a:p>
          <a:p>
            <a:pPr/>
            <a:r>
              <a:t>4. Execute query</a:t>
            </a:r>
          </a:p>
          <a:p>
            <a:pPr/>
            <a:r>
              <a:t>5. Show detailed results with all metadata</a:t>
            </a:r>
          </a:p>
          <a:p>
            <a:pPr/>
            <a:r>
              <a:t>6. Explain: 'This is for advanced users who need precise control'</a:t>
            </a:r>
          </a:p>
          <a:p>
            <a:pPr/>
          </a:p>
          <a:p>
            <a:pPr/>
            <a:r>
              <a:t>Key Points:</a:t>
            </a:r>
          </a:p>
          <a:p>
            <a:pPr/>
            <a:r>
              <a:t>  • 'Structured queries for programmatic access'</a:t>
            </a:r>
          </a:p>
          <a:p>
            <a:pPr/>
            <a:r>
              <a:t>  • 'Filter by territory, domain, category'</a:t>
            </a:r>
          </a:p>
          <a:p>
            <a:pPr/>
            <a:r>
              <a:t>  • 'Export results for integration'</a:t>
            </a:r>
          </a:p>
          <a:p>
            <a:pPr/>
            <a:r>
              <a:t>  • 'Used for compliance checking workflows'</a:t>
            </a:r>
          </a:p>
          <a:p>
            <a:pPr/>
          </a:p>
          <a:p>
            <a:pPr/>
            <a:r>
              <a:t>Time: 2 minutes (optional)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Benchmark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Script:</a:t>
            </a:r>
          </a:p>
          <a:p>
            <a:pPr/>
            <a:r>
              <a:t>1. Click 'Benchmark' tab</a:t>
            </a:r>
          </a:p>
          <a:p>
            <a:pPr/>
            <a:r>
              <a:t>2. Show recent test results</a:t>
            </a:r>
          </a:p>
          <a:p>
            <a:pPr/>
            <a:r>
              <a:t>3. Point out key metrics:</a:t>
            </a:r>
          </a:p>
          <a:p>
            <a:pPr/>
            <a:r>
              <a:t>   • Top-1 accuracy: 100% (after recent fixes)</a:t>
            </a:r>
          </a:p>
          <a:p>
            <a:pPr/>
            <a:r>
              <a:t>   • Average response time: &lt;100ms</a:t>
            </a:r>
          </a:p>
          <a:p>
            <a:pPr/>
            <a:r>
              <a:t>   • Total questions tested: 100</a:t>
            </a:r>
          </a:p>
          <a:p>
            <a:pPr/>
            <a:r>
              <a:t>4. Explain: 'We continuously benchmark to ensure quality'</a:t>
            </a:r>
          </a:p>
          <a:p>
            <a:pPr/>
            <a:r>
              <a:t>5. Show example questions and results</a:t>
            </a:r>
          </a:p>
          <a:p>
            <a:pPr/>
          </a:p>
          <a:p>
            <a:pPr/>
            <a:r>
              <a:t>Key Talking Points:</a:t>
            </a:r>
          </a:p>
          <a:p>
            <a:pPr/>
            <a:r>
              <a:t>  • 'Real benchmark data from production queries'</a:t>
            </a:r>
          </a:p>
          <a:p>
            <a:pPr/>
            <a:r>
              <a:t>  • '100% accuracy on territory-specific color queries'</a:t>
            </a:r>
          </a:p>
          <a:p>
            <a:pPr/>
            <a:r>
              <a:t>  • 'Recent fix improved ranking by 50%'</a:t>
            </a:r>
          </a:p>
          <a:p>
            <a:pPr/>
            <a:r>
              <a:t>  • 'Tracked over time to prevent regressions'</a:t>
            </a:r>
          </a:p>
          <a:p>
            <a:pPr/>
          </a:p>
          <a:p>
            <a:pPr/>
            <a:r>
              <a:t>Time: 1-2 minutes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Scenarios by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1: Content Creator (Ask + Chat)</a:t>
            </a:r>
          </a:p>
          <a:p>
            <a:pPr/>
            <a:r>
              <a:t>  'I'm creating ads for Southeast Asia. What colors should I avoid?'</a:t>
            </a:r>
          </a:p>
          <a:p>
            <a:pPr/>
            <a:r>
              <a:t>  Demo: Ask tab → 'colors to avoid in Thailand, Vietnam, Indonesia'</a:t>
            </a:r>
          </a:p>
          <a:p>
            <a:pPr/>
          </a:p>
          <a:p>
            <a:pPr/>
            <a:r>
              <a:t>Scenario 2: Compliance Officer (Query KG + Regulatory)</a:t>
            </a:r>
          </a:p>
          <a:p>
            <a:pPr/>
            <a:r>
              <a:t>  'I need to check alcohol regulations across Middle East'</a:t>
            </a:r>
          </a:p>
          <a:p>
            <a:pPr/>
            <a:r>
              <a:t>  Demo: Query KG → Filter by territory group + alcohol category</a:t>
            </a:r>
          </a:p>
          <a:p>
            <a:pPr/>
          </a:p>
          <a:p>
            <a:pPr/>
            <a:r>
              <a:t>Scenario 3: Product Manager (Chat + Knowledge Graph)</a:t>
            </a:r>
          </a:p>
          <a:p>
            <a:pPr/>
            <a:r>
              <a:t>  'Help me understand Japanese gift-giving customs for our app'</a:t>
            </a:r>
          </a:p>
          <a:p>
            <a:pPr/>
            <a:r>
              <a:t>  Demo: Chat multi-turn conversation → Show relationships in graph</a:t>
            </a:r>
          </a:p>
          <a:p>
            <a:pPr/>
          </a:p>
          <a:p>
            <a:pPr/>
            <a:r>
              <a:t>Scenario 4: Developer (MCP Tools)</a:t>
            </a:r>
          </a:p>
          <a:p>
            <a:pPr/>
            <a:r>
              <a:t>  'I want to integrate cultural intelligence into my chatbot'</a:t>
            </a:r>
          </a:p>
          <a:p>
            <a:pPr/>
            <a:r>
              <a:t>  Demo: Show MCP tools in action → Explain API integration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Tips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 Tips:</a:t>
            </a:r>
          </a:p>
          <a:p>
            <a:pPr/>
            <a:r>
              <a:t>  • Start with Ask tab - it's the most impressive</a:t>
            </a:r>
          </a:p>
          <a:p>
            <a:pPr/>
            <a:r>
              <a:t>  • Have 3 backup queries ready in case one fails</a:t>
            </a:r>
          </a:p>
          <a:p>
            <a:pPr/>
            <a:r>
              <a:t>  • Explain results as they appear (don't just read them)</a:t>
            </a:r>
          </a:p>
          <a:p>
            <a:pPr/>
            <a:r>
              <a:t>  • Use real-world scenarios your audience cares about</a:t>
            </a:r>
          </a:p>
          <a:p>
            <a:pPr/>
          </a:p>
          <a:p>
            <a:pPr/>
            <a:r>
              <a:t>If Something Goes Wrong:</a:t>
            </a:r>
          </a:p>
          <a:p>
            <a:pPr/>
            <a:r>
              <a:t>  • Stuck/loading: Refresh browser, try another query</a:t>
            </a:r>
          </a:p>
          <a:p>
            <a:pPr/>
            <a:r>
              <a:t>  • No results: Check territory spelling, try broader keywords</a:t>
            </a:r>
          </a:p>
          <a:p>
            <a:pPr/>
            <a:r>
              <a:t>  • Graph won't load: Verify domain selected in Settings</a:t>
            </a:r>
          </a:p>
          <a:p>
            <a:pPr/>
            <a:r>
              <a:t>  • Server down: Have screenshots/video backup ready</a:t>
            </a:r>
          </a:p>
          <a:p>
            <a:pPr/>
          </a:p>
          <a:p>
            <a:pPr/>
            <a:r>
              <a:t>Recovery Script:</a:t>
            </a:r>
          </a:p>
          <a:p>
            <a:pPr/>
            <a:r>
              <a:t>  'Let me show you some results we prepared earlier...'</a:t>
            </a:r>
          </a:p>
          <a:p>
            <a:pPr/>
            <a:r>
              <a:t>  Then walk through screenshots or documentation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</a:t>
            </a:r>
          </a:p>
          <a:p>
            <a:pPr/>
            <a:r>
              <a:t>  • Streamlit 1.x (frontend framework)</a:t>
            </a:r>
          </a:p>
          <a:p>
            <a:pPr/>
            <a:r>
              <a:t>  • Python 3.11+ (backend)</a:t>
            </a:r>
          </a:p>
          <a:p>
            <a:pPr/>
            <a:r>
              <a:t>  • FastAPI (MCP server)</a:t>
            </a:r>
          </a:p>
          <a:p>
            <a:pPr/>
            <a:r>
              <a:t>  • Neo4j (graph database)</a:t>
            </a:r>
          </a:p>
          <a:p>
            <a:pPr/>
            <a:r>
              <a:t>Code Structure:</a:t>
            </a:r>
          </a:p>
          <a:p>
            <a:pPr/>
            <a:r>
              <a:t>  • streamlit_app/app.py - main entry point</a:t>
            </a:r>
          </a:p>
          <a:p>
            <a:pPr/>
            <a:r>
              <a:t>  • streamlit_app/pages/*.py - tab implementations</a:t>
            </a:r>
          </a:p>
          <a:p>
            <a:pPr/>
            <a:r>
              <a:t>  • streamlit_app/utils/*.py - helper functions</a:t>
            </a:r>
          </a:p>
          <a:p>
            <a:pPr/>
            <a:r>
              <a:t>  • src/ckg/mcp/server.py - MCP tool implementations (985 lines)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 1: Slow Query Performance</a:t>
            </a:r>
          </a:p>
          <a:p>
            <a:pPr/>
            <a:r>
              <a:t>  Solution: Check backend setting, use Memory Store for testing</a:t>
            </a:r>
          </a:p>
          <a:p>
            <a:pPr/>
          </a:p>
          <a:p>
            <a:pPr/>
            <a:r>
              <a:t>Issue 2: No Results Returned</a:t>
            </a:r>
          </a:p>
          <a:p>
            <a:pPr/>
            <a:r>
              <a:t>  Solution: Verify territory code, try broader keywords</a:t>
            </a:r>
          </a:p>
          <a:p>
            <a:pPr/>
          </a:p>
          <a:p>
            <a:pPr/>
            <a:r>
              <a:t>Issue 3: Upload Fails</a:t>
            </a:r>
          </a:p>
          <a:p>
            <a:pPr/>
            <a:r>
              <a:t>  Solution: Check file format, validate CSV schema</a:t>
            </a:r>
          </a:p>
          <a:p>
            <a:pPr/>
          </a:p>
          <a:p>
            <a:pPr/>
            <a:r>
              <a:t>Issue 4: Graph Won't Load</a:t>
            </a:r>
          </a:p>
          <a:p>
            <a:pPr/>
            <a:r>
              <a:t>  Solution: Select domain in Settings first, reduce node count</a:t>
            </a:r>
          </a:p>
          <a:p>
            <a:pPr/>
          </a:p>
          <a:p>
            <a:pPr/>
            <a:r>
              <a:t>Issue 5: Chat Not Responding</a:t>
            </a:r>
          </a:p>
          <a:p>
            <a:pPr/>
            <a:r>
              <a:t>  Solution: Check MCP server connection, verify API settings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2026:</a:t>
            </a:r>
          </a:p>
          <a:p>
            <a:pPr/>
            <a:r>
              <a:t>  • Enhanced graph visualization with 3D rendering</a:t>
            </a:r>
          </a:p>
          <a:p>
            <a:pPr/>
            <a:r>
              <a:t>  • Bulk upload and batch processing</a:t>
            </a:r>
          </a:p>
          <a:p>
            <a:pPr/>
            <a:r>
              <a:t>  • Export functionality for all tabs</a:t>
            </a:r>
          </a:p>
          <a:p>
            <a:pPr/>
            <a:r>
              <a:t>Q3 2026:</a:t>
            </a:r>
          </a:p>
          <a:p>
            <a:pPr/>
            <a:r>
              <a:t>  • Multi-user collaboration features</a:t>
            </a:r>
          </a:p>
          <a:p>
            <a:pPr/>
            <a:r>
              <a:t>  • Version control for data changes</a:t>
            </a:r>
          </a:p>
          <a:p>
            <a:pPr/>
            <a:r>
              <a:t>  • Advanced analytics dashboard</a:t>
            </a:r>
          </a:p>
          <a:p>
            <a:pPr/>
            <a:r>
              <a:t>Q4 2026:</a:t>
            </a:r>
          </a:p>
          <a:p>
            <a:pPr/>
            <a:r>
              <a:t>  • Mobile-responsive design</a:t>
            </a:r>
          </a:p>
          <a:p>
            <a:pPr/>
            <a:r>
              <a:t>  • API playground for developers</a:t>
            </a:r>
          </a:p>
          <a:p>
            <a:pPr/>
            <a:r>
              <a:t>  • Integration marketplace</a:t>
            </a:r>
          </a:p>
          <a:p>
            <a:pPr/>
            <a:r>
              <a:t>  • Additional MCP tools for advanced use cases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URL: http://44.247.238.121:8501</a:t>
            </a:r>
          </a:p>
          <a:p>
            <a:pPr/>
            <a:r>
              <a:t>MCP Server: http://44.247.238.121:8000</a:t>
            </a:r>
          </a:p>
          <a:p>
            <a:pPr/>
            <a:r>
              <a:t>GitHub: https://github.com/spherex-inc/culture-graph</a:t>
            </a:r>
          </a:p>
          <a:p>
            <a:pPr/>
            <a:r>
              <a:t>Documentation:</a:t>
            </a:r>
          </a:p>
          <a:p>
            <a:pPr/>
            <a:r>
              <a:t>  • README.md - Project overview</a:t>
            </a:r>
          </a:p>
          <a:p>
            <a:pPr/>
            <a:r>
              <a:t>  • docs/ - Architecture and guides</a:t>
            </a:r>
          </a:p>
          <a:p>
            <a:pPr/>
            <a:r>
              <a:t>  • CHATBOT_MCP_INTEGRATION_GUIDE.md</a:t>
            </a:r>
          </a:p>
          <a:p>
            <a:pPr/>
            <a:r>
              <a:t>  • src/ckg/mcp/server.py - MCP tool source code</a:t>
            </a:r>
          </a:p>
          <a:p>
            <a:pPr/>
            <a:r>
              <a:t>Support:</a:t>
            </a:r>
          </a:p>
          <a:p>
            <a:pPr/>
            <a:r>
              <a:t>  • Check Docs tab first</a:t>
            </a:r>
          </a:p>
          <a:p>
            <a:pPr/>
            <a:r>
              <a:t>  • Review troubleshooting guide</a:t>
            </a:r>
          </a:p>
          <a:p>
            <a:pPr/>
            <a:r>
              <a:t>  • Contact: [team email]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