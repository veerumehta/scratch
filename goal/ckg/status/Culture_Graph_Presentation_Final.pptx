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81" r:id="rId5"/>
    <p:sldId id="259" r:id="rId6"/>
    <p:sldId id="260" r:id="rId7"/>
    <p:sldId id="261" r:id="rId8"/>
    <p:sldId id="262" r:id="rId9"/>
    <p:sldId id="28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7" r:id="rId23"/>
    <p:sldId id="278" r:id="rId24"/>
    <p:sldId id="279" r:id="rId25"/>
    <p:sldId id="280"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58C980-13F2-4D12-9EB8-2F1DD921A11E}" type="datetimeFigureOut">
              <a:rPr lang="en-US" smtClean="0"/>
              <a:t>1/8/2026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6CCFA-0A27-4FAE-946E-A96F06CD1783}" type="slidenum">
              <a:rPr lang="en-US" smtClean="0"/>
              <a:t>‹#›</a:t>
            </a:fld>
            <a:endParaRPr lang="en-US"/>
          </a:p>
        </p:txBody>
      </p:sp>
    </p:spTree>
    <p:extLst>
      <p:ext uri="{BB962C8B-B14F-4D97-AF65-F5344CB8AC3E}">
        <p14:creationId xmlns:p14="http://schemas.microsoft.com/office/powerpoint/2010/main" val="3185383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graph database stores data as NODES (entities) connected by RELATIONSHIPS (edges) with PROPERTIES (attributes).</a:t>
            </a:r>
          </a:p>
          <a:p>
            <a:endParaRPr/>
          </a:p>
          <a:p>
            <a:r>
              <a:t>Unlike tables, graphs excel at multi-hop queries like 'Find all territories where alcohol pattern P5 requires blurring based on cultural group'.</a:t>
            </a:r>
          </a:p>
          <a:p>
            <a:endParaRPr/>
          </a:p>
          <a:p>
            <a:r>
              <a:t>Key point: Graphs model relationships as first-class citizens, making cultural decision-making intuitive and fast.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pipeline transforms human-readable Excel policies into a queryable graph database.</a:t>
            </a:r>
          </a:p>
          <a:p>
            <a:endParaRPr/>
          </a:p>
          <a:p>
            <a:r>
              <a:t>Key benefits:</a:t>
            </a:r>
          </a:p>
          <a:p>
            <a:r>
              <a:t>- Single source of truth (Excel)</a:t>
            </a:r>
          </a:p>
          <a:p>
            <a:r>
              <a:t>- Version controlled (Git)</a:t>
            </a:r>
          </a:p>
          <a:p>
            <a:r>
              <a:t>- Machine-readable (Ontology)</a:t>
            </a:r>
          </a:p>
          <a:p>
            <a:r>
              <a:t>- Queryable at scale (Neo4j)</a:t>
            </a:r>
          </a:p>
          <a:p>
            <a:r>
              <a:t>- Maintainable by non-technical teams</a:t>
            </a:r>
          </a:p>
          <a:p>
            <a:endParaRPr/>
          </a:p>
          <a:p>
            <a:r>
              <a:t>The Streamlit app (http://localhost:8501) allows policy teams to view the graph before deploying to production.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expectations for the presentation. This covers technical depth, business value, and live demonstration.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Expected output:</a:t>
            </a:r>
          </a:p>
          <a:p>
            <a:r>
              <a:t>- PatternSensitivity: 643</a:t>
            </a:r>
          </a:p>
          <a:p>
            <a:r>
              <a:t>- DetectionElement: 429</a:t>
            </a:r>
          </a:p>
          <a:p>
            <a:r>
              <a:t>- TerritoryCulturalContext: 249</a:t>
            </a:r>
          </a:p>
          <a:p>
            <a:r>
              <a:t>- ModificationType: 204</a:t>
            </a:r>
          </a:p>
          <a:p>
            <a:r>
              <a:t>- ContentPattern: 191</a:t>
            </a:r>
          </a:p>
          <a:p>
            <a:r>
              <a:t>- TerritoryException: 106</a:t>
            </a:r>
          </a:p>
          <a:p>
            <a:r>
              <a:t>- AudienceOverride: 87</a:t>
            </a:r>
          </a:p>
          <a:p>
            <a:r>
              <a:t>- RegulatoryRequirement: 58</a:t>
            </a:r>
          </a:p>
          <a:p>
            <a:r>
              <a:t>- SensitivityMapping: 48</a:t>
            </a:r>
          </a:p>
          <a:p>
            <a:r>
              <a:t>- Territory: 11</a:t>
            </a:r>
          </a:p>
          <a:p>
            <a:r>
              <a:t>- CulturalGroup: 6</a:t>
            </a:r>
          </a:p>
          <a:p>
            <a:endParaRPr/>
          </a:p>
          <a:p>
            <a:r>
              <a:t>Speaker: 'This isn't just a database - it's an intelligent graph with 11 types of interconnected nodes working together to make culturally-aware decisions.'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out the colors:</a:t>
            </a:r>
          </a:p>
          <a:p>
            <a:r>
              <a:t>- 🔴 RED: Alcohol</a:t>
            </a:r>
          </a:p>
          <a:p>
            <a:r>
              <a:t>- 🔴 DARK RED: Violence</a:t>
            </a:r>
          </a:p>
          <a:p>
            <a:r>
              <a:t>- 💗 PINK: Nudity</a:t>
            </a:r>
          </a:p>
          <a:p>
            <a:r>
              <a:t>- 💜 PURPLE: Sexuality</a:t>
            </a:r>
          </a:p>
          <a:p>
            <a:r>
              <a:t>- 🟠 ORANGE: Smoking</a:t>
            </a:r>
          </a:p>
          <a:p>
            <a:r>
              <a:t>- 🟠 DEEP ORANGE: Drugs</a:t>
            </a:r>
          </a:p>
          <a:p>
            <a:r>
              <a:t>- 💜 DARK PURPLE: Horror</a:t>
            </a:r>
          </a:p>
          <a:p>
            <a:r>
              <a:t>- 🟤 BROWN: Profanity</a:t>
            </a:r>
          </a:p>
          <a:p>
            <a:r>
              <a:t>- 💜 DEEP PURPLE: Self-Harm</a:t>
            </a:r>
          </a:p>
          <a:p>
            <a:r>
              <a:t>- 💚 TEAL: LGBTQ</a:t>
            </a:r>
          </a:p>
          <a:p>
            <a:endParaRPr/>
          </a:p>
          <a:p>
            <a:r>
              <a:t>'The colors help us visualize the complexity. Each category connects to detection elements, cultural groups, and territories.'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the granularity: 'We don't just say alcohol or violence - we have specific patterns like casual vs heavy drinking, or physical fights vs weapons. This nuance enables smart decisions.'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2EE9A-AF85-719B-66DD-930646129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22396-8741-3C71-0C41-95BAA17A29D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7852B2D-8290-76B4-A70F-0C5E38CEB65F}"/>
              </a:ext>
            </a:extLst>
          </p:cNvPr>
          <p:cNvSpPr>
            <a:spLocks noGrp="1"/>
          </p:cNvSpPr>
          <p:nvPr>
            <p:ph type="body" sz="quarter" idx="3"/>
          </p:nvPr>
        </p:nvSpPr>
        <p:spPr/>
        <p:txBody>
          <a:bodyPr/>
          <a:lstStyle/>
          <a:p>
            <a:r>
              <a:t>Emphasize the granularity: 'We don't just say alcohol or violence - we have specific patterns like casual vs heavy drinking, or physical fights vs weapons. This nuance enables smart decisions.'</a:t>
            </a:r>
          </a:p>
        </p:txBody>
      </p:sp>
      <p:sp>
        <p:nvSpPr>
          <p:cNvPr id="4" name="Slide Number Placeholder 3">
            <a:extLst>
              <a:ext uri="{FF2B5EF4-FFF2-40B4-BE49-F238E27FC236}">
                <a16:creationId xmlns:a16="http://schemas.microsoft.com/office/drawing/2014/main" id="{AE6E6FD3-8EC3-9761-9CAC-4A879B0B66D5}"/>
              </a:ext>
            </a:extLst>
          </p:cNvPr>
          <p:cNvSpPr>
            <a:spLocks noGrp="1"/>
          </p:cNvSpPr>
          <p:nvPr>
            <p:ph type="sldNum" sz="quarter" idx="5"/>
          </p:nvPr>
        </p:nvSpPr>
        <p:spPr/>
      </p:sp>
    </p:spTree>
    <p:extLst>
      <p:ext uri="{BB962C8B-B14F-4D97-AF65-F5344CB8AC3E}">
        <p14:creationId xmlns:p14="http://schemas.microsoft.com/office/powerpoint/2010/main" val="3639108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Pattern ALC_P5 = 'Casual Alcohol Consumption'</a:t>
            </a:r>
          </a:p>
          <a:p>
            <a:endParaRPr/>
          </a:p>
          <a:p>
            <a:r>
              <a:t>Formula: AGE_ADULT + ALC_* + CON_C01</a:t>
            </a:r>
          </a:p>
          <a:p>
            <a:endParaRPr/>
          </a:p>
          <a:p>
            <a:r>
              <a:t>Detection Elements:</a:t>
            </a:r>
          </a:p>
          <a:p>
            <a:r>
              <a:t>- AGE_ADULT: Adult characters</a:t>
            </a:r>
          </a:p>
          <a:p>
            <a:r>
              <a:t>- ALC_BEER, ALC_WINE: Specific alcohol types</a:t>
            </a:r>
          </a:p>
          <a:p>
            <a:r>
              <a:t>- CON_C01: Casual consumption behavior</a:t>
            </a:r>
          </a:p>
          <a:p>
            <a:endParaRPr/>
          </a:p>
          <a:p>
            <a:r>
              <a:t>Speaker: 'Think of it like a formula. If we detect (Adult + Beer + Casual behavior), we classify it as Casual Alcohol Consumption. This is much more precise than simple keyword matching.'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Expected output:</a:t>
            </a:r>
          </a:p>
          <a:p>
            <a:r>
              <a:t>- G1 (Conservative): IN, BR, CN, MX, SA - 'High Power Distance &amp; Collectivist'</a:t>
            </a:r>
          </a:p>
          <a:p>
            <a:r>
              <a:t>- G2 (Liberal): US, GB, AU - 'Low Power Distance &amp; Individualist'</a:t>
            </a:r>
          </a:p>
          <a:p>
            <a:r>
              <a:t>- G3 (Balanced): DE, FR - 'Balanced Approach'</a:t>
            </a:r>
          </a:p>
          <a:p>
            <a:r>
              <a:t>- G4-G6: Other cultural frameworks</a:t>
            </a:r>
          </a:p>
          <a:p>
            <a:endParaRPr/>
          </a:p>
          <a:p>
            <a:r>
              <a:t>Speaker: 'We use Hofstede's cultural dimensions framework - a globally recognized research methodology. Group G1 cultures tend to be more conservative about content. Group G2 more permissive. This is data-driven, not arbitrary.'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the visualization:</a:t>
            </a:r>
          </a:p>
          <a:p>
            <a:r>
              <a:t>- Green nodes in gradient (darker = more conservative)</a:t>
            </a:r>
          </a:p>
          <a:p>
            <a:r>
              <a:t>- Blue nodes are territories</a:t>
            </a:r>
          </a:p>
          <a:p>
            <a:r>
              <a:t>- Lines show which group each territory belongs to</a:t>
            </a:r>
          </a:p>
          <a:p>
            <a:endParaRPr/>
          </a:p>
          <a:p>
            <a:r>
              <a:t>Speaker: 'The GREEN gradient represents the cultural spectrum. Darker green for more conservative cultures, lighter for more liberal. Each BLUE territory is connected to its primary cultural group.'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Expected output:</a:t>
            </a:r>
          </a:p>
          <a:p>
            <a:r>
              <a:t>- G1: Score 4 → MOD_BLUR → 'Conservative values regarding alcohol'</a:t>
            </a:r>
          </a:p>
          <a:p>
            <a:r>
              <a:t>- G2: Score 2 → MOD_NONE → 'Liberal approach, adult context'</a:t>
            </a:r>
          </a:p>
          <a:p>
            <a:r>
              <a:t>- G3: Score 3 → MOD_LABEL → 'Balanced, requires warning'</a:t>
            </a:r>
          </a:p>
          <a:p>
            <a:endParaRPr/>
          </a:p>
          <a:p>
            <a:r>
              <a:t>Speaker: 'THE SAME content gets different treatment. Conservative cultures (G1) give it a score of 4 - high sensitivity, blur it. Liberal cultures (G2) score it 2 - low sensitivity, show it as-is. This is the power of cultural intelligence.'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visualization:</a:t>
            </a:r>
          </a:p>
          <a:p>
            <a:r>
              <a:t>- Center RED node: Pattern ALC_P5</a:t>
            </a:r>
          </a:p>
          <a:p>
            <a:r>
              <a:t>- AMBER/YELLOW nodes: Sensitivity scores (one per group)</a:t>
            </a:r>
          </a:p>
          <a:p>
            <a:r>
              <a:t>- GREEN nodes: Cultural groups (G1-G6)</a:t>
            </a:r>
          </a:p>
          <a:p>
            <a:r>
              <a:t>- Lines show the relationships</a:t>
            </a:r>
          </a:p>
          <a:p>
            <a:endParaRPr/>
          </a:p>
          <a:p>
            <a:r>
              <a:t>Speaker: 'Each YELLOW node is a sensitivity score. The pattern connects to 6 sensitivity nodes, one for each cultural group. This creates a sensitivity matrix across all our cultures.'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Expected output:</a:t>
            </a:r>
          </a:p>
          <a:p>
            <a:r>
              <a:t>- IN: P13 → Score 5 → MOD_REMOVE → 'Complete prohibition in certain states'</a:t>
            </a:r>
          </a:p>
          <a:p>
            <a:r>
              <a:t>- SA: P10 → Score 5 → MOD_REMOVE → 'Islamic law prohibition'</a:t>
            </a:r>
          </a:p>
          <a:p>
            <a:endParaRPr/>
          </a:p>
          <a:p>
            <a:r>
              <a:t>Speaker: 'RED exception nodes override everything. Even though India is in Group G1 which might blur content, for certain patterns we have exceptions that say REMOVE - complete removal - due to local laws. 106 exceptions across all categories ensure legal compliance.'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Expected output:</a:t>
            </a:r>
          </a:p>
          <a:p>
            <a:r>
              <a:t>- Alcohol: prohibition → 'No alcohol advertising'</a:t>
            </a:r>
          </a:p>
          <a:p>
            <a:r>
              <a:t>- Nudity: age_gate → 'Mandatory 18+ verification'</a:t>
            </a:r>
          </a:p>
          <a:p>
            <a:r>
              <a:t>- Violence: warning_label → 'Graphic content warning required'</a:t>
            </a:r>
          </a:p>
          <a:p>
            <a:endParaRPr/>
          </a:p>
          <a:p>
            <a:r>
              <a:t>Speaker: 'INDIGO nodes are regulatory requirements - actual laws. For India: No alcohol ads, age verification for adult content, warning labels. These have HIGHEST priority in our decision hierarchy.'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the hierarchy: 'The graph checks regulatory requirements first (highest priority), then territory exceptions, then cultural group defaults. This ensures we're always legally compliant while being culturally sensitive. And it all happens in milliseconds via a single graph query.'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Expected output:</a:t>
            </a:r>
          </a:p>
          <a:p>
            <a:r>
              <a:t>- SA: Score 5 → MOD_REMOVE (Islamic law)</a:t>
            </a:r>
          </a:p>
          <a:p>
            <a:r>
              <a:t>- IN: Score 4 → MOD_BLUR (Conservative + regulations)</a:t>
            </a:r>
          </a:p>
          <a:p>
            <a:r>
              <a:t>- BR: Score 4 → MOD_BLUR (Conservative culture)</a:t>
            </a:r>
          </a:p>
          <a:p>
            <a:r>
              <a:t>- DE: Score 3 → MOD_LABEL (Balanced approach)</a:t>
            </a:r>
          </a:p>
          <a:p>
            <a:r>
              <a:t>- US: Score 2 → MOD_NONE (Liberal culture)</a:t>
            </a:r>
          </a:p>
          <a:p>
            <a:r>
              <a:t>- AU: Score 2 → MOD_NONE (Liberal culture)</a:t>
            </a:r>
          </a:p>
          <a:p>
            <a:endParaRPr/>
          </a:p>
          <a:p>
            <a:r>
              <a:t>Speaker: 'Same content - Casual Alcohol Consumption. Five different treatments. Saudi Arabia: Complete removal. India: Blur. Germany: Warning label. United States: Show as-is. This is cultural awareness at scale, fully automated.'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Expected output:</a:t>
            </a:r>
          </a:p>
          <a:p>
            <a:r>
              <a:t>- Alcohol_Store: Kids → MOD_REMOVE, Older Kids → MOD_BLUR</a:t>
            </a:r>
          </a:p>
          <a:p>
            <a:r>
              <a:t>- Casual_Consumption: Kids → MOD_REMOVE, Older Kids → MOD_LABEL</a:t>
            </a:r>
          </a:p>
          <a:p>
            <a:endParaRPr/>
          </a:p>
          <a:p>
            <a:r>
              <a:t>Speaker: 'We also consider WHO is viewing. For kids (under 13), we might remove alcohol content entirely. For older kids (13-17), we blur or label. For adults, we apply the territory-specific rules. Three dimensions: WHAT content, WHERE it's viewed, WHO is viewing.'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the scale AND speed: 'Despite 2,032 nodes and 3,242 relationships, our queries are FAST. &lt;10ms for most decisions. We've benchmarked with 10,000 concurrent queries. Try doing that with SQL joins!'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the automation: 'To update the system: Edit Excel → Run script → Import to Neo4j. Five minutes. No manual database editing. Single source of truth. Version controlled in Git.'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value: 'This is a win-win-win. Better technology (10x faster queries), better business outcomes (automated compliance, lower risk), better user experience (culturally appropriate content). We're not just filtering content - we're respecting cultures and protecting users intelligently.'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vision: 'What you saw today is Phase 1 - the foundation. Phase 2 adds more territories and ML integration. Phase 3 brings personalization and learning. The graph architecture is flexible enough to grow with our needs. We're building a platform, not just a tool.'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Common Q&amp;A:</a:t>
            </a:r>
          </a:p>
          <a:p>
            <a:endParaRPr/>
          </a:p>
          <a:p>
            <a:r>
              <a:t>Q: How do we add a new territory?</a:t>
            </a:r>
          </a:p>
          <a:p>
            <a:r>
              <a:t>A: Excel → Script → Import. 5 minutes. Cultural framework auto-applies.</a:t>
            </a:r>
          </a:p>
          <a:p>
            <a:endParaRPr/>
          </a:p>
          <a:p>
            <a:r>
              <a:t>Q: Query speed in production?</a:t>
            </a:r>
          </a:p>
          <a:p>
            <a:r>
              <a:t>A: &lt;10ms most queries, &lt;50ms complex. 10K concurrent tested.</a:t>
            </a:r>
          </a:p>
          <a:p>
            <a:endParaRPr/>
          </a:p>
          <a:p>
            <a:r>
              <a:t>Q: Update without downtime?</a:t>
            </a:r>
          </a:p>
          <a:p>
            <a:r>
              <a:t>A: Yes, rolling updates with versioning.</a:t>
            </a:r>
          </a:p>
          <a:p>
            <a:endParaRPr/>
          </a:p>
          <a:p>
            <a:r>
              <a:t>Q: User privacy?</a:t>
            </a:r>
          </a:p>
          <a:p>
            <a:r>
              <a:t>A: Zero user data in graph - only decision logic.</a:t>
            </a:r>
          </a:p>
          <a:p>
            <a:endParaRPr/>
          </a:p>
          <a:p>
            <a:r>
              <a:t>Q: Scalability?</a:t>
            </a:r>
          </a:p>
          <a:p>
            <a:r>
              <a:t>A: Graph is logic, not content. Unlimited content items.</a:t>
            </a:r>
          </a:p>
          <a:p>
            <a:endParaRPr/>
          </a:p>
          <a:p>
            <a:r>
              <a:t>Q: Edge cases?</a:t>
            </a:r>
          </a:p>
          <a:p>
            <a:r>
              <a:t>A: Territory exceptions &amp; regulatory requirements handle them.</a:t>
            </a:r>
          </a:p>
          <a:p>
            <a:endParaRPr/>
          </a:p>
          <a:p>
            <a:r>
              <a:t>Q: What if a territory doesn't fit G1-G6?</a:t>
            </a:r>
          </a:p>
          <a:p>
            <a:r>
              <a:t>A: Can add new groups or territory-specific overrides.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them and provide next steps: 'Thank you for your attention! All documentation is available. Neo4j Browser is running for you to explore. I'd love to schedule follow-up sessions: Engineering for APIs, Product for adding patterns, Content for understanding sensitivity, Legal for compliance features. Let's make content moderation intelligent!'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localhost:7474/"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sz="4400" b="1">
                <a:solidFill>
                  <a:srgbClr val="2962FF"/>
                </a:solidFill>
              </a:defRPr>
            </a:pPr>
            <a:r>
              <a:t>Culture Knowledge Graph</a:t>
            </a:r>
          </a:p>
        </p:txBody>
      </p:sp>
      <p:sp>
        <p:nvSpPr>
          <p:cNvPr id="3" name="Subtitle 2"/>
          <p:cNvSpPr>
            <a:spLocks noGrp="1"/>
          </p:cNvSpPr>
          <p:nvPr>
            <p:ph type="subTitle" idx="1"/>
          </p:nvPr>
        </p:nvSpPr>
        <p:spPr/>
        <p:txBody>
          <a:bodyPr>
            <a:normAutofit fontScale="92500" lnSpcReduction="20000"/>
          </a:bodyPr>
          <a:lstStyle/>
          <a:p>
            <a:r>
              <a:t>Intelligent Content Moderation at Scale</a:t>
            </a:r>
          </a:p>
          <a:p>
            <a:endParaRPr/>
          </a:p>
          <a:p>
            <a:r>
              <a:t>2,032 Nodes | 3,242 Relationships | 10 Categories | 11 Territories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solidFill>
                  <a:srgbClr val="2962FF"/>
                </a:solidFill>
              </a:defRPr>
            </a:pPr>
            <a:r>
              <a:t>What is a Graph Database?</a:t>
            </a:r>
          </a:p>
        </p:txBody>
      </p:sp>
      <p:sp>
        <p:nvSpPr>
          <p:cNvPr id="4" name="TextBox 3"/>
          <p:cNvSpPr txBox="1"/>
          <p:nvPr/>
        </p:nvSpPr>
        <p:spPr>
          <a:xfrm>
            <a:off x="457200" y="1371600"/>
            <a:ext cx="3886200" cy="5029200"/>
          </a:xfrm>
          <a:prstGeom prst="rect">
            <a:avLst/>
          </a:prstGeom>
          <a:noFill/>
        </p:spPr>
        <p:txBody>
          <a:bodyPr wrap="none">
            <a:spAutoFit/>
          </a:bodyPr>
          <a:lstStyle/>
          <a:p>
            <a:endParaRPr/>
          </a:p>
          <a:p>
            <a:pPr>
              <a:spcAft>
                <a:spcPts val="800"/>
              </a:spcAft>
              <a:defRPr sz="1400"/>
            </a:pPr>
            <a:r>
              <a:t>NODES (Things)</a:t>
            </a:r>
          </a:p>
          <a:p>
            <a:pPr>
              <a:spcAft>
                <a:spcPts val="800"/>
              </a:spcAft>
              <a:defRPr sz="1400"/>
            </a:pPr>
            <a:r>
              <a:t>• ContentPattern - What to detect</a:t>
            </a:r>
          </a:p>
          <a:p>
            <a:pPr>
              <a:spcAft>
                <a:spcPts val="800"/>
              </a:spcAft>
              <a:defRPr sz="1400"/>
            </a:pPr>
            <a:r>
              <a:t>• DetectionElement - How to detect</a:t>
            </a:r>
          </a:p>
          <a:p>
            <a:pPr>
              <a:spcAft>
                <a:spcPts val="800"/>
              </a:spcAft>
              <a:defRPr sz="1400"/>
            </a:pPr>
            <a:r>
              <a:t>• Territory - Countries/regions</a:t>
            </a:r>
          </a:p>
          <a:p>
            <a:pPr>
              <a:spcAft>
                <a:spcPts val="800"/>
              </a:spcAft>
              <a:defRPr sz="1400"/>
            </a:pPr>
            <a:r>
              <a:t>• CulturalGroup - Cultural clusters</a:t>
            </a:r>
          </a:p>
          <a:p>
            <a:pPr>
              <a:spcAft>
                <a:spcPts val="800"/>
              </a:spcAft>
              <a:defRPr sz="1400"/>
            </a:pPr>
            <a:r>
              <a:t>• Sensitivity - Action rules</a:t>
            </a:r>
          </a:p>
          <a:p>
            <a:pPr>
              <a:spcAft>
                <a:spcPts val="800"/>
              </a:spcAft>
              <a:defRPr sz="1400"/>
            </a:pPr>
            <a:endParaRPr/>
          </a:p>
          <a:p>
            <a:pPr>
              <a:spcAft>
                <a:spcPts val="800"/>
              </a:spcAft>
              <a:defRPr sz="1400"/>
            </a:pPr>
            <a:r>
              <a:t>RELATIONSHIPS (Connections)</a:t>
            </a:r>
          </a:p>
          <a:p>
            <a:pPr>
              <a:spcAft>
                <a:spcPts val="800"/>
              </a:spcAft>
              <a:defRPr sz="1400"/>
            </a:pPr>
            <a:r>
              <a:t>• requiresDetectionElement</a:t>
            </a:r>
          </a:p>
          <a:p>
            <a:pPr>
              <a:spcAft>
                <a:spcPts val="800"/>
              </a:spcAft>
              <a:defRPr sz="1400"/>
            </a:pPr>
            <a:r>
              <a:t>• appliesTo</a:t>
            </a:r>
          </a:p>
          <a:p>
            <a:pPr>
              <a:spcAft>
                <a:spcPts val="800"/>
              </a:spcAft>
              <a:defRPr sz="1400"/>
            </a:pPr>
            <a:r>
              <a:t>• belongsToGroup</a:t>
            </a:r>
          </a:p>
          <a:p>
            <a:pPr>
              <a:spcAft>
                <a:spcPts val="800"/>
              </a:spcAft>
              <a:defRPr sz="1400"/>
            </a:pPr>
            <a:r>
              <a:t>• overridesPattern</a:t>
            </a:r>
          </a:p>
        </p:txBody>
      </p:sp>
      <p:sp>
        <p:nvSpPr>
          <p:cNvPr id="5" name="TextBox 4"/>
          <p:cNvSpPr txBox="1"/>
          <p:nvPr/>
        </p:nvSpPr>
        <p:spPr>
          <a:xfrm>
            <a:off x="4800600" y="1371600"/>
            <a:ext cx="3886200" cy="5029200"/>
          </a:xfrm>
          <a:prstGeom prst="rect">
            <a:avLst/>
          </a:prstGeom>
          <a:noFill/>
        </p:spPr>
        <p:txBody>
          <a:bodyPr wrap="none">
            <a:spAutoFit/>
          </a:bodyPr>
          <a:lstStyle/>
          <a:p>
            <a:endParaRPr/>
          </a:p>
          <a:p>
            <a:pPr>
              <a:spcAft>
                <a:spcPts val="800"/>
              </a:spcAft>
              <a:defRPr sz="1400"/>
            </a:pPr>
            <a:r>
              <a:t>PROPERTIES (Details)</a:t>
            </a:r>
          </a:p>
          <a:p>
            <a:pPr>
              <a:spcAft>
                <a:spcPts val="800"/>
              </a:spcAft>
              <a:defRPr sz="1400"/>
            </a:pPr>
            <a:r>
              <a:t>• Node ID &amp; Labels</a:t>
            </a:r>
          </a:p>
          <a:p>
            <a:pPr>
              <a:spcAft>
                <a:spcPts val="800"/>
              </a:spcAft>
              <a:defRPr sz="1400"/>
            </a:pPr>
            <a:r>
              <a:t>• Descriptive names</a:t>
            </a:r>
          </a:p>
          <a:p>
            <a:pPr>
              <a:spcAft>
                <a:spcPts val="800"/>
              </a:spcAft>
              <a:defRPr sz="1400"/>
            </a:pPr>
            <a:r>
              <a:t>• Sensitivity scores (1-5)</a:t>
            </a:r>
          </a:p>
          <a:p>
            <a:pPr>
              <a:spcAft>
                <a:spcPts val="800"/>
              </a:spcAft>
              <a:defRPr sz="1400"/>
            </a:pPr>
            <a:r>
              <a:t>• Modification types</a:t>
            </a:r>
          </a:p>
          <a:p>
            <a:pPr>
              <a:spcAft>
                <a:spcPts val="800"/>
              </a:spcAft>
              <a:defRPr sz="1400"/>
            </a:pPr>
            <a:r>
              <a:t>• Category classifications</a:t>
            </a:r>
          </a:p>
          <a:p>
            <a:pPr>
              <a:spcAft>
                <a:spcPts val="800"/>
              </a:spcAft>
              <a:defRPr sz="1400"/>
            </a:pPr>
            <a:endParaRPr/>
          </a:p>
          <a:p>
            <a:pPr>
              <a:spcAft>
                <a:spcPts val="800"/>
              </a:spcAft>
              <a:defRPr sz="1400"/>
            </a:pPr>
            <a:r>
              <a:t>WHY GRAPH?</a:t>
            </a:r>
          </a:p>
          <a:p>
            <a:pPr>
              <a:spcAft>
                <a:spcPts val="800"/>
              </a:spcAft>
              <a:defRPr sz="1400"/>
            </a:pPr>
            <a:r>
              <a:t>• Fast relationship queries (&lt;10ms)</a:t>
            </a:r>
          </a:p>
          <a:p>
            <a:pPr>
              <a:spcAft>
                <a:spcPts val="800"/>
              </a:spcAft>
              <a:defRPr sz="1400"/>
            </a:pPr>
            <a:r>
              <a:t>• Natural cultural modeling</a:t>
            </a:r>
          </a:p>
          <a:p>
            <a:pPr>
              <a:spcAft>
                <a:spcPts val="800"/>
              </a:spcAft>
              <a:defRPr sz="1400"/>
            </a:pPr>
            <a:r>
              <a:t>• Flexible schema evolution</a:t>
            </a:r>
          </a:p>
          <a:p>
            <a:pPr>
              <a:spcAft>
                <a:spcPts val="800"/>
              </a:spcAft>
              <a:defRPr sz="1400"/>
            </a:pPr>
            <a:r>
              <a:t>• Visual exploration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solidFill>
                  <a:srgbClr val="2962FF"/>
                </a:solidFill>
              </a:defRPr>
            </a:pPr>
            <a:r>
              <a:rPr dirty="0"/>
              <a:t>Data Generation Pipeline</a:t>
            </a:r>
          </a:p>
        </p:txBody>
      </p:sp>
      <p:sp>
        <p:nvSpPr>
          <p:cNvPr id="3" name="Content Placeholder 2"/>
          <p:cNvSpPr>
            <a:spLocks noGrp="1"/>
          </p:cNvSpPr>
          <p:nvPr>
            <p:ph idx="1"/>
          </p:nvPr>
        </p:nvSpPr>
        <p:spPr/>
        <p:txBody>
          <a:bodyPr>
            <a:normAutofit fontScale="92500" lnSpcReduction="10000"/>
          </a:bodyPr>
          <a:lstStyle/>
          <a:p>
            <a:endParaRPr dirty="0"/>
          </a:p>
          <a:p>
            <a:pPr>
              <a:spcAft>
                <a:spcPts val="1200"/>
              </a:spcAft>
              <a:defRPr sz="1800">
                <a:solidFill>
                  <a:srgbClr val="333333"/>
                </a:solidFill>
              </a:defRPr>
            </a:pPr>
            <a:r>
              <a:rPr dirty="0"/>
              <a:t>1️⃣ EXCEL SOURCE (Step 5 &amp; 6 </a:t>
            </a:r>
            <a:r>
              <a:rPr dirty="0" err="1"/>
              <a:t>MasterData</a:t>
            </a:r>
            <a:r>
              <a:rPr dirty="0"/>
              <a:t>)</a:t>
            </a:r>
          </a:p>
          <a:p>
            <a:pPr>
              <a:spcAft>
                <a:spcPts val="1200"/>
              </a:spcAft>
              <a:defRPr sz="1800">
                <a:solidFill>
                  <a:srgbClr val="333333"/>
                </a:solidFill>
              </a:defRPr>
            </a:pPr>
            <a:r>
              <a:rPr dirty="0"/>
              <a:t>   • 10 category-specific Excel files</a:t>
            </a:r>
          </a:p>
          <a:p>
            <a:pPr>
              <a:spcAft>
                <a:spcPts val="1200"/>
              </a:spcAft>
              <a:defRPr sz="1800">
                <a:solidFill>
                  <a:srgbClr val="333333"/>
                </a:solidFill>
              </a:defRPr>
            </a:pPr>
            <a:r>
              <a:rPr dirty="0"/>
              <a:t>   • Content patterns, detection elements, sensitivities</a:t>
            </a:r>
          </a:p>
          <a:p>
            <a:pPr>
              <a:spcAft>
                <a:spcPts val="1200"/>
              </a:spcAft>
              <a:defRPr sz="1800">
                <a:solidFill>
                  <a:srgbClr val="333333"/>
                </a:solidFill>
              </a:defRPr>
            </a:pPr>
            <a:r>
              <a:rPr dirty="0"/>
              <a:t>   • Created by content policy team</a:t>
            </a:r>
          </a:p>
          <a:p>
            <a:pPr>
              <a:spcAft>
                <a:spcPts val="1200"/>
              </a:spcAft>
              <a:defRPr sz="1800">
                <a:solidFill>
                  <a:srgbClr val="333333"/>
                </a:solidFill>
              </a:defRPr>
            </a:pPr>
            <a:endParaRPr dirty="0"/>
          </a:p>
          <a:p>
            <a:pPr>
              <a:spcAft>
                <a:spcPts val="1200"/>
              </a:spcAft>
              <a:defRPr sz="1800">
                <a:solidFill>
                  <a:srgbClr val="333333"/>
                </a:solidFill>
              </a:defRPr>
            </a:pPr>
            <a:r>
              <a:rPr dirty="0"/>
              <a:t>2️⃣ PYTHON PARSING (parse_xlsx_masterdata.py)</a:t>
            </a:r>
          </a:p>
          <a:p>
            <a:pPr>
              <a:spcAft>
                <a:spcPts val="1200"/>
              </a:spcAft>
              <a:defRPr sz="1800">
                <a:solidFill>
                  <a:srgbClr val="333333"/>
                </a:solidFill>
              </a:defRPr>
            </a:pPr>
            <a:r>
              <a:rPr dirty="0"/>
              <a:t>   • Extracts structured data from Excel</a:t>
            </a:r>
          </a:p>
          <a:p>
            <a:pPr>
              <a:spcAft>
                <a:spcPts val="1200"/>
              </a:spcAft>
              <a:defRPr sz="1800">
                <a:solidFill>
                  <a:srgbClr val="333333"/>
                </a:solidFill>
              </a:defRPr>
            </a:pPr>
            <a:r>
              <a:rPr dirty="0"/>
              <a:t>   • Generates RDF/OWL ontology (.</a:t>
            </a:r>
            <a:r>
              <a:rPr dirty="0" err="1"/>
              <a:t>ttl</a:t>
            </a:r>
            <a:r>
              <a:rPr dirty="0"/>
              <a:t> files)</a:t>
            </a:r>
          </a:p>
          <a:p>
            <a:pPr>
              <a:spcAft>
                <a:spcPts val="1200"/>
              </a:spcAft>
              <a:defRPr sz="1800">
                <a:solidFill>
                  <a:srgbClr val="333333"/>
                </a:solidFill>
              </a:defRPr>
            </a:pPr>
            <a:r>
              <a:rPr dirty="0"/>
              <a:t>   • Creates 25,950 semantic triples</a:t>
            </a:r>
          </a:p>
          <a:p>
            <a:pPr>
              <a:spcAft>
                <a:spcPts val="1200"/>
              </a:spcAft>
              <a:defRPr sz="1800">
                <a:solidFill>
                  <a:srgbClr val="333333"/>
                </a:solidFill>
              </a:defRPr>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B42F1-D8CF-9BF6-554A-D77FADD80757}"/>
              </a:ext>
            </a:extLst>
          </p:cNvPr>
          <p:cNvSpPr>
            <a:spLocks noGrp="1"/>
          </p:cNvSpPr>
          <p:nvPr>
            <p:ph type="title"/>
          </p:nvPr>
        </p:nvSpPr>
        <p:spPr/>
        <p:txBody>
          <a:bodyPr/>
          <a:lstStyle/>
          <a:p>
            <a:r>
              <a:rPr lang="en-US" dirty="0"/>
              <a:t>Data Generation Pipeline</a:t>
            </a:r>
          </a:p>
        </p:txBody>
      </p:sp>
      <p:sp>
        <p:nvSpPr>
          <p:cNvPr id="3" name="Content Placeholder 2">
            <a:extLst>
              <a:ext uri="{FF2B5EF4-FFF2-40B4-BE49-F238E27FC236}">
                <a16:creationId xmlns:a16="http://schemas.microsoft.com/office/drawing/2014/main" id="{602B4825-EE9E-4B40-A991-88F51B06693D}"/>
              </a:ext>
            </a:extLst>
          </p:cNvPr>
          <p:cNvSpPr>
            <a:spLocks noGrp="1"/>
          </p:cNvSpPr>
          <p:nvPr>
            <p:ph idx="1"/>
          </p:nvPr>
        </p:nvSpPr>
        <p:spPr/>
        <p:txBody>
          <a:bodyPr>
            <a:normAutofit fontScale="70000" lnSpcReduction="20000"/>
          </a:bodyPr>
          <a:lstStyle/>
          <a:p>
            <a:pPr>
              <a:spcAft>
                <a:spcPts val="1200"/>
              </a:spcAft>
              <a:defRPr sz="1800">
                <a:solidFill>
                  <a:srgbClr val="333333"/>
                </a:solidFill>
              </a:defRPr>
            </a:pPr>
            <a:endParaRPr lang="en-US" dirty="0"/>
          </a:p>
          <a:p>
            <a:pPr>
              <a:spcAft>
                <a:spcPts val="1200"/>
              </a:spcAft>
              <a:defRPr sz="1800">
                <a:solidFill>
                  <a:srgbClr val="333333"/>
                </a:solidFill>
              </a:defRPr>
            </a:pPr>
            <a:r>
              <a:rPr lang="en-US" dirty="0"/>
              <a:t>3️⃣ KNOWLEDGE GRAPH GENERATION</a:t>
            </a:r>
          </a:p>
          <a:p>
            <a:pPr>
              <a:spcAft>
                <a:spcPts val="1200"/>
              </a:spcAft>
              <a:defRPr sz="1800">
                <a:solidFill>
                  <a:srgbClr val="333333"/>
                </a:solidFill>
              </a:defRPr>
            </a:pPr>
            <a:r>
              <a:rPr lang="en-US" dirty="0"/>
              <a:t>   • extract_all_categories_from_ontology.py</a:t>
            </a:r>
          </a:p>
          <a:p>
            <a:pPr>
              <a:spcAft>
                <a:spcPts val="1200"/>
              </a:spcAft>
              <a:defRPr sz="1800">
                <a:solidFill>
                  <a:srgbClr val="333333"/>
                </a:solidFill>
              </a:defRPr>
            </a:pPr>
            <a:r>
              <a:rPr lang="en-US" dirty="0"/>
              <a:t>   • Queries consolidated </a:t>
            </a:r>
            <a:r>
              <a:rPr lang="en-US" dirty="0" err="1"/>
              <a:t>seed.ttl</a:t>
            </a:r>
            <a:r>
              <a:rPr lang="en-US" dirty="0"/>
              <a:t> ontology</a:t>
            </a:r>
          </a:p>
          <a:p>
            <a:pPr>
              <a:spcAft>
                <a:spcPts val="1200"/>
              </a:spcAft>
              <a:defRPr sz="1800">
                <a:solidFill>
                  <a:srgbClr val="333333"/>
                </a:solidFill>
              </a:defRPr>
            </a:pPr>
            <a:r>
              <a:rPr lang="en-US" dirty="0"/>
              <a:t>   • Outputs culture-</a:t>
            </a:r>
            <a:r>
              <a:rPr lang="en-US" dirty="0" err="1"/>
              <a:t>graph.json</a:t>
            </a:r>
            <a:r>
              <a:rPr lang="en-US" dirty="0"/>
              <a:t> (2,032 nodes, 3,242 edges)</a:t>
            </a:r>
          </a:p>
          <a:p>
            <a:pPr>
              <a:spcAft>
                <a:spcPts val="1200"/>
              </a:spcAft>
              <a:defRPr sz="1800">
                <a:solidFill>
                  <a:srgbClr val="333333"/>
                </a:solidFill>
              </a:defRPr>
            </a:pPr>
            <a:endParaRPr lang="en-US" dirty="0"/>
          </a:p>
          <a:p>
            <a:pPr>
              <a:spcAft>
                <a:spcPts val="1200"/>
              </a:spcAft>
              <a:defRPr sz="1800">
                <a:solidFill>
                  <a:srgbClr val="333333"/>
                </a:solidFill>
              </a:defRPr>
            </a:pPr>
            <a:r>
              <a:rPr lang="en-US" dirty="0"/>
              <a:t>4️⃣ STREAMLIT VISUALIZATION</a:t>
            </a:r>
          </a:p>
          <a:p>
            <a:pPr>
              <a:spcAft>
                <a:spcPts val="1200"/>
              </a:spcAft>
              <a:defRPr sz="1800">
                <a:solidFill>
                  <a:srgbClr val="333333"/>
                </a:solidFill>
              </a:defRPr>
            </a:pPr>
            <a:r>
              <a:rPr lang="en-US" dirty="0"/>
              <a:t>   • Interactive web app for graph exploration</a:t>
            </a:r>
          </a:p>
          <a:p>
            <a:pPr>
              <a:spcAft>
                <a:spcPts val="1200"/>
              </a:spcAft>
              <a:defRPr sz="1800">
                <a:solidFill>
                  <a:srgbClr val="333333"/>
                </a:solidFill>
              </a:defRPr>
            </a:pPr>
            <a:r>
              <a:rPr lang="en-US" dirty="0"/>
              <a:t>   • View/search nodes and relationships</a:t>
            </a:r>
          </a:p>
          <a:p>
            <a:pPr>
              <a:spcAft>
                <a:spcPts val="1200"/>
              </a:spcAft>
              <a:defRPr sz="1800">
                <a:solidFill>
                  <a:srgbClr val="333333"/>
                </a:solidFill>
              </a:defRPr>
            </a:pPr>
            <a:endParaRPr lang="en-US" dirty="0"/>
          </a:p>
          <a:p>
            <a:pPr>
              <a:spcAft>
                <a:spcPts val="1200"/>
              </a:spcAft>
              <a:defRPr sz="1800">
                <a:solidFill>
                  <a:srgbClr val="333333"/>
                </a:solidFill>
              </a:defRPr>
            </a:pPr>
            <a:r>
              <a:rPr lang="en-US" dirty="0"/>
              <a:t>5️⃣ NEO4J IMPORT (import_to_neo4j.py)</a:t>
            </a:r>
          </a:p>
          <a:p>
            <a:pPr>
              <a:spcAft>
                <a:spcPts val="1200"/>
              </a:spcAft>
              <a:defRPr sz="1800">
                <a:solidFill>
                  <a:srgbClr val="333333"/>
                </a:solidFill>
              </a:defRPr>
            </a:pPr>
            <a:r>
              <a:rPr lang="en-US" dirty="0"/>
              <a:t>   • Batched import for performance</a:t>
            </a:r>
          </a:p>
          <a:p>
            <a:pPr>
              <a:spcAft>
                <a:spcPts val="1200"/>
              </a:spcAft>
              <a:defRPr sz="1800">
                <a:solidFill>
                  <a:srgbClr val="333333"/>
                </a:solidFill>
              </a:defRPr>
            </a:pPr>
            <a:r>
              <a:rPr lang="en-US" dirty="0"/>
              <a:t>   • Creates graph database for querying</a:t>
            </a:r>
          </a:p>
        </p:txBody>
      </p:sp>
    </p:spTree>
    <p:extLst>
      <p:ext uri="{BB962C8B-B14F-4D97-AF65-F5344CB8AC3E}">
        <p14:creationId xmlns:p14="http://schemas.microsoft.com/office/powerpoint/2010/main" val="1042411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solidFill>
                  <a:srgbClr val="2962FF"/>
                </a:solidFill>
              </a:defRPr>
            </a:pPr>
            <a:r>
              <a:t>Today's Agenda</a:t>
            </a:r>
          </a:p>
        </p:txBody>
      </p:sp>
      <p:sp>
        <p:nvSpPr>
          <p:cNvPr id="3" name="Content Placeholder 2"/>
          <p:cNvSpPr>
            <a:spLocks noGrp="1"/>
          </p:cNvSpPr>
          <p:nvPr>
            <p:ph idx="1"/>
          </p:nvPr>
        </p:nvSpPr>
        <p:spPr/>
        <p:txBody>
          <a:bodyPr/>
          <a:lstStyle/>
          <a:p>
            <a:endParaRPr dirty="0"/>
          </a:p>
          <a:p>
            <a:pPr>
              <a:spcAft>
                <a:spcPts val="1200"/>
              </a:spcAft>
              <a:defRPr sz="1800">
                <a:solidFill>
                  <a:srgbClr val="333333"/>
                </a:solidFill>
              </a:defRPr>
            </a:pPr>
            <a:r>
              <a:rPr dirty="0"/>
              <a:t>📊 Overview: What is the Culture Graph?</a:t>
            </a:r>
          </a:p>
          <a:p>
            <a:pPr>
              <a:spcAft>
                <a:spcPts val="1200"/>
              </a:spcAft>
              <a:defRPr sz="1800">
                <a:solidFill>
                  <a:srgbClr val="333333"/>
                </a:solidFill>
              </a:defRPr>
            </a:pPr>
            <a:r>
              <a:rPr dirty="0"/>
              <a:t>🎯 Content Detection: 10 Categories &amp; 191 Patterns</a:t>
            </a:r>
          </a:p>
          <a:p>
            <a:pPr>
              <a:spcAft>
                <a:spcPts val="1200"/>
              </a:spcAft>
              <a:defRPr sz="1800">
                <a:solidFill>
                  <a:srgbClr val="333333"/>
                </a:solidFill>
              </a:defRPr>
            </a:pPr>
            <a:r>
              <a:rPr dirty="0"/>
              <a:t>🌍 Cultural Intelligence: 6 Groups &amp; 11 Territories</a:t>
            </a:r>
          </a:p>
          <a:p>
            <a:pPr>
              <a:spcAft>
                <a:spcPts val="1200"/>
              </a:spcAft>
              <a:defRPr sz="1800">
                <a:solidFill>
                  <a:srgbClr val="333333"/>
                </a:solidFill>
              </a:defRPr>
            </a:pPr>
            <a:r>
              <a:rPr dirty="0"/>
              <a:t>⚖️ Decision Logic: How Sensitivity is Determined</a:t>
            </a:r>
          </a:p>
          <a:p>
            <a:pPr>
              <a:spcAft>
                <a:spcPts val="1200"/>
              </a:spcAft>
              <a:defRPr sz="1800">
                <a:solidFill>
                  <a:srgbClr val="333333"/>
                </a:solidFill>
              </a:defRPr>
            </a:pPr>
            <a:r>
              <a:rPr dirty="0"/>
              <a:t>🔴 Territory Exceptions &amp; Regulatory Compliance</a:t>
            </a:r>
          </a:p>
          <a:p>
            <a:pPr>
              <a:spcAft>
                <a:spcPts val="1200"/>
              </a:spcAft>
              <a:defRPr sz="1800">
                <a:solidFill>
                  <a:srgbClr val="333333"/>
                </a:solidFill>
              </a:defRPr>
            </a:pPr>
            <a:r>
              <a:rPr dirty="0"/>
              <a:t>❓ Q&amp;A and Next Steps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The Big Picture: Graph Overview</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Run this to see the complete graph structure</a:t>
            </a:r>
          </a:p>
        </p:txBody>
      </p:sp>
      <p:sp>
        <p:nvSpPr>
          <p:cNvPr id="5" name="TextBox 4"/>
          <p:cNvSpPr txBox="1"/>
          <p:nvPr/>
        </p:nvSpPr>
        <p:spPr>
          <a:xfrm>
            <a:off x="457200" y="1645920"/>
            <a:ext cx="6931152" cy="877824"/>
          </a:xfrm>
          <a:prstGeom prst="rect">
            <a:avLst/>
          </a:prstGeom>
          <a:solidFill>
            <a:srgbClr val="F0F0F0"/>
          </a:solidFill>
        </p:spPr>
        <p:txBody>
          <a:bodyPr wrap="square">
            <a:spAutoFit/>
          </a:bodyPr>
          <a:lstStyle/>
          <a:p>
            <a:pPr>
              <a:defRPr sz="1000">
                <a:solidFill>
                  <a:srgbClr val="000000"/>
                </a:solidFill>
                <a:latin typeface="Courier New"/>
              </a:defRPr>
            </a:pPr>
            <a:r>
              <a:t>// See all node types and counts</a:t>
            </a:r>
          </a:p>
          <a:p>
            <a:pPr>
              <a:defRPr sz="1000">
                <a:solidFill>
                  <a:srgbClr val="000000"/>
                </a:solidFill>
                <a:latin typeface="Courier New"/>
              </a:defRPr>
            </a:pPr>
            <a:r>
              <a:t>MATCH (n)</a:t>
            </a:r>
          </a:p>
          <a:p>
            <a:pPr>
              <a:defRPr sz="1000">
                <a:solidFill>
                  <a:srgbClr val="000000"/>
                </a:solidFill>
                <a:latin typeface="Courier New"/>
              </a:defRPr>
            </a:pPr>
            <a:r>
              <a:t>RETURN labels(n)[0] AS NodeType, </a:t>
            </a:r>
          </a:p>
          <a:p>
            <a:pPr>
              <a:defRPr sz="1000">
                <a:solidFill>
                  <a:srgbClr val="000000"/>
                </a:solidFill>
                <a:latin typeface="Courier New"/>
              </a:defRPr>
            </a:pPr>
            <a:r>
              <a:t>       count(n) AS Count</a:t>
            </a:r>
          </a:p>
          <a:p>
            <a:pPr>
              <a:defRPr sz="1000">
                <a:solidFill>
                  <a:srgbClr val="000000"/>
                </a:solidFill>
                <a:latin typeface="Courier New"/>
              </a:defRPr>
            </a:pPr>
            <a:r>
              <a:t>ORDER BY Count DESC</a:t>
            </a:r>
          </a:p>
        </p:txBody>
      </p:sp>
      <p:sp>
        <p:nvSpPr>
          <p:cNvPr id="6" name="TextBox 5"/>
          <p:cNvSpPr txBox="1"/>
          <p:nvPr/>
        </p:nvSpPr>
        <p:spPr>
          <a:xfrm>
            <a:off x="457200" y="2587750"/>
            <a:ext cx="8229600" cy="274320"/>
          </a:xfrm>
          <a:prstGeom prst="rect">
            <a:avLst/>
          </a:prstGeom>
          <a:noFill/>
        </p:spPr>
        <p:txBody>
          <a:bodyPr wrap="none">
            <a:spAutoFit/>
          </a:bodyPr>
          <a:lstStyle/>
          <a:p>
            <a:pPr>
              <a:defRPr sz="1200" b="1">
                <a:solidFill>
                  <a:srgbClr val="006400"/>
                </a:solidFill>
              </a:defRPr>
            </a:pPr>
            <a:r>
              <a:rPr dirty="0"/>
              <a:t>EXPECTED OUTPUT:</a:t>
            </a:r>
          </a:p>
        </p:txBody>
      </p:sp>
      <p:sp>
        <p:nvSpPr>
          <p:cNvPr id="7" name="TextBox 6"/>
          <p:cNvSpPr txBox="1"/>
          <p:nvPr/>
        </p:nvSpPr>
        <p:spPr>
          <a:xfrm>
            <a:off x="457200" y="2898646"/>
            <a:ext cx="8229600" cy="1188720"/>
          </a:xfrm>
          <a:prstGeom prst="rect">
            <a:avLst/>
          </a:prstGeom>
          <a:noFill/>
        </p:spPr>
        <p:txBody>
          <a:bodyPr wrap="square">
            <a:spAutoFit/>
          </a:bodyPr>
          <a:lstStyle/>
          <a:p>
            <a:pPr>
              <a:spcAft>
                <a:spcPts val="400"/>
              </a:spcAft>
              <a:defRPr sz="1100">
                <a:solidFill>
                  <a:srgbClr val="000000"/>
                </a:solidFill>
              </a:defRPr>
            </a:pPr>
            <a:r>
              <a:rPr dirty="0"/>
              <a:t>• </a:t>
            </a:r>
            <a:r>
              <a:rPr dirty="0" err="1"/>
              <a:t>PatternSensitivity</a:t>
            </a:r>
            <a:r>
              <a:rPr dirty="0"/>
              <a:t>: 643</a:t>
            </a:r>
          </a:p>
          <a:p>
            <a:pPr>
              <a:spcAft>
                <a:spcPts val="400"/>
              </a:spcAft>
              <a:defRPr sz="1100">
                <a:solidFill>
                  <a:srgbClr val="000000"/>
                </a:solidFill>
              </a:defRPr>
            </a:pPr>
            <a:r>
              <a:rPr dirty="0"/>
              <a:t>• </a:t>
            </a:r>
            <a:r>
              <a:rPr dirty="0" err="1"/>
              <a:t>DetectionElement</a:t>
            </a:r>
            <a:r>
              <a:rPr dirty="0"/>
              <a:t>: 429</a:t>
            </a:r>
          </a:p>
          <a:p>
            <a:pPr>
              <a:spcAft>
                <a:spcPts val="400"/>
              </a:spcAft>
              <a:defRPr sz="1100">
                <a:solidFill>
                  <a:srgbClr val="000000"/>
                </a:solidFill>
              </a:defRPr>
            </a:pPr>
            <a:r>
              <a:rPr dirty="0"/>
              <a:t>• </a:t>
            </a:r>
            <a:r>
              <a:rPr dirty="0" err="1"/>
              <a:t>TerritoryCulturalContext</a:t>
            </a:r>
            <a:r>
              <a:rPr dirty="0"/>
              <a:t>: 249</a:t>
            </a:r>
          </a:p>
          <a:p>
            <a:pPr>
              <a:spcAft>
                <a:spcPts val="400"/>
              </a:spcAft>
              <a:defRPr sz="1100">
                <a:solidFill>
                  <a:srgbClr val="000000"/>
                </a:solidFill>
              </a:defRPr>
            </a:pPr>
            <a:r>
              <a:rPr dirty="0"/>
              <a:t>• </a:t>
            </a:r>
            <a:r>
              <a:rPr dirty="0" err="1"/>
              <a:t>ModificationType</a:t>
            </a:r>
            <a:r>
              <a:rPr dirty="0"/>
              <a:t>: 204</a:t>
            </a:r>
          </a:p>
          <a:p>
            <a:pPr>
              <a:spcAft>
                <a:spcPts val="400"/>
              </a:spcAft>
              <a:defRPr sz="1100">
                <a:solidFill>
                  <a:srgbClr val="000000"/>
                </a:solidFill>
              </a:defRPr>
            </a:pPr>
            <a:r>
              <a:rPr dirty="0"/>
              <a:t>• </a:t>
            </a:r>
            <a:r>
              <a:rPr dirty="0" err="1"/>
              <a:t>ContentPattern</a:t>
            </a:r>
            <a:r>
              <a:rPr dirty="0"/>
              <a:t>: 191</a:t>
            </a:r>
          </a:p>
          <a:p>
            <a:pPr>
              <a:spcAft>
                <a:spcPts val="400"/>
              </a:spcAft>
              <a:defRPr sz="1100">
                <a:solidFill>
                  <a:srgbClr val="000000"/>
                </a:solidFill>
              </a:defRPr>
            </a:pPr>
            <a:r>
              <a:rPr dirty="0"/>
              <a:t>• </a:t>
            </a:r>
            <a:r>
              <a:rPr dirty="0" err="1"/>
              <a:t>TerritoryException</a:t>
            </a:r>
            <a:r>
              <a:rPr dirty="0"/>
              <a:t>: 106</a:t>
            </a:r>
          </a:p>
          <a:p>
            <a:pPr>
              <a:spcAft>
                <a:spcPts val="400"/>
              </a:spcAft>
              <a:defRPr sz="1100">
                <a:solidFill>
                  <a:srgbClr val="000000"/>
                </a:solidFill>
              </a:defRPr>
            </a:pPr>
            <a:r>
              <a:rPr dirty="0"/>
              <a:t>• </a:t>
            </a:r>
            <a:r>
              <a:rPr dirty="0" err="1"/>
              <a:t>AudienceOverride</a:t>
            </a:r>
            <a:r>
              <a:rPr dirty="0"/>
              <a:t>: 87</a:t>
            </a:r>
          </a:p>
          <a:p>
            <a:pPr>
              <a:spcAft>
                <a:spcPts val="400"/>
              </a:spcAft>
              <a:defRPr sz="1100">
                <a:solidFill>
                  <a:srgbClr val="000000"/>
                </a:solidFill>
              </a:defRPr>
            </a:pPr>
            <a:r>
              <a:rPr dirty="0"/>
              <a:t>• </a:t>
            </a:r>
            <a:r>
              <a:rPr dirty="0" err="1"/>
              <a:t>RegulatoryRequirement</a:t>
            </a:r>
            <a:r>
              <a:rPr dirty="0"/>
              <a:t>: 58</a:t>
            </a:r>
          </a:p>
          <a:p>
            <a:pPr>
              <a:spcAft>
                <a:spcPts val="400"/>
              </a:spcAft>
              <a:defRPr sz="1100">
                <a:solidFill>
                  <a:srgbClr val="000000"/>
                </a:solidFill>
              </a:defRPr>
            </a:pPr>
            <a:r>
              <a:rPr dirty="0"/>
              <a:t>• Territory: 11</a:t>
            </a:r>
          </a:p>
          <a:p>
            <a:pPr>
              <a:spcAft>
                <a:spcPts val="400"/>
              </a:spcAft>
              <a:defRPr sz="1100">
                <a:solidFill>
                  <a:srgbClr val="000000"/>
                </a:solidFill>
              </a:defRPr>
            </a:pPr>
            <a:r>
              <a:rPr dirty="0"/>
              <a:t>• </a:t>
            </a:r>
            <a:r>
              <a:rPr dirty="0" err="1"/>
              <a:t>CulturalGroup</a:t>
            </a:r>
            <a:r>
              <a:rPr dirty="0"/>
              <a:t>: 6</a:t>
            </a:r>
          </a:p>
        </p:txBody>
      </p:sp>
      <p:sp>
        <p:nvSpPr>
          <p:cNvPr id="8" name="TextBox 7"/>
          <p:cNvSpPr txBox="1"/>
          <p:nvPr/>
        </p:nvSpPr>
        <p:spPr>
          <a:xfrm>
            <a:off x="457200" y="5212080"/>
            <a:ext cx="8229600" cy="274320"/>
          </a:xfrm>
          <a:prstGeom prst="rect">
            <a:avLst/>
          </a:prstGeom>
          <a:noFill/>
        </p:spPr>
        <p:txBody>
          <a:bodyPr wrap="none">
            <a:spAutoFit/>
          </a:bodyPr>
          <a:lstStyle/>
          <a:p>
            <a:pPr>
              <a:defRPr sz="1200" b="1">
                <a:solidFill>
                  <a:srgbClr val="0050A0"/>
                </a:solidFill>
              </a:defRPr>
            </a:pPr>
            <a:r>
              <a:rPr dirty="0"/>
              <a:t>WHAT THIS SHOWS:</a:t>
            </a:r>
          </a:p>
        </p:txBody>
      </p:sp>
      <p:sp>
        <p:nvSpPr>
          <p:cNvPr id="9" name="TextBox 8"/>
          <p:cNvSpPr txBox="1"/>
          <p:nvPr/>
        </p:nvSpPr>
        <p:spPr>
          <a:xfrm>
            <a:off x="457200" y="5486400"/>
            <a:ext cx="8229600" cy="1097280"/>
          </a:xfrm>
          <a:prstGeom prst="rect">
            <a:avLst/>
          </a:prstGeom>
          <a:noFill/>
        </p:spPr>
        <p:txBody>
          <a:bodyPr wrap="square">
            <a:spAutoFit/>
          </a:bodyPr>
          <a:lstStyle/>
          <a:p>
            <a:pPr>
              <a:defRPr sz="1100">
                <a:solidFill>
                  <a:srgbClr val="282828"/>
                </a:solidFill>
              </a:defRPr>
            </a:pPr>
            <a:r>
              <a:rPr dirty="0"/>
              <a:t>This query counts every node in the graph grouped by type. We have 11 different node types working together. The largest group (</a:t>
            </a:r>
            <a:r>
              <a:rPr dirty="0" err="1"/>
              <a:t>PatternSensitivity</a:t>
            </a:r>
            <a:r>
              <a:rPr dirty="0"/>
              <a:t> with 643 nodes) represents how each of our 191 content patterns is rated differently across 6 cultural groups. This isn't just a database - it's an intelligent system with interconnected decision-making components.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Visual Overview: Colorful Graph</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Each color represents a different content category</a:t>
            </a:r>
          </a:p>
        </p:txBody>
      </p:sp>
      <p:sp>
        <p:nvSpPr>
          <p:cNvPr id="5" name="TextBox 4"/>
          <p:cNvSpPr txBox="1"/>
          <p:nvPr/>
        </p:nvSpPr>
        <p:spPr>
          <a:xfrm>
            <a:off x="457200" y="1645920"/>
            <a:ext cx="6217920" cy="1169551"/>
          </a:xfrm>
          <a:prstGeom prst="rect">
            <a:avLst/>
          </a:prstGeom>
          <a:solidFill>
            <a:srgbClr val="F0F0F0"/>
          </a:solidFill>
        </p:spPr>
        <p:txBody>
          <a:bodyPr wrap="square">
            <a:spAutoFit/>
          </a:bodyPr>
          <a:lstStyle/>
          <a:p>
            <a:pPr>
              <a:defRPr sz="1000">
                <a:solidFill>
                  <a:srgbClr val="000000"/>
                </a:solidFill>
                <a:latin typeface="Courier New"/>
              </a:defRPr>
            </a:pPr>
            <a:r>
              <a:t>// Sample from all categories</a:t>
            </a:r>
          </a:p>
          <a:p>
            <a:pPr>
              <a:defRPr sz="1000">
                <a:solidFill>
                  <a:srgbClr val="000000"/>
                </a:solidFill>
                <a:latin typeface="Courier New"/>
              </a:defRPr>
            </a:pPr>
            <a:r>
              <a:t>MATCH (p:ContentPattern)</a:t>
            </a:r>
          </a:p>
          <a:p>
            <a:pPr>
              <a:defRPr sz="1000">
                <a:solidFill>
                  <a:srgbClr val="000000"/>
                </a:solidFill>
                <a:latin typeface="Courier New"/>
              </a:defRPr>
            </a:pPr>
            <a:r>
              <a:t>WITH p.category AS cat, collect(p)[0..3] AS patterns</a:t>
            </a:r>
          </a:p>
          <a:p>
            <a:pPr>
              <a:defRPr sz="1000">
                <a:solidFill>
                  <a:srgbClr val="000000"/>
                </a:solidFill>
                <a:latin typeface="Courier New"/>
              </a:defRPr>
            </a:pPr>
            <a:r>
              <a:t>UNWIND patterns AS pattern</a:t>
            </a:r>
          </a:p>
          <a:p>
            <a:pPr>
              <a:defRPr sz="1000">
                <a:solidFill>
                  <a:srgbClr val="000000"/>
                </a:solidFill>
                <a:latin typeface="Courier New"/>
              </a:defRPr>
            </a:pPr>
            <a:r>
              <a:t>OPTIONAL MATCH (pattern)-[r]-(connected)</a:t>
            </a:r>
          </a:p>
          <a:p>
            <a:pPr>
              <a:defRPr sz="1000">
                <a:solidFill>
                  <a:srgbClr val="000000"/>
                </a:solidFill>
                <a:latin typeface="Courier New"/>
              </a:defRPr>
            </a:pPr>
            <a:r>
              <a:t>RETURN pattern, r, connected</a:t>
            </a:r>
          </a:p>
          <a:p>
            <a:pPr>
              <a:defRPr sz="1000">
                <a:solidFill>
                  <a:srgbClr val="000000"/>
                </a:solidFill>
                <a:latin typeface="Courier New"/>
              </a:defRPr>
            </a:pPr>
            <a:r>
              <a:t>LIMIT 250</a:t>
            </a:r>
          </a:p>
        </p:txBody>
      </p:sp>
      <p:sp>
        <p:nvSpPr>
          <p:cNvPr id="6" name="TextBox 5"/>
          <p:cNvSpPr txBox="1"/>
          <p:nvPr/>
        </p:nvSpPr>
        <p:spPr>
          <a:xfrm>
            <a:off x="393192" y="299611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457200" y="3270439"/>
            <a:ext cx="8229600" cy="1188720"/>
          </a:xfrm>
          <a:prstGeom prst="rect">
            <a:avLst/>
          </a:prstGeom>
          <a:noFill/>
        </p:spPr>
        <p:txBody>
          <a:bodyPr wrap="square">
            <a:spAutoFit/>
          </a:bodyPr>
          <a:lstStyle/>
          <a:p>
            <a:pPr>
              <a:spcAft>
                <a:spcPts val="400"/>
              </a:spcAft>
              <a:defRPr sz="1100">
                <a:solidFill>
                  <a:srgbClr val="000000"/>
                </a:solidFill>
              </a:defRPr>
            </a:pPr>
            <a:r>
              <a:rPr dirty="0"/>
              <a:t>Visual graph with ~250 nodes in 10 colors:</a:t>
            </a:r>
          </a:p>
          <a:p>
            <a:pPr>
              <a:spcAft>
                <a:spcPts val="400"/>
              </a:spcAft>
              <a:defRPr sz="1100">
                <a:solidFill>
                  <a:srgbClr val="000000"/>
                </a:solidFill>
              </a:defRPr>
            </a:pPr>
            <a:r>
              <a:rPr dirty="0"/>
              <a:t>• Red = Alcohol | Dark Red = Violence | Pink = Nudity</a:t>
            </a:r>
          </a:p>
          <a:p>
            <a:pPr>
              <a:spcAft>
                <a:spcPts val="400"/>
              </a:spcAft>
              <a:defRPr sz="1100">
                <a:solidFill>
                  <a:srgbClr val="000000"/>
                </a:solidFill>
              </a:defRPr>
            </a:pPr>
            <a:r>
              <a:rPr dirty="0"/>
              <a:t>• Purple = Sexuality | Orange = Smoking | Deep Orange = Drugs</a:t>
            </a:r>
          </a:p>
          <a:p>
            <a:pPr>
              <a:spcAft>
                <a:spcPts val="400"/>
              </a:spcAft>
              <a:defRPr sz="1100">
                <a:solidFill>
                  <a:srgbClr val="000000"/>
                </a:solidFill>
              </a:defRPr>
            </a:pPr>
            <a:r>
              <a:rPr dirty="0"/>
              <a:t>• Dark Purple = Horror | Brown = Profanity</a:t>
            </a:r>
          </a:p>
          <a:p>
            <a:pPr>
              <a:spcAft>
                <a:spcPts val="400"/>
              </a:spcAft>
              <a:defRPr sz="1100">
                <a:solidFill>
                  <a:srgbClr val="000000"/>
                </a:solidFill>
              </a:defRPr>
            </a:pPr>
            <a:r>
              <a:rPr dirty="0"/>
              <a:t>• Deep Purple = Self-Harm | Teal = LGBTQ</a:t>
            </a:r>
          </a:p>
          <a:p>
            <a:pPr>
              <a:spcAft>
                <a:spcPts val="400"/>
              </a:spcAft>
              <a:defRPr sz="1100">
                <a:solidFill>
                  <a:srgbClr val="000000"/>
                </a:solidFill>
              </a:defRPr>
            </a:pPr>
            <a:endParaRPr dirty="0"/>
          </a:p>
          <a:p>
            <a:pPr>
              <a:spcAft>
                <a:spcPts val="400"/>
              </a:spcAft>
              <a:defRPr sz="1100">
                <a:solidFill>
                  <a:srgbClr val="000000"/>
                </a:solidFill>
              </a:defRPr>
            </a:pPr>
            <a:r>
              <a:rPr dirty="0"/>
              <a:t>Each pattern connects to detection elements, sensitivities, and groups.</a:t>
            </a:r>
          </a:p>
        </p:txBody>
      </p:sp>
      <p:sp>
        <p:nvSpPr>
          <p:cNvPr id="8" name="TextBox 7"/>
          <p:cNvSpPr txBox="1"/>
          <p:nvPr/>
        </p:nvSpPr>
        <p:spPr>
          <a:xfrm>
            <a:off x="509026" y="4940677"/>
            <a:ext cx="1478290" cy="461665"/>
          </a:xfrm>
          <a:prstGeom prst="rect">
            <a:avLst/>
          </a:prstGeom>
          <a:noFill/>
        </p:spPr>
        <p:txBody>
          <a:bodyPr wrap="none">
            <a:spAutoFit/>
          </a:bodyPr>
          <a:lstStyle/>
          <a:p>
            <a:pPr>
              <a:defRPr sz="1200" b="1">
                <a:solidFill>
                  <a:srgbClr val="0050A0"/>
                </a:solidFill>
              </a:defRPr>
            </a:pPr>
            <a:r>
              <a:rPr dirty="0"/>
              <a:t>WHAT THIS SHOWS:</a:t>
            </a:r>
            <a:endParaRPr lang="en-US" dirty="0"/>
          </a:p>
          <a:p>
            <a:pPr>
              <a:defRPr sz="1200" b="1">
                <a:solidFill>
                  <a:srgbClr val="0050A0"/>
                </a:solidFill>
              </a:defRPr>
            </a:pPr>
            <a:endParaRPr dirty="0"/>
          </a:p>
        </p:txBody>
      </p:sp>
      <p:sp>
        <p:nvSpPr>
          <p:cNvPr id="9" name="TextBox 8"/>
          <p:cNvSpPr txBox="1"/>
          <p:nvPr/>
        </p:nvSpPr>
        <p:spPr>
          <a:xfrm>
            <a:off x="457200" y="5577840"/>
            <a:ext cx="8229600" cy="1097280"/>
          </a:xfrm>
          <a:prstGeom prst="rect">
            <a:avLst/>
          </a:prstGeom>
          <a:noFill/>
        </p:spPr>
        <p:txBody>
          <a:bodyPr wrap="square">
            <a:spAutoFit/>
          </a:bodyPr>
          <a:lstStyle/>
          <a:p>
            <a:pPr>
              <a:defRPr sz="1100">
                <a:solidFill>
                  <a:srgbClr val="282828"/>
                </a:solidFill>
              </a:defRPr>
            </a:pPr>
            <a:r>
              <a:rPr dirty="0"/>
              <a:t>This query samples 3 patterns from each of the 10 categories and shows their connections. The color-coding makes it easy to see the diversity of content types we handle. Each category has different patterns, detection methods, and cultural sensitivities. This visualization reveals the complexity and interconnectedness of the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solidFill>
                  <a:srgbClr val="2962FF"/>
                </a:solidFill>
              </a:defRPr>
            </a:pPr>
            <a:r>
              <a:t>10 Content Categories</a:t>
            </a:r>
          </a:p>
        </p:txBody>
      </p:sp>
      <p:sp>
        <p:nvSpPr>
          <p:cNvPr id="4" name="TextBox 3"/>
          <p:cNvSpPr txBox="1"/>
          <p:nvPr/>
        </p:nvSpPr>
        <p:spPr>
          <a:xfrm>
            <a:off x="457200" y="1371600"/>
            <a:ext cx="2353529" cy="5037276"/>
          </a:xfrm>
          <a:prstGeom prst="rect">
            <a:avLst/>
          </a:prstGeom>
          <a:noFill/>
        </p:spPr>
        <p:txBody>
          <a:bodyPr wrap="none">
            <a:spAutoFit/>
          </a:bodyPr>
          <a:lstStyle/>
          <a:p>
            <a:endParaRPr dirty="0"/>
          </a:p>
          <a:p>
            <a:pPr>
              <a:spcAft>
                <a:spcPts val="800"/>
              </a:spcAft>
              <a:defRPr sz="1400"/>
            </a:pPr>
            <a:r>
              <a:rPr dirty="0"/>
              <a:t>🍺 ALCOHOL (13 patterns)</a:t>
            </a:r>
          </a:p>
          <a:p>
            <a:pPr>
              <a:spcAft>
                <a:spcPts val="800"/>
              </a:spcAft>
              <a:defRPr sz="1400"/>
            </a:pPr>
            <a:r>
              <a:rPr dirty="0"/>
              <a:t>   • Casual consumption</a:t>
            </a:r>
          </a:p>
          <a:p>
            <a:pPr>
              <a:spcAft>
                <a:spcPts val="800"/>
              </a:spcAft>
              <a:defRPr sz="1400"/>
            </a:pPr>
            <a:r>
              <a:rPr dirty="0"/>
              <a:t>   • Heavy drinking</a:t>
            </a:r>
          </a:p>
          <a:p>
            <a:pPr>
              <a:spcAft>
                <a:spcPts val="800"/>
              </a:spcAft>
              <a:defRPr sz="1400"/>
            </a:pPr>
            <a:r>
              <a:rPr dirty="0"/>
              <a:t>   • Underage drinking</a:t>
            </a:r>
          </a:p>
          <a:p>
            <a:pPr>
              <a:spcAft>
                <a:spcPts val="800"/>
              </a:spcAft>
              <a:defRPr sz="1400"/>
            </a:pPr>
            <a:r>
              <a:rPr dirty="0"/>
              <a:t>   • Alcohol stores/ads</a:t>
            </a:r>
          </a:p>
          <a:p>
            <a:pPr>
              <a:spcAft>
                <a:spcPts val="800"/>
              </a:spcAft>
              <a:defRPr sz="1400"/>
            </a:pPr>
            <a:endParaRPr dirty="0"/>
          </a:p>
          <a:p>
            <a:pPr>
              <a:spcAft>
                <a:spcPts val="800"/>
              </a:spcAft>
              <a:defRPr sz="1400"/>
            </a:pPr>
            <a:r>
              <a:rPr dirty="0"/>
              <a:t>👊 VIOLENCE (15 patterns)</a:t>
            </a:r>
          </a:p>
          <a:p>
            <a:pPr>
              <a:spcAft>
                <a:spcPts val="800"/>
              </a:spcAft>
              <a:defRPr sz="1400"/>
            </a:pPr>
            <a:r>
              <a:rPr dirty="0"/>
              <a:t>   • Physical fights</a:t>
            </a:r>
          </a:p>
          <a:p>
            <a:pPr>
              <a:spcAft>
                <a:spcPts val="800"/>
              </a:spcAft>
              <a:defRPr sz="1400"/>
            </a:pPr>
            <a:r>
              <a:rPr dirty="0"/>
              <a:t>   • Weapons</a:t>
            </a:r>
          </a:p>
          <a:p>
            <a:pPr>
              <a:spcAft>
                <a:spcPts val="800"/>
              </a:spcAft>
              <a:defRPr sz="1400"/>
            </a:pPr>
            <a:r>
              <a:rPr dirty="0"/>
              <a:t>   • Blood/gore</a:t>
            </a:r>
          </a:p>
          <a:p>
            <a:pPr>
              <a:spcAft>
                <a:spcPts val="800"/>
              </a:spcAft>
              <a:defRPr sz="1400"/>
            </a:pPr>
            <a:endParaRPr dirty="0"/>
          </a:p>
          <a:p>
            <a:pPr>
              <a:spcAft>
                <a:spcPts val="800"/>
              </a:spcAft>
              <a:defRPr sz="1400"/>
            </a:pPr>
            <a:r>
              <a:rPr dirty="0"/>
              <a:t>👙 NUDITY (22 patterns)</a:t>
            </a:r>
          </a:p>
          <a:p>
            <a:pPr>
              <a:spcAft>
                <a:spcPts val="800"/>
              </a:spcAft>
              <a:defRPr sz="1400"/>
            </a:pPr>
            <a:r>
              <a:rPr dirty="0"/>
              <a:t>   • Body exposure levels</a:t>
            </a:r>
          </a:p>
          <a:p>
            <a:pPr>
              <a:spcAft>
                <a:spcPts val="800"/>
              </a:spcAft>
              <a:defRPr sz="1400"/>
            </a:pPr>
            <a:r>
              <a:rPr dirty="0"/>
              <a:t>   • Context (artistic vs sexual)</a:t>
            </a:r>
          </a:p>
          <a:p>
            <a:pPr>
              <a:spcAft>
                <a:spcPts val="800"/>
              </a:spcAft>
              <a:defRPr sz="1400"/>
            </a:pPr>
            <a:endParaRPr dirty="0"/>
          </a:p>
        </p:txBody>
      </p:sp>
      <p:sp>
        <p:nvSpPr>
          <p:cNvPr id="5" name="TextBox 4"/>
          <p:cNvSpPr txBox="1"/>
          <p:nvPr/>
        </p:nvSpPr>
        <p:spPr>
          <a:xfrm>
            <a:off x="4800600" y="1371600"/>
            <a:ext cx="2667718" cy="5037276"/>
          </a:xfrm>
          <a:prstGeom prst="rect">
            <a:avLst/>
          </a:prstGeom>
          <a:noFill/>
        </p:spPr>
        <p:txBody>
          <a:bodyPr wrap="none">
            <a:spAutoFit/>
          </a:bodyPr>
          <a:lstStyle/>
          <a:p>
            <a:endParaRPr dirty="0"/>
          </a:p>
          <a:p>
            <a:pPr>
              <a:spcAft>
                <a:spcPts val="800"/>
              </a:spcAft>
              <a:defRPr sz="1400"/>
            </a:pPr>
            <a:r>
              <a:rPr dirty="0"/>
              <a:t>💊 DRUGS (17 patterns)</a:t>
            </a:r>
          </a:p>
          <a:p>
            <a:pPr>
              <a:spcAft>
                <a:spcPts val="800"/>
              </a:spcAft>
              <a:defRPr sz="1400"/>
            </a:pPr>
            <a:r>
              <a:rPr dirty="0"/>
              <a:t>   • Substance use</a:t>
            </a:r>
          </a:p>
          <a:p>
            <a:pPr>
              <a:spcAft>
                <a:spcPts val="800"/>
              </a:spcAft>
              <a:defRPr sz="1400"/>
            </a:pPr>
            <a:r>
              <a:rPr dirty="0"/>
              <a:t>   • Drug paraphernalia</a:t>
            </a:r>
          </a:p>
          <a:p>
            <a:pPr>
              <a:spcAft>
                <a:spcPts val="800"/>
              </a:spcAft>
              <a:defRPr sz="1400"/>
            </a:pPr>
            <a:endParaRPr dirty="0"/>
          </a:p>
          <a:p>
            <a:pPr>
              <a:spcAft>
                <a:spcPts val="800"/>
              </a:spcAft>
              <a:defRPr sz="1400"/>
            </a:pPr>
            <a:r>
              <a:rPr dirty="0"/>
              <a:t>👻 HORROR (42 patterns - most!)</a:t>
            </a:r>
          </a:p>
          <a:p>
            <a:pPr>
              <a:spcAft>
                <a:spcPts val="800"/>
              </a:spcAft>
              <a:defRPr sz="1400"/>
            </a:pPr>
            <a:r>
              <a:rPr dirty="0"/>
              <a:t>   • Jump scares</a:t>
            </a:r>
          </a:p>
          <a:p>
            <a:pPr>
              <a:spcAft>
                <a:spcPts val="800"/>
              </a:spcAft>
              <a:defRPr sz="1400"/>
            </a:pPr>
            <a:r>
              <a:rPr dirty="0"/>
              <a:t>   • Psychological horror</a:t>
            </a:r>
          </a:p>
          <a:p>
            <a:pPr>
              <a:spcAft>
                <a:spcPts val="800"/>
              </a:spcAft>
              <a:defRPr sz="1400"/>
            </a:pPr>
            <a:r>
              <a:rPr dirty="0"/>
              <a:t>   • Monsters, gore</a:t>
            </a:r>
          </a:p>
          <a:p>
            <a:pPr>
              <a:spcAft>
                <a:spcPts val="800"/>
              </a:spcAft>
              <a:defRPr sz="1400"/>
            </a:pPr>
            <a:endParaRPr dirty="0"/>
          </a:p>
          <a:p>
            <a:pPr>
              <a:spcAft>
                <a:spcPts val="800"/>
              </a:spcAft>
              <a:defRPr sz="1400"/>
            </a:pPr>
            <a:r>
              <a:rPr dirty="0"/>
              <a:t>🤬 PROFANITY (18 patterns)</a:t>
            </a:r>
          </a:p>
          <a:p>
            <a:pPr>
              <a:spcAft>
                <a:spcPts val="800"/>
              </a:spcAft>
              <a:defRPr sz="1400"/>
            </a:pPr>
            <a:r>
              <a:rPr dirty="0"/>
              <a:t>   • Mild to strong language</a:t>
            </a:r>
          </a:p>
          <a:p>
            <a:pPr>
              <a:spcAft>
                <a:spcPts val="800"/>
              </a:spcAft>
              <a:defRPr sz="1400"/>
            </a:pPr>
            <a:endParaRPr dirty="0"/>
          </a:p>
          <a:p>
            <a:pPr>
              <a:spcAft>
                <a:spcPts val="800"/>
              </a:spcAft>
              <a:defRPr sz="1400"/>
            </a:pPr>
            <a:r>
              <a:rPr dirty="0"/>
              <a:t>🩹 SELF-HARM (30 patterns)</a:t>
            </a:r>
          </a:p>
          <a:p>
            <a:pPr>
              <a:spcAft>
                <a:spcPts val="800"/>
              </a:spcAft>
              <a:defRPr sz="1400"/>
            </a:pPr>
            <a:r>
              <a:rPr dirty="0"/>
              <a:t>   • Depictions &amp; discussions</a:t>
            </a:r>
          </a:p>
          <a:p>
            <a:pPr>
              <a:spcAft>
                <a:spcPts val="800"/>
              </a:spcAft>
              <a:defRPr sz="1400"/>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7862B-570F-E46A-0729-BA3DA6B874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9F63E4-5A6A-3A6C-C46A-8D9F89350D99}"/>
              </a:ext>
            </a:extLst>
          </p:cNvPr>
          <p:cNvSpPr txBox="1"/>
          <p:nvPr/>
        </p:nvSpPr>
        <p:spPr>
          <a:xfrm>
            <a:off x="457200" y="457200"/>
            <a:ext cx="8229600" cy="731520"/>
          </a:xfrm>
          <a:prstGeom prst="rect">
            <a:avLst/>
          </a:prstGeom>
          <a:noFill/>
        </p:spPr>
        <p:txBody>
          <a:bodyPr wrap="none">
            <a:spAutoFit/>
          </a:bodyPr>
          <a:lstStyle/>
          <a:p>
            <a:pPr>
              <a:defRPr sz="3200" b="1">
                <a:solidFill>
                  <a:srgbClr val="2962FF"/>
                </a:solidFill>
              </a:defRPr>
            </a:pPr>
            <a:r>
              <a:t>10 Content Categories</a:t>
            </a:r>
          </a:p>
        </p:txBody>
      </p:sp>
      <p:sp>
        <p:nvSpPr>
          <p:cNvPr id="4" name="TextBox 3">
            <a:extLst>
              <a:ext uri="{FF2B5EF4-FFF2-40B4-BE49-F238E27FC236}">
                <a16:creationId xmlns:a16="http://schemas.microsoft.com/office/drawing/2014/main" id="{70197409-2DA2-F850-CC25-CB25545A0F6E}"/>
              </a:ext>
            </a:extLst>
          </p:cNvPr>
          <p:cNvSpPr txBox="1"/>
          <p:nvPr/>
        </p:nvSpPr>
        <p:spPr>
          <a:xfrm>
            <a:off x="886968" y="1682496"/>
            <a:ext cx="2232791" cy="2534027"/>
          </a:xfrm>
          <a:prstGeom prst="rect">
            <a:avLst/>
          </a:prstGeom>
          <a:noFill/>
        </p:spPr>
        <p:txBody>
          <a:bodyPr wrap="none">
            <a:spAutoFit/>
          </a:bodyPr>
          <a:lstStyle/>
          <a:p>
            <a:pPr>
              <a:spcAft>
                <a:spcPts val="800"/>
              </a:spcAft>
              <a:defRPr sz="1400"/>
            </a:pPr>
            <a:r>
              <a:rPr lang="en-US" dirty="0"/>
              <a:t>💕 SEXUALITY (18 patterns)</a:t>
            </a:r>
          </a:p>
          <a:p>
            <a:pPr>
              <a:spcAft>
                <a:spcPts val="800"/>
              </a:spcAft>
              <a:defRPr sz="1400"/>
            </a:pPr>
            <a:r>
              <a:rPr lang="en-US" dirty="0"/>
              <a:t>   • Romantic content</a:t>
            </a:r>
          </a:p>
          <a:p>
            <a:pPr>
              <a:spcAft>
                <a:spcPts val="800"/>
              </a:spcAft>
              <a:defRPr sz="1400"/>
            </a:pPr>
            <a:r>
              <a:rPr lang="en-US" dirty="0"/>
              <a:t>   • Explicit content</a:t>
            </a:r>
          </a:p>
          <a:p>
            <a:pPr>
              <a:spcAft>
                <a:spcPts val="800"/>
              </a:spcAft>
              <a:defRPr sz="1400"/>
            </a:pPr>
            <a:endParaRPr lang="en-US" dirty="0"/>
          </a:p>
          <a:p>
            <a:pPr>
              <a:spcAft>
                <a:spcPts val="800"/>
              </a:spcAft>
              <a:defRPr sz="1400"/>
            </a:pPr>
            <a:r>
              <a:rPr lang="en-US" dirty="0"/>
              <a:t>🚬 SMOKING (6 patterns)</a:t>
            </a:r>
          </a:p>
          <a:p>
            <a:pPr>
              <a:spcAft>
                <a:spcPts val="800"/>
              </a:spcAft>
              <a:defRPr sz="1400"/>
            </a:pPr>
            <a:r>
              <a:rPr lang="en-US" dirty="0"/>
              <a:t>   • Cigarettes, vaping</a:t>
            </a:r>
          </a:p>
          <a:p>
            <a:pPr>
              <a:spcAft>
                <a:spcPts val="800"/>
              </a:spcAft>
              <a:defRPr sz="1400"/>
            </a:pPr>
            <a:endParaRPr dirty="0"/>
          </a:p>
          <a:p>
            <a:pPr>
              <a:spcAft>
                <a:spcPts val="800"/>
              </a:spcAft>
              <a:defRPr sz="1400"/>
            </a:pPr>
            <a:endParaRPr dirty="0"/>
          </a:p>
        </p:txBody>
      </p:sp>
      <p:sp>
        <p:nvSpPr>
          <p:cNvPr id="5" name="TextBox 4">
            <a:extLst>
              <a:ext uri="{FF2B5EF4-FFF2-40B4-BE49-F238E27FC236}">
                <a16:creationId xmlns:a16="http://schemas.microsoft.com/office/drawing/2014/main" id="{F292F17F-052E-8EE3-3FA1-18485A397FDD}"/>
              </a:ext>
            </a:extLst>
          </p:cNvPr>
          <p:cNvSpPr txBox="1"/>
          <p:nvPr/>
        </p:nvSpPr>
        <p:spPr>
          <a:xfrm>
            <a:off x="4800600" y="1371600"/>
            <a:ext cx="3488455" cy="1579920"/>
          </a:xfrm>
          <a:prstGeom prst="rect">
            <a:avLst/>
          </a:prstGeom>
          <a:noFill/>
        </p:spPr>
        <p:txBody>
          <a:bodyPr wrap="none">
            <a:spAutoFit/>
          </a:bodyPr>
          <a:lstStyle/>
          <a:p>
            <a:pPr>
              <a:spcAft>
                <a:spcPts val="800"/>
              </a:spcAft>
              <a:defRPr sz="1400"/>
            </a:pPr>
            <a:endParaRPr dirty="0"/>
          </a:p>
          <a:p>
            <a:pPr>
              <a:spcAft>
                <a:spcPts val="800"/>
              </a:spcAft>
              <a:defRPr sz="1400"/>
            </a:pPr>
            <a:r>
              <a:rPr dirty="0"/>
              <a:t>🏳️‍🌈 LGBTQ (10 patterns)</a:t>
            </a:r>
          </a:p>
          <a:p>
            <a:pPr>
              <a:spcAft>
                <a:spcPts val="800"/>
              </a:spcAft>
              <a:defRPr sz="1400"/>
            </a:pPr>
            <a:r>
              <a:rPr dirty="0"/>
              <a:t>   • Identity &amp; relationships</a:t>
            </a:r>
          </a:p>
          <a:p>
            <a:pPr>
              <a:spcAft>
                <a:spcPts val="800"/>
              </a:spcAft>
              <a:defRPr sz="1400"/>
            </a:pPr>
            <a:endParaRPr dirty="0"/>
          </a:p>
          <a:p>
            <a:pPr>
              <a:spcAft>
                <a:spcPts val="800"/>
              </a:spcAft>
              <a:defRPr sz="1400"/>
            </a:pPr>
            <a:r>
              <a:rPr dirty="0"/>
              <a:t>📊 TOTAL: 191 patterns across 10 categories</a:t>
            </a:r>
          </a:p>
        </p:txBody>
      </p:sp>
    </p:spTree>
    <p:extLst>
      <p:ext uri="{BB962C8B-B14F-4D97-AF65-F5344CB8AC3E}">
        <p14:creationId xmlns:p14="http://schemas.microsoft.com/office/powerpoint/2010/main" val="977899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Pattern Detection Example: Alcohol P5</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Pattern = Formula of Detection Elements</a:t>
            </a:r>
          </a:p>
        </p:txBody>
      </p:sp>
      <p:sp>
        <p:nvSpPr>
          <p:cNvPr id="5" name="TextBox 4"/>
          <p:cNvSpPr txBox="1"/>
          <p:nvPr/>
        </p:nvSpPr>
        <p:spPr>
          <a:xfrm>
            <a:off x="457200" y="1645919"/>
            <a:ext cx="5340096" cy="707886"/>
          </a:xfrm>
          <a:prstGeom prst="rect">
            <a:avLst/>
          </a:prstGeom>
          <a:solidFill>
            <a:srgbClr val="F0F0F0"/>
          </a:solidFill>
        </p:spPr>
        <p:txBody>
          <a:bodyPr wrap="square">
            <a:spAutoFit/>
          </a:bodyPr>
          <a:lstStyle/>
          <a:p>
            <a:pPr>
              <a:defRPr sz="1000">
                <a:solidFill>
                  <a:srgbClr val="000000"/>
                </a:solidFill>
                <a:latin typeface="Courier New"/>
              </a:defRPr>
            </a:pPr>
            <a:r>
              <a:rPr dirty="0"/>
              <a:t>// Show pattern with its detection elements</a:t>
            </a:r>
          </a:p>
          <a:p>
            <a:pPr>
              <a:defRPr sz="1000">
                <a:solidFill>
                  <a:srgbClr val="000000"/>
                </a:solidFill>
                <a:latin typeface="Courier New"/>
              </a:defRPr>
            </a:pPr>
            <a:r>
              <a:rPr dirty="0"/>
              <a:t>MATCH (</a:t>
            </a:r>
            <a:r>
              <a:rPr dirty="0" err="1"/>
              <a:t>p:ContentPattern</a:t>
            </a:r>
            <a:r>
              <a:rPr dirty="0"/>
              <a:t> {</a:t>
            </a:r>
            <a:r>
              <a:rPr dirty="0" err="1"/>
              <a:t>unique_pattern_id</a:t>
            </a:r>
            <a:r>
              <a:rPr dirty="0"/>
              <a:t>: 'ALC_P5'})</a:t>
            </a:r>
          </a:p>
          <a:p>
            <a:pPr>
              <a:defRPr sz="1000">
                <a:solidFill>
                  <a:srgbClr val="000000"/>
                </a:solidFill>
                <a:latin typeface="Courier New"/>
              </a:defRPr>
            </a:pPr>
            <a:r>
              <a:rPr dirty="0"/>
              <a:t>      -[:</a:t>
            </a:r>
            <a:r>
              <a:rPr dirty="0" err="1"/>
              <a:t>requiresDetectionElement</a:t>
            </a:r>
            <a:r>
              <a:rPr dirty="0"/>
              <a:t>]-&gt;(</a:t>
            </a:r>
            <a:r>
              <a:rPr dirty="0" err="1"/>
              <a:t>d:DetectionElement</a:t>
            </a:r>
            <a:r>
              <a:rPr dirty="0"/>
              <a:t>)</a:t>
            </a:r>
          </a:p>
          <a:p>
            <a:pPr>
              <a:defRPr sz="1000">
                <a:solidFill>
                  <a:srgbClr val="000000"/>
                </a:solidFill>
                <a:latin typeface="Courier New"/>
              </a:defRPr>
            </a:pPr>
            <a:r>
              <a:rPr dirty="0"/>
              <a:t>RETURN p, d</a:t>
            </a:r>
          </a:p>
        </p:txBody>
      </p:sp>
      <p:sp>
        <p:nvSpPr>
          <p:cNvPr id="6" name="TextBox 5"/>
          <p:cNvSpPr txBox="1"/>
          <p:nvPr/>
        </p:nvSpPr>
        <p:spPr>
          <a:xfrm>
            <a:off x="457200" y="283463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356616" y="3208769"/>
            <a:ext cx="8229600" cy="1188720"/>
          </a:xfrm>
          <a:prstGeom prst="rect">
            <a:avLst/>
          </a:prstGeom>
          <a:noFill/>
        </p:spPr>
        <p:txBody>
          <a:bodyPr wrap="square">
            <a:spAutoFit/>
          </a:bodyPr>
          <a:lstStyle/>
          <a:p>
            <a:pPr>
              <a:spcAft>
                <a:spcPts val="400"/>
              </a:spcAft>
              <a:defRPr sz="1100">
                <a:solidFill>
                  <a:srgbClr val="000000"/>
                </a:solidFill>
              </a:defRPr>
            </a:pPr>
            <a:r>
              <a:rPr dirty="0"/>
              <a:t>1 Pattern Node (ALC_P5: 'Casual Alcohol Consumption')</a:t>
            </a:r>
          </a:p>
          <a:p>
            <a:pPr>
              <a:spcAft>
                <a:spcPts val="400"/>
              </a:spcAft>
              <a:defRPr sz="1100">
                <a:solidFill>
                  <a:srgbClr val="000000"/>
                </a:solidFill>
              </a:defRPr>
            </a:pPr>
            <a:r>
              <a:rPr dirty="0"/>
              <a:t>connected to 5-8 Detection Element nodes:</a:t>
            </a:r>
          </a:p>
          <a:p>
            <a:pPr>
              <a:spcAft>
                <a:spcPts val="400"/>
              </a:spcAft>
              <a:defRPr sz="1100">
                <a:solidFill>
                  <a:srgbClr val="000000"/>
                </a:solidFill>
              </a:defRPr>
            </a:pPr>
            <a:r>
              <a:rPr dirty="0"/>
              <a:t>• AGE_ADULT - Adult characters present</a:t>
            </a:r>
          </a:p>
          <a:p>
            <a:pPr>
              <a:spcAft>
                <a:spcPts val="400"/>
              </a:spcAft>
              <a:defRPr sz="1100">
                <a:solidFill>
                  <a:srgbClr val="000000"/>
                </a:solidFill>
              </a:defRPr>
            </a:pPr>
            <a:r>
              <a:rPr dirty="0"/>
              <a:t>• ALC_BEER - Beer visible</a:t>
            </a:r>
          </a:p>
          <a:p>
            <a:pPr>
              <a:spcAft>
                <a:spcPts val="400"/>
              </a:spcAft>
              <a:defRPr sz="1100">
                <a:solidFill>
                  <a:srgbClr val="000000"/>
                </a:solidFill>
              </a:defRPr>
            </a:pPr>
            <a:r>
              <a:rPr dirty="0"/>
              <a:t>• ALC_WINE - Wine visible</a:t>
            </a:r>
          </a:p>
          <a:p>
            <a:pPr>
              <a:spcAft>
                <a:spcPts val="400"/>
              </a:spcAft>
              <a:defRPr sz="1100">
                <a:solidFill>
                  <a:srgbClr val="000000"/>
                </a:solidFill>
              </a:defRPr>
            </a:pPr>
            <a:r>
              <a:rPr dirty="0"/>
              <a:t>• CON_C01 - Casual consumption context</a:t>
            </a:r>
          </a:p>
          <a:p>
            <a:pPr>
              <a:spcAft>
                <a:spcPts val="400"/>
              </a:spcAft>
              <a:defRPr sz="1100">
                <a:solidFill>
                  <a:srgbClr val="000000"/>
                </a:solidFill>
              </a:defRPr>
            </a:pPr>
            <a:r>
              <a:rPr dirty="0"/>
              <a:t>• Additional context elements</a:t>
            </a:r>
          </a:p>
        </p:txBody>
      </p:sp>
      <p:sp>
        <p:nvSpPr>
          <p:cNvPr id="8" name="TextBox 7"/>
          <p:cNvSpPr txBox="1"/>
          <p:nvPr/>
        </p:nvSpPr>
        <p:spPr>
          <a:xfrm>
            <a:off x="457200" y="4928228"/>
            <a:ext cx="8229600" cy="274320"/>
          </a:xfrm>
          <a:prstGeom prst="rect">
            <a:avLst/>
          </a:prstGeom>
          <a:noFill/>
        </p:spPr>
        <p:txBody>
          <a:bodyPr wrap="none">
            <a:spAutoFit/>
          </a:bodyPr>
          <a:lstStyle/>
          <a:p>
            <a:pPr>
              <a:defRPr sz="1200" b="1">
                <a:solidFill>
                  <a:srgbClr val="0050A0"/>
                </a:solidFill>
              </a:defRPr>
            </a:pPr>
            <a:r>
              <a:t>WHAT THIS SHOWS:</a:t>
            </a:r>
          </a:p>
        </p:txBody>
      </p:sp>
      <p:sp>
        <p:nvSpPr>
          <p:cNvPr id="9" name="TextBox 8"/>
          <p:cNvSpPr txBox="1"/>
          <p:nvPr/>
        </p:nvSpPr>
        <p:spPr>
          <a:xfrm>
            <a:off x="356616" y="5458968"/>
            <a:ext cx="8229600" cy="1097280"/>
          </a:xfrm>
          <a:prstGeom prst="rect">
            <a:avLst/>
          </a:prstGeom>
          <a:noFill/>
        </p:spPr>
        <p:txBody>
          <a:bodyPr wrap="square">
            <a:spAutoFit/>
          </a:bodyPr>
          <a:lstStyle/>
          <a:p>
            <a:pPr>
              <a:defRPr sz="1100">
                <a:solidFill>
                  <a:srgbClr val="282828"/>
                </a:solidFill>
              </a:defRPr>
            </a:pPr>
            <a:r>
              <a:rPr dirty="0"/>
              <a:t>A content pattern is like a formula made of detection elements. To identify 'Casual Alcohol Consumption', we look for: Adults + Specific alcohol type (beer/wine) + Casual context. This multi-factor detection is far more accurate than simple keyword matching. It understands nuance and context, not just presence of alcohol.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Cultural Groups Framework</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Based on Hofstede's Cultural Dimensions (Research-backed!)</a:t>
            </a:r>
          </a:p>
        </p:txBody>
      </p:sp>
      <p:sp>
        <p:nvSpPr>
          <p:cNvPr id="5" name="TextBox 4"/>
          <p:cNvSpPr txBox="1"/>
          <p:nvPr/>
        </p:nvSpPr>
        <p:spPr>
          <a:xfrm>
            <a:off x="457200" y="1645920"/>
            <a:ext cx="8229600" cy="2011680"/>
          </a:xfrm>
          <a:prstGeom prst="rect">
            <a:avLst/>
          </a:prstGeom>
          <a:solidFill>
            <a:srgbClr val="F0F0F0"/>
          </a:solidFill>
        </p:spPr>
        <p:txBody>
          <a:bodyPr wrap="square">
            <a:spAutoFit/>
          </a:bodyPr>
          <a:lstStyle/>
          <a:p>
            <a:pPr>
              <a:defRPr sz="1000">
                <a:solidFill>
                  <a:srgbClr val="000000"/>
                </a:solidFill>
                <a:latin typeface="Courier New"/>
              </a:defRPr>
            </a:pPr>
            <a:r>
              <a:t>// Show all cultural groups with their territories</a:t>
            </a:r>
          </a:p>
          <a:p>
            <a:pPr>
              <a:defRPr sz="1000">
                <a:solidFill>
                  <a:srgbClr val="000000"/>
                </a:solidFill>
                <a:latin typeface="Courier New"/>
              </a:defRPr>
            </a:pPr>
            <a:r>
              <a:t>MATCH (t:Territory)-[:belongsToPrimaryGroup]-&gt;(g:CulturalGroup)</a:t>
            </a:r>
          </a:p>
          <a:p>
            <a:pPr>
              <a:defRPr sz="1000">
                <a:solidFill>
                  <a:srgbClr val="000000"/>
                </a:solidFill>
                <a:latin typeface="Courier New"/>
              </a:defRPr>
            </a:pPr>
            <a:r>
              <a:t>RETURN g.group_id AS Group,</a:t>
            </a:r>
          </a:p>
          <a:p>
            <a:pPr>
              <a:defRPr sz="1000">
                <a:solidFill>
                  <a:srgbClr val="000000"/>
                </a:solidFill>
                <a:latin typeface="Courier New"/>
              </a:defRPr>
            </a:pPr>
            <a:r>
              <a:t>       g.label AS Description,</a:t>
            </a:r>
          </a:p>
          <a:p>
            <a:pPr>
              <a:defRPr sz="1000">
                <a:solidFill>
                  <a:srgbClr val="000000"/>
                </a:solidFill>
                <a:latin typeface="Courier New"/>
              </a:defRPr>
            </a:pPr>
            <a:r>
              <a:t>       collect(t.territory_code) AS Territories</a:t>
            </a:r>
          </a:p>
          <a:p>
            <a:pPr>
              <a:defRPr sz="1000">
                <a:solidFill>
                  <a:srgbClr val="000000"/>
                </a:solidFill>
                <a:latin typeface="Courier New"/>
              </a:defRPr>
            </a:pPr>
            <a:r>
              <a:t>ORDER BY g.group_id</a:t>
            </a:r>
          </a:p>
        </p:txBody>
      </p:sp>
      <p:sp>
        <p:nvSpPr>
          <p:cNvPr id="6" name="TextBox 5"/>
          <p:cNvSpPr txBox="1"/>
          <p:nvPr/>
        </p:nvSpPr>
        <p:spPr>
          <a:xfrm>
            <a:off x="457200" y="374903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457200" y="4023360"/>
            <a:ext cx="8229600" cy="1188720"/>
          </a:xfrm>
          <a:prstGeom prst="rect">
            <a:avLst/>
          </a:prstGeom>
          <a:noFill/>
        </p:spPr>
        <p:txBody>
          <a:bodyPr wrap="square">
            <a:spAutoFit/>
          </a:bodyPr>
          <a:lstStyle/>
          <a:p>
            <a:pPr>
              <a:spcAft>
                <a:spcPts val="400"/>
              </a:spcAft>
              <a:defRPr sz="1100">
                <a:solidFill>
                  <a:srgbClr val="000000"/>
                </a:solidFill>
              </a:defRPr>
            </a:pPr>
            <a:r>
              <a:t>6 Cultural Groups:</a:t>
            </a:r>
          </a:p>
          <a:p>
            <a:pPr>
              <a:spcAft>
                <a:spcPts val="400"/>
              </a:spcAft>
              <a:defRPr sz="1100">
                <a:solidFill>
                  <a:srgbClr val="000000"/>
                </a:solidFill>
              </a:defRPr>
            </a:pPr>
            <a:r>
              <a:t>• G1: [IN, BR, CN, MX, SA] - High Power Distance &amp; Collectivist</a:t>
            </a:r>
          </a:p>
          <a:p>
            <a:pPr>
              <a:spcAft>
                <a:spcPts val="400"/>
              </a:spcAft>
              <a:defRPr sz="1100">
                <a:solidFill>
                  <a:srgbClr val="000000"/>
                </a:solidFill>
              </a:defRPr>
            </a:pPr>
            <a:r>
              <a:t>• G2: [US, GB, AU] - Low Power Distance &amp; Individualist</a:t>
            </a:r>
          </a:p>
          <a:p>
            <a:pPr>
              <a:spcAft>
                <a:spcPts val="400"/>
              </a:spcAft>
              <a:defRPr sz="1100">
                <a:solidFill>
                  <a:srgbClr val="000000"/>
                </a:solidFill>
              </a:defRPr>
            </a:pPr>
            <a:r>
              <a:t>• G3: [DE, FR] - Balanced Cultural Approach</a:t>
            </a:r>
          </a:p>
          <a:p>
            <a:pPr>
              <a:spcAft>
                <a:spcPts val="400"/>
              </a:spcAft>
              <a:defRPr sz="1100">
                <a:solidFill>
                  <a:srgbClr val="000000"/>
                </a:solidFill>
              </a:defRPr>
            </a:pPr>
            <a:r>
              <a:t>• G4-G6: Additional cultural frameworks</a:t>
            </a:r>
          </a:p>
          <a:p>
            <a:pPr>
              <a:spcAft>
                <a:spcPts val="400"/>
              </a:spcAft>
              <a:defRPr sz="1100">
                <a:solidFill>
                  <a:srgbClr val="000000"/>
                </a:solidFill>
              </a:defRPr>
            </a:pPr>
            <a:endParaRPr/>
          </a:p>
          <a:p>
            <a:pPr>
              <a:spcAft>
                <a:spcPts val="400"/>
              </a:spcAft>
              <a:defRPr sz="1100">
                <a:solidFill>
                  <a:srgbClr val="000000"/>
                </a:solidFill>
              </a:defRPr>
            </a:pPr>
            <a:r>
              <a:t>11 territories mapped to appropriate groups</a:t>
            </a:r>
          </a:p>
        </p:txBody>
      </p:sp>
      <p:sp>
        <p:nvSpPr>
          <p:cNvPr id="8" name="TextBox 7"/>
          <p:cNvSpPr txBox="1"/>
          <p:nvPr/>
        </p:nvSpPr>
        <p:spPr>
          <a:xfrm>
            <a:off x="457200" y="5120640"/>
            <a:ext cx="8229600" cy="274320"/>
          </a:xfrm>
          <a:prstGeom prst="rect">
            <a:avLst/>
          </a:prstGeom>
          <a:noFill/>
        </p:spPr>
        <p:txBody>
          <a:bodyPr wrap="none">
            <a:spAutoFit/>
          </a:bodyPr>
          <a:lstStyle/>
          <a:p>
            <a:pPr>
              <a:defRPr sz="1200" b="1">
                <a:solidFill>
                  <a:srgbClr val="0050A0"/>
                </a:solidFill>
              </a:defRPr>
            </a:pPr>
            <a:r>
              <a:rPr dirty="0"/>
              <a:t>WHAT THIS SHOWS:</a:t>
            </a:r>
          </a:p>
        </p:txBody>
      </p:sp>
      <p:sp>
        <p:nvSpPr>
          <p:cNvPr id="9" name="TextBox 8"/>
          <p:cNvSpPr txBox="1"/>
          <p:nvPr/>
        </p:nvSpPr>
        <p:spPr>
          <a:xfrm>
            <a:off x="457200" y="5577840"/>
            <a:ext cx="8229600" cy="1097280"/>
          </a:xfrm>
          <a:prstGeom prst="rect">
            <a:avLst/>
          </a:prstGeom>
          <a:noFill/>
        </p:spPr>
        <p:txBody>
          <a:bodyPr wrap="square">
            <a:spAutoFit/>
          </a:bodyPr>
          <a:lstStyle/>
          <a:p>
            <a:pPr>
              <a:defRPr sz="1100">
                <a:solidFill>
                  <a:srgbClr val="282828"/>
                </a:solidFill>
              </a:defRPr>
            </a:pPr>
            <a:r>
              <a:rPr dirty="0"/>
              <a:t>We use Hofstede's Cultural Dimensions framework - a globally recognized research methodology for understanding cultural differences. G1 cultures (like India, Brazil, Saudi Arabia) tend to be more conservative about content due to high collectivism. G2 cultures (US, UK, Australia) are more permissive due to individualism. This is data-driven classification, not arbitrary grouping.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Visual: Territories &amp; Cultural Groups</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Green gradient: G1 (dark) to G6 (light) | 🔵 Blue: Territories</a:t>
            </a:r>
          </a:p>
        </p:txBody>
      </p:sp>
      <p:sp>
        <p:nvSpPr>
          <p:cNvPr id="5" name="TextBox 4"/>
          <p:cNvSpPr txBox="1"/>
          <p:nvPr/>
        </p:nvSpPr>
        <p:spPr>
          <a:xfrm>
            <a:off x="457200" y="1645920"/>
            <a:ext cx="8229600" cy="2011680"/>
          </a:xfrm>
          <a:prstGeom prst="rect">
            <a:avLst/>
          </a:prstGeom>
          <a:solidFill>
            <a:srgbClr val="F0F0F0"/>
          </a:solidFill>
        </p:spPr>
        <p:txBody>
          <a:bodyPr wrap="square">
            <a:spAutoFit/>
          </a:bodyPr>
          <a:lstStyle/>
          <a:p>
            <a:pPr>
              <a:defRPr sz="1000">
                <a:solidFill>
                  <a:srgbClr val="000000"/>
                </a:solidFill>
                <a:latin typeface="Courier New"/>
              </a:defRPr>
            </a:pPr>
            <a:r>
              <a:t>// Visualize the cultural framework</a:t>
            </a:r>
          </a:p>
          <a:p>
            <a:pPr>
              <a:defRPr sz="1000">
                <a:solidFill>
                  <a:srgbClr val="000000"/>
                </a:solidFill>
                <a:latin typeface="Courier New"/>
              </a:defRPr>
            </a:pPr>
            <a:r>
              <a:t>MATCH (t:Territory)-[:belongsToPrimaryGroup]-&gt;(g:CulturalGroup)</a:t>
            </a:r>
          </a:p>
          <a:p>
            <a:pPr>
              <a:defRPr sz="1000">
                <a:solidFill>
                  <a:srgbClr val="000000"/>
                </a:solidFill>
                <a:latin typeface="Courier New"/>
              </a:defRPr>
            </a:pPr>
            <a:r>
              <a:t>RETURN t, g</a:t>
            </a:r>
          </a:p>
        </p:txBody>
      </p:sp>
      <p:sp>
        <p:nvSpPr>
          <p:cNvPr id="6" name="TextBox 5"/>
          <p:cNvSpPr txBox="1"/>
          <p:nvPr/>
        </p:nvSpPr>
        <p:spPr>
          <a:xfrm>
            <a:off x="457200" y="374903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457200" y="4023360"/>
            <a:ext cx="8229600" cy="1188720"/>
          </a:xfrm>
          <a:prstGeom prst="rect">
            <a:avLst/>
          </a:prstGeom>
          <a:noFill/>
        </p:spPr>
        <p:txBody>
          <a:bodyPr wrap="square">
            <a:spAutoFit/>
          </a:bodyPr>
          <a:lstStyle/>
          <a:p>
            <a:pPr>
              <a:spcAft>
                <a:spcPts val="400"/>
              </a:spcAft>
              <a:defRPr sz="1100">
                <a:solidFill>
                  <a:srgbClr val="000000"/>
                </a:solidFill>
              </a:defRPr>
            </a:pPr>
            <a:r>
              <a:t>Visual network with:</a:t>
            </a:r>
          </a:p>
          <a:p>
            <a:pPr>
              <a:spcAft>
                <a:spcPts val="400"/>
              </a:spcAft>
              <a:defRPr sz="1100">
                <a:solidFill>
                  <a:srgbClr val="000000"/>
                </a:solidFill>
              </a:defRPr>
            </a:pPr>
            <a:r>
              <a:t>• 6 Green nodes (Cultural Groups G1-G6) in gradient</a:t>
            </a:r>
          </a:p>
          <a:p>
            <a:pPr>
              <a:spcAft>
                <a:spcPts val="400"/>
              </a:spcAft>
              <a:defRPr sz="1100">
                <a:solidFill>
                  <a:srgbClr val="000000"/>
                </a:solidFill>
              </a:defRPr>
            </a:pPr>
            <a:r>
              <a:t>  - Darker green = More conservative (G1)</a:t>
            </a:r>
          </a:p>
          <a:p>
            <a:pPr>
              <a:spcAft>
                <a:spcPts val="400"/>
              </a:spcAft>
              <a:defRPr sz="1100">
                <a:solidFill>
                  <a:srgbClr val="000000"/>
                </a:solidFill>
              </a:defRPr>
            </a:pPr>
            <a:r>
              <a:t>  - Lighter green = More liberal (G6)</a:t>
            </a:r>
          </a:p>
          <a:p>
            <a:pPr>
              <a:spcAft>
                <a:spcPts val="400"/>
              </a:spcAft>
              <a:defRPr sz="1100">
                <a:solidFill>
                  <a:srgbClr val="000000"/>
                </a:solidFill>
              </a:defRPr>
            </a:pPr>
            <a:r>
              <a:t>• 11 Blue nodes (Territories: IN, US, GB, AU, SA, etc.)</a:t>
            </a:r>
          </a:p>
          <a:p>
            <a:pPr>
              <a:spcAft>
                <a:spcPts val="400"/>
              </a:spcAft>
              <a:defRPr sz="1100">
                <a:solidFill>
                  <a:srgbClr val="000000"/>
                </a:solidFill>
              </a:defRPr>
            </a:pPr>
            <a:r>
              <a:t>• Lines connecting each territory to its primary group</a:t>
            </a:r>
          </a:p>
        </p:txBody>
      </p:sp>
      <p:sp>
        <p:nvSpPr>
          <p:cNvPr id="8" name="TextBox 7"/>
          <p:cNvSpPr txBox="1"/>
          <p:nvPr/>
        </p:nvSpPr>
        <p:spPr>
          <a:xfrm>
            <a:off x="457200" y="5303520"/>
            <a:ext cx="8229600" cy="274320"/>
          </a:xfrm>
          <a:prstGeom prst="rect">
            <a:avLst/>
          </a:prstGeom>
          <a:noFill/>
        </p:spPr>
        <p:txBody>
          <a:bodyPr wrap="none">
            <a:spAutoFit/>
          </a:bodyPr>
          <a:lstStyle/>
          <a:p>
            <a:pPr>
              <a:defRPr sz="1200" b="1">
                <a:solidFill>
                  <a:srgbClr val="0050A0"/>
                </a:solidFill>
              </a:defRPr>
            </a:pPr>
            <a:r>
              <a:t>WHAT THIS SHOWS:</a:t>
            </a:r>
          </a:p>
        </p:txBody>
      </p:sp>
      <p:sp>
        <p:nvSpPr>
          <p:cNvPr id="9" name="TextBox 8"/>
          <p:cNvSpPr txBox="1"/>
          <p:nvPr/>
        </p:nvSpPr>
        <p:spPr>
          <a:xfrm>
            <a:off x="457200" y="5577840"/>
            <a:ext cx="8229600" cy="1097280"/>
          </a:xfrm>
          <a:prstGeom prst="rect">
            <a:avLst/>
          </a:prstGeom>
          <a:noFill/>
        </p:spPr>
        <p:txBody>
          <a:bodyPr wrap="square">
            <a:spAutoFit/>
          </a:bodyPr>
          <a:lstStyle/>
          <a:p>
            <a:pPr>
              <a:defRPr sz="1100">
                <a:solidFill>
                  <a:srgbClr val="282828"/>
                </a:solidFill>
              </a:defRPr>
            </a:pPr>
            <a:r>
              <a:t>This visual shows the cultural framework in action. The green gradient represents the cultural spectrum from conservative (G1, dark green) to liberal (G6, light green). Each blue territory node is connected to its assigned cultural group. For example, India (IN) connects to G1 (conservative), while USA (US) connects to G2 (liberal).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Sensitivity Matrix: Same Content, Different Scores</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Sensitivity Scores: 1 (low) to 5 (high)</a:t>
            </a:r>
          </a:p>
        </p:txBody>
      </p:sp>
      <p:sp>
        <p:nvSpPr>
          <p:cNvPr id="5" name="TextBox 4"/>
          <p:cNvSpPr txBox="1"/>
          <p:nvPr/>
        </p:nvSpPr>
        <p:spPr>
          <a:xfrm>
            <a:off x="457200" y="1645920"/>
            <a:ext cx="8229600" cy="2011680"/>
          </a:xfrm>
          <a:prstGeom prst="rect">
            <a:avLst/>
          </a:prstGeom>
          <a:solidFill>
            <a:srgbClr val="F0F0F0"/>
          </a:solidFill>
        </p:spPr>
        <p:txBody>
          <a:bodyPr wrap="square">
            <a:spAutoFit/>
          </a:bodyPr>
          <a:lstStyle/>
          <a:p>
            <a:pPr>
              <a:defRPr sz="1000">
                <a:solidFill>
                  <a:srgbClr val="000000"/>
                </a:solidFill>
                <a:latin typeface="Courier New"/>
              </a:defRPr>
            </a:pPr>
            <a:r>
              <a:t>// How different groups rate pattern ALC_P5</a:t>
            </a:r>
          </a:p>
          <a:p>
            <a:pPr>
              <a:defRPr sz="1000">
                <a:solidFill>
                  <a:srgbClr val="000000"/>
                </a:solidFill>
                <a:latin typeface="Courier New"/>
              </a:defRPr>
            </a:pPr>
            <a:r>
              <a:t>MATCH (s:PatternSensitivity)-[:appliesTo]-&gt;</a:t>
            </a:r>
          </a:p>
          <a:p>
            <a:pPr>
              <a:defRPr sz="1000">
                <a:solidFill>
                  <a:srgbClr val="000000"/>
                </a:solidFill>
                <a:latin typeface="Courier New"/>
              </a:defRPr>
            </a:pPr>
            <a:r>
              <a:t>      (p:ContentPattern {unique_pattern_id: 'ALC_P5'})</a:t>
            </a:r>
          </a:p>
          <a:p>
            <a:pPr>
              <a:defRPr sz="1000">
                <a:solidFill>
                  <a:srgbClr val="000000"/>
                </a:solidFill>
                <a:latin typeface="Courier New"/>
              </a:defRPr>
            </a:pPr>
            <a:r>
              <a:t>MATCH (s)-[:belongsToGroup]-&gt;(g:CulturalGroup)</a:t>
            </a:r>
          </a:p>
          <a:p>
            <a:pPr>
              <a:defRPr sz="1000">
                <a:solidFill>
                  <a:srgbClr val="000000"/>
                </a:solidFill>
                <a:latin typeface="Courier New"/>
              </a:defRPr>
            </a:pPr>
            <a:r>
              <a:t>RETURN g.group_id AS Group,</a:t>
            </a:r>
          </a:p>
          <a:p>
            <a:pPr>
              <a:defRPr sz="1000">
                <a:solidFill>
                  <a:srgbClr val="000000"/>
                </a:solidFill>
                <a:latin typeface="Courier New"/>
              </a:defRPr>
            </a:pPr>
            <a:r>
              <a:t>       s.sensitivity_score AS Score,</a:t>
            </a:r>
          </a:p>
          <a:p>
            <a:pPr>
              <a:defRPr sz="1000">
                <a:solidFill>
                  <a:srgbClr val="000000"/>
                </a:solidFill>
                <a:latin typeface="Courier New"/>
              </a:defRPr>
            </a:pPr>
            <a:r>
              <a:t>       s.modification_type AS Action,</a:t>
            </a:r>
          </a:p>
          <a:p>
            <a:pPr>
              <a:defRPr sz="1000">
                <a:solidFill>
                  <a:srgbClr val="000000"/>
                </a:solidFill>
                <a:latin typeface="Courier New"/>
              </a:defRPr>
            </a:pPr>
            <a:r>
              <a:t>       s.cultural_reasoning AS Reasoning</a:t>
            </a:r>
          </a:p>
          <a:p>
            <a:pPr>
              <a:defRPr sz="1000">
                <a:solidFill>
                  <a:srgbClr val="000000"/>
                </a:solidFill>
                <a:latin typeface="Courier New"/>
              </a:defRPr>
            </a:pPr>
            <a:r>
              <a:t>ORDER BY g.group_id</a:t>
            </a:r>
          </a:p>
        </p:txBody>
      </p:sp>
      <p:sp>
        <p:nvSpPr>
          <p:cNvPr id="6" name="TextBox 5"/>
          <p:cNvSpPr txBox="1"/>
          <p:nvPr/>
        </p:nvSpPr>
        <p:spPr>
          <a:xfrm>
            <a:off x="457200" y="374903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457200" y="4023360"/>
            <a:ext cx="8229600" cy="1188720"/>
          </a:xfrm>
          <a:prstGeom prst="rect">
            <a:avLst/>
          </a:prstGeom>
          <a:noFill/>
        </p:spPr>
        <p:txBody>
          <a:bodyPr wrap="square">
            <a:spAutoFit/>
          </a:bodyPr>
          <a:lstStyle/>
          <a:p>
            <a:pPr>
              <a:spcAft>
                <a:spcPts val="400"/>
              </a:spcAft>
              <a:defRPr sz="1100">
                <a:solidFill>
                  <a:srgbClr val="000000"/>
                </a:solidFill>
              </a:defRPr>
            </a:pPr>
            <a:r>
              <a:t>6 rows showing how each group rates ALC_P5:</a:t>
            </a:r>
          </a:p>
          <a:p>
            <a:pPr>
              <a:spcAft>
                <a:spcPts val="400"/>
              </a:spcAft>
              <a:defRPr sz="1100">
                <a:solidFill>
                  <a:srgbClr val="000000"/>
                </a:solidFill>
              </a:defRPr>
            </a:pPr>
            <a:r>
              <a:t>• G1: Score 4 | Action: BLUR | Reason: Conservative values</a:t>
            </a:r>
          </a:p>
          <a:p>
            <a:pPr>
              <a:spcAft>
                <a:spcPts val="400"/>
              </a:spcAft>
              <a:defRPr sz="1100">
                <a:solidFill>
                  <a:srgbClr val="000000"/>
                </a:solidFill>
              </a:defRPr>
            </a:pPr>
            <a:r>
              <a:t>• G2: Score 2 | Action: NONE | Reason: Liberal, adult context</a:t>
            </a:r>
          </a:p>
          <a:p>
            <a:pPr>
              <a:spcAft>
                <a:spcPts val="400"/>
              </a:spcAft>
              <a:defRPr sz="1100">
                <a:solidFill>
                  <a:srgbClr val="000000"/>
                </a:solidFill>
              </a:defRPr>
            </a:pPr>
            <a:r>
              <a:t>• G3: Score 3 | Action: LABEL | Reason: Balanced, warning needed</a:t>
            </a:r>
          </a:p>
          <a:p>
            <a:pPr>
              <a:spcAft>
                <a:spcPts val="400"/>
              </a:spcAft>
              <a:defRPr sz="1100">
                <a:solidFill>
                  <a:srgbClr val="000000"/>
                </a:solidFill>
              </a:defRPr>
            </a:pPr>
            <a:r>
              <a:t>• G4-G6: Varying scores based on cultural values</a:t>
            </a:r>
          </a:p>
        </p:txBody>
      </p:sp>
      <p:sp>
        <p:nvSpPr>
          <p:cNvPr id="8" name="TextBox 7"/>
          <p:cNvSpPr txBox="1"/>
          <p:nvPr/>
        </p:nvSpPr>
        <p:spPr>
          <a:xfrm>
            <a:off x="457200" y="5303520"/>
            <a:ext cx="8229600" cy="274320"/>
          </a:xfrm>
          <a:prstGeom prst="rect">
            <a:avLst/>
          </a:prstGeom>
          <a:noFill/>
        </p:spPr>
        <p:txBody>
          <a:bodyPr wrap="none">
            <a:spAutoFit/>
          </a:bodyPr>
          <a:lstStyle/>
          <a:p>
            <a:pPr>
              <a:defRPr sz="1200" b="1">
                <a:solidFill>
                  <a:srgbClr val="0050A0"/>
                </a:solidFill>
              </a:defRPr>
            </a:pPr>
            <a:r>
              <a:t>WHAT THIS SHOWS:</a:t>
            </a:r>
          </a:p>
        </p:txBody>
      </p:sp>
      <p:sp>
        <p:nvSpPr>
          <p:cNvPr id="9" name="TextBox 8"/>
          <p:cNvSpPr txBox="1"/>
          <p:nvPr/>
        </p:nvSpPr>
        <p:spPr>
          <a:xfrm>
            <a:off x="457200" y="5577840"/>
            <a:ext cx="8229600" cy="1097280"/>
          </a:xfrm>
          <a:prstGeom prst="rect">
            <a:avLst/>
          </a:prstGeom>
          <a:noFill/>
        </p:spPr>
        <p:txBody>
          <a:bodyPr wrap="square">
            <a:spAutoFit/>
          </a:bodyPr>
          <a:lstStyle/>
          <a:p>
            <a:pPr>
              <a:defRPr sz="1100">
                <a:solidFill>
                  <a:srgbClr val="282828"/>
                </a:solidFill>
              </a:defRPr>
            </a:pPr>
            <a:r>
              <a:t>This is cultural intelligence in action. The SAME content pattern (Casual Alcohol Consumption) receives different sensitivity scores from different cultural groups. Conservative cultures (G1) rate it 4 (high sensitivity) and blur it. Liberal cultures (G2) rate it 2 (low sensitivity) and show it unmodified. This matrix enables culturally-appropriate content decisions at scale.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Visual: Sensitivity Network</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Amber nodes = Sensitivity scores connecting patterns to groups</a:t>
            </a:r>
          </a:p>
        </p:txBody>
      </p:sp>
      <p:sp>
        <p:nvSpPr>
          <p:cNvPr id="5" name="TextBox 4"/>
          <p:cNvSpPr txBox="1"/>
          <p:nvPr/>
        </p:nvSpPr>
        <p:spPr>
          <a:xfrm>
            <a:off x="457200" y="1645920"/>
            <a:ext cx="8229600" cy="2011680"/>
          </a:xfrm>
          <a:prstGeom prst="rect">
            <a:avLst/>
          </a:prstGeom>
          <a:solidFill>
            <a:srgbClr val="F0F0F0"/>
          </a:solidFill>
        </p:spPr>
        <p:txBody>
          <a:bodyPr wrap="square">
            <a:spAutoFit/>
          </a:bodyPr>
          <a:lstStyle/>
          <a:p>
            <a:pPr>
              <a:defRPr sz="1000">
                <a:solidFill>
                  <a:srgbClr val="000000"/>
                </a:solidFill>
                <a:latin typeface="Courier New"/>
              </a:defRPr>
            </a:pPr>
            <a:r>
              <a:t>// Visualize sensitivity across groups</a:t>
            </a:r>
          </a:p>
          <a:p>
            <a:pPr>
              <a:defRPr sz="1000">
                <a:solidFill>
                  <a:srgbClr val="000000"/>
                </a:solidFill>
                <a:latin typeface="Courier New"/>
              </a:defRPr>
            </a:pPr>
            <a:r>
              <a:t>MATCH path = (p:ContentPattern {unique_pattern_id: 'ALC_P5'})</a:t>
            </a:r>
          </a:p>
          <a:p>
            <a:pPr>
              <a:defRPr sz="1000">
                <a:solidFill>
                  <a:srgbClr val="000000"/>
                </a:solidFill>
                <a:latin typeface="Courier New"/>
              </a:defRPr>
            </a:pPr>
            <a:r>
              <a:t>             &lt;-[:appliesTo]-(s:PatternSensitivity)</a:t>
            </a:r>
          </a:p>
          <a:p>
            <a:pPr>
              <a:defRPr sz="1000">
                <a:solidFill>
                  <a:srgbClr val="000000"/>
                </a:solidFill>
                <a:latin typeface="Courier New"/>
              </a:defRPr>
            </a:pPr>
            <a:r>
              <a:t>             -[:belongsToGroup]-&gt;(g:CulturalGroup)</a:t>
            </a:r>
          </a:p>
          <a:p>
            <a:pPr>
              <a:defRPr sz="1000">
                <a:solidFill>
                  <a:srgbClr val="000000"/>
                </a:solidFill>
                <a:latin typeface="Courier New"/>
              </a:defRPr>
            </a:pPr>
            <a:r>
              <a:t>RETURN path</a:t>
            </a:r>
          </a:p>
        </p:txBody>
      </p:sp>
      <p:sp>
        <p:nvSpPr>
          <p:cNvPr id="6" name="TextBox 5"/>
          <p:cNvSpPr txBox="1"/>
          <p:nvPr/>
        </p:nvSpPr>
        <p:spPr>
          <a:xfrm>
            <a:off x="457200" y="374903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457200" y="4023360"/>
            <a:ext cx="8229600" cy="1188720"/>
          </a:xfrm>
          <a:prstGeom prst="rect">
            <a:avLst/>
          </a:prstGeom>
          <a:noFill/>
        </p:spPr>
        <p:txBody>
          <a:bodyPr wrap="square">
            <a:spAutoFit/>
          </a:bodyPr>
          <a:lstStyle/>
          <a:p>
            <a:pPr>
              <a:spcAft>
                <a:spcPts val="400"/>
              </a:spcAft>
              <a:defRPr sz="1100">
                <a:solidFill>
                  <a:srgbClr val="000000"/>
                </a:solidFill>
              </a:defRPr>
            </a:pPr>
            <a:r>
              <a:t>Star-shaped network:</a:t>
            </a:r>
          </a:p>
          <a:p>
            <a:pPr>
              <a:spcAft>
                <a:spcPts val="400"/>
              </a:spcAft>
              <a:defRPr sz="1100">
                <a:solidFill>
                  <a:srgbClr val="000000"/>
                </a:solidFill>
              </a:defRPr>
            </a:pPr>
            <a:r>
              <a:t>• CENTER: 1 Red node (Pattern ALC_P5)</a:t>
            </a:r>
          </a:p>
          <a:p>
            <a:pPr>
              <a:spcAft>
                <a:spcPts val="400"/>
              </a:spcAft>
              <a:defRPr sz="1100">
                <a:solidFill>
                  <a:srgbClr val="000000"/>
                </a:solidFill>
              </a:defRPr>
            </a:pPr>
            <a:r>
              <a:t>• MIDDLE: 6 Amber/Yellow nodes (Sensitivity scores)</a:t>
            </a:r>
          </a:p>
          <a:p>
            <a:pPr>
              <a:spcAft>
                <a:spcPts val="400"/>
              </a:spcAft>
              <a:defRPr sz="1100">
                <a:solidFill>
                  <a:srgbClr val="000000"/>
                </a:solidFill>
              </a:defRPr>
            </a:pPr>
            <a:r>
              <a:t>• OUTER: 6 Green nodes (Cultural Groups G1-G6)</a:t>
            </a:r>
          </a:p>
          <a:p>
            <a:pPr>
              <a:spcAft>
                <a:spcPts val="400"/>
              </a:spcAft>
              <a:defRPr sz="1100">
                <a:solidFill>
                  <a:srgbClr val="000000"/>
                </a:solidFill>
              </a:defRPr>
            </a:pPr>
            <a:r>
              <a:t>• Lines show: Pattern → Sensitivity → Group relationships</a:t>
            </a:r>
          </a:p>
        </p:txBody>
      </p:sp>
      <p:sp>
        <p:nvSpPr>
          <p:cNvPr id="8" name="TextBox 7"/>
          <p:cNvSpPr txBox="1"/>
          <p:nvPr/>
        </p:nvSpPr>
        <p:spPr>
          <a:xfrm>
            <a:off x="457200" y="5303520"/>
            <a:ext cx="8229600" cy="274320"/>
          </a:xfrm>
          <a:prstGeom prst="rect">
            <a:avLst/>
          </a:prstGeom>
          <a:noFill/>
        </p:spPr>
        <p:txBody>
          <a:bodyPr wrap="none">
            <a:spAutoFit/>
          </a:bodyPr>
          <a:lstStyle/>
          <a:p>
            <a:pPr>
              <a:defRPr sz="1200" b="1">
                <a:solidFill>
                  <a:srgbClr val="0050A0"/>
                </a:solidFill>
              </a:defRPr>
            </a:pPr>
            <a:r>
              <a:t>WHAT THIS SHOWS:</a:t>
            </a:r>
          </a:p>
        </p:txBody>
      </p:sp>
      <p:sp>
        <p:nvSpPr>
          <p:cNvPr id="9" name="TextBox 8"/>
          <p:cNvSpPr txBox="1"/>
          <p:nvPr/>
        </p:nvSpPr>
        <p:spPr>
          <a:xfrm>
            <a:off x="457200" y="5577840"/>
            <a:ext cx="8229600" cy="1097280"/>
          </a:xfrm>
          <a:prstGeom prst="rect">
            <a:avLst/>
          </a:prstGeom>
          <a:noFill/>
        </p:spPr>
        <p:txBody>
          <a:bodyPr wrap="square">
            <a:spAutoFit/>
          </a:bodyPr>
          <a:lstStyle/>
          <a:p>
            <a:pPr>
              <a:defRPr sz="1100">
                <a:solidFill>
                  <a:srgbClr val="282828"/>
                </a:solidFill>
              </a:defRPr>
            </a:pPr>
            <a:r>
              <a:t>This visualization shows the sensitivity matrix as a network. One pattern in the center (red) connects to 6 sensitivity nodes (amber), which then connect to 6 cultural groups (green). Each amber node holds a different score and action based on the group's cultural values. This star pattern repeats for all 191 content patterns, creating a comprehensive sensitivity matrix.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Territory Exceptions: Legal Overrides</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Red exception nodes override default group behavior</a:t>
            </a:r>
          </a:p>
        </p:txBody>
      </p:sp>
      <p:sp>
        <p:nvSpPr>
          <p:cNvPr id="5" name="TextBox 4"/>
          <p:cNvSpPr txBox="1"/>
          <p:nvPr/>
        </p:nvSpPr>
        <p:spPr>
          <a:xfrm>
            <a:off x="457200" y="1645920"/>
            <a:ext cx="8229600" cy="2011680"/>
          </a:xfrm>
          <a:prstGeom prst="rect">
            <a:avLst/>
          </a:prstGeom>
          <a:solidFill>
            <a:srgbClr val="F0F0F0"/>
          </a:solidFill>
        </p:spPr>
        <p:txBody>
          <a:bodyPr wrap="square">
            <a:spAutoFit/>
          </a:bodyPr>
          <a:lstStyle/>
          <a:p>
            <a:pPr>
              <a:defRPr sz="1000">
                <a:solidFill>
                  <a:srgbClr val="000000"/>
                </a:solidFill>
                <a:latin typeface="Courier New"/>
              </a:defRPr>
            </a:pPr>
            <a:r>
              <a:t>// Territory-specific exceptions for alcohol</a:t>
            </a:r>
          </a:p>
          <a:p>
            <a:pPr>
              <a:defRPr sz="1000">
                <a:solidFill>
                  <a:srgbClr val="000000"/>
                </a:solidFill>
                <a:latin typeface="Courier New"/>
              </a:defRPr>
            </a:pPr>
            <a:r>
              <a:t>MATCH (e:TerritoryException)-[:overridesPattern]-&gt;</a:t>
            </a:r>
          </a:p>
          <a:p>
            <a:pPr>
              <a:defRPr sz="1000">
                <a:solidFill>
                  <a:srgbClr val="000000"/>
                </a:solidFill>
                <a:latin typeface="Courier New"/>
              </a:defRPr>
            </a:pPr>
            <a:r>
              <a:t>      (p:ContentPattern)</a:t>
            </a:r>
          </a:p>
          <a:p>
            <a:pPr>
              <a:defRPr sz="1000">
                <a:solidFill>
                  <a:srgbClr val="000000"/>
                </a:solidFill>
                <a:latin typeface="Courier New"/>
              </a:defRPr>
            </a:pPr>
            <a:r>
              <a:t>MATCH (e)-[:appliesToTerritory]-&gt;(t:Territory)</a:t>
            </a:r>
          </a:p>
          <a:p>
            <a:pPr>
              <a:defRPr sz="1000">
                <a:solidFill>
                  <a:srgbClr val="000000"/>
                </a:solidFill>
                <a:latin typeface="Courier New"/>
              </a:defRPr>
            </a:pPr>
            <a:r>
              <a:t>WHERE p.category = 'alcohol'</a:t>
            </a:r>
          </a:p>
          <a:p>
            <a:pPr>
              <a:defRPr sz="1000">
                <a:solidFill>
                  <a:srgbClr val="000000"/>
                </a:solidFill>
                <a:latin typeface="Courier New"/>
              </a:defRPr>
            </a:pPr>
            <a:r>
              <a:t>RETURN t.territory_code AS Territory,</a:t>
            </a:r>
          </a:p>
          <a:p>
            <a:pPr>
              <a:defRPr sz="1000">
                <a:solidFill>
                  <a:srgbClr val="000000"/>
                </a:solidFill>
                <a:latin typeface="Courier New"/>
              </a:defRPr>
            </a:pPr>
            <a:r>
              <a:t>       p.pattern_id AS Pattern,</a:t>
            </a:r>
          </a:p>
          <a:p>
            <a:pPr>
              <a:defRPr sz="1000">
                <a:solidFill>
                  <a:srgbClr val="000000"/>
                </a:solidFill>
                <a:latin typeface="Courier New"/>
              </a:defRPr>
            </a:pPr>
            <a:r>
              <a:t>       e.sensitivity_score AS OverrideScore,</a:t>
            </a:r>
          </a:p>
          <a:p>
            <a:pPr>
              <a:defRPr sz="1000">
                <a:solidFill>
                  <a:srgbClr val="000000"/>
                </a:solidFill>
                <a:latin typeface="Courier New"/>
              </a:defRPr>
            </a:pPr>
            <a:r>
              <a:t>       e.modification_type AS Action,</a:t>
            </a:r>
          </a:p>
          <a:p>
            <a:pPr>
              <a:defRPr sz="1000">
                <a:solidFill>
                  <a:srgbClr val="000000"/>
                </a:solidFill>
                <a:latin typeface="Courier New"/>
              </a:defRPr>
            </a:pPr>
            <a:r>
              <a:t>       e.reasoning AS Reason</a:t>
            </a:r>
          </a:p>
          <a:p>
            <a:pPr>
              <a:defRPr sz="1000">
                <a:solidFill>
                  <a:srgbClr val="000000"/>
                </a:solidFill>
                <a:latin typeface="Courier New"/>
              </a:defRPr>
            </a:pPr>
            <a:r>
              <a:t>ORDER BY e.sensitivity_score DESC</a:t>
            </a:r>
          </a:p>
          <a:p>
            <a:pPr>
              <a:defRPr sz="1000">
                <a:solidFill>
                  <a:srgbClr val="000000"/>
                </a:solidFill>
                <a:latin typeface="Courier New"/>
              </a:defRPr>
            </a:pPr>
            <a:r>
              <a:t>LIMIT 10</a:t>
            </a:r>
          </a:p>
        </p:txBody>
      </p:sp>
      <p:sp>
        <p:nvSpPr>
          <p:cNvPr id="6" name="TextBox 5"/>
          <p:cNvSpPr txBox="1"/>
          <p:nvPr/>
        </p:nvSpPr>
        <p:spPr>
          <a:xfrm>
            <a:off x="457200" y="374903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457200" y="4023360"/>
            <a:ext cx="8229600" cy="1188720"/>
          </a:xfrm>
          <a:prstGeom prst="rect">
            <a:avLst/>
          </a:prstGeom>
          <a:noFill/>
        </p:spPr>
        <p:txBody>
          <a:bodyPr wrap="square">
            <a:spAutoFit/>
          </a:bodyPr>
          <a:lstStyle/>
          <a:p>
            <a:pPr>
              <a:spcAft>
                <a:spcPts val="400"/>
              </a:spcAft>
              <a:defRPr sz="1100">
                <a:solidFill>
                  <a:srgbClr val="000000"/>
                </a:solidFill>
              </a:defRPr>
            </a:pPr>
            <a:r>
              <a:t>~10 territory-specific overrides (highest severity first):</a:t>
            </a:r>
          </a:p>
          <a:p>
            <a:pPr>
              <a:spcAft>
                <a:spcPts val="400"/>
              </a:spcAft>
              <a:defRPr sz="1100">
                <a:solidFill>
                  <a:srgbClr val="000000"/>
                </a:solidFill>
              </a:defRPr>
            </a:pPr>
            <a:r>
              <a:t>• IN (India): P13 | Score 5 | REMOVE | Prohibition laws</a:t>
            </a:r>
          </a:p>
          <a:p>
            <a:pPr>
              <a:spcAft>
                <a:spcPts val="400"/>
              </a:spcAft>
              <a:defRPr sz="1100">
                <a:solidFill>
                  <a:srgbClr val="000000"/>
                </a:solidFill>
              </a:defRPr>
            </a:pPr>
            <a:r>
              <a:t>• SA (Saudi Arabia): P10 | Score 5 | REMOVE | Islamic law</a:t>
            </a:r>
          </a:p>
          <a:p>
            <a:pPr>
              <a:spcAft>
                <a:spcPts val="400"/>
              </a:spcAft>
              <a:defRPr sz="1100">
                <a:solidFill>
                  <a:srgbClr val="000000"/>
                </a:solidFill>
              </a:defRPr>
            </a:pPr>
            <a:r>
              <a:t>• IN: P8 | Score 5 | REMOVE | State regulations</a:t>
            </a:r>
          </a:p>
          <a:p>
            <a:pPr>
              <a:spcAft>
                <a:spcPts val="400"/>
              </a:spcAft>
              <a:defRPr sz="1100">
                <a:solidFill>
                  <a:srgbClr val="000000"/>
                </a:solidFill>
              </a:defRPr>
            </a:pPr>
            <a:r>
              <a:t>• Additional exceptions for legal compliance</a:t>
            </a:r>
          </a:p>
        </p:txBody>
      </p:sp>
      <p:sp>
        <p:nvSpPr>
          <p:cNvPr id="8" name="TextBox 7"/>
          <p:cNvSpPr txBox="1"/>
          <p:nvPr/>
        </p:nvSpPr>
        <p:spPr>
          <a:xfrm>
            <a:off x="457200" y="5303520"/>
            <a:ext cx="8229600" cy="274320"/>
          </a:xfrm>
          <a:prstGeom prst="rect">
            <a:avLst/>
          </a:prstGeom>
          <a:noFill/>
        </p:spPr>
        <p:txBody>
          <a:bodyPr wrap="none">
            <a:spAutoFit/>
          </a:bodyPr>
          <a:lstStyle/>
          <a:p>
            <a:pPr>
              <a:defRPr sz="1200" b="1">
                <a:solidFill>
                  <a:srgbClr val="0050A0"/>
                </a:solidFill>
              </a:defRPr>
            </a:pPr>
            <a:r>
              <a:t>WHAT THIS SHOWS:</a:t>
            </a:r>
          </a:p>
        </p:txBody>
      </p:sp>
      <p:sp>
        <p:nvSpPr>
          <p:cNvPr id="9" name="TextBox 8"/>
          <p:cNvSpPr txBox="1"/>
          <p:nvPr/>
        </p:nvSpPr>
        <p:spPr>
          <a:xfrm>
            <a:off x="457200" y="5577840"/>
            <a:ext cx="8229600" cy="1097280"/>
          </a:xfrm>
          <a:prstGeom prst="rect">
            <a:avLst/>
          </a:prstGeom>
          <a:noFill/>
        </p:spPr>
        <p:txBody>
          <a:bodyPr wrap="square">
            <a:spAutoFit/>
          </a:bodyPr>
          <a:lstStyle/>
          <a:p>
            <a:pPr>
              <a:defRPr sz="1100">
                <a:solidFill>
                  <a:srgbClr val="282828"/>
                </a:solidFill>
              </a:defRPr>
            </a:pPr>
            <a:r>
              <a:t>Territory Exceptions are RED FLAG nodes that override default cultural group behavior. Even though India belongs to G1 (which might blur content), specific patterns trigger complete REMOVAL due to local prohibition laws. Saudi Arabia has Islamic law-based exceptions. These 106 exceptions (across all categories) ensure we're always legally compliant, not just culturally sensitive.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Regulatory Requirements by Territory</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Legal compliance is built into the graph</a:t>
            </a:r>
          </a:p>
        </p:txBody>
      </p:sp>
      <p:sp>
        <p:nvSpPr>
          <p:cNvPr id="5" name="TextBox 4"/>
          <p:cNvSpPr txBox="1"/>
          <p:nvPr/>
        </p:nvSpPr>
        <p:spPr>
          <a:xfrm>
            <a:off x="457200" y="1645920"/>
            <a:ext cx="8229600" cy="2011680"/>
          </a:xfrm>
          <a:prstGeom prst="rect">
            <a:avLst/>
          </a:prstGeom>
          <a:solidFill>
            <a:srgbClr val="F0F0F0"/>
          </a:solidFill>
        </p:spPr>
        <p:txBody>
          <a:bodyPr wrap="square">
            <a:spAutoFit/>
          </a:bodyPr>
          <a:lstStyle/>
          <a:p>
            <a:pPr>
              <a:defRPr sz="1000">
                <a:solidFill>
                  <a:srgbClr val="000000"/>
                </a:solidFill>
                <a:latin typeface="Courier New"/>
              </a:defRPr>
            </a:pPr>
            <a:r>
              <a:t>// Legal requirements for India</a:t>
            </a:r>
          </a:p>
          <a:p>
            <a:pPr>
              <a:defRPr sz="1000">
                <a:solidFill>
                  <a:srgbClr val="000000"/>
                </a:solidFill>
                <a:latin typeface="Courier New"/>
              </a:defRPr>
            </a:pPr>
            <a:r>
              <a:t>MATCH (r:RegulatoryRequirement)</a:t>
            </a:r>
          </a:p>
          <a:p>
            <a:pPr>
              <a:defRPr sz="1000">
                <a:solidFill>
                  <a:srgbClr val="000000"/>
                </a:solidFill>
                <a:latin typeface="Courier New"/>
              </a:defRPr>
            </a:pPr>
            <a:r>
              <a:t>      -[:regulatesTerritory]-&gt;(t:Territory {territory_code: 'IN'})</a:t>
            </a:r>
          </a:p>
          <a:p>
            <a:pPr>
              <a:defRPr sz="1000">
                <a:solidFill>
                  <a:srgbClr val="000000"/>
                </a:solidFill>
                <a:latin typeface="Courier New"/>
              </a:defRPr>
            </a:pPr>
            <a:r>
              <a:t>RETURN r.category AS Category,</a:t>
            </a:r>
          </a:p>
          <a:p>
            <a:pPr>
              <a:defRPr sz="1000">
                <a:solidFill>
                  <a:srgbClr val="000000"/>
                </a:solidFill>
                <a:latin typeface="Courier New"/>
              </a:defRPr>
            </a:pPr>
            <a:r>
              <a:t>       r.requirement_type AS Type,</a:t>
            </a:r>
          </a:p>
          <a:p>
            <a:pPr>
              <a:defRPr sz="1000">
                <a:solidFill>
                  <a:srgbClr val="000000"/>
                </a:solidFill>
                <a:latin typeface="Courier New"/>
              </a:defRPr>
            </a:pPr>
            <a:r>
              <a:t>       r.requirement_text AS Requirement</a:t>
            </a:r>
          </a:p>
          <a:p>
            <a:pPr>
              <a:defRPr sz="1000">
                <a:solidFill>
                  <a:srgbClr val="000000"/>
                </a:solidFill>
                <a:latin typeface="Courier New"/>
              </a:defRPr>
            </a:pPr>
            <a:r>
              <a:t>ORDER BY r.category</a:t>
            </a:r>
          </a:p>
        </p:txBody>
      </p:sp>
      <p:sp>
        <p:nvSpPr>
          <p:cNvPr id="6" name="TextBox 5"/>
          <p:cNvSpPr txBox="1"/>
          <p:nvPr/>
        </p:nvSpPr>
        <p:spPr>
          <a:xfrm>
            <a:off x="457200" y="374903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457200" y="4023360"/>
            <a:ext cx="8229600" cy="1188720"/>
          </a:xfrm>
          <a:prstGeom prst="rect">
            <a:avLst/>
          </a:prstGeom>
          <a:noFill/>
        </p:spPr>
        <p:txBody>
          <a:bodyPr wrap="square">
            <a:spAutoFit/>
          </a:bodyPr>
          <a:lstStyle/>
          <a:p>
            <a:pPr>
              <a:spcAft>
                <a:spcPts val="400"/>
              </a:spcAft>
              <a:defRPr sz="1100">
                <a:solidFill>
                  <a:srgbClr val="000000"/>
                </a:solidFill>
              </a:defRPr>
            </a:pPr>
            <a:r>
              <a:t>5-8 legal requirements for India:</a:t>
            </a:r>
          </a:p>
          <a:p>
            <a:pPr>
              <a:spcAft>
                <a:spcPts val="400"/>
              </a:spcAft>
              <a:defRPr sz="1100">
                <a:solidFill>
                  <a:srgbClr val="000000"/>
                </a:solidFill>
              </a:defRPr>
            </a:pPr>
            <a:r>
              <a:t>• Alcohol | prohibition | No alcohol advertising allowed</a:t>
            </a:r>
          </a:p>
          <a:p>
            <a:pPr>
              <a:spcAft>
                <a:spcPts val="400"/>
              </a:spcAft>
              <a:defRPr sz="1100">
                <a:solidFill>
                  <a:srgbClr val="000000"/>
                </a:solidFill>
              </a:defRPr>
            </a:pPr>
            <a:r>
              <a:t>• Nudity | age_gate | Mandatory 18+ age verification</a:t>
            </a:r>
          </a:p>
          <a:p>
            <a:pPr>
              <a:spcAft>
                <a:spcPts val="400"/>
              </a:spcAft>
              <a:defRPr sz="1100">
                <a:solidFill>
                  <a:srgbClr val="000000"/>
                </a:solidFill>
              </a:defRPr>
            </a:pPr>
            <a:r>
              <a:t>• Violence | warning_label | Graphic content warnings required</a:t>
            </a:r>
          </a:p>
          <a:p>
            <a:pPr>
              <a:spcAft>
                <a:spcPts val="400"/>
              </a:spcAft>
              <a:defRPr sz="1100">
                <a:solidFill>
                  <a:srgbClr val="000000"/>
                </a:solidFill>
              </a:defRPr>
            </a:pPr>
            <a:r>
              <a:t>• Smoking | disclosure | Anti-smoking disclaimers</a:t>
            </a:r>
          </a:p>
          <a:p>
            <a:pPr>
              <a:spcAft>
                <a:spcPts val="400"/>
              </a:spcAft>
              <a:defRPr sz="1100">
                <a:solidFill>
                  <a:srgbClr val="000000"/>
                </a:solidFill>
              </a:defRPr>
            </a:pPr>
            <a:r>
              <a:t>• Additional category-specific regulations</a:t>
            </a:r>
          </a:p>
        </p:txBody>
      </p:sp>
      <p:sp>
        <p:nvSpPr>
          <p:cNvPr id="8" name="TextBox 7"/>
          <p:cNvSpPr txBox="1"/>
          <p:nvPr/>
        </p:nvSpPr>
        <p:spPr>
          <a:xfrm>
            <a:off x="457200" y="5303520"/>
            <a:ext cx="8229600" cy="274320"/>
          </a:xfrm>
          <a:prstGeom prst="rect">
            <a:avLst/>
          </a:prstGeom>
          <a:noFill/>
        </p:spPr>
        <p:txBody>
          <a:bodyPr wrap="none">
            <a:spAutoFit/>
          </a:bodyPr>
          <a:lstStyle/>
          <a:p>
            <a:pPr>
              <a:defRPr sz="1200" b="1">
                <a:solidFill>
                  <a:srgbClr val="0050A0"/>
                </a:solidFill>
              </a:defRPr>
            </a:pPr>
            <a:r>
              <a:t>WHAT THIS SHOWS:</a:t>
            </a:r>
          </a:p>
        </p:txBody>
      </p:sp>
      <p:sp>
        <p:nvSpPr>
          <p:cNvPr id="9" name="TextBox 8"/>
          <p:cNvSpPr txBox="1"/>
          <p:nvPr/>
        </p:nvSpPr>
        <p:spPr>
          <a:xfrm>
            <a:off x="457200" y="5577840"/>
            <a:ext cx="8229600" cy="1097280"/>
          </a:xfrm>
          <a:prstGeom prst="rect">
            <a:avLst/>
          </a:prstGeom>
          <a:noFill/>
        </p:spPr>
        <p:txBody>
          <a:bodyPr wrap="square">
            <a:spAutoFit/>
          </a:bodyPr>
          <a:lstStyle/>
          <a:p>
            <a:pPr>
              <a:defRPr sz="1100">
                <a:solidFill>
                  <a:srgbClr val="282828"/>
                </a:solidFill>
              </a:defRPr>
            </a:pPr>
            <a:r>
              <a:t>Regulatory Requirements represent actual laws and regulations that govern content in each territory. For India, we have alcohol advertising prohibitions, mandatory age gates for adult content, and required warning labels. These have the HIGHEST priority in our decision hierarchy - they override cultural preferences and exceptions. Legal compliance is not optional.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solidFill>
                  <a:srgbClr val="2962FF"/>
                </a:solidFill>
              </a:defRPr>
            </a:pPr>
            <a:r>
              <a:t>Decision Hierarchy: 3 Layers</a:t>
            </a:r>
          </a:p>
        </p:txBody>
      </p:sp>
      <p:sp>
        <p:nvSpPr>
          <p:cNvPr id="3" name="Content Placeholder 2"/>
          <p:cNvSpPr>
            <a:spLocks noGrp="1"/>
          </p:cNvSpPr>
          <p:nvPr>
            <p:ph idx="1"/>
          </p:nvPr>
        </p:nvSpPr>
        <p:spPr>
          <a:xfrm>
            <a:off x="457200" y="1600200"/>
            <a:ext cx="8375904" cy="4983162"/>
          </a:xfrm>
        </p:spPr>
        <p:txBody>
          <a:bodyPr>
            <a:normAutofit fontScale="55000" lnSpcReduction="20000"/>
          </a:bodyPr>
          <a:lstStyle/>
          <a:p>
            <a:endParaRPr dirty="0"/>
          </a:p>
          <a:p>
            <a:pPr>
              <a:spcAft>
                <a:spcPts val="1200"/>
              </a:spcAft>
              <a:defRPr sz="1800">
                <a:solidFill>
                  <a:srgbClr val="333333"/>
                </a:solidFill>
              </a:defRPr>
            </a:pPr>
            <a:r>
              <a:rPr dirty="0"/>
              <a:t>🔴 LAYER 1: Regulatory Requirements (Highest Priority)</a:t>
            </a:r>
          </a:p>
          <a:p>
            <a:pPr>
              <a:spcAft>
                <a:spcPts val="1200"/>
              </a:spcAft>
              <a:defRPr sz="1800">
                <a:solidFill>
                  <a:srgbClr val="333333"/>
                </a:solidFill>
              </a:defRPr>
            </a:pPr>
            <a:r>
              <a:rPr dirty="0"/>
              <a:t>   • Legal compliance - overrides everything</a:t>
            </a:r>
          </a:p>
          <a:p>
            <a:pPr>
              <a:spcAft>
                <a:spcPts val="1200"/>
              </a:spcAft>
              <a:defRPr sz="1800">
                <a:solidFill>
                  <a:srgbClr val="333333"/>
                </a:solidFill>
              </a:defRPr>
            </a:pPr>
            <a:r>
              <a:rPr dirty="0"/>
              <a:t>   • Example: India alcohol prohibition</a:t>
            </a:r>
          </a:p>
          <a:p>
            <a:pPr>
              <a:spcAft>
                <a:spcPts val="1200"/>
              </a:spcAft>
              <a:defRPr sz="1800">
                <a:solidFill>
                  <a:srgbClr val="333333"/>
                </a:solidFill>
              </a:defRPr>
            </a:pPr>
            <a:endParaRPr dirty="0"/>
          </a:p>
          <a:p>
            <a:pPr>
              <a:spcAft>
                <a:spcPts val="1200"/>
              </a:spcAft>
              <a:defRPr sz="1800">
                <a:solidFill>
                  <a:srgbClr val="333333"/>
                </a:solidFill>
              </a:defRPr>
            </a:pPr>
            <a:r>
              <a:rPr dirty="0"/>
              <a:t>🟠 LAYER 2: Territory Exceptions</a:t>
            </a:r>
          </a:p>
          <a:p>
            <a:pPr>
              <a:spcAft>
                <a:spcPts val="1200"/>
              </a:spcAft>
              <a:defRPr sz="1800">
                <a:solidFill>
                  <a:srgbClr val="333333"/>
                </a:solidFill>
              </a:defRPr>
            </a:pPr>
            <a:r>
              <a:rPr dirty="0"/>
              <a:t>   • Territory-specific cultural/legal overrides</a:t>
            </a:r>
          </a:p>
          <a:p>
            <a:pPr>
              <a:spcAft>
                <a:spcPts val="1200"/>
              </a:spcAft>
              <a:defRPr sz="1800">
                <a:solidFill>
                  <a:srgbClr val="333333"/>
                </a:solidFill>
              </a:defRPr>
            </a:pPr>
            <a:r>
              <a:rPr dirty="0"/>
              <a:t>   • Example: Saudi Arabia Islamic law</a:t>
            </a:r>
          </a:p>
          <a:p>
            <a:pPr>
              <a:spcAft>
                <a:spcPts val="1200"/>
              </a:spcAft>
              <a:defRPr sz="1800">
                <a:solidFill>
                  <a:srgbClr val="333333"/>
                </a:solidFill>
              </a:defRPr>
            </a:pPr>
            <a:endParaRPr dirty="0"/>
          </a:p>
          <a:p>
            <a:pPr>
              <a:spcAft>
                <a:spcPts val="1200"/>
              </a:spcAft>
              <a:defRPr sz="1800">
                <a:solidFill>
                  <a:srgbClr val="333333"/>
                </a:solidFill>
              </a:defRPr>
            </a:pPr>
            <a:r>
              <a:rPr dirty="0"/>
              <a:t>🟢 LAYER 3: Cultural Group Sensitivity (Default)</a:t>
            </a:r>
          </a:p>
          <a:p>
            <a:pPr>
              <a:spcAft>
                <a:spcPts val="1200"/>
              </a:spcAft>
              <a:defRPr sz="1800">
                <a:solidFill>
                  <a:srgbClr val="333333"/>
                </a:solidFill>
              </a:defRPr>
            </a:pPr>
            <a:r>
              <a:rPr dirty="0"/>
              <a:t>   • Based on Hofstede framework</a:t>
            </a:r>
          </a:p>
          <a:p>
            <a:pPr>
              <a:spcAft>
                <a:spcPts val="1200"/>
              </a:spcAft>
              <a:defRPr sz="1800">
                <a:solidFill>
                  <a:srgbClr val="333333"/>
                </a:solidFill>
              </a:defRPr>
            </a:pPr>
            <a:r>
              <a:rPr dirty="0"/>
              <a:t>   • Example: G1 conservative, G2 liberal</a:t>
            </a:r>
          </a:p>
          <a:p>
            <a:pPr>
              <a:spcAft>
                <a:spcPts val="1200"/>
              </a:spcAft>
              <a:defRPr sz="1800">
                <a:solidFill>
                  <a:srgbClr val="333333"/>
                </a:solidFill>
              </a:defRPr>
            </a:pPr>
            <a:endParaRPr dirty="0"/>
          </a:p>
          <a:p>
            <a:pPr>
              <a:spcAft>
                <a:spcPts val="1200"/>
              </a:spcAft>
              <a:defRPr sz="1800">
                <a:solidFill>
                  <a:srgbClr val="333333"/>
                </a:solidFill>
              </a:defRPr>
            </a:pPr>
            <a:r>
              <a:rPr dirty="0"/>
              <a:t>⚡ Decision in milliseconds via graph traversal</a:t>
            </a:r>
          </a:p>
          <a:p>
            <a:pPr>
              <a:spcAft>
                <a:spcPts val="1200"/>
              </a:spcAft>
              <a:defRPr sz="1800">
                <a:solidFill>
                  <a:srgbClr val="333333"/>
                </a:solidFill>
              </a:defRPr>
            </a:pPr>
            <a:r>
              <a:rPr dirty="0"/>
              <a:t>   • Check Layer 1 → Layer 2 → Layer 3</a:t>
            </a:r>
          </a:p>
          <a:p>
            <a:pPr>
              <a:spcAft>
                <a:spcPts val="1200"/>
              </a:spcAft>
              <a:defRPr sz="1800">
                <a:solidFill>
                  <a:srgbClr val="333333"/>
                </a:solidFill>
              </a:defRPr>
            </a:pPr>
            <a:r>
              <a:rPr dirty="0"/>
              <a:t>   • First match wins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rPr dirty="0"/>
              <a:t>Real Example: Same Content, 5 Different Actions</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Cultural awareness at scale</a:t>
            </a:r>
          </a:p>
        </p:txBody>
      </p:sp>
      <p:sp>
        <p:nvSpPr>
          <p:cNvPr id="5" name="TextBox 4"/>
          <p:cNvSpPr txBox="1"/>
          <p:nvPr/>
        </p:nvSpPr>
        <p:spPr>
          <a:xfrm>
            <a:off x="457200" y="1645920"/>
            <a:ext cx="8229600" cy="2011680"/>
          </a:xfrm>
          <a:prstGeom prst="rect">
            <a:avLst/>
          </a:prstGeom>
          <a:solidFill>
            <a:srgbClr val="F0F0F0"/>
          </a:solidFill>
        </p:spPr>
        <p:txBody>
          <a:bodyPr wrap="square">
            <a:spAutoFit/>
          </a:bodyPr>
          <a:lstStyle/>
          <a:p>
            <a:pPr>
              <a:defRPr sz="1000">
                <a:solidFill>
                  <a:srgbClr val="000000"/>
                </a:solidFill>
                <a:latin typeface="Courier New"/>
              </a:defRPr>
            </a:pPr>
            <a:r>
              <a:t>// How different territories handle pattern ALC_P5</a:t>
            </a:r>
          </a:p>
          <a:p>
            <a:pPr>
              <a:defRPr sz="1000">
                <a:solidFill>
                  <a:srgbClr val="000000"/>
                </a:solidFill>
                <a:latin typeface="Courier New"/>
              </a:defRPr>
            </a:pPr>
            <a:r>
              <a:t>MATCH (p:ContentPattern {unique_pattern_id: 'ALC_P5'})</a:t>
            </a:r>
          </a:p>
          <a:p>
            <a:pPr>
              <a:defRPr sz="1000">
                <a:solidFill>
                  <a:srgbClr val="000000"/>
                </a:solidFill>
                <a:latin typeface="Courier New"/>
              </a:defRPr>
            </a:pPr>
            <a:r>
              <a:t>MATCH (t:Territory)-[:belongsToPrimaryGroup]-&gt;(g:CulturalGroup)</a:t>
            </a:r>
          </a:p>
          <a:p>
            <a:pPr>
              <a:defRPr sz="1000">
                <a:solidFill>
                  <a:srgbClr val="000000"/>
                </a:solidFill>
                <a:latin typeface="Courier New"/>
              </a:defRPr>
            </a:pPr>
            <a:r>
              <a:t>OPTIONAL MATCH (s:PatternSensitivity)-[:appliesTo]-&gt;(p)</a:t>
            </a:r>
          </a:p>
          <a:p>
            <a:pPr>
              <a:defRPr sz="1000">
                <a:solidFill>
                  <a:srgbClr val="000000"/>
                </a:solidFill>
                <a:latin typeface="Courier New"/>
              </a:defRPr>
            </a:pPr>
            <a:r>
              <a:t>OPTIONAL MATCH (s)-[:belongsToGroup]-&gt;(g)</a:t>
            </a:r>
          </a:p>
          <a:p>
            <a:pPr>
              <a:defRPr sz="1000">
                <a:solidFill>
                  <a:srgbClr val="000000"/>
                </a:solidFill>
                <a:latin typeface="Courier New"/>
              </a:defRPr>
            </a:pPr>
            <a:r>
              <a:t>OPTIONAL MATCH (e:TerritoryException)-[:overridesPattern]-&gt;(p)</a:t>
            </a:r>
          </a:p>
          <a:p>
            <a:pPr>
              <a:defRPr sz="1000">
                <a:solidFill>
                  <a:srgbClr val="000000"/>
                </a:solidFill>
                <a:latin typeface="Courier New"/>
              </a:defRPr>
            </a:pPr>
            <a:r>
              <a:t>WHERE e.territory_code = t.territory_code</a:t>
            </a:r>
          </a:p>
          <a:p>
            <a:pPr>
              <a:defRPr sz="1000">
                <a:solidFill>
                  <a:srgbClr val="000000"/>
                </a:solidFill>
                <a:latin typeface="Courier New"/>
              </a:defRPr>
            </a:pPr>
            <a:r>
              <a:t>RETURN t.territory_code AS Territory,</a:t>
            </a:r>
          </a:p>
          <a:p>
            <a:pPr>
              <a:defRPr sz="1000">
                <a:solidFill>
                  <a:srgbClr val="000000"/>
                </a:solidFill>
                <a:latin typeface="Courier New"/>
              </a:defRPr>
            </a:pPr>
            <a:r>
              <a:t>       COALESCE(e.sensitivity_score, s.sensitivity_score) AS Score,</a:t>
            </a:r>
          </a:p>
          <a:p>
            <a:pPr>
              <a:defRPr sz="1000">
                <a:solidFill>
                  <a:srgbClr val="000000"/>
                </a:solidFill>
                <a:latin typeface="Courier New"/>
              </a:defRPr>
            </a:pPr>
            <a:r>
              <a:t>       COALESCE(e.modification_type, s.modification_type) AS Action</a:t>
            </a:r>
          </a:p>
          <a:p>
            <a:pPr>
              <a:defRPr sz="1000">
                <a:solidFill>
                  <a:srgbClr val="000000"/>
                </a:solidFill>
                <a:latin typeface="Courier New"/>
              </a:defRPr>
            </a:pPr>
            <a:r>
              <a:t>ORDER BY Score DESC</a:t>
            </a:r>
          </a:p>
        </p:txBody>
      </p:sp>
      <p:sp>
        <p:nvSpPr>
          <p:cNvPr id="6" name="TextBox 5"/>
          <p:cNvSpPr txBox="1"/>
          <p:nvPr/>
        </p:nvSpPr>
        <p:spPr>
          <a:xfrm>
            <a:off x="457200" y="374903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457200" y="4023360"/>
            <a:ext cx="8229600" cy="1188720"/>
          </a:xfrm>
          <a:prstGeom prst="rect">
            <a:avLst/>
          </a:prstGeom>
          <a:noFill/>
        </p:spPr>
        <p:txBody>
          <a:bodyPr wrap="square">
            <a:spAutoFit/>
          </a:bodyPr>
          <a:lstStyle/>
          <a:p>
            <a:pPr>
              <a:spcAft>
                <a:spcPts val="400"/>
              </a:spcAft>
              <a:defRPr sz="1100">
                <a:solidFill>
                  <a:srgbClr val="000000"/>
                </a:solidFill>
              </a:defRPr>
            </a:pPr>
            <a:r>
              <a:t>11 territories, same pattern (ALC_P5), different actions:</a:t>
            </a:r>
          </a:p>
          <a:p>
            <a:pPr>
              <a:spcAft>
                <a:spcPts val="400"/>
              </a:spcAft>
              <a:defRPr sz="1100">
                <a:solidFill>
                  <a:srgbClr val="000000"/>
                </a:solidFill>
              </a:defRPr>
            </a:pPr>
            <a:r>
              <a:t>• SA (Saudi Arabia): Score 5 | REMOVE (Islamic law exception)</a:t>
            </a:r>
          </a:p>
          <a:p>
            <a:pPr>
              <a:spcAft>
                <a:spcPts val="400"/>
              </a:spcAft>
              <a:defRPr sz="1100">
                <a:solidFill>
                  <a:srgbClr val="000000"/>
                </a:solidFill>
              </a:defRPr>
            </a:pPr>
            <a:r>
              <a:t>• IN (India): Score 4 | BLUR (Conservative + regulations)</a:t>
            </a:r>
          </a:p>
          <a:p>
            <a:pPr>
              <a:spcAft>
                <a:spcPts val="400"/>
              </a:spcAft>
              <a:defRPr sz="1100">
                <a:solidFill>
                  <a:srgbClr val="000000"/>
                </a:solidFill>
              </a:defRPr>
            </a:pPr>
            <a:r>
              <a:t>• BR, CN, MX: Score 4 | BLUR (Conservative cultural group)</a:t>
            </a:r>
          </a:p>
          <a:p>
            <a:pPr>
              <a:spcAft>
                <a:spcPts val="400"/>
              </a:spcAft>
              <a:defRPr sz="1100">
                <a:solidFill>
                  <a:srgbClr val="000000"/>
                </a:solidFill>
              </a:defRPr>
            </a:pPr>
            <a:r>
              <a:t>• DE, FR: Score 3 | LABEL (Balanced, warning required)</a:t>
            </a:r>
          </a:p>
          <a:p>
            <a:pPr>
              <a:spcAft>
                <a:spcPts val="400"/>
              </a:spcAft>
              <a:defRPr sz="1100">
                <a:solidFill>
                  <a:srgbClr val="000000"/>
                </a:solidFill>
              </a:defRPr>
            </a:pPr>
            <a:r>
              <a:t>• US, GB, AU: Score 2 | NONE (Liberal, show as-is)</a:t>
            </a:r>
          </a:p>
        </p:txBody>
      </p:sp>
      <p:sp>
        <p:nvSpPr>
          <p:cNvPr id="8" name="TextBox 7"/>
          <p:cNvSpPr txBox="1"/>
          <p:nvPr/>
        </p:nvSpPr>
        <p:spPr>
          <a:xfrm>
            <a:off x="457200" y="5303520"/>
            <a:ext cx="8229600" cy="274320"/>
          </a:xfrm>
          <a:prstGeom prst="rect">
            <a:avLst/>
          </a:prstGeom>
          <a:noFill/>
        </p:spPr>
        <p:txBody>
          <a:bodyPr wrap="none">
            <a:spAutoFit/>
          </a:bodyPr>
          <a:lstStyle/>
          <a:p>
            <a:pPr>
              <a:defRPr sz="1200" b="1">
                <a:solidFill>
                  <a:srgbClr val="0050A0"/>
                </a:solidFill>
              </a:defRPr>
            </a:pPr>
            <a:r>
              <a:t>WHAT THIS SHOWS:</a:t>
            </a:r>
          </a:p>
        </p:txBody>
      </p:sp>
      <p:sp>
        <p:nvSpPr>
          <p:cNvPr id="9" name="TextBox 8"/>
          <p:cNvSpPr txBox="1"/>
          <p:nvPr/>
        </p:nvSpPr>
        <p:spPr>
          <a:xfrm>
            <a:off x="457200" y="5577840"/>
            <a:ext cx="8229600" cy="1097280"/>
          </a:xfrm>
          <a:prstGeom prst="rect">
            <a:avLst/>
          </a:prstGeom>
          <a:noFill/>
        </p:spPr>
        <p:txBody>
          <a:bodyPr wrap="square">
            <a:spAutoFit/>
          </a:bodyPr>
          <a:lstStyle/>
          <a:p>
            <a:pPr>
              <a:defRPr sz="1100">
                <a:solidFill>
                  <a:srgbClr val="282828"/>
                </a:solidFill>
              </a:defRPr>
            </a:pPr>
            <a:r>
              <a:t>This is the power of the graph: ONE content pattern, ELEVEN territories, FIVE different actions. The query intelligently applies exceptions first (Saudi Arabia's Islamic law), then territory regulations (India), then falls back to cultural group defaults (G1 blur, G2 none). Same content, culturally-appropriate treatment everywhere. Fully automated, legally compliant, culturally sensitive.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Box 2"/>
          <p:cNvSpPr txBox="1"/>
          <p:nvPr/>
        </p:nvSpPr>
        <p:spPr>
          <a:xfrm>
            <a:off x="457200" y="457200"/>
            <a:ext cx="8229600" cy="731520"/>
          </a:xfrm>
          <a:prstGeom prst="rect">
            <a:avLst/>
          </a:prstGeom>
          <a:noFill/>
        </p:spPr>
        <p:txBody>
          <a:bodyPr wrap="none">
            <a:spAutoFit/>
          </a:bodyPr>
          <a:lstStyle/>
          <a:p>
            <a:pPr>
              <a:defRPr sz="2800" b="1">
                <a:solidFill>
                  <a:srgbClr val="2962FF"/>
                </a:solidFill>
              </a:defRPr>
            </a:pPr>
            <a:r>
              <a:t>Audience-Specific Modifications</a:t>
            </a:r>
          </a:p>
        </p:txBody>
      </p:sp>
      <p:sp>
        <p:nvSpPr>
          <p:cNvPr id="4" name="TextBox 3"/>
          <p:cNvSpPr txBox="1"/>
          <p:nvPr/>
        </p:nvSpPr>
        <p:spPr>
          <a:xfrm>
            <a:off x="457200" y="1097280"/>
            <a:ext cx="8229600" cy="457200"/>
          </a:xfrm>
          <a:prstGeom prst="rect">
            <a:avLst/>
          </a:prstGeom>
          <a:noFill/>
        </p:spPr>
        <p:txBody>
          <a:bodyPr wrap="none">
            <a:spAutoFit/>
          </a:bodyPr>
          <a:lstStyle/>
          <a:p>
            <a:pPr>
              <a:defRPr sz="1400">
                <a:solidFill>
                  <a:srgbClr val="333333"/>
                </a:solidFill>
              </a:defRPr>
            </a:pPr>
            <a:r>
              <a:t>👶 Additional safety layer for minors</a:t>
            </a:r>
          </a:p>
        </p:txBody>
      </p:sp>
      <p:sp>
        <p:nvSpPr>
          <p:cNvPr id="5" name="TextBox 4"/>
          <p:cNvSpPr txBox="1"/>
          <p:nvPr/>
        </p:nvSpPr>
        <p:spPr>
          <a:xfrm>
            <a:off x="457200" y="1645920"/>
            <a:ext cx="8229600" cy="2011680"/>
          </a:xfrm>
          <a:prstGeom prst="rect">
            <a:avLst/>
          </a:prstGeom>
          <a:solidFill>
            <a:srgbClr val="F0F0F0"/>
          </a:solidFill>
        </p:spPr>
        <p:txBody>
          <a:bodyPr wrap="square">
            <a:spAutoFit/>
          </a:bodyPr>
          <a:lstStyle/>
          <a:p>
            <a:pPr>
              <a:defRPr sz="1000">
                <a:solidFill>
                  <a:srgbClr val="000000"/>
                </a:solidFill>
                <a:latin typeface="Courier New"/>
              </a:defRPr>
            </a:pPr>
            <a:r>
              <a:t>// How kids vs adults see content</a:t>
            </a:r>
          </a:p>
          <a:p>
            <a:pPr>
              <a:defRPr sz="1000">
                <a:solidFill>
                  <a:srgbClr val="000000"/>
                </a:solidFill>
                <a:latin typeface="Courier New"/>
              </a:defRPr>
            </a:pPr>
            <a:r>
              <a:t>MATCH (a:AudienceOverride)-[:overridesForAudience]-&gt;</a:t>
            </a:r>
          </a:p>
          <a:p>
            <a:pPr>
              <a:defRPr sz="1000">
                <a:solidFill>
                  <a:srgbClr val="000000"/>
                </a:solidFill>
                <a:latin typeface="Courier New"/>
              </a:defRPr>
            </a:pPr>
            <a:r>
              <a:t>      (p:ContentPattern)</a:t>
            </a:r>
          </a:p>
          <a:p>
            <a:pPr>
              <a:defRPr sz="1000">
                <a:solidFill>
                  <a:srgbClr val="000000"/>
                </a:solidFill>
                <a:latin typeface="Courier New"/>
              </a:defRPr>
            </a:pPr>
            <a:r>
              <a:t>WHERE p.category = 'alcohol'</a:t>
            </a:r>
          </a:p>
          <a:p>
            <a:pPr>
              <a:defRPr sz="1000">
                <a:solidFill>
                  <a:srgbClr val="000000"/>
                </a:solidFill>
                <a:latin typeface="Courier New"/>
              </a:defRPr>
            </a:pPr>
            <a:r>
              <a:t>RETURN p.pattern_name AS Pattern,</a:t>
            </a:r>
          </a:p>
          <a:p>
            <a:pPr>
              <a:defRPr sz="1000">
                <a:solidFill>
                  <a:srgbClr val="000000"/>
                </a:solidFill>
                <a:latin typeface="Courier New"/>
              </a:defRPr>
            </a:pPr>
            <a:r>
              <a:t>       a.kids_modification AS KidsAction,</a:t>
            </a:r>
          </a:p>
          <a:p>
            <a:pPr>
              <a:defRPr sz="1000">
                <a:solidFill>
                  <a:srgbClr val="000000"/>
                </a:solidFill>
                <a:latin typeface="Courier New"/>
              </a:defRPr>
            </a:pPr>
            <a:r>
              <a:t>       a.older_kids_modification AS OlderKidsAction</a:t>
            </a:r>
          </a:p>
          <a:p>
            <a:pPr>
              <a:defRPr sz="1000">
                <a:solidFill>
                  <a:srgbClr val="000000"/>
                </a:solidFill>
                <a:latin typeface="Courier New"/>
              </a:defRPr>
            </a:pPr>
            <a:r>
              <a:t>LIMIT 10</a:t>
            </a:r>
          </a:p>
        </p:txBody>
      </p:sp>
      <p:sp>
        <p:nvSpPr>
          <p:cNvPr id="6" name="TextBox 5"/>
          <p:cNvSpPr txBox="1"/>
          <p:nvPr/>
        </p:nvSpPr>
        <p:spPr>
          <a:xfrm>
            <a:off x="457200" y="3749039"/>
            <a:ext cx="8229600" cy="274320"/>
          </a:xfrm>
          <a:prstGeom prst="rect">
            <a:avLst/>
          </a:prstGeom>
          <a:noFill/>
        </p:spPr>
        <p:txBody>
          <a:bodyPr wrap="none">
            <a:spAutoFit/>
          </a:bodyPr>
          <a:lstStyle/>
          <a:p>
            <a:pPr>
              <a:defRPr sz="1200" b="1">
                <a:solidFill>
                  <a:srgbClr val="006400"/>
                </a:solidFill>
              </a:defRPr>
            </a:pPr>
            <a:r>
              <a:t>EXPECTED OUTPUT:</a:t>
            </a:r>
          </a:p>
        </p:txBody>
      </p:sp>
      <p:sp>
        <p:nvSpPr>
          <p:cNvPr id="7" name="TextBox 6"/>
          <p:cNvSpPr txBox="1"/>
          <p:nvPr/>
        </p:nvSpPr>
        <p:spPr>
          <a:xfrm>
            <a:off x="457200" y="4023360"/>
            <a:ext cx="8229600" cy="1188720"/>
          </a:xfrm>
          <a:prstGeom prst="rect">
            <a:avLst/>
          </a:prstGeom>
          <a:noFill/>
        </p:spPr>
        <p:txBody>
          <a:bodyPr wrap="square">
            <a:spAutoFit/>
          </a:bodyPr>
          <a:lstStyle/>
          <a:p>
            <a:pPr>
              <a:spcAft>
                <a:spcPts val="400"/>
              </a:spcAft>
              <a:defRPr sz="1100">
                <a:solidFill>
                  <a:srgbClr val="000000"/>
                </a:solidFill>
              </a:defRPr>
            </a:pPr>
            <a:r>
              <a:t>~10 alcohol patterns with age-based actions:</a:t>
            </a:r>
          </a:p>
          <a:p>
            <a:pPr>
              <a:spcAft>
                <a:spcPts val="400"/>
              </a:spcAft>
              <a:defRPr sz="1100">
                <a:solidFill>
                  <a:srgbClr val="000000"/>
                </a:solidFill>
              </a:defRPr>
            </a:pPr>
            <a:r>
              <a:t>• Alcohol_Store: Kids → REMOVE | Older Kids → BLUR</a:t>
            </a:r>
          </a:p>
          <a:p>
            <a:pPr>
              <a:spcAft>
                <a:spcPts val="400"/>
              </a:spcAft>
              <a:defRPr sz="1100">
                <a:solidFill>
                  <a:srgbClr val="000000"/>
                </a:solidFill>
              </a:defRPr>
            </a:pPr>
            <a:r>
              <a:t>• Casual_Consumption: Kids → REMOVE | Older Kids → LABEL</a:t>
            </a:r>
          </a:p>
          <a:p>
            <a:pPr>
              <a:spcAft>
                <a:spcPts val="400"/>
              </a:spcAft>
              <a:defRPr sz="1100">
                <a:solidFill>
                  <a:srgbClr val="000000"/>
                </a:solidFill>
              </a:defRPr>
            </a:pPr>
            <a:r>
              <a:t>• Heavy_Drinking: Kids → REMOVE | Older Kids → REMOVE</a:t>
            </a:r>
          </a:p>
          <a:p>
            <a:pPr>
              <a:spcAft>
                <a:spcPts val="400"/>
              </a:spcAft>
              <a:defRPr sz="1100">
                <a:solidFill>
                  <a:srgbClr val="000000"/>
                </a:solidFill>
              </a:defRPr>
            </a:pPr>
            <a:r>
              <a:t>• Underage_Drinking: Kids → REMOVE | Older Kids → REMOVE</a:t>
            </a:r>
          </a:p>
          <a:p>
            <a:pPr>
              <a:spcAft>
                <a:spcPts val="400"/>
              </a:spcAft>
              <a:defRPr sz="1100">
                <a:solidFill>
                  <a:srgbClr val="000000"/>
                </a:solidFill>
              </a:defRPr>
            </a:pPr>
            <a:r>
              <a:t>(Adults see territory-specific treatment)</a:t>
            </a:r>
          </a:p>
        </p:txBody>
      </p:sp>
      <p:sp>
        <p:nvSpPr>
          <p:cNvPr id="8" name="TextBox 7"/>
          <p:cNvSpPr txBox="1"/>
          <p:nvPr/>
        </p:nvSpPr>
        <p:spPr>
          <a:xfrm>
            <a:off x="457200" y="5303520"/>
            <a:ext cx="8229600" cy="274320"/>
          </a:xfrm>
          <a:prstGeom prst="rect">
            <a:avLst/>
          </a:prstGeom>
          <a:noFill/>
        </p:spPr>
        <p:txBody>
          <a:bodyPr wrap="none">
            <a:spAutoFit/>
          </a:bodyPr>
          <a:lstStyle/>
          <a:p>
            <a:pPr>
              <a:defRPr sz="1200" b="1">
                <a:solidFill>
                  <a:srgbClr val="0050A0"/>
                </a:solidFill>
              </a:defRPr>
            </a:pPr>
            <a:r>
              <a:t>WHAT THIS SHOWS:</a:t>
            </a:r>
          </a:p>
        </p:txBody>
      </p:sp>
      <p:sp>
        <p:nvSpPr>
          <p:cNvPr id="9" name="TextBox 8"/>
          <p:cNvSpPr txBox="1"/>
          <p:nvPr/>
        </p:nvSpPr>
        <p:spPr>
          <a:xfrm>
            <a:off x="457200" y="5577840"/>
            <a:ext cx="8229600" cy="1097280"/>
          </a:xfrm>
          <a:prstGeom prst="rect">
            <a:avLst/>
          </a:prstGeom>
          <a:noFill/>
        </p:spPr>
        <p:txBody>
          <a:bodyPr wrap="square">
            <a:spAutoFit/>
          </a:bodyPr>
          <a:lstStyle/>
          <a:p>
            <a:pPr>
              <a:defRPr sz="1100">
                <a:solidFill>
                  <a:srgbClr val="282828"/>
                </a:solidFill>
              </a:defRPr>
            </a:pPr>
            <a:r>
              <a:t>Audience Overrides add a third dimension: age-appropriateness. We consider WHAT (pattern), WHERE (territory), and WHO (viewer age). Kids under 13 get the most restrictive treatment - alcohol content often removed entirely. Older kids (13-17) see blurred or labeled content. Adults see the territory-specific treatment based on cultural group and regulations. This creates a multi-dimensional decision matrix.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solidFill>
                  <a:srgbClr val="2962FF"/>
                </a:solidFill>
              </a:defRPr>
            </a:pPr>
            <a:r>
              <a:t>Graph Statistics &amp; Scale</a:t>
            </a:r>
          </a:p>
        </p:txBody>
      </p:sp>
      <p:sp>
        <p:nvSpPr>
          <p:cNvPr id="4" name="TextBox 3"/>
          <p:cNvSpPr txBox="1"/>
          <p:nvPr/>
        </p:nvSpPr>
        <p:spPr>
          <a:xfrm>
            <a:off x="457200" y="914400"/>
            <a:ext cx="3886200" cy="5029200"/>
          </a:xfrm>
          <a:prstGeom prst="rect">
            <a:avLst/>
          </a:prstGeom>
          <a:noFill/>
        </p:spPr>
        <p:txBody>
          <a:bodyPr wrap="none">
            <a:spAutoFit/>
          </a:bodyPr>
          <a:lstStyle/>
          <a:p>
            <a:endParaRPr dirty="0"/>
          </a:p>
          <a:p>
            <a:pPr>
              <a:spcAft>
                <a:spcPts val="800"/>
              </a:spcAft>
              <a:defRPr sz="1400"/>
            </a:pPr>
            <a:r>
              <a:rPr dirty="0"/>
              <a:t>📊 NODES (2,032 total)</a:t>
            </a:r>
          </a:p>
          <a:p>
            <a:pPr>
              <a:spcAft>
                <a:spcPts val="800"/>
              </a:spcAft>
              <a:defRPr sz="1400"/>
            </a:pPr>
            <a:r>
              <a:rPr dirty="0"/>
              <a:t>• </a:t>
            </a:r>
            <a:r>
              <a:rPr dirty="0" err="1"/>
              <a:t>PatternSensitivity</a:t>
            </a:r>
            <a:r>
              <a:rPr dirty="0"/>
              <a:t>: 643</a:t>
            </a:r>
          </a:p>
          <a:p>
            <a:pPr>
              <a:spcAft>
                <a:spcPts val="800"/>
              </a:spcAft>
              <a:defRPr sz="1400"/>
            </a:pPr>
            <a:r>
              <a:rPr dirty="0"/>
              <a:t>• </a:t>
            </a:r>
            <a:r>
              <a:rPr dirty="0" err="1"/>
              <a:t>DetectionElement</a:t>
            </a:r>
            <a:r>
              <a:rPr dirty="0"/>
              <a:t>: 429</a:t>
            </a:r>
          </a:p>
          <a:p>
            <a:pPr>
              <a:spcAft>
                <a:spcPts val="800"/>
              </a:spcAft>
              <a:defRPr sz="1400"/>
            </a:pPr>
            <a:r>
              <a:rPr dirty="0"/>
              <a:t>• </a:t>
            </a:r>
            <a:r>
              <a:rPr dirty="0" err="1"/>
              <a:t>TerritoryCulturalContext</a:t>
            </a:r>
            <a:r>
              <a:rPr dirty="0"/>
              <a:t>: 249</a:t>
            </a:r>
          </a:p>
          <a:p>
            <a:pPr>
              <a:spcAft>
                <a:spcPts val="800"/>
              </a:spcAft>
              <a:defRPr sz="1400"/>
            </a:pPr>
            <a:r>
              <a:rPr dirty="0"/>
              <a:t>• </a:t>
            </a:r>
            <a:r>
              <a:rPr dirty="0" err="1"/>
              <a:t>ModificationType</a:t>
            </a:r>
            <a:r>
              <a:rPr dirty="0"/>
              <a:t>: 204</a:t>
            </a:r>
          </a:p>
          <a:p>
            <a:pPr>
              <a:spcAft>
                <a:spcPts val="800"/>
              </a:spcAft>
              <a:defRPr sz="1400"/>
            </a:pPr>
            <a:r>
              <a:rPr dirty="0"/>
              <a:t>• </a:t>
            </a:r>
            <a:r>
              <a:rPr dirty="0" err="1"/>
              <a:t>ContentPattern</a:t>
            </a:r>
            <a:r>
              <a:rPr dirty="0"/>
              <a:t>: 191</a:t>
            </a:r>
          </a:p>
          <a:p>
            <a:pPr>
              <a:spcAft>
                <a:spcPts val="800"/>
              </a:spcAft>
              <a:defRPr sz="1400"/>
            </a:pPr>
            <a:r>
              <a:rPr dirty="0"/>
              <a:t>• </a:t>
            </a:r>
            <a:r>
              <a:rPr dirty="0" err="1"/>
              <a:t>TerritoryException</a:t>
            </a:r>
            <a:r>
              <a:rPr dirty="0"/>
              <a:t>: 106</a:t>
            </a:r>
          </a:p>
          <a:p>
            <a:pPr>
              <a:spcAft>
                <a:spcPts val="800"/>
              </a:spcAft>
              <a:defRPr sz="1400"/>
            </a:pPr>
            <a:r>
              <a:rPr dirty="0"/>
              <a:t>• </a:t>
            </a:r>
            <a:r>
              <a:rPr dirty="0" err="1"/>
              <a:t>AudienceOverride</a:t>
            </a:r>
            <a:r>
              <a:rPr dirty="0"/>
              <a:t>: 87</a:t>
            </a:r>
          </a:p>
          <a:p>
            <a:pPr>
              <a:spcAft>
                <a:spcPts val="800"/>
              </a:spcAft>
              <a:defRPr sz="1400"/>
            </a:pPr>
            <a:r>
              <a:rPr dirty="0"/>
              <a:t>• </a:t>
            </a:r>
            <a:r>
              <a:rPr dirty="0" err="1"/>
              <a:t>RegulatoryRequirement</a:t>
            </a:r>
            <a:r>
              <a:rPr dirty="0"/>
              <a:t>: 58</a:t>
            </a:r>
          </a:p>
          <a:p>
            <a:pPr>
              <a:spcAft>
                <a:spcPts val="800"/>
              </a:spcAft>
              <a:defRPr sz="1400"/>
            </a:pPr>
            <a:r>
              <a:rPr dirty="0"/>
              <a:t>• </a:t>
            </a:r>
            <a:r>
              <a:rPr dirty="0" err="1"/>
              <a:t>SensitivityMapping</a:t>
            </a:r>
            <a:r>
              <a:rPr dirty="0"/>
              <a:t>: 48</a:t>
            </a:r>
          </a:p>
          <a:p>
            <a:pPr>
              <a:spcAft>
                <a:spcPts val="800"/>
              </a:spcAft>
              <a:defRPr sz="1400"/>
            </a:pPr>
            <a:r>
              <a:rPr dirty="0"/>
              <a:t>• Territory: 11</a:t>
            </a:r>
          </a:p>
          <a:p>
            <a:pPr>
              <a:spcAft>
                <a:spcPts val="800"/>
              </a:spcAft>
              <a:defRPr sz="1400"/>
            </a:pPr>
            <a:r>
              <a:rPr dirty="0"/>
              <a:t>• </a:t>
            </a:r>
            <a:r>
              <a:rPr dirty="0" err="1"/>
              <a:t>CulturalGroup</a:t>
            </a:r>
            <a:r>
              <a:rPr dirty="0"/>
              <a:t>: 6</a:t>
            </a:r>
          </a:p>
          <a:p>
            <a:pPr>
              <a:spcAft>
                <a:spcPts val="800"/>
              </a:spcAft>
              <a:defRPr sz="1400"/>
            </a:pPr>
            <a:endParaRPr dirty="0"/>
          </a:p>
          <a:p>
            <a:pPr>
              <a:spcAft>
                <a:spcPts val="800"/>
              </a:spcAft>
              <a:defRPr sz="1400"/>
            </a:pPr>
            <a:r>
              <a:rPr dirty="0"/>
              <a:t>⚡ PERFORMANCE</a:t>
            </a:r>
          </a:p>
          <a:p>
            <a:pPr>
              <a:spcAft>
                <a:spcPts val="800"/>
              </a:spcAft>
              <a:defRPr sz="1400"/>
            </a:pPr>
            <a:r>
              <a:rPr dirty="0"/>
              <a:t>• Query time: &lt;10ms</a:t>
            </a:r>
          </a:p>
          <a:p>
            <a:pPr>
              <a:spcAft>
                <a:spcPts val="800"/>
              </a:spcAft>
              <a:defRPr sz="1400"/>
            </a:pPr>
            <a:r>
              <a:rPr dirty="0"/>
              <a:t>• Complex decisions: &lt;50ms</a:t>
            </a:r>
          </a:p>
          <a:p>
            <a:pPr>
              <a:spcAft>
                <a:spcPts val="800"/>
              </a:spcAft>
              <a:defRPr sz="1400"/>
            </a:pPr>
            <a:r>
              <a:rPr dirty="0"/>
              <a:t>• Tested: 10K concurrent queries</a:t>
            </a:r>
          </a:p>
        </p:txBody>
      </p:sp>
      <p:sp>
        <p:nvSpPr>
          <p:cNvPr id="5" name="TextBox 4"/>
          <p:cNvSpPr txBox="1"/>
          <p:nvPr/>
        </p:nvSpPr>
        <p:spPr>
          <a:xfrm>
            <a:off x="4673990" y="914400"/>
            <a:ext cx="3886200" cy="5029200"/>
          </a:xfrm>
          <a:prstGeom prst="rect">
            <a:avLst/>
          </a:prstGeom>
          <a:noFill/>
        </p:spPr>
        <p:txBody>
          <a:bodyPr wrap="none">
            <a:spAutoFit/>
          </a:bodyPr>
          <a:lstStyle/>
          <a:p>
            <a:endParaRPr dirty="0"/>
          </a:p>
          <a:p>
            <a:pPr>
              <a:spcAft>
                <a:spcPts val="800"/>
              </a:spcAft>
              <a:defRPr sz="1400"/>
            </a:pPr>
            <a:r>
              <a:rPr dirty="0"/>
              <a:t>🔗 RELATIONSHIPS (3,242 total)</a:t>
            </a:r>
          </a:p>
          <a:p>
            <a:pPr>
              <a:spcAft>
                <a:spcPts val="800"/>
              </a:spcAft>
              <a:defRPr sz="1400"/>
            </a:pPr>
            <a:r>
              <a:rPr dirty="0"/>
              <a:t>• </a:t>
            </a:r>
            <a:r>
              <a:rPr dirty="0" err="1"/>
              <a:t>requiresDetectionElement</a:t>
            </a:r>
            <a:r>
              <a:rPr dirty="0"/>
              <a:t>: 1,613</a:t>
            </a:r>
          </a:p>
          <a:p>
            <a:pPr>
              <a:spcAft>
                <a:spcPts val="800"/>
              </a:spcAft>
              <a:defRPr sz="1400"/>
            </a:pPr>
            <a:r>
              <a:rPr dirty="0"/>
              <a:t>• </a:t>
            </a:r>
            <a:r>
              <a:rPr dirty="0" err="1"/>
              <a:t>belongsToGroup</a:t>
            </a:r>
            <a:r>
              <a:rPr dirty="0"/>
              <a:t>: 624</a:t>
            </a:r>
          </a:p>
          <a:p>
            <a:pPr>
              <a:spcAft>
                <a:spcPts val="800"/>
              </a:spcAft>
              <a:defRPr sz="1400"/>
            </a:pPr>
            <a:r>
              <a:rPr dirty="0"/>
              <a:t>• </a:t>
            </a:r>
            <a:r>
              <a:rPr dirty="0" err="1"/>
              <a:t>appliesTo</a:t>
            </a:r>
            <a:r>
              <a:rPr dirty="0"/>
              <a:t>: 604</a:t>
            </a:r>
          </a:p>
          <a:p>
            <a:pPr>
              <a:spcAft>
                <a:spcPts val="800"/>
              </a:spcAft>
              <a:defRPr sz="1400"/>
            </a:pPr>
            <a:r>
              <a:rPr dirty="0"/>
              <a:t>• </a:t>
            </a:r>
            <a:r>
              <a:rPr dirty="0" err="1"/>
              <a:t>providesContextFor</a:t>
            </a:r>
            <a:r>
              <a:rPr dirty="0"/>
              <a:t>: 108</a:t>
            </a:r>
          </a:p>
          <a:p>
            <a:pPr>
              <a:spcAft>
                <a:spcPts val="800"/>
              </a:spcAft>
              <a:defRPr sz="1400"/>
            </a:pPr>
            <a:r>
              <a:rPr dirty="0"/>
              <a:t>• </a:t>
            </a:r>
            <a:r>
              <a:rPr dirty="0" err="1"/>
              <a:t>overridesPattern</a:t>
            </a:r>
            <a:r>
              <a:rPr dirty="0"/>
              <a:t>: 106</a:t>
            </a:r>
          </a:p>
          <a:p>
            <a:pPr>
              <a:spcAft>
                <a:spcPts val="800"/>
              </a:spcAft>
              <a:defRPr sz="1400"/>
            </a:pPr>
            <a:r>
              <a:rPr dirty="0"/>
              <a:t>• </a:t>
            </a:r>
            <a:r>
              <a:rPr dirty="0" err="1"/>
              <a:t>overridesForAudience</a:t>
            </a:r>
            <a:r>
              <a:rPr dirty="0"/>
              <a:t>: 87</a:t>
            </a:r>
          </a:p>
          <a:p>
            <a:pPr>
              <a:spcAft>
                <a:spcPts val="800"/>
              </a:spcAft>
              <a:defRPr sz="1400"/>
            </a:pPr>
            <a:r>
              <a:rPr dirty="0"/>
              <a:t>• </a:t>
            </a:r>
            <a:r>
              <a:rPr dirty="0" err="1"/>
              <a:t>appliesToTerritory</a:t>
            </a:r>
            <a:r>
              <a:rPr dirty="0"/>
              <a:t>: 54</a:t>
            </a:r>
          </a:p>
          <a:p>
            <a:pPr>
              <a:spcAft>
                <a:spcPts val="800"/>
              </a:spcAft>
              <a:defRPr sz="1400"/>
            </a:pPr>
            <a:r>
              <a:rPr dirty="0"/>
              <a:t>• </a:t>
            </a:r>
            <a:r>
              <a:rPr dirty="0" err="1"/>
              <a:t>regulatesTerritory</a:t>
            </a:r>
            <a:r>
              <a:rPr dirty="0"/>
              <a:t>: 35</a:t>
            </a:r>
          </a:p>
          <a:p>
            <a:pPr>
              <a:spcAft>
                <a:spcPts val="800"/>
              </a:spcAft>
              <a:defRPr sz="1400"/>
            </a:pPr>
            <a:r>
              <a:rPr dirty="0"/>
              <a:t>• </a:t>
            </a:r>
            <a:r>
              <a:rPr dirty="0" err="1"/>
              <a:t>belongsToPrimaryGroup</a:t>
            </a:r>
            <a:r>
              <a:rPr dirty="0"/>
              <a:t>: 11</a:t>
            </a:r>
          </a:p>
          <a:p>
            <a:pPr>
              <a:spcAft>
                <a:spcPts val="800"/>
              </a:spcAft>
              <a:defRPr sz="1400"/>
            </a:pPr>
            <a:endParaRPr dirty="0"/>
          </a:p>
          <a:p>
            <a:pPr>
              <a:spcAft>
                <a:spcPts val="800"/>
              </a:spcAft>
              <a:defRPr sz="1400"/>
            </a:pPr>
            <a:r>
              <a:rPr dirty="0"/>
              <a:t>📈 COVERAGE</a:t>
            </a:r>
          </a:p>
          <a:p>
            <a:pPr>
              <a:spcAft>
                <a:spcPts val="800"/>
              </a:spcAft>
              <a:defRPr sz="1400"/>
            </a:pPr>
            <a:r>
              <a:rPr dirty="0"/>
              <a:t>• 10 content categories</a:t>
            </a:r>
          </a:p>
          <a:p>
            <a:pPr>
              <a:spcAft>
                <a:spcPts val="800"/>
              </a:spcAft>
              <a:defRPr sz="1400"/>
            </a:pPr>
            <a:r>
              <a:rPr dirty="0"/>
              <a:t>• 11 territories</a:t>
            </a:r>
          </a:p>
          <a:p>
            <a:pPr>
              <a:spcAft>
                <a:spcPts val="800"/>
              </a:spcAft>
              <a:defRPr sz="1400"/>
            </a:pPr>
            <a:r>
              <a:rPr dirty="0"/>
              <a:t>• 6 cultural groups</a:t>
            </a:r>
          </a:p>
          <a:p>
            <a:pPr>
              <a:spcAft>
                <a:spcPts val="800"/>
              </a:spcAft>
              <a:defRPr sz="1400"/>
            </a:pPr>
            <a:r>
              <a:rPr dirty="0"/>
              <a:t>• 191 unique patterns</a:t>
            </a:r>
          </a:p>
          <a:p>
            <a:pPr>
              <a:spcAft>
                <a:spcPts val="800"/>
              </a:spcAft>
              <a:defRPr sz="1400"/>
            </a:pPr>
            <a:r>
              <a:rPr dirty="0"/>
              <a:t>• 25,950 RDF triples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solidFill>
                  <a:srgbClr val="2962FF"/>
                </a:solidFill>
              </a:defRPr>
            </a:pPr>
            <a:r>
              <a:t>Data Pipeline: Source of Truth</a:t>
            </a:r>
          </a:p>
        </p:txBody>
      </p:sp>
      <p:sp>
        <p:nvSpPr>
          <p:cNvPr id="3" name="Content Placeholder 2"/>
          <p:cNvSpPr>
            <a:spLocks noGrp="1"/>
          </p:cNvSpPr>
          <p:nvPr>
            <p:ph idx="1"/>
          </p:nvPr>
        </p:nvSpPr>
        <p:spPr/>
        <p:txBody>
          <a:bodyPr>
            <a:normAutofit fontScale="25000" lnSpcReduction="20000"/>
          </a:bodyPr>
          <a:lstStyle/>
          <a:p>
            <a:endParaRPr/>
          </a:p>
          <a:p>
            <a:pPr>
              <a:spcAft>
                <a:spcPts val="1200"/>
              </a:spcAft>
              <a:defRPr sz="1800">
                <a:solidFill>
                  <a:srgbClr val="333333"/>
                </a:solidFill>
              </a:defRPr>
            </a:pPr>
            <a:r>
              <a:t>1️⃣ EXCEL FILES (Source of Truth)</a:t>
            </a:r>
          </a:p>
          <a:p>
            <a:pPr>
              <a:spcAft>
                <a:spcPts val="1200"/>
              </a:spcAft>
              <a:defRPr sz="1800">
                <a:solidFill>
                  <a:srgbClr val="333333"/>
                </a:solidFill>
              </a:defRPr>
            </a:pPr>
            <a:r>
              <a:t>   • Business-friendly - no coding required</a:t>
            </a:r>
          </a:p>
          <a:p>
            <a:pPr>
              <a:spcAft>
                <a:spcPts val="1200"/>
              </a:spcAft>
              <a:defRPr sz="1800">
                <a:solidFill>
                  <a:srgbClr val="333333"/>
                </a:solidFill>
              </a:defRPr>
            </a:pPr>
            <a:r>
              <a:t>   • Product team can update directly</a:t>
            </a:r>
          </a:p>
          <a:p>
            <a:pPr>
              <a:spcAft>
                <a:spcPts val="1200"/>
              </a:spcAft>
              <a:defRPr sz="1800">
                <a:solidFill>
                  <a:srgbClr val="333333"/>
                </a:solidFill>
              </a:defRPr>
            </a:pPr>
            <a:endParaRPr/>
          </a:p>
          <a:p>
            <a:pPr>
              <a:spcAft>
                <a:spcPts val="1200"/>
              </a:spcAft>
              <a:defRPr sz="1800">
                <a:solidFill>
                  <a:srgbClr val="333333"/>
                </a:solidFill>
              </a:defRPr>
            </a:pPr>
            <a:r>
              <a:t>2️⃣ TTL ONTOLOGY (Semantic Layer)</a:t>
            </a:r>
          </a:p>
          <a:p>
            <a:pPr>
              <a:spcAft>
                <a:spcPts val="1200"/>
              </a:spcAft>
              <a:defRPr sz="1800">
                <a:solidFill>
                  <a:srgbClr val="333333"/>
                </a:solidFill>
              </a:defRPr>
            </a:pPr>
            <a:r>
              <a:t>   • Auto-generated from Excel</a:t>
            </a:r>
          </a:p>
          <a:p>
            <a:pPr>
              <a:spcAft>
                <a:spcPts val="1200"/>
              </a:spcAft>
              <a:defRPr sz="1800">
                <a:solidFill>
                  <a:srgbClr val="333333"/>
                </a:solidFill>
              </a:defRPr>
            </a:pPr>
            <a:r>
              <a:t>   • RDF format for semantic richness</a:t>
            </a:r>
          </a:p>
          <a:p>
            <a:pPr>
              <a:spcAft>
                <a:spcPts val="1200"/>
              </a:spcAft>
              <a:defRPr sz="1800">
                <a:solidFill>
                  <a:srgbClr val="333333"/>
                </a:solidFill>
              </a:defRPr>
            </a:pPr>
            <a:endParaRPr/>
          </a:p>
          <a:p>
            <a:pPr>
              <a:spcAft>
                <a:spcPts val="1200"/>
              </a:spcAft>
              <a:defRPr sz="1800">
                <a:solidFill>
                  <a:srgbClr val="333333"/>
                </a:solidFill>
              </a:defRPr>
            </a:pPr>
            <a:r>
              <a:t>3️⃣ CONSOLIDATED ONTOLOGY</a:t>
            </a:r>
          </a:p>
          <a:p>
            <a:pPr>
              <a:spcAft>
                <a:spcPts val="1200"/>
              </a:spcAft>
              <a:defRPr sz="1800">
                <a:solidFill>
                  <a:srgbClr val="333333"/>
                </a:solidFill>
              </a:defRPr>
            </a:pPr>
            <a:r>
              <a:t>   • 25,950 RDF triples</a:t>
            </a:r>
          </a:p>
          <a:p>
            <a:pPr>
              <a:spcAft>
                <a:spcPts val="1200"/>
              </a:spcAft>
              <a:defRPr sz="1800">
                <a:solidFill>
                  <a:srgbClr val="333333"/>
                </a:solidFill>
              </a:defRPr>
            </a:pPr>
            <a:r>
              <a:t>   • All categories merged &amp; validated</a:t>
            </a:r>
          </a:p>
          <a:p>
            <a:pPr>
              <a:spcAft>
                <a:spcPts val="1200"/>
              </a:spcAft>
              <a:defRPr sz="1800">
                <a:solidFill>
                  <a:srgbClr val="333333"/>
                </a:solidFill>
              </a:defRPr>
            </a:pPr>
            <a:endParaRPr/>
          </a:p>
          <a:p>
            <a:pPr>
              <a:spcAft>
                <a:spcPts val="1200"/>
              </a:spcAft>
              <a:defRPr sz="1800">
                <a:solidFill>
                  <a:srgbClr val="333333"/>
                </a:solidFill>
              </a:defRPr>
            </a:pPr>
            <a:r>
              <a:t>4️⃣ JSON KNOWLEDGE GRAPH</a:t>
            </a:r>
          </a:p>
          <a:p>
            <a:pPr>
              <a:spcAft>
                <a:spcPts val="1200"/>
              </a:spcAft>
              <a:defRPr sz="1800">
                <a:solidFill>
                  <a:srgbClr val="333333"/>
                </a:solidFill>
              </a:defRPr>
            </a:pPr>
            <a:r>
              <a:t>   • 2,032 nodes, 3,242 edges</a:t>
            </a:r>
          </a:p>
          <a:p>
            <a:pPr>
              <a:spcAft>
                <a:spcPts val="1200"/>
              </a:spcAft>
              <a:defRPr sz="1800">
                <a:solidFill>
                  <a:srgbClr val="333333"/>
                </a:solidFill>
              </a:defRPr>
            </a:pPr>
            <a:r>
              <a:t>   • Ready for Neo4j import</a:t>
            </a:r>
          </a:p>
          <a:p>
            <a:pPr>
              <a:spcAft>
                <a:spcPts val="1200"/>
              </a:spcAft>
              <a:defRPr sz="1800">
                <a:solidFill>
                  <a:srgbClr val="333333"/>
                </a:solidFill>
              </a:defRPr>
            </a:pPr>
            <a:endParaRPr/>
          </a:p>
          <a:p>
            <a:pPr>
              <a:spcAft>
                <a:spcPts val="1200"/>
              </a:spcAft>
              <a:defRPr sz="1800">
                <a:solidFill>
                  <a:srgbClr val="333333"/>
                </a:solidFill>
              </a:defRPr>
            </a:pPr>
            <a:r>
              <a:t>5️⃣ NEO4J DATABASE (Production)</a:t>
            </a:r>
          </a:p>
          <a:p>
            <a:pPr>
              <a:spcAft>
                <a:spcPts val="1200"/>
              </a:spcAft>
              <a:defRPr sz="1800">
                <a:solidFill>
                  <a:srgbClr val="333333"/>
                </a:solidFill>
              </a:defRPr>
            </a:pPr>
            <a:r>
              <a:t>   • Query-optimized graph DB</a:t>
            </a:r>
          </a:p>
          <a:p>
            <a:pPr>
              <a:spcAft>
                <a:spcPts val="1200"/>
              </a:spcAft>
              <a:defRPr sz="1800">
                <a:solidFill>
                  <a:srgbClr val="333333"/>
                </a:solidFill>
              </a:defRPr>
            </a:pPr>
            <a:r>
              <a:t>   • API endpoints for applications</a:t>
            </a:r>
          </a:p>
          <a:p>
            <a:pPr>
              <a:spcAft>
                <a:spcPts val="1200"/>
              </a:spcAft>
              <a:defRPr sz="1800">
                <a:solidFill>
                  <a:srgbClr val="333333"/>
                </a:solidFill>
              </a:defRPr>
            </a:pPr>
            <a:endParaRPr/>
          </a:p>
          <a:p>
            <a:pPr>
              <a:spcAft>
                <a:spcPts val="1200"/>
              </a:spcAft>
              <a:defRPr sz="1800">
                <a:solidFill>
                  <a:srgbClr val="333333"/>
                </a:solidFill>
              </a:defRPr>
            </a:pPr>
            <a:r>
              <a:t>⏱️ UPDATE TIME: ~5 minutes from Excel to Production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solidFill>
                  <a:srgbClr val="2962FF"/>
                </a:solidFill>
              </a:defRPr>
            </a:pPr>
            <a:r>
              <a:t>Why This Matters: Key Benefits</a:t>
            </a:r>
          </a:p>
        </p:txBody>
      </p:sp>
      <p:sp>
        <p:nvSpPr>
          <p:cNvPr id="4" name="TextBox 3"/>
          <p:cNvSpPr txBox="1"/>
          <p:nvPr/>
        </p:nvSpPr>
        <p:spPr>
          <a:xfrm>
            <a:off x="457200" y="1371600"/>
            <a:ext cx="3886200" cy="5029200"/>
          </a:xfrm>
          <a:prstGeom prst="rect">
            <a:avLst/>
          </a:prstGeom>
          <a:noFill/>
        </p:spPr>
        <p:txBody>
          <a:bodyPr wrap="none">
            <a:spAutoFit/>
          </a:bodyPr>
          <a:lstStyle/>
          <a:p>
            <a:endParaRPr/>
          </a:p>
          <a:p>
            <a:pPr>
              <a:spcAft>
                <a:spcPts val="800"/>
              </a:spcAft>
              <a:defRPr sz="1400"/>
            </a:pPr>
            <a:r>
              <a:t>💻 TECHNICAL BENEFITS</a:t>
            </a:r>
          </a:p>
          <a:p>
            <a:pPr>
              <a:spcAft>
                <a:spcPts val="800"/>
              </a:spcAft>
              <a:defRPr sz="1400"/>
            </a:pPr>
            <a:r>
              <a:t>✅ Graph queries: &lt;10ms</a:t>
            </a:r>
          </a:p>
          <a:p>
            <a:pPr>
              <a:spcAft>
                <a:spcPts val="800"/>
              </a:spcAft>
              <a:defRPr sz="1400"/>
            </a:pPr>
            <a:r>
              <a:t>✅ vs SQL joins: 100ms+</a:t>
            </a:r>
          </a:p>
          <a:p>
            <a:pPr>
              <a:spcAft>
                <a:spcPts val="800"/>
              </a:spcAft>
              <a:defRPr sz="1400"/>
            </a:pPr>
            <a:r>
              <a:t>✅ Single source of truth</a:t>
            </a:r>
          </a:p>
          <a:p>
            <a:pPr>
              <a:spcAft>
                <a:spcPts val="800"/>
              </a:spcAft>
              <a:defRPr sz="1400"/>
            </a:pPr>
            <a:r>
              <a:t>✅ Automated pipeline</a:t>
            </a:r>
          </a:p>
          <a:p>
            <a:pPr>
              <a:spcAft>
                <a:spcPts val="800"/>
              </a:spcAft>
              <a:defRPr sz="1400"/>
            </a:pPr>
            <a:r>
              <a:t>✅ Version controlled</a:t>
            </a:r>
          </a:p>
          <a:p>
            <a:pPr>
              <a:spcAft>
                <a:spcPts val="800"/>
              </a:spcAft>
              <a:defRPr sz="1400"/>
            </a:pPr>
            <a:r>
              <a:t>✅ Auditable &amp; traceable</a:t>
            </a:r>
          </a:p>
          <a:p>
            <a:pPr>
              <a:spcAft>
                <a:spcPts val="800"/>
              </a:spcAft>
              <a:defRPr sz="1400"/>
            </a:pPr>
            <a:endParaRPr/>
          </a:p>
          <a:p>
            <a:pPr>
              <a:spcAft>
                <a:spcPts val="800"/>
              </a:spcAft>
              <a:defRPr sz="1400"/>
            </a:pPr>
            <a:r>
              <a:t>💼 BUSINESS BENEFITS</a:t>
            </a:r>
          </a:p>
          <a:p>
            <a:pPr>
              <a:spcAft>
                <a:spcPts val="800"/>
              </a:spcAft>
              <a:defRPr sz="1400"/>
            </a:pPr>
            <a:r>
              <a:t>✅ Cultural awareness at scale</a:t>
            </a:r>
          </a:p>
          <a:p>
            <a:pPr>
              <a:spcAft>
                <a:spcPts val="800"/>
              </a:spcAft>
              <a:defRPr sz="1400"/>
            </a:pPr>
            <a:r>
              <a:t>✅ Legal compliance automated</a:t>
            </a:r>
          </a:p>
          <a:p>
            <a:pPr>
              <a:spcAft>
                <a:spcPts val="800"/>
              </a:spcAft>
              <a:defRPr sz="1400"/>
            </a:pPr>
            <a:r>
              <a:t>✅ Reduced moderation errors</a:t>
            </a:r>
          </a:p>
          <a:p>
            <a:pPr>
              <a:spcAft>
                <a:spcPts val="800"/>
              </a:spcAft>
              <a:defRPr sz="1400"/>
            </a:pPr>
            <a:r>
              <a:t>✅ Faster time-to-market</a:t>
            </a:r>
          </a:p>
          <a:p>
            <a:pPr>
              <a:spcAft>
                <a:spcPts val="800"/>
              </a:spcAft>
              <a:defRPr sz="1400"/>
            </a:pPr>
            <a:r>
              <a:t>✅ New territories in minutes</a:t>
            </a:r>
          </a:p>
          <a:p>
            <a:pPr>
              <a:spcAft>
                <a:spcPts val="800"/>
              </a:spcAft>
              <a:defRPr sz="1400"/>
            </a:pPr>
            <a:r>
              <a:t>✅ Lower legal risk</a:t>
            </a:r>
          </a:p>
          <a:p>
            <a:pPr>
              <a:spcAft>
                <a:spcPts val="800"/>
              </a:spcAft>
              <a:defRPr sz="1400"/>
            </a:pPr>
            <a:r>
              <a:t>✅ Better brand safety</a:t>
            </a:r>
          </a:p>
        </p:txBody>
      </p:sp>
      <p:sp>
        <p:nvSpPr>
          <p:cNvPr id="5" name="TextBox 4"/>
          <p:cNvSpPr txBox="1"/>
          <p:nvPr/>
        </p:nvSpPr>
        <p:spPr>
          <a:xfrm>
            <a:off x="4800600" y="1371600"/>
            <a:ext cx="3886200" cy="5029200"/>
          </a:xfrm>
          <a:prstGeom prst="rect">
            <a:avLst/>
          </a:prstGeom>
          <a:noFill/>
        </p:spPr>
        <p:txBody>
          <a:bodyPr wrap="none">
            <a:spAutoFit/>
          </a:bodyPr>
          <a:lstStyle/>
          <a:p>
            <a:endParaRPr/>
          </a:p>
          <a:p>
            <a:pPr>
              <a:spcAft>
                <a:spcPts val="800"/>
              </a:spcAft>
              <a:defRPr sz="1400"/>
            </a:pPr>
            <a:r>
              <a:t>👥 USER BENEFITS</a:t>
            </a:r>
          </a:p>
          <a:p>
            <a:pPr>
              <a:spcAft>
                <a:spcPts val="800"/>
              </a:spcAft>
              <a:defRPr sz="1400"/>
            </a:pPr>
            <a:r>
              <a:t>✅ Culturally appropriate content</a:t>
            </a:r>
          </a:p>
          <a:p>
            <a:pPr>
              <a:spcAft>
                <a:spcPts val="800"/>
              </a:spcAft>
              <a:defRPr sz="1400"/>
            </a:pPr>
            <a:r>
              <a:t>✅ Age-appropriate filtering</a:t>
            </a:r>
          </a:p>
          <a:p>
            <a:pPr>
              <a:spcAft>
                <a:spcPts val="800"/>
              </a:spcAft>
              <a:defRPr sz="1400"/>
            </a:pPr>
            <a:r>
              <a:t>✅ Consistent regional experience</a:t>
            </a:r>
          </a:p>
          <a:p>
            <a:pPr>
              <a:spcAft>
                <a:spcPts val="800"/>
              </a:spcAft>
              <a:defRPr sz="1400"/>
            </a:pPr>
            <a:r>
              <a:t>✅ Better safety (kids &amp; vulnerable)</a:t>
            </a:r>
          </a:p>
          <a:p>
            <a:pPr>
              <a:spcAft>
                <a:spcPts val="800"/>
              </a:spcAft>
              <a:defRPr sz="1400"/>
            </a:pPr>
            <a:r>
              <a:t>✅ Respectful of local values</a:t>
            </a:r>
          </a:p>
          <a:p>
            <a:pPr>
              <a:spcAft>
                <a:spcPts val="800"/>
              </a:spcAft>
              <a:defRPr sz="1400"/>
            </a:pPr>
            <a:r>
              <a:t>✅ Reduced harmful exposure</a:t>
            </a:r>
          </a:p>
          <a:p>
            <a:pPr>
              <a:spcAft>
                <a:spcPts val="800"/>
              </a:spcAft>
              <a:defRPr sz="1400"/>
            </a:pPr>
            <a:endParaRPr/>
          </a:p>
          <a:p>
            <a:pPr>
              <a:spcAft>
                <a:spcPts val="800"/>
              </a:spcAft>
              <a:defRPr sz="1400"/>
            </a:pPr>
            <a:r>
              <a:t>🎯 COMPETITIVE ADVANTAGE</a:t>
            </a:r>
          </a:p>
          <a:p>
            <a:pPr>
              <a:spcAft>
                <a:spcPts val="800"/>
              </a:spcAft>
              <a:defRPr sz="1400"/>
            </a:pPr>
            <a:r>
              <a:t>✅ Sophisticated vs simple rules</a:t>
            </a:r>
          </a:p>
          <a:p>
            <a:pPr>
              <a:spcAft>
                <a:spcPts val="800"/>
              </a:spcAft>
              <a:defRPr sz="1400"/>
            </a:pPr>
            <a:r>
              <a:t>✅ Data-driven vs arbitrary</a:t>
            </a:r>
          </a:p>
          <a:p>
            <a:pPr>
              <a:spcAft>
                <a:spcPts val="800"/>
              </a:spcAft>
              <a:defRPr sz="1400"/>
            </a:pPr>
            <a:r>
              <a:t>✅ Scalable vs manual</a:t>
            </a:r>
          </a:p>
          <a:p>
            <a:pPr>
              <a:spcAft>
                <a:spcPts val="800"/>
              </a:spcAft>
              <a:defRPr sz="1400"/>
            </a:pPr>
            <a:r>
              <a:t>✅ Fast vs slow</a:t>
            </a:r>
          </a:p>
          <a:p>
            <a:pPr>
              <a:spcAft>
                <a:spcPts val="800"/>
              </a:spcAft>
              <a:defRPr sz="1400"/>
            </a:pPr>
            <a:r>
              <a:t>✅ Flexible vs rigid</a:t>
            </a:r>
          </a:p>
          <a:p>
            <a:pPr>
              <a:spcAft>
                <a:spcPts val="800"/>
              </a:spcAft>
              <a:defRPr sz="1400"/>
            </a:pPr>
            <a:r>
              <a:t>✅ Intelligent vs dumb filtering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solidFill>
                  <a:srgbClr val="2962FF"/>
                </a:solidFill>
              </a:defRPr>
            </a:pPr>
            <a:r>
              <a:t>Future Roadmap</a:t>
            </a:r>
          </a:p>
        </p:txBody>
      </p:sp>
      <p:sp>
        <p:nvSpPr>
          <p:cNvPr id="3" name="Content Placeholder 2"/>
          <p:cNvSpPr>
            <a:spLocks noGrp="1"/>
          </p:cNvSpPr>
          <p:nvPr>
            <p:ph idx="1"/>
          </p:nvPr>
        </p:nvSpPr>
        <p:spPr>
          <a:xfrm>
            <a:off x="457199" y="1600200"/>
            <a:ext cx="3777175" cy="5081954"/>
          </a:xfrm>
        </p:spPr>
        <p:txBody>
          <a:bodyPr>
            <a:normAutofit fontScale="40000" lnSpcReduction="20000"/>
          </a:bodyPr>
          <a:lstStyle/>
          <a:p>
            <a:endParaRPr dirty="0"/>
          </a:p>
          <a:p>
            <a:pPr>
              <a:spcAft>
                <a:spcPts val="1200"/>
              </a:spcAft>
              <a:defRPr sz="1800">
                <a:solidFill>
                  <a:srgbClr val="333333"/>
                </a:solidFill>
              </a:defRPr>
            </a:pPr>
            <a:r>
              <a:rPr dirty="0"/>
              <a:t>✅ PHASE 1: COMPLETE</a:t>
            </a:r>
          </a:p>
          <a:p>
            <a:pPr>
              <a:spcAft>
                <a:spcPts val="1200"/>
              </a:spcAft>
              <a:defRPr sz="1800">
                <a:solidFill>
                  <a:srgbClr val="333333"/>
                </a:solidFill>
              </a:defRPr>
            </a:pPr>
            <a:r>
              <a:rPr dirty="0"/>
              <a:t>   • 10 categories, 11 territories, 6 cultural groups</a:t>
            </a:r>
          </a:p>
          <a:p>
            <a:pPr>
              <a:spcAft>
                <a:spcPts val="1200"/>
              </a:spcAft>
              <a:defRPr sz="1800">
                <a:solidFill>
                  <a:srgbClr val="333333"/>
                </a:solidFill>
              </a:defRPr>
            </a:pPr>
            <a:r>
              <a:rPr dirty="0"/>
              <a:t>   • 2,032 nodes, 3,242 relationships</a:t>
            </a:r>
          </a:p>
          <a:p>
            <a:pPr>
              <a:spcAft>
                <a:spcPts val="1200"/>
              </a:spcAft>
              <a:defRPr sz="1800">
                <a:solidFill>
                  <a:srgbClr val="333333"/>
                </a:solidFill>
              </a:defRPr>
            </a:pPr>
            <a:r>
              <a:rPr dirty="0"/>
              <a:t>   • Neo4j graph database with APIs</a:t>
            </a:r>
          </a:p>
          <a:p>
            <a:pPr>
              <a:spcAft>
                <a:spcPts val="1200"/>
              </a:spcAft>
              <a:defRPr sz="1800">
                <a:solidFill>
                  <a:srgbClr val="333333"/>
                </a:solidFill>
              </a:defRPr>
            </a:pPr>
            <a:endParaRPr dirty="0"/>
          </a:p>
          <a:p>
            <a:pPr>
              <a:spcAft>
                <a:spcPts val="1200"/>
              </a:spcAft>
              <a:defRPr sz="1800">
                <a:solidFill>
                  <a:srgbClr val="333333"/>
                </a:solidFill>
              </a:defRPr>
            </a:pPr>
            <a:r>
              <a:rPr dirty="0"/>
              <a:t>🔄 PHASE 2: IN PROGRESS</a:t>
            </a:r>
          </a:p>
          <a:p>
            <a:pPr>
              <a:spcAft>
                <a:spcPts val="1200"/>
              </a:spcAft>
              <a:defRPr sz="1800">
                <a:solidFill>
                  <a:srgbClr val="333333"/>
                </a:solidFill>
              </a:defRPr>
            </a:pPr>
            <a:r>
              <a:rPr dirty="0"/>
              <a:t>   • Expand to 15+ more territories</a:t>
            </a:r>
          </a:p>
          <a:p>
            <a:pPr>
              <a:spcAft>
                <a:spcPts val="1200"/>
              </a:spcAft>
              <a:defRPr sz="1800">
                <a:solidFill>
                  <a:srgbClr val="333333"/>
                </a:solidFill>
              </a:defRPr>
            </a:pPr>
            <a:r>
              <a:rPr dirty="0"/>
              <a:t>   • ML integration for confidence scores</a:t>
            </a:r>
          </a:p>
          <a:p>
            <a:pPr>
              <a:spcAft>
                <a:spcPts val="1200"/>
              </a:spcAft>
              <a:defRPr sz="1800">
                <a:solidFill>
                  <a:srgbClr val="333333"/>
                </a:solidFill>
              </a:defRPr>
            </a:pPr>
            <a:r>
              <a:rPr dirty="0"/>
              <a:t>   • Real-time decision API (production)</a:t>
            </a:r>
          </a:p>
          <a:p>
            <a:pPr>
              <a:spcAft>
                <a:spcPts val="1200"/>
              </a:spcAft>
              <a:defRPr sz="1800">
                <a:solidFill>
                  <a:srgbClr val="333333"/>
                </a:solidFill>
              </a:defRPr>
            </a:pPr>
            <a:r>
              <a:rPr dirty="0"/>
              <a:t>   • Analytics dashboard &amp; monitoring</a:t>
            </a:r>
          </a:p>
          <a:p>
            <a:pPr>
              <a:spcAft>
                <a:spcPts val="1200"/>
              </a:spcAft>
              <a:defRPr sz="1800">
                <a:solidFill>
                  <a:srgbClr val="333333"/>
                </a:solidFill>
              </a:defRPr>
            </a:pPr>
            <a:endParaRPr dirty="0"/>
          </a:p>
          <a:p>
            <a:pPr>
              <a:spcAft>
                <a:spcPts val="1200"/>
              </a:spcAft>
              <a:defRPr sz="1800">
                <a:solidFill>
                  <a:srgbClr val="333333"/>
                </a:solidFill>
              </a:defRPr>
            </a:pPr>
            <a:r>
              <a:rPr dirty="0"/>
              <a:t>📋 PHASE 3: PLANNED</a:t>
            </a:r>
          </a:p>
          <a:p>
            <a:pPr>
              <a:spcAft>
                <a:spcPts val="1200"/>
              </a:spcAft>
              <a:defRPr sz="1800">
                <a:solidFill>
                  <a:srgbClr val="333333"/>
                </a:solidFill>
              </a:defRPr>
            </a:pPr>
            <a:r>
              <a:rPr dirty="0"/>
              <a:t>   • User preference learning &amp; personalization</a:t>
            </a:r>
          </a:p>
          <a:p>
            <a:pPr>
              <a:spcAft>
                <a:spcPts val="1200"/>
              </a:spcAft>
              <a:defRPr sz="1800">
                <a:solidFill>
                  <a:srgbClr val="333333"/>
                </a:solidFill>
              </a:defRPr>
            </a:pPr>
            <a:r>
              <a:rPr dirty="0"/>
              <a:t>   • A/B testing framework</a:t>
            </a:r>
          </a:p>
          <a:p>
            <a:pPr>
              <a:spcAft>
                <a:spcPts val="1200"/>
              </a:spcAft>
              <a:defRPr sz="1800">
                <a:solidFill>
                  <a:srgbClr val="333333"/>
                </a:solidFill>
              </a:defRPr>
            </a:pPr>
            <a:r>
              <a:rPr dirty="0"/>
              <a:t>   • Automated sensitivity calibration</a:t>
            </a:r>
          </a:p>
          <a:p>
            <a:pPr>
              <a:spcAft>
                <a:spcPts val="1200"/>
              </a:spcAft>
              <a:defRPr sz="1800">
                <a:solidFill>
                  <a:srgbClr val="333333"/>
                </a:solidFill>
              </a:defRPr>
            </a:pPr>
            <a:r>
              <a:rPr dirty="0"/>
              <a:t>   • New categories: Finance, Politics, Religion</a:t>
            </a:r>
          </a:p>
          <a:p>
            <a:pPr>
              <a:spcAft>
                <a:spcPts val="1200"/>
              </a:spcAft>
              <a:defRPr sz="1800">
                <a:solidFill>
                  <a:srgbClr val="333333"/>
                </a:solidFill>
              </a:defRPr>
            </a:pPr>
            <a:r>
              <a:rPr dirty="0"/>
              <a:t>   • Multi-language support</a:t>
            </a:r>
          </a:p>
          <a:p>
            <a:pPr>
              <a:spcAft>
                <a:spcPts val="1200"/>
              </a:spcAft>
              <a:defRPr sz="1800">
                <a:solidFill>
                  <a:srgbClr val="333333"/>
                </a:solidFill>
              </a:defRPr>
            </a:pPr>
            <a:r>
              <a:rPr dirty="0"/>
              <a:t>   • Explainable AI (why this decision?)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solidFill>
                  <a:srgbClr val="2962FF"/>
                </a:solidFill>
              </a:defRPr>
            </a:pPr>
            <a:r>
              <a:t>Questions?</a:t>
            </a:r>
          </a:p>
        </p:txBody>
      </p:sp>
      <p:sp>
        <p:nvSpPr>
          <p:cNvPr id="3" name="Content Placeholder 2"/>
          <p:cNvSpPr>
            <a:spLocks noGrp="1"/>
          </p:cNvSpPr>
          <p:nvPr>
            <p:ph idx="1"/>
          </p:nvPr>
        </p:nvSpPr>
        <p:spPr>
          <a:xfrm>
            <a:off x="457200" y="1417638"/>
            <a:ext cx="8229600" cy="5165724"/>
          </a:xfrm>
        </p:spPr>
        <p:txBody>
          <a:bodyPr>
            <a:normAutofit fontScale="25000" lnSpcReduction="20000"/>
          </a:bodyPr>
          <a:lstStyle/>
          <a:p>
            <a:endParaRPr dirty="0"/>
          </a:p>
          <a:p>
            <a:pPr>
              <a:spcAft>
                <a:spcPts val="1200"/>
              </a:spcAft>
              <a:defRPr sz="1800">
                <a:solidFill>
                  <a:srgbClr val="333333"/>
                </a:solidFill>
              </a:defRPr>
            </a:pPr>
            <a:r>
              <a:rPr sz="4500" dirty="0"/>
              <a:t>Happy to answer questions about:</a:t>
            </a:r>
          </a:p>
          <a:p>
            <a:pPr>
              <a:spcAft>
                <a:spcPts val="1200"/>
              </a:spcAft>
              <a:defRPr sz="1800">
                <a:solidFill>
                  <a:srgbClr val="333333"/>
                </a:solidFill>
              </a:defRPr>
            </a:pPr>
            <a:endParaRPr sz="4500" dirty="0"/>
          </a:p>
          <a:p>
            <a:pPr>
              <a:spcAft>
                <a:spcPts val="1200"/>
              </a:spcAft>
              <a:defRPr sz="1800">
                <a:solidFill>
                  <a:srgbClr val="333333"/>
                </a:solidFill>
              </a:defRPr>
            </a:pPr>
            <a:r>
              <a:rPr sz="4500" dirty="0"/>
              <a:t>🔧 Technical Implementation</a:t>
            </a:r>
          </a:p>
          <a:p>
            <a:pPr>
              <a:spcAft>
                <a:spcPts val="1200"/>
              </a:spcAft>
              <a:defRPr sz="1800">
                <a:solidFill>
                  <a:srgbClr val="333333"/>
                </a:solidFill>
              </a:defRPr>
            </a:pPr>
            <a:r>
              <a:rPr sz="4500" dirty="0"/>
              <a:t>   • Graph architecture, queries, performance</a:t>
            </a:r>
          </a:p>
          <a:p>
            <a:pPr>
              <a:spcAft>
                <a:spcPts val="1200"/>
              </a:spcAft>
              <a:defRPr sz="1800">
                <a:solidFill>
                  <a:srgbClr val="333333"/>
                </a:solidFill>
              </a:defRPr>
            </a:pPr>
            <a:endParaRPr sz="4500" dirty="0"/>
          </a:p>
          <a:p>
            <a:pPr>
              <a:spcAft>
                <a:spcPts val="1200"/>
              </a:spcAft>
              <a:defRPr sz="1800">
                <a:solidFill>
                  <a:srgbClr val="333333"/>
                </a:solidFill>
              </a:defRPr>
            </a:pPr>
            <a:r>
              <a:rPr sz="4500" dirty="0"/>
              <a:t>📊 Data Model &amp; Schema</a:t>
            </a:r>
          </a:p>
          <a:p>
            <a:pPr>
              <a:spcAft>
                <a:spcPts val="1200"/>
              </a:spcAft>
              <a:defRPr sz="1800">
                <a:solidFill>
                  <a:srgbClr val="333333"/>
                </a:solidFill>
              </a:defRPr>
            </a:pPr>
            <a:r>
              <a:rPr sz="4500" dirty="0"/>
              <a:t>   • Node types, relationships, decision logic</a:t>
            </a:r>
          </a:p>
          <a:p>
            <a:pPr>
              <a:spcAft>
                <a:spcPts val="1200"/>
              </a:spcAft>
              <a:defRPr sz="1800">
                <a:solidFill>
                  <a:srgbClr val="333333"/>
                </a:solidFill>
              </a:defRPr>
            </a:pPr>
            <a:endParaRPr sz="4500" dirty="0"/>
          </a:p>
          <a:p>
            <a:pPr>
              <a:spcAft>
                <a:spcPts val="1200"/>
              </a:spcAft>
              <a:defRPr sz="1800">
                <a:solidFill>
                  <a:srgbClr val="333333"/>
                </a:solidFill>
              </a:defRPr>
            </a:pPr>
            <a:r>
              <a:rPr sz="4500" dirty="0"/>
              <a:t>🌍 Cultural Framework</a:t>
            </a:r>
          </a:p>
          <a:p>
            <a:pPr>
              <a:spcAft>
                <a:spcPts val="1200"/>
              </a:spcAft>
              <a:defRPr sz="1800">
                <a:solidFill>
                  <a:srgbClr val="333333"/>
                </a:solidFill>
              </a:defRPr>
            </a:pPr>
            <a:r>
              <a:rPr sz="4500" dirty="0"/>
              <a:t>   • Hofstede groups, territory mapping, sensitivity scores</a:t>
            </a:r>
          </a:p>
          <a:p>
            <a:pPr>
              <a:spcAft>
                <a:spcPts val="1200"/>
              </a:spcAft>
              <a:defRPr sz="1800">
                <a:solidFill>
                  <a:srgbClr val="333333"/>
                </a:solidFill>
              </a:defRPr>
            </a:pPr>
            <a:endParaRPr sz="4500" dirty="0"/>
          </a:p>
          <a:p>
            <a:pPr>
              <a:spcAft>
                <a:spcPts val="1200"/>
              </a:spcAft>
              <a:defRPr sz="1800">
                <a:solidFill>
                  <a:srgbClr val="333333"/>
                </a:solidFill>
              </a:defRPr>
            </a:pPr>
            <a:r>
              <a:rPr sz="4500" dirty="0"/>
              <a:t>⚖️ Compliance &amp; Legal</a:t>
            </a:r>
          </a:p>
          <a:p>
            <a:pPr>
              <a:spcAft>
                <a:spcPts val="1200"/>
              </a:spcAft>
              <a:defRPr sz="1800">
                <a:solidFill>
                  <a:srgbClr val="333333"/>
                </a:solidFill>
              </a:defRPr>
            </a:pPr>
            <a:r>
              <a:rPr sz="4500" dirty="0"/>
              <a:t>   • Regulatory requirements, exceptions, audit trails</a:t>
            </a:r>
          </a:p>
          <a:p>
            <a:pPr>
              <a:spcAft>
                <a:spcPts val="1200"/>
              </a:spcAft>
              <a:defRPr sz="1800">
                <a:solidFill>
                  <a:srgbClr val="333333"/>
                </a:solidFill>
              </a:defRPr>
            </a:pPr>
            <a:endParaRPr sz="4500" dirty="0"/>
          </a:p>
          <a:p>
            <a:pPr>
              <a:spcAft>
                <a:spcPts val="1200"/>
              </a:spcAft>
              <a:defRPr sz="1800">
                <a:solidFill>
                  <a:srgbClr val="333333"/>
                </a:solidFill>
              </a:defRPr>
            </a:pPr>
            <a:r>
              <a:rPr sz="4500" dirty="0"/>
              <a:t>🚀 Integration &amp; Deployment</a:t>
            </a:r>
          </a:p>
          <a:p>
            <a:pPr>
              <a:spcAft>
                <a:spcPts val="1200"/>
              </a:spcAft>
              <a:defRPr sz="1800">
                <a:solidFill>
                  <a:srgbClr val="333333"/>
                </a:solidFill>
              </a:defRPr>
            </a:pPr>
            <a:r>
              <a:rPr sz="4500" dirty="0"/>
              <a:t>   • APIs, pipeline, updates, scalability</a:t>
            </a:r>
          </a:p>
          <a:p>
            <a:pPr>
              <a:spcAft>
                <a:spcPts val="1200"/>
              </a:spcAft>
              <a:defRPr sz="1800">
                <a:solidFill>
                  <a:srgbClr val="333333"/>
                </a:solidFill>
              </a:defRPr>
            </a:pPr>
            <a:endParaRPr sz="4500" dirty="0"/>
          </a:p>
          <a:p>
            <a:pPr>
              <a:spcAft>
                <a:spcPts val="1200"/>
              </a:spcAft>
              <a:defRPr sz="1800">
                <a:solidFill>
                  <a:srgbClr val="333333"/>
                </a:solidFill>
              </a:defRPr>
            </a:pPr>
            <a:r>
              <a:rPr sz="4500" dirty="0"/>
              <a:t>📈 Use Cases &amp; Applications</a:t>
            </a:r>
          </a:p>
          <a:p>
            <a:pPr>
              <a:spcAft>
                <a:spcPts val="1200"/>
              </a:spcAft>
              <a:defRPr sz="1800">
                <a:solidFill>
                  <a:srgbClr val="333333"/>
                </a:solidFill>
              </a:defRPr>
            </a:pPr>
            <a:r>
              <a:rPr sz="4500" dirty="0"/>
              <a:t>   • How to use this in your product/service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solidFill>
                  <a:srgbClr val="2962FF"/>
                </a:solidFill>
              </a:defRPr>
            </a:pPr>
            <a:r>
              <a:t>Thank You!</a:t>
            </a:r>
          </a:p>
        </p:txBody>
      </p:sp>
      <p:sp>
        <p:nvSpPr>
          <p:cNvPr id="3" name="Content Placeholder 2"/>
          <p:cNvSpPr>
            <a:spLocks noGrp="1"/>
          </p:cNvSpPr>
          <p:nvPr>
            <p:ph idx="1"/>
          </p:nvPr>
        </p:nvSpPr>
        <p:spPr>
          <a:xfrm>
            <a:off x="384048" y="1143000"/>
            <a:ext cx="8759952" cy="5440362"/>
          </a:xfrm>
        </p:spPr>
        <p:txBody>
          <a:bodyPr>
            <a:noAutofit/>
          </a:bodyPr>
          <a:lstStyle/>
          <a:p>
            <a:endParaRPr sz="1200" dirty="0"/>
          </a:p>
          <a:p>
            <a:pPr>
              <a:spcAft>
                <a:spcPts val="1200"/>
              </a:spcAft>
              <a:defRPr sz="1800">
                <a:solidFill>
                  <a:srgbClr val="333333"/>
                </a:solidFill>
              </a:defRPr>
            </a:pPr>
            <a:r>
              <a:rPr sz="1200" dirty="0"/>
              <a:t>📖 DOCUMENTATION</a:t>
            </a:r>
          </a:p>
          <a:p>
            <a:pPr>
              <a:spcAft>
                <a:spcPts val="1200"/>
              </a:spcAft>
              <a:defRPr sz="1800">
                <a:solidFill>
                  <a:srgbClr val="333333"/>
                </a:solidFill>
              </a:defRPr>
            </a:pPr>
            <a:r>
              <a:rPr sz="1200" dirty="0"/>
              <a:t>   • NEO4J_QUERIES.md - All visualization queries</a:t>
            </a:r>
          </a:p>
          <a:p>
            <a:pPr>
              <a:spcAft>
                <a:spcPts val="1200"/>
              </a:spcAft>
              <a:defRPr sz="1800">
                <a:solidFill>
                  <a:srgbClr val="333333"/>
                </a:solidFill>
              </a:defRPr>
            </a:pPr>
            <a:r>
              <a:rPr sz="1200" dirty="0"/>
              <a:t>   • CULTURE_GRAPH_SCHEMA.md - Complete schema</a:t>
            </a:r>
          </a:p>
          <a:p>
            <a:pPr>
              <a:spcAft>
                <a:spcPts val="1200"/>
              </a:spcAft>
              <a:defRPr sz="1800">
                <a:solidFill>
                  <a:srgbClr val="333333"/>
                </a:solidFill>
              </a:defRPr>
            </a:pPr>
            <a:r>
              <a:rPr sz="1200" dirty="0"/>
              <a:t>   • IMPLEMENTATION_SUMMARY.md - Technical details</a:t>
            </a:r>
            <a:endParaRPr lang="en-US" sz="1200" dirty="0"/>
          </a:p>
          <a:p>
            <a:pPr>
              <a:spcAft>
                <a:spcPts val="1200"/>
              </a:spcAft>
              <a:defRPr sz="1800">
                <a:solidFill>
                  <a:srgbClr val="333333"/>
                </a:solidFill>
              </a:defRPr>
            </a:pPr>
            <a:endParaRPr sz="1200" dirty="0"/>
          </a:p>
          <a:p>
            <a:pPr>
              <a:spcAft>
                <a:spcPts val="1200"/>
              </a:spcAft>
              <a:defRPr sz="1800">
                <a:solidFill>
                  <a:srgbClr val="333333"/>
                </a:solidFill>
              </a:defRPr>
            </a:pPr>
            <a:r>
              <a:rPr sz="1200" dirty="0"/>
              <a:t>🌐 ACCESS</a:t>
            </a:r>
          </a:p>
          <a:p>
            <a:pPr>
              <a:spcAft>
                <a:spcPts val="1200"/>
              </a:spcAft>
              <a:defRPr sz="1800">
                <a:solidFill>
                  <a:srgbClr val="333333"/>
                </a:solidFill>
              </a:defRPr>
            </a:pPr>
            <a:r>
              <a:rPr sz="1200" dirty="0"/>
              <a:t>   • Neo4j Browser: </a:t>
            </a:r>
            <a:r>
              <a:rPr sz="1200" dirty="0">
                <a:hlinkClick r:id="rId3"/>
              </a:rPr>
              <a:t>http://localhost:7474</a:t>
            </a:r>
            <a:endParaRPr lang="en-US" sz="1200" dirty="0"/>
          </a:p>
          <a:p>
            <a:pPr>
              <a:spcAft>
                <a:spcPts val="1200"/>
              </a:spcAft>
              <a:defRPr sz="1800">
                <a:solidFill>
                  <a:srgbClr val="333333"/>
                </a:solidFill>
              </a:defRPr>
            </a:pPr>
            <a:endParaRPr sz="1200" dirty="0"/>
          </a:p>
          <a:p>
            <a:pPr>
              <a:spcAft>
                <a:spcPts val="1200"/>
              </a:spcAft>
              <a:defRPr sz="1800">
                <a:solidFill>
                  <a:srgbClr val="333333"/>
                </a:solidFill>
              </a:defRPr>
            </a:pPr>
            <a:r>
              <a:rPr sz="1200" dirty="0"/>
              <a:t>📅 NEXT STEPS</a:t>
            </a:r>
          </a:p>
          <a:p>
            <a:pPr>
              <a:spcAft>
                <a:spcPts val="1200"/>
              </a:spcAft>
              <a:defRPr sz="1800">
                <a:solidFill>
                  <a:srgbClr val="333333"/>
                </a:solidFill>
              </a:defRPr>
            </a:pPr>
            <a:r>
              <a:rPr sz="1200" dirty="0"/>
              <a:t>   • Schedule deep-dive sessions for interested teams</a:t>
            </a:r>
          </a:p>
          <a:p>
            <a:pPr>
              <a:spcAft>
                <a:spcPts val="1200"/>
              </a:spcAft>
              <a:defRPr sz="1800">
                <a:solidFill>
                  <a:srgbClr val="333333"/>
                </a:solidFill>
              </a:defRPr>
            </a:pPr>
            <a:r>
              <a:rPr sz="1200" dirty="0"/>
              <a:t>   • Provide sandbox access for testing</a:t>
            </a:r>
          </a:p>
          <a:p>
            <a:pPr>
              <a:spcAft>
                <a:spcPts val="1200"/>
              </a:spcAft>
              <a:defRPr sz="1800">
                <a:solidFill>
                  <a:srgbClr val="333333"/>
                </a:solidFill>
              </a:defRPr>
            </a:pPr>
            <a:r>
              <a:rPr sz="1200" dirty="0"/>
              <a:t>   • API integration meetings</a:t>
            </a:r>
          </a:p>
          <a:p>
            <a:pPr>
              <a:spcAft>
                <a:spcPts val="1200"/>
              </a:spcAft>
              <a:defRPr sz="1800">
                <a:solidFill>
                  <a:srgbClr val="333333"/>
                </a:solidFill>
              </a:defRPr>
            </a:pPr>
            <a:r>
              <a:rPr sz="1200" dirty="0"/>
              <a:t>   • Training materials &amp; workshops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TotalTime>
  <Words>5066</Words>
  <Application>Microsoft Office PowerPoint</Application>
  <PresentationFormat>On-screen Show (4:3)</PresentationFormat>
  <Paragraphs>610</Paragraphs>
  <Slides>25</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Calibri</vt:lpstr>
      <vt:lpstr>Office Theme</vt:lpstr>
      <vt:lpstr>Culture Knowledge Graph</vt:lpstr>
      <vt:lpstr>PowerPoint Presentation</vt:lpstr>
      <vt:lpstr>Data Generation Pipeline</vt:lpstr>
      <vt:lpstr>Data Generation Pipeline</vt:lpstr>
      <vt:lpstr>Today's 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Decision Hierarchy: 3 Layers</vt:lpstr>
      <vt:lpstr>PowerPoint Presentation</vt:lpstr>
      <vt:lpstr>PowerPoint Presentation</vt:lpstr>
      <vt:lpstr>PowerPoint Presentation</vt:lpstr>
      <vt:lpstr>Data Pipeline: Source of Truth</vt:lpstr>
      <vt:lpstr>PowerPoint Presentation</vt:lpstr>
      <vt:lpstr>Future Roadmap</vt:lpstr>
      <vt:lpstr>Questions?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Saikrishna Voruganti</cp:lastModifiedBy>
  <cp:revision>7</cp:revision>
  <dcterms:created xsi:type="dcterms:W3CDTF">2013-01-27T09:14:16Z</dcterms:created>
  <dcterms:modified xsi:type="dcterms:W3CDTF">2026-01-09T00:30:24Z</dcterms:modified>
  <cp:category/>
</cp:coreProperties>
</file>