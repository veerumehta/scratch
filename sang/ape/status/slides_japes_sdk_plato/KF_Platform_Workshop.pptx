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slots, one argument. The Knowledge Fabric is what makes an answer provable. None of that reaches anyone until the SDK has something to run in. Second half is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so keep it short. KF v2 is the institutional record, not a better retriever. Everything after this is either how that record is stored, or why we cannot serve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once and then never say shipped. Every later slide that says in the SDK means the first box. Missing means missing from the SDK, before adoption is even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references out loud once. The chain is enforced by the fields, not by convention: a Decision literally cannot be constructed without the three refs.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condition kinds are in the SDK today. The graph is not a kind: it is where rules come from and where entities live at runtime. Rego and SPARQL are runtimes we plan for; neither is wired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is a first-class rule kind. The cost is a model evaluates it. The gain is an SME can write and sign off on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YAML and then show the same grid on the Packs page of the running Plato. The orange line is the TODO at profiles.py:302 and I want it on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form for bringing a whole guideline in; wrong form for evaluating a single loan. The SDK's graph store today has no SPARQL runner; that is on the KF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the rules-in-code anti-pattern the concept decks warn against: that is logic hidden in an application. This is a versioned Pack asset with a citation, a declared read set and a pointer to the English. The model writes the code once; the code then runs the same way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SME owns steps 1 and 2 and signs off on 3; the FDE owns 3 and 4. Rego and graph output are the planned shape; today the service emits JTBD, obligations and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does not pick one runtime. It records which one answered, so an auditor can weigh a model's verdict differently from a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we bother with English when code is more reliable: the SME cannot approve what they cannot read, and nothing goes live without that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The SME owns the top row. The FDE turns approved English into whichever repeatable form fits; each form has its own runtime. What does not convert stays in English on the reasoning agent, top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calls carry digests, never payloads. The caveat: the object is complete, but the platform service does not yet persist it as the format of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lists come from the registries, not a hand-maintained copy. fabric.opa is a placeholder that raises: wire it or delete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Suite deck names entities Obligor, LoanAsset and Sponsor. This file, which is what runs, says Borrower, Facility and Guarantor. Reconcile before the workshop or say it out loud. Dynamic ontology means the domain model is data in the pack: versioned, reviewable by an SME, and the extraction path writes against it. Say the caveat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hinge between my two slots. The Fabric stores the record; the profile declares which slice an assistant may answer from. Both are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KG row out loud. The fix is pushdown on the triple endpoint, or an optional backend behind the KGStore interface. Not a rewrite, and not SPARQL as a policy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to Sourav. Item 4 is the seam between the Fabric and the learning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jstack lets us build safely, the SDK lets us build once and reuse across domains, Juno lets more people build at all. The open questions are about the seams.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sentences to a service owner: import the SDK and delete the copy you keep; and if you want the new content, there is no other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down. A pipeline wires platform agents; agents run through the execution layer; everything reads and writes through the Fabric; the runtime is the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is thin and delegates to one heavy primitive. KGAgent does not extract, DocumentAgent does. AdjudicationAgent does not reason, ReasoningAgent does. That is why a pack configures them instead of subclassing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ci_spread is not an SDK pipeline; it is jaci's scenario built on financial_spread plus the policy and playbook experts. More conductor kinds arrive through an entry point installed with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hosts, one library. Left: inside our own process. Right: inside Plato; an outsider only sees the HTTP surface. Both reach Knowledge Hub for the Fabric. Plato hands run state and release decisions to eval-service.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IP slide. We are not shipping a wheel outside the company. If someone asks about obfuscation: obfuscated Python is still Python; the boundary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and show the dashboard. The degraded banner is a feature: a container that boots into a stub looks healthy to an orchestrator.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manifest is written through the model rather than by hand. Eight fields are required and a hand-rolled file failed validation on all 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team does not write a service; it authors a pack. The folder-is-the-agent slide was the assistant kind. Acra is the domain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deliberate: a pack is crafted and proved on gold cases before it sees a real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terminal here. Keep the browser on the Packs page so the version count moves while you publish. If the chat turn fails, fall back to the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four-move demo runs this row. Publishing runs the same check a team can call ahead of time and refuses a pack with blocking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on formal checks: in the SDK, runs locally, and deployed Plato refuses the route until an isolated job service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compounding loop on the platform side. Optimization writes to the draft, never to the served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six stages are configuration over things already in the SDK. The two orange rows are the real build, and the Byte adapter is the largest unbudgeted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 the correction openly. The audit was right when written and the tree moved underneath it. The last panel is the TODO at profiles.py:302.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na_cell first. Then change one number in the profile and run again, to show the number lives 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box is the jstack lesson restated. If anyone proposes a convenience constant in plato/, point at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 and D2 are with the Studio owner. D5 gates route generation; if it slips, the trace-of-record work moves ahead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count. It is the one item that gets worse on its own with every capability landed through the old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4"/>
        </a:solidFill>
      </p:bgPr>
    </p:bg>
    <p:spTree>
      <p:nvGrpSpPr>
        <p:cNvPr id="1" name=""/>
        <p:cNvGrpSpPr/>
        <p:nvPr/>
      </p:nvGrpSpPr>
      <p:grpSpPr>
        <a:xfrm>
          <a:off x="0" y="0"/>
          <a:ext cx="0" cy="0"/>
          <a:chOff x="0" y="0"/>
          <a:chExt cx="0" cy="0"/>
        </a:xfrm>
      </p:grpSpPr>
      <p:sp>
        <p:nvSpPr>
          <p:cNvPr id="2" name="Text 0"/>
          <p:cNvSpPr txBox="1"/>
          <p:nvPr/>
        </p:nvSpPr>
        <p:spPr>
          <a:xfrm>
            <a:off x="548640" y="640080"/>
            <a:ext cx="11091672" cy="274320"/>
          </a:xfrm>
          <a:prstGeom prst="rect">
            <a:avLst/>
          </a:prstGeom>
          <a:noFill/>
          <a:ln/>
        </p:spPr>
        <p:txBody>
          <a:bodyPr wrap="square" lIns="0" tIns="0" rIns="0" bIns="0" rtlCol="0" anchor="t"/>
          <a:lstStyle/>
          <a:p>
            <a:pPr indent="0" marL="0">
              <a:buNone/>
            </a:pPr>
            <a:r>
              <a:rPr lang="en-US" sz="1100" spc="200" kern="0" dirty="0">
                <a:solidFill>
                  <a:srgbClr val="5FBFB3"/>
                </a:solidFill>
                <a:latin typeface="Courier New" pitchFamily="34" charset="0"/>
                <a:ea typeface="Courier New" pitchFamily="34" charset="-122"/>
                <a:cs typeface="Courier New" pitchFamily="34" charset="-120"/>
              </a:rPr>
              <a:t>AGENDA 3.1 &amp; 6 · VEERU MEHTA</a:t>
            </a:r>
            <a:endParaRPr lang="en-US" sz="1100" dirty="0"/>
          </a:p>
        </p:txBody>
      </p:sp>
      <p:sp>
        <p:nvSpPr>
          <p:cNvPr id="3" name="Text 1"/>
          <p:cNvSpPr txBox="1"/>
          <p:nvPr/>
        </p:nvSpPr>
        <p:spPr>
          <a:xfrm>
            <a:off x="548640" y="1737360"/>
            <a:ext cx="9601200" cy="1645920"/>
          </a:xfrm>
          <a:prstGeom prst="rect">
            <a:avLst/>
          </a:prstGeom>
          <a:noFill/>
          <a:ln/>
        </p:spPr>
        <p:txBody>
          <a:bodyPr wrap="square" lIns="0" tIns="0" rIns="0" bIns="0" rtlCol="0" anchor="t"/>
          <a:lstStyle/>
          <a:p>
            <a:pPr indent="0" marL="0">
              <a:buNone/>
            </a:pPr>
            <a:r>
              <a:rPr lang="en-US" sz="4400" b="1" dirty="0">
                <a:solidFill>
                  <a:srgbClr val="F7F7F3"/>
                </a:solidFill>
                <a:latin typeface="Calibri" pitchFamily="34" charset="0"/>
                <a:ea typeface="Calibri" pitchFamily="34" charset="-122"/>
                <a:cs typeface="Calibri" pitchFamily="34" charset="-120"/>
              </a:rPr>
              <a:t>Knowledge Fabric, and the platform as a service</a:t>
            </a:r>
            <a:endParaRPr lang="en-US" sz="4400" dirty="0"/>
          </a:p>
        </p:txBody>
      </p:sp>
      <p:sp>
        <p:nvSpPr>
          <p:cNvPr id="4" name="Text 2"/>
          <p:cNvSpPr txBox="1"/>
          <p:nvPr/>
        </p:nvSpPr>
        <p:spPr>
          <a:xfrm>
            <a:off x="548640" y="3566160"/>
            <a:ext cx="8686800" cy="1097280"/>
          </a:xfrm>
          <a:prstGeom prst="rect">
            <a:avLst/>
          </a:prstGeom>
          <a:noFill/>
          <a:ln/>
        </p:spPr>
        <p:txBody>
          <a:bodyPr wrap="square" lIns="0" tIns="0" rIns="0" bIns="0" rtlCol="0" anchor="t"/>
          <a:lstStyle/>
          <a:p>
            <a:pPr indent="0" marL="0">
              <a:buNone/>
            </a:pPr>
            <a:r>
              <a:rPr lang="en-US" sz="1600" dirty="0">
                <a:solidFill>
                  <a:srgbClr val="9FB0BF"/>
                </a:solidFill>
                <a:latin typeface="Calibri" pitchFamily="34" charset="0"/>
                <a:ea typeface="Calibri" pitchFamily="34" charset="-122"/>
                <a:cs typeface="Calibri" pitchFamily="34" charset="-120"/>
              </a:rPr>
              <a:t>Policy in four forms, Trace, the SDK, Plato, and the Acra Lending onboarding path.</a:t>
            </a:r>
            <a:endParaRPr lang="en-US" sz="1600" dirty="0"/>
          </a:p>
        </p:txBody>
      </p:sp>
      <p:sp>
        <p:nvSpPr>
          <p:cNvPr id="5" name="Text 3"/>
          <p:cNvSpPr txBox="1"/>
          <p:nvPr/>
        </p:nvSpPr>
        <p:spPr>
          <a:xfrm>
            <a:off x="548640" y="5943600"/>
            <a:ext cx="11091672" cy="274320"/>
          </a:xfrm>
          <a:prstGeom prst="rect">
            <a:avLst/>
          </a:prstGeom>
          <a:noFill/>
          <a:ln/>
        </p:spPr>
        <p:txBody>
          <a:bodyPr wrap="square" lIns="0" tIns="0" rIns="0" bIns="0" rtlCol="0" anchor="t"/>
          <a:lstStyle/>
          <a:p>
            <a:pPr indent="0" marL="0">
              <a:buNone/>
            </a:pPr>
            <a:r>
              <a:rPr lang="en-US" sz="1100" dirty="0">
                <a:solidFill>
                  <a:srgbClr val="9FB0BF"/>
                </a:solidFill>
                <a:latin typeface="Courier New" pitchFamily="34" charset="0"/>
                <a:ea typeface="Courier New" pitchFamily="34" charset="-122"/>
                <a:cs typeface="Courier New" pitchFamily="34" charset="-120"/>
              </a:rPr>
              <a:t>29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Knowledge Fabric: from retrieval to institutional record</a:t>
            </a:r>
            <a:endParaRPr lang="en-US" sz="3000" dirty="0"/>
          </a:p>
        </p:txBody>
      </p:sp>
      <p:sp>
        <p:nvSpPr>
          <p:cNvPr id="3" name="Shape 1"/>
          <p:cNvSpPr/>
          <p:nvPr/>
        </p:nvSpPr>
        <p:spPr>
          <a:xfrm>
            <a:off x="548640" y="1554480"/>
            <a:ext cx="5408676" cy="2651760"/>
          </a:xfrm>
          <a:prstGeom prst="roundRect">
            <a:avLst>
              <a:gd name="adj" fmla="val 4138"/>
            </a:avLst>
          </a:prstGeom>
          <a:solidFill>
            <a:srgbClr val="FFFFFF"/>
          </a:solidFill>
          <a:ln w="9525">
            <a:solidFill>
              <a:srgbClr val="DDDED6"/>
            </a:solidFill>
            <a:prstDash val="solid"/>
          </a:ln>
        </p:spPr>
      </p:sp>
      <p:sp>
        <p:nvSpPr>
          <p:cNvPr id="4" name="Text 2"/>
          <p:cNvSpPr txBox="1"/>
          <p:nvPr/>
        </p:nvSpPr>
        <p:spPr>
          <a:xfrm>
            <a:off x="777240" y="1755648"/>
            <a:ext cx="4951476" cy="256032"/>
          </a:xfrm>
          <a:prstGeom prst="rect">
            <a:avLst/>
          </a:prstGeom>
          <a:noFill/>
          <a:ln/>
        </p:spPr>
        <p:txBody>
          <a:bodyPr wrap="square" lIns="0" tIns="0" rIns="0" bIns="0" rtlCol="0" anchor="t"/>
          <a:lstStyle/>
          <a:p>
            <a:pPr indent="0" marL="0">
              <a:buNone/>
            </a:pPr>
            <a:r>
              <a:rPr lang="en-US" sz="1100" dirty="0">
                <a:solidFill>
                  <a:srgbClr val="8A8F86"/>
                </a:solidFill>
                <a:latin typeface="Courier New" pitchFamily="34" charset="0"/>
                <a:ea typeface="Courier New" pitchFamily="34" charset="-122"/>
                <a:cs typeface="Courier New" pitchFamily="34" charset="-120"/>
              </a:rPr>
              <a:t>v1</a:t>
            </a:r>
            <a:endParaRPr lang="en-US" sz="1100" dirty="0"/>
          </a:p>
        </p:txBody>
      </p:sp>
      <p:sp>
        <p:nvSpPr>
          <p:cNvPr id="5" name="Text 3"/>
          <p:cNvSpPr txBox="1"/>
          <p:nvPr/>
        </p:nvSpPr>
        <p:spPr>
          <a:xfrm>
            <a:off x="777240" y="2066544"/>
            <a:ext cx="4951476" cy="502920"/>
          </a:xfrm>
          <a:prstGeom prst="rect">
            <a:avLst/>
          </a:prstGeom>
          <a:noFill/>
          <a:ln/>
        </p:spPr>
        <p:txBody>
          <a:bodyPr wrap="square" lIns="0" tIns="0" rIns="0" bIns="0" rtlCol="0" anchor="t"/>
          <a:lstStyle/>
          <a:p>
            <a:pPr indent="0" marL="0">
              <a:buNone/>
            </a:pPr>
            <a:r>
              <a:rPr lang="en-US" sz="1800" b="1" dirty="0">
                <a:solidFill>
                  <a:srgbClr val="121A24"/>
                </a:solidFill>
                <a:latin typeface="Calibri" pitchFamily="34" charset="0"/>
                <a:ea typeface="Calibri" pitchFamily="34" charset="-122"/>
                <a:cs typeface="Calibri" pitchFamily="34" charset="-120"/>
              </a:rPr>
              <a:t>“Can I find the right document?”</a:t>
            </a:r>
            <a:endParaRPr lang="en-US" sz="1800" dirty="0"/>
          </a:p>
        </p:txBody>
      </p:sp>
      <p:sp>
        <p:nvSpPr>
          <p:cNvPr id="6" name="Text 4"/>
          <p:cNvSpPr txBox="1"/>
          <p:nvPr/>
        </p:nvSpPr>
        <p:spPr>
          <a:xfrm>
            <a:off x="777240" y="2889504"/>
            <a:ext cx="4951476" cy="1133856"/>
          </a:xfrm>
          <a:prstGeom prst="rect">
            <a:avLst/>
          </a:prstGeom>
          <a:noFill/>
          <a:ln/>
        </p:spPr>
        <p:txBody>
          <a:bodyPr wrap="square" lIns="0" tIns="0" rIns="0" bIns="0" rtlCol="0" anchor="t"/>
          <a:lstStyle/>
          <a:p>
            <a:pPr indent="0" marL="0">
              <a:buNone/>
            </a:pPr>
            <a:r>
              <a:rPr lang="en-US" sz="1300" dirty="0">
                <a:solidFill>
                  <a:srgbClr val="47525E"/>
                </a:solidFill>
                <a:latin typeface="Calibri" pitchFamily="34" charset="0"/>
                <a:ea typeface="Calibri" pitchFamily="34" charset="-122"/>
                <a:cs typeface="Calibri" pitchFamily="34" charset="-120"/>
              </a:rPr>
              <a:t>Hybrid retrieval and database queries. Schema engineered by hand, per vertical. Thin relationship modelling. Feedback scattered across systems, with outcomes never linked back.</a:t>
            </a:r>
            <a:endParaRPr lang="en-US" sz="1300" dirty="0"/>
          </a:p>
        </p:txBody>
      </p:sp>
      <p:sp>
        <p:nvSpPr>
          <p:cNvPr id="7" name="Shape 5"/>
          <p:cNvSpPr/>
          <p:nvPr/>
        </p:nvSpPr>
        <p:spPr>
          <a:xfrm>
            <a:off x="6231636" y="1554480"/>
            <a:ext cx="5408676" cy="2651760"/>
          </a:xfrm>
          <a:prstGeom prst="roundRect">
            <a:avLst>
              <a:gd name="adj" fmla="val 4138"/>
            </a:avLst>
          </a:prstGeom>
          <a:solidFill>
            <a:srgbClr val="121A24"/>
          </a:solidFill>
          <a:ln w="12700">
            <a:solidFill>
              <a:srgbClr val="121A24"/>
            </a:solidFill>
            <a:prstDash val="solid"/>
          </a:ln>
        </p:spPr>
      </p:sp>
      <p:sp>
        <p:nvSpPr>
          <p:cNvPr id="8" name="Text 6"/>
          <p:cNvSpPr txBox="1"/>
          <p:nvPr/>
        </p:nvSpPr>
        <p:spPr>
          <a:xfrm>
            <a:off x="6460236" y="1755648"/>
            <a:ext cx="4951476" cy="256032"/>
          </a:xfrm>
          <a:prstGeom prst="rect">
            <a:avLst/>
          </a:prstGeom>
          <a:noFill/>
          <a:ln/>
        </p:spPr>
        <p:txBody>
          <a:bodyPr wrap="square" lIns="0" tIns="0" rIns="0" bIns="0" rtlCol="0" anchor="t"/>
          <a:lstStyle/>
          <a:p>
            <a:pPr indent="0" marL="0">
              <a:buNone/>
            </a:pPr>
            <a:r>
              <a:rPr lang="en-US" sz="1100" dirty="0">
                <a:solidFill>
                  <a:srgbClr val="5FBFB3"/>
                </a:solidFill>
                <a:latin typeface="Courier New" pitchFamily="34" charset="0"/>
                <a:ea typeface="Courier New" pitchFamily="34" charset="-122"/>
                <a:cs typeface="Courier New" pitchFamily="34" charset="-120"/>
              </a:rPr>
              <a:t>v2</a:t>
            </a:r>
            <a:endParaRPr lang="en-US" sz="1100" dirty="0"/>
          </a:p>
        </p:txBody>
      </p:sp>
      <p:sp>
        <p:nvSpPr>
          <p:cNvPr id="9" name="Text 7"/>
          <p:cNvSpPr txBox="1"/>
          <p:nvPr/>
        </p:nvSpPr>
        <p:spPr>
          <a:xfrm>
            <a:off x="6460236" y="2066544"/>
            <a:ext cx="4951476" cy="502920"/>
          </a:xfrm>
          <a:prstGeom prst="rect">
            <a:avLst/>
          </a:prstGeom>
          <a:noFill/>
          <a:ln/>
        </p:spPr>
        <p:txBody>
          <a:bodyPr wrap="square" lIns="0" tIns="0" rIns="0" bIns="0" rtlCol="0" anchor="t"/>
          <a:lstStyle/>
          <a:p>
            <a:pPr indent="0" marL="0">
              <a:buNone/>
            </a:pPr>
            <a:r>
              <a:rPr lang="en-US" sz="1800" b="1" dirty="0">
                <a:solidFill>
                  <a:srgbClr val="F7F7F3"/>
                </a:solidFill>
                <a:latin typeface="Calibri" pitchFamily="34" charset="0"/>
                <a:ea typeface="Calibri" pitchFamily="34" charset="-122"/>
                <a:cs typeface="Calibri" pitchFamily="34" charset="-120"/>
              </a:rPr>
              <a:t>“Can I prove and improve the judgment?”</a:t>
            </a:r>
            <a:endParaRPr lang="en-US" sz="1800" dirty="0"/>
          </a:p>
        </p:txBody>
      </p:sp>
      <p:sp>
        <p:nvSpPr>
          <p:cNvPr id="10" name="Text 8"/>
          <p:cNvSpPr txBox="1"/>
          <p:nvPr/>
        </p:nvSpPr>
        <p:spPr>
          <a:xfrm>
            <a:off x="6460236" y="2889504"/>
            <a:ext cx="4951476" cy="1133856"/>
          </a:xfrm>
          <a:prstGeom prst="rect">
            <a:avLst/>
          </a:prstGeom>
          <a:noFill/>
          <a:ln/>
        </p:spPr>
        <p:txBody>
          <a:bodyPr wrap="square" lIns="0" tIns="0" rIns="0" bIns="0" rtlCol="0" anchor="t"/>
          <a:lstStyle/>
          <a:p>
            <a:pPr indent="0" marL="0">
              <a:buNone/>
            </a:pPr>
            <a:r>
              <a:rPr lang="en-US" sz="1300" dirty="0">
                <a:solidFill>
                  <a:srgbClr val="BFD8D5"/>
                </a:solidFill>
                <a:latin typeface="Calibri" pitchFamily="34" charset="0"/>
                <a:ea typeface="Calibri" pitchFamily="34" charset="-122"/>
                <a:cs typeface="Calibri" pitchFamily="34" charset="-120"/>
              </a:rPr>
              <a:t>One explainable interface over semantic, vector, graph and structured queries. Config-driven onboarding and an ontology that evolves. Decisions, overrides and outcomes captured as learning fuel.</a:t>
            </a:r>
            <a:endParaRPr lang="en-US" sz="1300" dirty="0"/>
          </a:p>
        </p:txBody>
      </p:sp>
      <p:sp>
        <p:nvSpPr>
          <p:cNvPr id="11" name="Text 9"/>
          <p:cNvSpPr txBox="1"/>
          <p:nvPr/>
        </p:nvSpPr>
        <p:spPr>
          <a:xfrm>
            <a:off x="548640" y="4480560"/>
            <a:ext cx="11091672" cy="1005840"/>
          </a:xfrm>
          <a:prstGeom prst="rect">
            <a:avLst/>
          </a:prstGeom>
          <a:noFill/>
          <a:ln/>
        </p:spPr>
        <p:txBody>
          <a:bodyPr wrap="square" lIns="0" tIns="0" rIns="0" bIns="0" rtlCol="0" anchor="t"/>
          <a:lstStyle/>
          <a:p>
            <a:pPr indent="0" marL="0">
              <a:buNone/>
            </a:pPr>
            <a:r>
              <a:rPr lang="en-US" sz="1400" dirty="0">
                <a:solidFill>
                  <a:srgbClr val="47525E"/>
                </a:solidFill>
                <a:latin typeface="Calibri" pitchFamily="34" charset="0"/>
                <a:ea typeface="Calibri" pitchFamily="34" charset="-122"/>
                <a:cs typeface="Calibri" pitchFamily="34" charset="-120"/>
              </a:rPr>
              <a:t>Each workflow must answer: which policy applied, what evidence supported it, what decision came out, what trace proves it, what outcome followed. Retrieval does not answer these.</a:t>
            </a:r>
            <a:endParaRPr lang="en-US" sz="1400" dirty="0"/>
          </a:p>
        </p:txBody>
      </p:sp>
      <p:sp>
        <p:nvSpPr>
          <p:cNvPr id="12" name="Text 10"/>
          <p:cNvSpPr txBox="1"/>
          <p:nvPr/>
        </p:nvSpPr>
        <p:spPr>
          <a:xfrm>
            <a:off x="548640" y="5577840"/>
            <a:ext cx="11091672" cy="365760"/>
          </a:xfrm>
          <a:prstGeom prst="rect">
            <a:avLst/>
          </a:prstGeom>
          <a:noFill/>
          <a:ln/>
        </p:spPr>
        <p:txBody>
          <a:bodyPr wrap="square" lIns="0" tIns="0" rIns="0" bIns="0" rtlCol="0" anchor="t"/>
          <a:lstStyle/>
          <a:p>
            <a:pPr indent="0" marL="0">
              <a:buNone/>
            </a:pPr>
            <a:r>
              <a:rPr lang="en-US" sz="1100" dirty="0">
                <a:solidFill>
                  <a:srgbClr val="8A8F86"/>
                </a:solidFill>
                <a:latin typeface="Calibri" pitchFamily="34" charset="0"/>
                <a:ea typeface="Calibri" pitchFamily="34" charset="-122"/>
                <a:cs typeface="Calibri" pitchFamily="34" charset="-120"/>
              </a:rPr>
              <a:t>In the concept decks this layer is the Intelligence Substrate. The Knowledge Fabric is how the SDK implements 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Status vocabulary used in this deck</a:t>
            </a:r>
            <a:endParaRPr lang="en-US" sz="3000" dirty="0"/>
          </a:p>
        </p:txBody>
      </p:sp>
      <p:sp>
        <p:nvSpPr>
          <p:cNvPr id="3" name="Shape 1"/>
          <p:cNvSpPr/>
          <p:nvPr/>
        </p:nvSpPr>
        <p:spPr>
          <a:xfrm>
            <a:off x="548640" y="1554480"/>
            <a:ext cx="3563112" cy="1737360"/>
          </a:xfrm>
          <a:prstGeom prst="roundRect">
            <a:avLst>
              <a:gd name="adj" fmla="val 6316"/>
            </a:avLst>
          </a:prstGeom>
          <a:solidFill>
            <a:srgbClr val="F7F7F3"/>
          </a:solidFill>
          <a:ln w="9525">
            <a:solidFill>
              <a:srgbClr val="DDDED6"/>
            </a:solidFill>
            <a:prstDash val="solid"/>
          </a:ln>
        </p:spPr>
      </p:sp>
      <p:sp>
        <p:nvSpPr>
          <p:cNvPr id="4" name="Text 2"/>
          <p:cNvSpPr txBox="1"/>
          <p:nvPr/>
        </p:nvSpPr>
        <p:spPr>
          <a:xfrm>
            <a:off x="777240" y="1755648"/>
            <a:ext cx="310591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In the SDK</a:t>
            </a:r>
            <a:endParaRPr lang="en-US" sz="1500" dirty="0"/>
          </a:p>
        </p:txBody>
      </p:sp>
      <p:sp>
        <p:nvSpPr>
          <p:cNvPr id="5" name="Text 3"/>
          <p:cNvSpPr txBox="1"/>
          <p:nvPr/>
        </p:nvSpPr>
        <p:spPr>
          <a:xfrm>
            <a:off x="777240" y="2304288"/>
            <a:ext cx="3105912" cy="804672"/>
          </a:xfrm>
          <a:prstGeom prst="rect">
            <a:avLst/>
          </a:prstGeom>
          <a:noFill/>
          <a:ln/>
        </p:spPr>
        <p:txBody>
          <a:bodyPr wrap="square" lIns="0" tIns="0" rIns="0" bIns="0" rtlCol="0" anchor="t"/>
          <a:lstStyle/>
          <a:p>
            <a:pPr indent="0" marL="0">
              <a:buNone/>
            </a:pPr>
            <a:r>
              <a:rPr lang="en-US" sz="1250" dirty="0">
                <a:solidFill>
                  <a:srgbClr val="47525E"/>
                </a:solidFill>
                <a:latin typeface="Calibri" pitchFamily="34" charset="0"/>
                <a:ea typeface="Calibri" pitchFamily="34" charset="-122"/>
                <a:cs typeface="Calibri" pitchFamily="34" charset="-120"/>
              </a:rPr>
              <a:t>Merged, tested, and in the released package (jazzx_sdk 2.5.x). Any service can import it. Adoption is tracked separately.</a:t>
            </a:r>
            <a:endParaRPr lang="en-US" sz="1250" dirty="0"/>
          </a:p>
        </p:txBody>
      </p:sp>
      <p:sp>
        <p:nvSpPr>
          <p:cNvPr id="6" name="Shape 4"/>
          <p:cNvSpPr/>
          <p:nvPr/>
        </p:nvSpPr>
        <p:spPr>
          <a:xfrm>
            <a:off x="4312920" y="1554480"/>
            <a:ext cx="3563112" cy="1737360"/>
          </a:xfrm>
          <a:prstGeom prst="roundRect">
            <a:avLst>
              <a:gd name="adj" fmla="val 6316"/>
            </a:avLst>
          </a:prstGeom>
          <a:solidFill>
            <a:srgbClr val="F7F7F3"/>
          </a:solidFill>
          <a:ln w="9525">
            <a:solidFill>
              <a:srgbClr val="DDDED6"/>
            </a:solidFill>
            <a:prstDash val="solid"/>
          </a:ln>
        </p:spPr>
      </p:sp>
      <p:sp>
        <p:nvSpPr>
          <p:cNvPr id="7" name="Text 5"/>
          <p:cNvSpPr txBox="1"/>
          <p:nvPr/>
        </p:nvSpPr>
        <p:spPr>
          <a:xfrm>
            <a:off x="4541520" y="1755648"/>
            <a:ext cx="310591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Adopted</a:t>
            </a:r>
            <a:endParaRPr lang="en-US" sz="1500" dirty="0"/>
          </a:p>
        </p:txBody>
      </p:sp>
      <p:sp>
        <p:nvSpPr>
          <p:cNvPr id="8" name="Text 6"/>
          <p:cNvSpPr txBox="1"/>
          <p:nvPr/>
        </p:nvSpPr>
        <p:spPr>
          <a:xfrm>
            <a:off x="4541520" y="2304288"/>
            <a:ext cx="3105912" cy="804672"/>
          </a:xfrm>
          <a:prstGeom prst="rect">
            <a:avLst/>
          </a:prstGeom>
          <a:noFill/>
          <a:ln/>
        </p:spPr>
        <p:txBody>
          <a:bodyPr wrap="square" lIns="0" tIns="0" rIns="0" bIns="0" rtlCol="0" anchor="t"/>
          <a:lstStyle/>
          <a:p>
            <a:pPr indent="0" marL="0">
              <a:buNone/>
            </a:pPr>
            <a:r>
              <a:rPr lang="en-US" sz="1250" dirty="0">
                <a:solidFill>
                  <a:srgbClr val="47525E"/>
                </a:solidFill>
                <a:latin typeface="Calibri" pitchFamily="34" charset="0"/>
                <a:ea typeface="Calibri" pitchFamily="34" charset="-122"/>
                <a:cs typeface="Calibri" pitchFamily="34" charset="-120"/>
              </a:rPr>
              <a:t>A named service imports it in place of code it used to carry. Adoption is per service and per capability, and it is where most of the platform sits right now.</a:t>
            </a:r>
            <a:endParaRPr lang="en-US" sz="1250" dirty="0"/>
          </a:p>
        </p:txBody>
      </p:sp>
      <p:sp>
        <p:nvSpPr>
          <p:cNvPr id="9" name="Shape 7"/>
          <p:cNvSpPr/>
          <p:nvPr/>
        </p:nvSpPr>
        <p:spPr>
          <a:xfrm>
            <a:off x="8077200" y="1554480"/>
            <a:ext cx="3563112" cy="1737360"/>
          </a:xfrm>
          <a:prstGeom prst="roundRect">
            <a:avLst>
              <a:gd name="adj" fmla="val 6316"/>
            </a:avLst>
          </a:prstGeom>
          <a:solidFill>
            <a:srgbClr val="121A24"/>
          </a:solidFill>
          <a:ln w="12700">
            <a:solidFill>
              <a:srgbClr val="121A24"/>
            </a:solidFill>
            <a:prstDash val="solid"/>
          </a:ln>
        </p:spPr>
      </p:sp>
      <p:sp>
        <p:nvSpPr>
          <p:cNvPr id="10" name="Text 8"/>
          <p:cNvSpPr txBox="1"/>
          <p:nvPr/>
        </p:nvSpPr>
        <p:spPr>
          <a:xfrm>
            <a:off x="8305800" y="1755648"/>
            <a:ext cx="310591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In production</a:t>
            </a:r>
            <a:endParaRPr lang="en-US" sz="1500" dirty="0"/>
          </a:p>
        </p:txBody>
      </p:sp>
      <p:sp>
        <p:nvSpPr>
          <p:cNvPr id="11" name="Text 9"/>
          <p:cNvSpPr txBox="1"/>
          <p:nvPr/>
        </p:nvSpPr>
        <p:spPr>
          <a:xfrm>
            <a:off x="8305800" y="2304288"/>
            <a:ext cx="3105912" cy="804672"/>
          </a:xfrm>
          <a:prstGeom prst="rect">
            <a:avLst/>
          </a:prstGeom>
          <a:noFill/>
          <a:ln/>
        </p:spPr>
        <p:txBody>
          <a:bodyPr wrap="square" lIns="0" tIns="0" rIns="0" bIns="0" rtlCol="0" anchor="t"/>
          <a:lstStyle/>
          <a:p>
            <a:pPr indent="0" marL="0">
              <a:buNone/>
            </a:pPr>
            <a:r>
              <a:rPr lang="en-US" sz="1250" dirty="0">
                <a:solidFill>
                  <a:srgbClr val="BFD8D5"/>
                </a:solidFill>
                <a:latin typeface="Calibri" pitchFamily="34" charset="0"/>
                <a:ea typeface="Calibri" pitchFamily="34" charset="-122"/>
                <a:cs typeface="Calibri" pitchFamily="34" charset="-120"/>
              </a:rPr>
              <a:t>Serving customer traffic. Today that is one application: jazzx-assistant, on the SDK, in US home mortgage. Nothing else in this deck is in production.</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11091672" cy="914400"/>
        </p:xfrm>
        <a:graphic>
          <a:graphicData uri="http://schemas.openxmlformats.org/drawingml/2006/table">
            <a:tbl>
              <a:tblPr/>
              <a:tblGrid>
                <a:gridCol w="3749040"/>
                <a:gridCol w="7342632"/>
              </a:tblGrid>
              <a:tr h="0">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Today</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r>
              <a:tr h="0">
                <a:tc>
                  <a:txBody>
                    <a:bodyPr/>
                    <a:lstStyle/>
                    <a:p>
                      <a:pPr indent="0" marL="0">
                        <a:buNone/>
                      </a:pPr>
                      <a:r>
                        <a:rPr lang="en-US" sz="1150" b="1" dirty="0">
                          <a:solidFill>
                            <a:srgbClr val="121A24"/>
                          </a:solidFill>
                          <a:latin typeface="Calibri" pitchFamily="34" charset="0"/>
                          <a:ea typeface="Calibri" pitchFamily="34" charset="-122"/>
                          <a:cs typeface="Calibri" pitchFamily="34" charset="-120"/>
                        </a:rPr>
                        <a:t>jazzx-assistant</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In production on the SDK. The current primary app, v1, US home mortgage</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1A24"/>
                          </a:solidFill>
                          <a:latin typeface="Calibri" pitchFamily="34" charset="0"/>
                          <a:ea typeface="Calibri" pitchFamily="34" charset="-122"/>
                          <a:cs typeface="Calibri" pitchFamily="34" charset="-120"/>
                        </a:rPr>
                        <a:t>eval-service, assistant, other services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Adopting: replacing their own code with SDK imports, capability by capability</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150" b="1" dirty="0">
                          <a:solidFill>
                            <a:srgbClr val="121A24"/>
                          </a:solidFill>
                          <a:latin typeface="Calibri" pitchFamily="34" charset="0"/>
                          <a:ea typeface="Calibri" pitchFamily="34" charset="-122"/>
                          <a:cs typeface="Calibri" pitchFamily="34" charset="-120"/>
                        </a:rPr>
                        <a:t>Canonical objects, policy IR, document agent, modes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In the SDK. Adopted where the row above says so</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1A24"/>
                          </a:solidFill>
                          <a:latin typeface="Calibri" pitchFamily="34" charset="0"/>
                          <a:ea typeface="Calibri" pitchFamily="34" charset="-122"/>
                          <a:cs typeface="Calibri" pitchFamily="34" charset="-120"/>
                        </a:rPr>
                        <a:t>Plato, the hosted service</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In the SDK repository at 0.1.7, running on a laptop at the dev-daily tier. Not adopted, not in production</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150" b="1" dirty="0">
                          <a:solidFill>
                            <a:srgbClr val="121A24"/>
                          </a:solidFill>
                          <a:latin typeface="Calibri" pitchFamily="34" charset="0"/>
                          <a:ea typeface="Calibri" pitchFamily="34" charset="-122"/>
                          <a:cs typeface="Calibri" pitchFamily="34" charset="-120"/>
                        </a:rPr>
                        <a:t>Formal verification</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In the SDK (Z3 checks compiled from canonical policy). Runs locally; a deployed Plato refuses the route until an isolated job service exists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The concept decks say specified is not implemented is not bank-approved is not certified. These three words are the implemented half of that ladder.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The canonical chain: five objects and their references</a:t>
            </a:r>
            <a:endParaRPr lang="en-US" sz="3000" dirty="0"/>
          </a:p>
        </p:txBody>
      </p:sp>
      <p:sp>
        <p:nvSpPr>
          <p:cNvPr id="3" name="Shape 1"/>
          <p:cNvSpPr/>
          <p:nvPr/>
        </p:nvSpPr>
        <p:spPr>
          <a:xfrm>
            <a:off x="548640" y="1554480"/>
            <a:ext cx="2086661" cy="2468880"/>
          </a:xfrm>
          <a:prstGeom prst="roundRect">
            <a:avLst>
              <a:gd name="adj" fmla="val 5259"/>
            </a:avLst>
          </a:prstGeom>
          <a:solidFill>
            <a:srgbClr val="F7F7F3"/>
          </a:solidFill>
          <a:ln w="9525">
            <a:solidFill>
              <a:srgbClr val="DDDED6"/>
            </a:solidFill>
            <a:prstDash val="solid"/>
          </a:ln>
        </p:spPr>
      </p:sp>
      <p:sp>
        <p:nvSpPr>
          <p:cNvPr id="4" name="Text 2"/>
          <p:cNvSpPr txBox="1"/>
          <p:nvPr/>
        </p:nvSpPr>
        <p:spPr>
          <a:xfrm>
            <a:off x="777240" y="1755648"/>
            <a:ext cx="1629461"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Policy</a:t>
            </a:r>
            <a:endParaRPr lang="en-US" sz="1500" dirty="0"/>
          </a:p>
        </p:txBody>
      </p:sp>
      <p:sp>
        <p:nvSpPr>
          <p:cNvPr id="5" name="Text 3"/>
          <p:cNvSpPr txBox="1"/>
          <p:nvPr/>
        </p:nvSpPr>
        <p:spPr>
          <a:xfrm>
            <a:off x="777240" y="2304288"/>
            <a:ext cx="1629461" cy="153619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Versioned rules with a source citation on each. Nine condition kinds. Never a bare literal where a threshold belongs.</a:t>
            </a:r>
            <a:endParaRPr lang="en-US" sz="1150" dirty="0"/>
          </a:p>
        </p:txBody>
      </p:sp>
      <p:sp>
        <p:nvSpPr>
          <p:cNvPr id="6" name="Shape 4"/>
          <p:cNvSpPr/>
          <p:nvPr/>
        </p:nvSpPr>
        <p:spPr>
          <a:xfrm>
            <a:off x="2799893" y="1554480"/>
            <a:ext cx="2086661" cy="2468880"/>
          </a:xfrm>
          <a:prstGeom prst="roundRect">
            <a:avLst>
              <a:gd name="adj" fmla="val 5259"/>
            </a:avLst>
          </a:prstGeom>
          <a:solidFill>
            <a:srgbClr val="F7F7F3"/>
          </a:solidFill>
          <a:ln w="9525">
            <a:solidFill>
              <a:srgbClr val="DDDED6"/>
            </a:solidFill>
            <a:prstDash val="solid"/>
          </a:ln>
        </p:spPr>
      </p:sp>
      <p:sp>
        <p:nvSpPr>
          <p:cNvPr id="7" name="Text 5"/>
          <p:cNvSpPr txBox="1"/>
          <p:nvPr/>
        </p:nvSpPr>
        <p:spPr>
          <a:xfrm>
            <a:off x="3028493" y="1755648"/>
            <a:ext cx="1629461"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Evidence</a:t>
            </a:r>
            <a:endParaRPr lang="en-US" sz="1500" dirty="0"/>
          </a:p>
        </p:txBody>
      </p:sp>
      <p:sp>
        <p:nvSpPr>
          <p:cNvPr id="8" name="Text 6"/>
          <p:cNvSpPr txBox="1"/>
          <p:nvPr/>
        </p:nvSpPr>
        <p:spPr>
          <a:xfrm>
            <a:off x="3028493" y="2304288"/>
            <a:ext cx="1629461" cy="153619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An attested fact with a source coordinate and a confidence. Refused below the admission floor.</a:t>
            </a:r>
            <a:endParaRPr lang="en-US" sz="1150" dirty="0"/>
          </a:p>
        </p:txBody>
      </p:sp>
      <p:sp>
        <p:nvSpPr>
          <p:cNvPr id="9" name="Shape 7"/>
          <p:cNvSpPr/>
          <p:nvPr/>
        </p:nvSpPr>
        <p:spPr>
          <a:xfrm>
            <a:off x="5051146" y="1554480"/>
            <a:ext cx="2086661" cy="2468880"/>
          </a:xfrm>
          <a:prstGeom prst="roundRect">
            <a:avLst>
              <a:gd name="adj" fmla="val 5259"/>
            </a:avLst>
          </a:prstGeom>
          <a:solidFill>
            <a:srgbClr val="F7F7F3"/>
          </a:solidFill>
          <a:ln w="9525">
            <a:solidFill>
              <a:srgbClr val="DDDED6"/>
            </a:solidFill>
            <a:prstDash val="solid"/>
          </a:ln>
        </p:spPr>
      </p:sp>
      <p:sp>
        <p:nvSpPr>
          <p:cNvPr id="10" name="Text 8"/>
          <p:cNvSpPr txBox="1"/>
          <p:nvPr/>
        </p:nvSpPr>
        <p:spPr>
          <a:xfrm>
            <a:off x="5279746" y="1755648"/>
            <a:ext cx="1629461"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Decision</a:t>
            </a:r>
            <a:endParaRPr lang="en-US" sz="1500" dirty="0"/>
          </a:p>
        </p:txBody>
      </p:sp>
      <p:sp>
        <p:nvSpPr>
          <p:cNvPr id="11" name="Text 9"/>
          <p:cNvSpPr txBox="1"/>
          <p:nvPr/>
        </p:nvSpPr>
        <p:spPr>
          <a:xfrm>
            <a:off x="5279746" y="2304288"/>
            <a:ext cx="1629461" cy="153619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Carries policy_refs, evidence_refs and a trace_id. A decision with none of them is refused at the boundary.</a:t>
            </a:r>
            <a:endParaRPr lang="en-US" sz="1150" dirty="0"/>
          </a:p>
        </p:txBody>
      </p:sp>
      <p:sp>
        <p:nvSpPr>
          <p:cNvPr id="12" name="Shape 10"/>
          <p:cNvSpPr/>
          <p:nvPr/>
        </p:nvSpPr>
        <p:spPr>
          <a:xfrm>
            <a:off x="7302398" y="1554480"/>
            <a:ext cx="2086661" cy="2468880"/>
          </a:xfrm>
          <a:prstGeom prst="roundRect">
            <a:avLst>
              <a:gd name="adj" fmla="val 5259"/>
            </a:avLst>
          </a:prstGeom>
          <a:solidFill>
            <a:srgbClr val="121A24"/>
          </a:solidFill>
          <a:ln w="12700">
            <a:solidFill>
              <a:srgbClr val="121A24"/>
            </a:solidFill>
            <a:prstDash val="solid"/>
          </a:ln>
        </p:spPr>
      </p:sp>
      <p:sp>
        <p:nvSpPr>
          <p:cNvPr id="13" name="Text 11"/>
          <p:cNvSpPr txBox="1"/>
          <p:nvPr/>
        </p:nvSpPr>
        <p:spPr>
          <a:xfrm>
            <a:off x="7530998" y="1755648"/>
            <a:ext cx="1629461"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Trace</a:t>
            </a:r>
            <a:endParaRPr lang="en-US" sz="1500" dirty="0"/>
          </a:p>
        </p:txBody>
      </p:sp>
      <p:sp>
        <p:nvSpPr>
          <p:cNvPr id="14" name="Text 12"/>
          <p:cNvSpPr txBox="1"/>
          <p:nvPr/>
        </p:nvSpPr>
        <p:spPr>
          <a:xfrm>
            <a:off x="7530998" y="2304288"/>
            <a:ext cx="1629461" cy="1536192"/>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The record of what ran: every step, mode, actor, tool call and override. Names the policies applied, evidence consumed, decisions produced.</a:t>
            </a:r>
            <a:endParaRPr lang="en-US" sz="1150" dirty="0"/>
          </a:p>
        </p:txBody>
      </p:sp>
      <p:sp>
        <p:nvSpPr>
          <p:cNvPr id="15" name="Shape 13"/>
          <p:cNvSpPr/>
          <p:nvPr/>
        </p:nvSpPr>
        <p:spPr>
          <a:xfrm>
            <a:off x="9553651" y="1554480"/>
            <a:ext cx="2086661" cy="2468880"/>
          </a:xfrm>
          <a:prstGeom prst="roundRect">
            <a:avLst>
              <a:gd name="adj" fmla="val 5259"/>
            </a:avLst>
          </a:prstGeom>
          <a:solidFill>
            <a:srgbClr val="F7F7F3"/>
          </a:solidFill>
          <a:ln w="9525">
            <a:solidFill>
              <a:srgbClr val="DDDED6"/>
            </a:solidFill>
            <a:prstDash val="solid"/>
          </a:ln>
        </p:spPr>
      </p:sp>
      <p:sp>
        <p:nvSpPr>
          <p:cNvPr id="16" name="Text 14"/>
          <p:cNvSpPr txBox="1"/>
          <p:nvPr/>
        </p:nvSpPr>
        <p:spPr>
          <a:xfrm>
            <a:off x="9782251" y="1755648"/>
            <a:ext cx="1629461"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Outcome</a:t>
            </a:r>
            <a:endParaRPr lang="en-US" sz="1500" dirty="0"/>
          </a:p>
        </p:txBody>
      </p:sp>
      <p:sp>
        <p:nvSpPr>
          <p:cNvPr id="17" name="Text 15"/>
          <p:cNvSpPr txBox="1"/>
          <p:nvPr/>
        </p:nvSpPr>
        <p:spPr>
          <a:xfrm>
            <a:off x="9782251" y="2304288"/>
            <a:ext cx="1629461" cy="153619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What actually happened, tied back by decision_id and trace_id. Direct, proxy or lagged. The learning signal.</a:t>
            </a:r>
            <a:endParaRPr lang="en-US" sz="1150" dirty="0"/>
          </a:p>
        </p:txBody>
      </p:sp>
      <p:sp>
        <p:nvSpPr>
          <p:cNvPr id="18" name="Text 16"/>
          <p:cNvSpPr txBox="1"/>
          <p:nvPr/>
        </p:nvSpPr>
        <p:spPr>
          <a:xfrm>
            <a:off x="548640" y="4389120"/>
            <a:ext cx="11091672" cy="1188720"/>
          </a:xfrm>
          <a:prstGeom prst="rect">
            <a:avLst/>
          </a:prstGeom>
          <a:noFill/>
          <a:ln/>
        </p:spPr>
        <p:txBody>
          <a:bodyPr wrap="square" lIns="0" tIns="0" rIns="0" bIns="0" rtlCol="0" anchor="t"/>
          <a:lstStyle/>
          <a:p>
            <a:pPr indent="0" marL="0">
              <a:buNone/>
            </a:pPr>
            <a:r>
              <a:rPr lang="en-US" sz="1400" dirty="0">
                <a:solidFill>
                  <a:srgbClr val="121A24"/>
                </a:solidFill>
                <a:latin typeface="Calibri" pitchFamily="34" charset="0"/>
                <a:ea typeface="Calibri" pitchFamily="34" charset="-122"/>
                <a:cs typeface="Calibri" pitchFamily="34" charset="-120"/>
              </a:rPr>
              <a:t>A Decision cannot be created without its three references, and an Outcome cannot be recorded without its two. So "which policy applied to this loan" is a query over the record.</a:t>
            </a:r>
            <a:endParaRPr lang="en-US" sz="1400" dirty="0"/>
          </a:p>
        </p:txBody>
      </p:sp>
      <p:sp>
        <p:nvSpPr>
          <p:cNvPr id="19" name="Text 17"/>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jazzx_sdk/fabric/canonical/{policy,evidence,decision,trace,outcome}.py · Canonical Object Schema Spec v1.0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POLICY</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Policy: one object, four rule forms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1554480"/>
                <a:gridCol w="3566160"/>
                <a:gridCol w="2377440"/>
                <a:gridCol w="1188720"/>
                <a:gridCol w="2404872"/>
              </a:tblGrid>
              <a:tr h="0">
                <a:tc>
                  <a:txBody>
                    <a:bodyPr/>
                    <a:lstStyle/>
                    <a:p>
                      <a:pPr indent="0" marL="0">
                        <a:buNone/>
                      </a:pPr>
                      <a:r>
                        <a:rPr lang="en-US" sz="1100" b="1" dirty="0">
                          <a:solidFill>
                            <a:srgbClr val="F7F7F3"/>
                          </a:solidFill>
                          <a:latin typeface="Calibri" pitchFamily="34" charset="0"/>
                          <a:ea typeface="Calibri" pitchFamily="34" charset="-122"/>
                          <a:cs typeface="Calibri" pitchFamily="34" charset="-120"/>
                        </a:rPr>
                        <a:t>Form</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00" b="1" dirty="0">
                          <a:solidFill>
                            <a:srgbClr val="F7F7F3"/>
                          </a:solidFill>
                          <a:latin typeface="Calibri" pitchFamily="34" charset="0"/>
                          <a:ea typeface="Calibri" pitchFamily="34" charset="-122"/>
                          <a:cs typeface="Calibri" pitchFamily="34" charset="-120"/>
                        </a:rPr>
                        <a:t>Where it comes from</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00" b="1" dirty="0">
                          <a:solidFill>
                            <a:srgbClr val="F7F7F3"/>
                          </a:solidFill>
                          <a:latin typeface="Calibri" pitchFamily="34" charset="0"/>
                          <a:ea typeface="Calibri" pitchFamily="34" charset="-122"/>
                          <a:cs typeface="Calibri" pitchFamily="34" charset="-120"/>
                        </a:rPr>
                        <a:t>Runs on</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00" b="1" dirty="0">
                          <a:solidFill>
                            <a:srgbClr val="F7F7F3"/>
                          </a:solidFill>
                          <a:latin typeface="Calibri" pitchFamily="34" charset="0"/>
                          <a:ea typeface="Calibri" pitchFamily="34" charset="-122"/>
                          <a:cs typeface="Calibri" pitchFamily="34" charset="-120"/>
                        </a:rPr>
                        <a:t>Deterministic</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00" b="1" dirty="0">
                          <a:solidFill>
                            <a:srgbClr val="F7F7F3"/>
                          </a:solidFill>
                          <a:latin typeface="Calibri" pitchFamily="34" charset="0"/>
                          <a:ea typeface="Calibri" pitchFamily="34" charset="-122"/>
                          <a:cs typeface="Calibri" pitchFamily="34" charset="-120"/>
                        </a:rPr>
                        <a:t>Who owns it</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r>
              <a:tr h="0">
                <a:tc>
                  <a:txBody>
                    <a:bodyPr/>
                    <a:lstStyle/>
                    <a:p>
                      <a:pPr indent="0" marL="0">
                        <a:buNone/>
                      </a:pPr>
                      <a:r>
                        <a:rPr lang="en-US" sz="1100" b="1" dirty="0">
                          <a:solidFill>
                            <a:srgbClr val="121A24"/>
                          </a:solidFill>
                          <a:latin typeface="Calibri" pitchFamily="34" charset="0"/>
                          <a:ea typeface="Calibri" pitchFamily="34" charset="-122"/>
                          <a:cs typeface="Calibri" pitchFamily="34" charset="-120"/>
                        </a:rPr>
                        <a:t>English</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A job to be done (JTBD): a verification task an underwriter would write down. Crafted from the Pulte workbook over the Fannie Mae and Freddie Mac guides</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A reasoning agent, with declared reads</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C2703A"/>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Subject-matter expert (SME)</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21A24"/>
                          </a:solidFill>
                          <a:latin typeface="Calibri" pitchFamily="34" charset="0"/>
                          <a:ea typeface="Calibri" pitchFamily="34" charset="-122"/>
                          <a:cs typeface="Calibri" pitchFamily="34" charset="-120"/>
                        </a:rPr>
                        <a:t>Rules</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A numeric source: Acra's DSCR grid, ratio floors, state lists. Typed rules in the SDK, or Rego policy for an OPA engine</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In-process evaluator, or OPA</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1F6F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SME authors, engineer encodes</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100" b="1" dirty="0">
                          <a:solidFill>
                            <a:srgbClr val="121A24"/>
                          </a:solidFill>
                          <a:latin typeface="Calibri" pitchFamily="34" charset="0"/>
                          <a:ea typeface="Calibri" pitchFamily="34" charset="-122"/>
                          <a:cs typeface="Calibri" pitchFamily="34" charset="-120"/>
                        </a:rPr>
                        <a:t>Knowledge graph</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A whole guideline, extracted into rules over entities with dependency edges</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A graph store with a SPARQL runner</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1F6F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Forward-deployed engineer (FDE)</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21A24"/>
                          </a:solidFill>
                          <a:latin typeface="Calibri" pitchFamily="34" charset="0"/>
                          <a:ea typeface="Calibri" pitchFamily="34" charset="-122"/>
                          <a:cs typeface="Calibri" pitchFamily="34" charset="-120"/>
                        </a:rPr>
                        <a:t>Code</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A Python evaluator generated from a JTBD and calibrated against ground truth</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A sandboxed Python executor, never in process</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1F6F6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FDE, with an English rendering for the SME</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bl>
          </a:graphicData>
        </a:graphic>
      </p:graphicFrame>
      <p:sp>
        <p:nvSpPr>
          <p:cNvPr id="5" name="Text 2"/>
          <p:cNvSpPr txBox="1"/>
          <p:nvPr/>
        </p:nvSpPr>
        <p:spPr>
          <a:xfrm>
            <a:off x="548640" y="5120640"/>
            <a:ext cx="11091672" cy="731520"/>
          </a:xfrm>
          <a:prstGeom prst="rect">
            <a:avLst/>
          </a:prstGeom>
          <a:noFill/>
          <a:ln/>
        </p:spPr>
        <p:txBody>
          <a:bodyPr wrap="square" lIns="0" tIns="0" rIns="0" bIns="0" rtlCol="0" anchor="t"/>
          <a:lstStyle/>
          <a:p>
            <a:pPr indent="0" marL="0">
              <a:buNone/>
            </a:pPr>
            <a:r>
              <a:rPr lang="en-US" sz="1300" dirty="0">
                <a:solidFill>
                  <a:srgbClr val="47525E"/>
                </a:solidFill>
                <a:latin typeface="Calibri" pitchFamily="34" charset="0"/>
                <a:ea typeface="Calibri" pitchFamily="34" charset="-122"/>
                <a:cs typeface="Calibri" pitchFamily="34" charset="-120"/>
              </a:rPr>
              <a:t>Every form is a Rule inside a versioned Policy, with a citation back to the source that said so. The form decides what runs it, whether the answer is repeatable, and who can read it.</a:t>
            </a:r>
            <a:endParaRPr lang="en-US" sz="1300" dirty="0"/>
          </a:p>
        </p:txBody>
      </p:sp>
      <p:sp>
        <p:nvSpPr>
          <p:cNvPr id="6" name="Text 3"/>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jazzx_sdk/fabric/canonical/policy.py · the Condition union, nine kinds, open registry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POLICY AS ENGLISH</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English form: a JTBD is a procedure rule</a:t>
            </a:r>
            <a:endParaRPr lang="en-US" sz="3000" dirty="0"/>
          </a:p>
        </p:txBody>
      </p:sp>
      <p:sp>
        <p:nvSpPr>
          <p:cNvPr id="4" name="Shape 2"/>
          <p:cNvSpPr/>
          <p:nvPr/>
        </p:nvSpPr>
        <p:spPr>
          <a:xfrm>
            <a:off x="548640" y="1691640"/>
            <a:ext cx="5440680" cy="2514600"/>
          </a:xfrm>
          <a:prstGeom prst="roundRect">
            <a:avLst>
              <a:gd name="adj" fmla="val 4364"/>
            </a:avLst>
          </a:prstGeom>
          <a:solidFill>
            <a:srgbClr val="121A24"/>
          </a:solidFill>
          <a:ln w="12700">
            <a:solidFill>
              <a:srgbClr val="121A24"/>
            </a:solidFill>
            <a:prstDash val="solid"/>
          </a:ln>
        </p:spPr>
      </p:sp>
      <p:sp>
        <p:nvSpPr>
          <p:cNvPr id="5" name="Text 3"/>
          <p:cNvSpPr txBox="1"/>
          <p:nvPr/>
        </p:nvSpPr>
        <p:spPr>
          <a:xfrm>
            <a:off x="777240" y="1874520"/>
            <a:ext cx="4983480" cy="256032"/>
          </a:xfrm>
          <a:prstGeom prst="rect">
            <a:avLst/>
          </a:prstGeom>
          <a:noFill/>
          <a:ln/>
        </p:spPr>
        <p:txBody>
          <a:bodyPr wrap="square" lIns="0" tIns="0" rIns="0" bIns="0" rtlCol="0" anchor="t"/>
          <a:lstStyle/>
          <a:p>
            <a:pPr indent="0" marL="0">
              <a:buNone/>
            </a:pPr>
            <a:r>
              <a:rPr lang="en-US" sz="1050" dirty="0">
                <a:solidFill>
                  <a:srgbClr val="5FBFB3"/>
                </a:solidFill>
                <a:latin typeface="Courier New" pitchFamily="34" charset="0"/>
                <a:ea typeface="Courier New" pitchFamily="34" charset="-122"/>
                <a:cs typeface="Courier New" pitchFamily="34" charset="-120"/>
              </a:rPr>
              <a:t>One JTBD · APR-CLT · Appraisal Review</a:t>
            </a:r>
            <a:endParaRPr lang="en-US" sz="1050" dirty="0"/>
          </a:p>
        </p:txBody>
      </p:sp>
      <p:sp>
        <p:nvSpPr>
          <p:cNvPr id="6" name="Text 4"/>
          <p:cNvSpPr txBox="1"/>
          <p:nvPr/>
        </p:nvSpPr>
        <p:spPr>
          <a:xfrm>
            <a:off x="777240" y="2194560"/>
            <a:ext cx="4983480" cy="1828800"/>
          </a:xfrm>
          <a:prstGeom prst="rect">
            <a:avLst/>
          </a:prstGeom>
          <a:noFill/>
          <a:ln/>
        </p:spPr>
        <p:txBody>
          <a:bodyPr wrap="square" lIns="0" tIns="0" rIns="0" bIns="0" rtlCol="0" anchor="t"/>
          <a:lstStyle/>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purpose:  ensure a Community Land Trust appraisal</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carries leasehold id, addendum</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disclosures, method support</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steps:    1 … 5, in order</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outcomes: PASS · CONDITIONAL · FAIL · NA</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overlays: COMMON → FNMA, FHLMC, FHA, VA</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depends_on: APR-META, APR-BASE</a:t>
            </a:r>
            <a:endParaRPr lang="en-US" sz="1050" dirty="0"/>
          </a:p>
        </p:txBody>
      </p:sp>
      <p:sp>
        <p:nvSpPr>
          <p:cNvPr id="7" name="Shape 5"/>
          <p:cNvSpPr/>
          <p:nvPr/>
        </p:nvSpPr>
        <p:spPr>
          <a:xfrm>
            <a:off x="6199632" y="1691640"/>
            <a:ext cx="5440680" cy="2514600"/>
          </a:xfrm>
          <a:prstGeom prst="roundRect">
            <a:avLst>
              <a:gd name="adj" fmla="val 4364"/>
            </a:avLst>
          </a:prstGeom>
          <a:solidFill>
            <a:srgbClr val="121A24"/>
          </a:solidFill>
          <a:ln w="12700">
            <a:solidFill>
              <a:srgbClr val="121A24"/>
            </a:solidFill>
            <a:prstDash val="solid"/>
          </a:ln>
        </p:spPr>
      </p:sp>
      <p:sp>
        <p:nvSpPr>
          <p:cNvPr id="8" name="Text 6"/>
          <p:cNvSpPr txBox="1"/>
          <p:nvPr/>
        </p:nvSpPr>
        <p:spPr>
          <a:xfrm>
            <a:off x="6428232" y="1874520"/>
            <a:ext cx="4983480" cy="256032"/>
          </a:xfrm>
          <a:prstGeom prst="rect">
            <a:avLst/>
          </a:prstGeom>
          <a:noFill/>
          <a:ln/>
        </p:spPr>
        <p:txBody>
          <a:bodyPr wrap="square" lIns="0" tIns="0" rIns="0" bIns="0" rtlCol="0" anchor="t"/>
          <a:lstStyle/>
          <a:p>
            <a:pPr indent="0" marL="0">
              <a:buNone/>
            </a:pPr>
            <a:r>
              <a:rPr lang="en-US" sz="1050" dirty="0">
                <a:solidFill>
                  <a:srgbClr val="5FBFB3"/>
                </a:solidFill>
                <a:latin typeface="Courier New" pitchFamily="34" charset="0"/>
                <a:ea typeface="Courier New" pitchFamily="34" charset="-122"/>
                <a:cs typeface="Courier New" pitchFamily="34" charset="-120"/>
              </a:rPr>
              <a:t>jazzx_sdk · ProcedureCondition</a:t>
            </a:r>
            <a:endParaRPr lang="en-US" sz="1050" dirty="0"/>
          </a:p>
        </p:txBody>
      </p:sp>
      <p:sp>
        <p:nvSpPr>
          <p:cNvPr id="9" name="Text 7"/>
          <p:cNvSpPr txBox="1"/>
          <p:nvPr/>
        </p:nvSpPr>
        <p:spPr>
          <a:xfrm>
            <a:off x="6428232" y="2194560"/>
            <a:ext cx="4983480" cy="1828800"/>
          </a:xfrm>
          <a:prstGeom prst="rect">
            <a:avLst/>
          </a:prstGeom>
          <a:noFill/>
          <a:ln/>
        </p:spPr>
        <p:txBody>
          <a:bodyPr wrap="square" lIns="0" tIns="0" rIns="0" bIns="0" rtlCol="0" anchor="t"/>
          <a:lstStyle/>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kind: procedure</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purpose: str</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steps: [str, …]      followed as written</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checks: [str, …]</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outcomes: [{status, verdict, criterion}]</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evidence_types: […]</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reads: […]           declared, never inferred</a:t>
            </a:r>
            <a:endParaRPr lang="en-US" sz="1050" dirty="0"/>
          </a:p>
        </p:txBody>
      </p:sp>
      <p:sp>
        <p:nvSpPr>
          <p:cNvPr id="10" name="Text 8"/>
          <p:cNvSpPr txBox="1"/>
          <p:nvPr/>
        </p:nvSpPr>
        <p:spPr>
          <a:xfrm>
            <a:off x="548640" y="4434840"/>
            <a:ext cx="5440680" cy="155448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The JTBD on the left was crafted from the Pulte workbook, on top of the Fannie Mae and Freddie Mac guides, with an overlay per investor. The SDK holds the same shape. A JTBD's base block imports as a procedure rule; each investor block becomes a rule in that program's overlay policy. Export inverts it, so the authoring tool keeps its own file format.</a:t>
            </a:r>
            <a:endParaRPr lang="en-US" sz="1150" dirty="0"/>
          </a:p>
        </p:txBody>
      </p:sp>
      <p:sp>
        <p:nvSpPr>
          <p:cNvPr id="11" name="Text 9"/>
          <p:cNvSpPr txBox="1"/>
          <p:nvPr/>
        </p:nvSpPr>
        <p:spPr>
          <a:xfrm>
            <a:off x="6199632" y="4434840"/>
            <a:ext cx="5440680" cy="155448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 reasoning agent executes it, so the verdict is not repeatable and carries a confidence. The pack declares which context fields the condition reads; the model is never asked to name its own data dependencies. An underwriter can author and approve this form without translation, which is why it is the one an SME owns.</a:t>
            </a:r>
            <a:endParaRPr lang="en-US" sz="1150" dirty="0"/>
          </a:p>
        </p:txBody>
      </p:sp>
      <p:sp>
        <p:nvSpPr>
          <p:cNvPr id="12" name="Text 10"/>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jazzx_sdk/pipelines/{policy_jtbd,jtbdset}.py · kernel-lab mortgage compliance pilot, JTBD catalogue v6.2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POLICY AS RULES</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Rules form: Acra's grid in dscr_core</a:t>
            </a:r>
            <a:endParaRPr lang="en-US" sz="3000" dirty="0"/>
          </a:p>
        </p:txBody>
      </p:sp>
      <p:sp>
        <p:nvSpPr>
          <p:cNvPr id="4" name="Shape 2"/>
          <p:cNvSpPr/>
          <p:nvPr/>
        </p:nvSpPr>
        <p:spPr>
          <a:xfrm>
            <a:off x="548640" y="1691640"/>
            <a:ext cx="5120640" cy="4206240"/>
          </a:xfrm>
          <a:prstGeom prst="roundRect">
            <a:avLst>
              <a:gd name="adj" fmla="val 2609"/>
            </a:avLst>
          </a:prstGeom>
          <a:solidFill>
            <a:srgbClr val="121A24"/>
          </a:solidFill>
          <a:ln w="12700">
            <a:solidFill>
              <a:srgbClr val="121A24"/>
            </a:solidFill>
            <a:prstDash val="solid"/>
          </a:ln>
        </p:spPr>
      </p:sp>
      <p:sp>
        <p:nvSpPr>
          <p:cNvPr id="5" name="Text 3"/>
          <p:cNvSpPr txBox="1"/>
          <p:nvPr/>
        </p:nvSpPr>
        <p:spPr>
          <a:xfrm>
            <a:off x="777240" y="1874520"/>
            <a:ext cx="4663440" cy="256032"/>
          </a:xfrm>
          <a:prstGeom prst="rect">
            <a:avLst/>
          </a:prstGeom>
          <a:noFill/>
          <a:ln/>
        </p:spPr>
        <p:txBody>
          <a:bodyPr wrap="square" lIns="0" tIns="0" rIns="0" bIns="0" rtlCol="0" anchor="t"/>
          <a:lstStyle/>
          <a:p>
            <a:pPr indent="0" marL="0">
              <a:buNone/>
            </a:pPr>
            <a:r>
              <a:rPr lang="en-US" sz="1050" dirty="0">
                <a:solidFill>
                  <a:srgbClr val="5FBFB3"/>
                </a:solidFill>
                <a:latin typeface="Courier New" pitchFamily="34" charset="0"/>
                <a:ea typeface="Courier New" pitchFamily="34" charset="-122"/>
                <a:cs typeface="Courier New" pitchFamily="34" charset="-120"/>
              </a:rPr>
              <a:t>policies/platinum_select.yaml</a:t>
            </a:r>
            <a:endParaRPr lang="en-US" sz="1050" dirty="0"/>
          </a:p>
        </p:txBody>
      </p:sp>
      <p:sp>
        <p:nvSpPr>
          <p:cNvPr id="6" name="Text 4"/>
          <p:cNvSpPr txBox="1"/>
          <p:nvPr/>
        </p:nvSpPr>
        <p:spPr>
          <a:xfrm>
            <a:off x="777240" y="2194560"/>
            <a:ext cx="4663440" cy="3520440"/>
          </a:xfrm>
          <a:prstGeom prst="rect">
            <a:avLst/>
          </a:prstGeom>
          <a:noFill/>
          <a:ln/>
        </p:spPr>
        <p:txBody>
          <a:bodyPr wrap="square" lIns="0" tIns="0" rIns="0" bIns="0" rtlCol="0" anchor="t"/>
          <a:lstStyle/>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rule_id: PLAT-CLTV-GRID</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action: deny</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description: 'PLAT-2.1: CLTV may not</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exceed the matrix cell for the FICO</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row and loan purpose.'</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citations: [acra_platinum_select_v1_0]</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condition:</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kind: matrix</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axes:</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 field: fico</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bands: [lt700, '700', '721', …]</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 field: loan_purpose</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table: profile_table:plat_max_cltv</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compare_field: cltv_pct</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direction: '&lt;='</a:t>
            </a:r>
            <a:endParaRPr lang="en-US" sz="1000" dirty="0"/>
          </a:p>
        </p:txBody>
      </p:sp>
      <p:sp>
        <p:nvSpPr>
          <p:cNvPr id="7" name="Text 5"/>
          <p:cNvSpPr txBox="1"/>
          <p:nvPr/>
        </p:nvSpPr>
        <p:spPr>
          <a:xfrm>
            <a:off x="5943600" y="1691640"/>
            <a:ext cx="5669280" cy="2651760"/>
          </a:xfrm>
          <a:prstGeom prst="rect">
            <a:avLst/>
          </a:prstGeom>
          <a:noFill/>
          <a:ln/>
        </p:spPr>
        <p:txBody>
          <a:bodyPr wrap="square" lIns="0" tIns="0" rIns="0" bIns="0" rtlCol="0" anchor="t"/>
          <a:lstStyle/>
          <a:p>
            <a:pPr indent="0" marL="0">
              <a:spcAft>
                <a:spcPts val="1000"/>
              </a:spcAft>
              <a:buNone/>
            </a:pPr>
            <a:r>
              <a:rPr lang="en-US" sz="1200" dirty="0">
                <a:solidFill>
                  <a:srgbClr val="47525E"/>
                </a:solidFill>
                <a:latin typeface="Calibri" pitchFamily="34" charset="0"/>
                <a:ea typeface="Calibri" pitchFamily="34" charset="-122"/>
                <a:cs typeface="Calibri" pitchFamily="34" charset="-120"/>
              </a:rPr>
              <a:t>The rule names the axes and the comparison. The numbers live in the profile, under tables:, keyed by the band keys joined in axis order. An NA cell is a real answer and evaluates to violated, not indeterminate.</a:t>
            </a:r>
            <a:endParaRPr lang="en-US" sz="1200" dirty="0"/>
          </a:p>
          <a:p>
            <a:pPr indent="0" marL="0">
              <a:spcAft>
                <a:spcPts val="1000"/>
              </a:spcAft>
              <a:buNone/>
            </a:pPr>
            <a:r>
              <a:rPr lang="en-US" sz="1200" dirty="0">
                <a:solidFill>
                  <a:srgbClr val="47525E"/>
                </a:solidFill>
                <a:latin typeface="Calibri" pitchFamily="34" charset="0"/>
                <a:ea typeface="Calibri" pitchFamily="34" charset="-122"/>
                <a:cs typeface="Calibri" pitchFamily="34" charset="-120"/>
              </a:rPr>
              <a:t>Same discipline as a ratio threshold: never a literal in the rule, always a profile: or profile_table: reference. A literal buries the number where no review ever sees it change.</a:t>
            </a:r>
            <a:endParaRPr lang="en-US" sz="1200" dirty="0"/>
          </a:p>
          <a:p>
            <a:pPr indent="0" marL="0">
              <a:spcAft>
                <a:spcPts val="1000"/>
              </a:spcAft>
              <a:buNone/>
            </a:pPr>
            <a:r>
              <a:rPr lang="en-US" sz="1200" dirty="0">
                <a:solidFill>
                  <a:srgbClr val="47525E"/>
                </a:solidFill>
                <a:latin typeface="Calibri" pitchFamily="34" charset="0"/>
                <a:ea typeface="Calibri" pitchFamily="34" charset="-122"/>
                <a:cs typeface="Calibri" pitchFamily="34" charset="-120"/>
              </a:rPr>
              <a:t>Conjunctions that would multiply cells, like warrantable condo outside Florida, go in all_of instead. The grid stays the size of the source document.</a:t>
            </a:r>
            <a:endParaRPr lang="en-US" sz="1200" dirty="0"/>
          </a:p>
        </p:txBody>
      </p:sp>
      <p:sp>
        <p:nvSpPr>
          <p:cNvPr id="8" name="Text 6"/>
          <p:cNvSpPr txBox="1"/>
          <p:nvPr/>
        </p:nvSpPr>
        <p:spPr>
          <a:xfrm>
            <a:off x="5943600" y="4343400"/>
            <a:ext cx="5669280" cy="73152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The same rule can be emitted as Rego and run through an OPA policy engine instead of the in-process evaluator. The SDK reserves a surface for it (fabric.opa); it is a placeholder today.</a:t>
            </a:r>
            <a:endParaRPr lang="en-US" sz="1150" dirty="0"/>
          </a:p>
        </p:txBody>
      </p:sp>
      <p:sp>
        <p:nvSpPr>
          <p:cNvPr id="9" name="Text 7"/>
          <p:cNvSpPr txBox="1"/>
          <p:nvPr/>
        </p:nvSpPr>
        <p:spPr>
          <a:xfrm>
            <a:off x="5943600" y="5120640"/>
            <a:ext cx="5669280" cy="640080"/>
          </a:xfrm>
          <a:prstGeom prst="rect">
            <a:avLst/>
          </a:prstGeom>
          <a:noFill/>
          <a:ln/>
        </p:spPr>
        <p:txBody>
          <a:bodyPr wrap="square" lIns="0" tIns="0" rIns="0" bIns="0" rtlCol="0" anchor="t"/>
          <a:lstStyle/>
          <a:p>
            <a:pPr indent="0" marL="0">
              <a:buNone/>
            </a:pPr>
            <a:r>
              <a:rPr lang="en-US" sz="1150" dirty="0">
                <a:solidFill>
                  <a:srgbClr val="C2703A"/>
                </a:solidFill>
                <a:latin typeface="Calibri" pitchFamily="34" charset="0"/>
                <a:ea typeface="Calibri" pitchFamily="34" charset="-122"/>
                <a:cs typeface="Calibri" pitchFamily="34" charset="-120"/>
              </a:rPr>
              <a:t>Open: table cells carry no provenance or activation status. A scalar threshold does. Seventy-eight numbers have weaker governance than one.</a:t>
            </a:r>
            <a:endParaRPr lang="en-US" sz="1150" dirty="0"/>
          </a:p>
        </p:txBody>
      </p:sp>
      <p:sp>
        <p:nvSpPr>
          <p:cNvPr id="10" name="Text 8"/>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plato/data/seed_packs/dscr_core · policies at 1.3.0, profile at dscr_profile.yaml · published on the replica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POLICY AS A KNOWLEDGE GRAPH</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Graph form: a seller guide as rules with dependency edges</a:t>
            </a:r>
            <a:endParaRPr lang="en-US" sz="3000" dirty="0"/>
          </a:p>
        </p:txBody>
      </p:sp>
      <p:sp>
        <p:nvSpPr>
          <p:cNvPr id="4" name="Shape 2"/>
          <p:cNvSpPr/>
          <p:nvPr/>
        </p:nvSpPr>
        <p:spPr>
          <a:xfrm>
            <a:off x="548640" y="1691640"/>
            <a:ext cx="3563112" cy="1828800"/>
          </a:xfrm>
          <a:prstGeom prst="roundRect">
            <a:avLst>
              <a:gd name="adj" fmla="val 6000"/>
            </a:avLst>
          </a:prstGeom>
          <a:solidFill>
            <a:srgbClr val="F7F7F3"/>
          </a:solidFill>
          <a:ln w="9525">
            <a:solidFill>
              <a:srgbClr val="DDDED6"/>
            </a:solidFill>
            <a:prstDash val="solid"/>
          </a:ln>
        </p:spPr>
      </p:sp>
      <p:sp>
        <p:nvSpPr>
          <p:cNvPr id="5" name="Text 3"/>
          <p:cNvSpPr txBox="1"/>
          <p:nvPr/>
        </p:nvSpPr>
        <p:spPr>
          <a:xfrm>
            <a:off x="777240" y="1892808"/>
            <a:ext cx="3105912" cy="256032"/>
          </a:xfrm>
          <a:prstGeom prst="rect">
            <a:avLst/>
          </a:prstGeom>
          <a:noFill/>
          <a:ln/>
        </p:spPr>
        <p:txBody>
          <a:bodyPr wrap="square" lIns="0" tIns="0" rIns="0" bIns="0" rtlCol="0" anchor="t"/>
          <a:lstStyle/>
          <a:p>
            <a:pPr indent="0" marL="0">
              <a:buNone/>
            </a:pPr>
            <a:r>
              <a:rPr lang="en-US" sz="1100" dirty="0">
                <a:solidFill>
                  <a:srgbClr val="8A8F86"/>
                </a:solidFill>
                <a:latin typeface="Courier New" pitchFamily="34" charset="0"/>
                <a:ea typeface="Courier New" pitchFamily="34" charset="-122"/>
                <a:cs typeface="Courier New" pitchFamily="34" charset="-120"/>
              </a:rPr>
              <a:t>One Freddie Mac guide, one pipeline run</a:t>
            </a:r>
            <a:endParaRPr lang="en-US" sz="1100" dirty="0"/>
          </a:p>
        </p:txBody>
      </p:sp>
      <p:sp>
        <p:nvSpPr>
          <p:cNvPr id="6" name="Text 4"/>
          <p:cNvSpPr txBox="1"/>
          <p:nvPr/>
        </p:nvSpPr>
        <p:spPr>
          <a:xfrm>
            <a:off x="777240" y="2203704"/>
            <a:ext cx="3105912" cy="50292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368</a:t>
            </a:r>
            <a:endParaRPr lang="en-US" sz="3000" dirty="0"/>
          </a:p>
        </p:txBody>
      </p:sp>
      <p:sp>
        <p:nvSpPr>
          <p:cNvPr id="7" name="Text 5"/>
          <p:cNvSpPr txBox="1"/>
          <p:nvPr/>
        </p:nvSpPr>
        <p:spPr>
          <a:xfrm>
            <a:off x="777240" y="2843784"/>
            <a:ext cx="3105912" cy="4937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business rules, from 379 extracted, 11 removed as duplicates</a:t>
            </a:r>
            <a:endParaRPr lang="en-US" sz="1150" dirty="0"/>
          </a:p>
        </p:txBody>
      </p:sp>
      <p:sp>
        <p:nvSpPr>
          <p:cNvPr id="8" name="Shape 6"/>
          <p:cNvSpPr/>
          <p:nvPr/>
        </p:nvSpPr>
        <p:spPr>
          <a:xfrm>
            <a:off x="4312920" y="1691640"/>
            <a:ext cx="3563112" cy="1828800"/>
          </a:xfrm>
          <a:prstGeom prst="roundRect">
            <a:avLst>
              <a:gd name="adj" fmla="val 6000"/>
            </a:avLst>
          </a:prstGeom>
          <a:solidFill>
            <a:srgbClr val="F7F7F3"/>
          </a:solidFill>
          <a:ln w="9525">
            <a:solidFill>
              <a:srgbClr val="DDDED6"/>
            </a:solidFill>
            <a:prstDash val="solid"/>
          </a:ln>
        </p:spPr>
      </p:sp>
      <p:sp>
        <p:nvSpPr>
          <p:cNvPr id="9" name="Text 7"/>
          <p:cNvSpPr txBox="1"/>
          <p:nvPr/>
        </p:nvSpPr>
        <p:spPr>
          <a:xfrm>
            <a:off x="4541520" y="1892808"/>
            <a:ext cx="3105912" cy="256032"/>
          </a:xfrm>
          <a:prstGeom prst="rect">
            <a:avLst/>
          </a:prstGeom>
          <a:noFill/>
          <a:ln/>
        </p:spPr>
        <p:txBody>
          <a:bodyPr wrap="square" lIns="0" tIns="0" rIns="0" bIns="0" rtlCol="0" anchor="t"/>
          <a:lstStyle/>
          <a:p>
            <a:pPr indent="0" marL="0">
              <a:buNone/>
            </a:pPr>
            <a:r>
              <a:rPr lang="en-US" sz="1100" dirty="0">
                <a:solidFill>
                  <a:srgbClr val="8A8F86"/>
                </a:solidFill>
                <a:latin typeface="Courier New" pitchFamily="34" charset="0"/>
                <a:ea typeface="Courier New" pitchFamily="34" charset="-122"/>
                <a:cs typeface="Courier New" pitchFamily="34" charset="-120"/>
              </a:rPr>
              <a:t>Entity types</a:t>
            </a:r>
            <a:endParaRPr lang="en-US" sz="1100" dirty="0"/>
          </a:p>
        </p:txBody>
      </p:sp>
      <p:sp>
        <p:nvSpPr>
          <p:cNvPr id="10" name="Text 8"/>
          <p:cNvSpPr txBox="1"/>
          <p:nvPr/>
        </p:nvSpPr>
        <p:spPr>
          <a:xfrm>
            <a:off x="4541520" y="2203704"/>
            <a:ext cx="3105912" cy="50292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21</a:t>
            </a:r>
            <a:endParaRPr lang="en-US" sz="3000" dirty="0"/>
          </a:p>
        </p:txBody>
      </p:sp>
      <p:sp>
        <p:nvSpPr>
          <p:cNvPr id="11" name="Text 9"/>
          <p:cNvSpPr txBox="1"/>
          <p:nvPr/>
        </p:nvSpPr>
        <p:spPr>
          <a:xfrm>
            <a:off x="4541520" y="2843784"/>
            <a:ext cx="3105912" cy="4937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Borrower, Seller/Servicer, Multifamily Mortgage, Title Insurance Policy, Adverse Action Notice</a:t>
            </a:r>
            <a:endParaRPr lang="en-US" sz="1150" dirty="0"/>
          </a:p>
        </p:txBody>
      </p:sp>
      <p:sp>
        <p:nvSpPr>
          <p:cNvPr id="12" name="Shape 10"/>
          <p:cNvSpPr/>
          <p:nvPr/>
        </p:nvSpPr>
        <p:spPr>
          <a:xfrm>
            <a:off x="8077200" y="1691640"/>
            <a:ext cx="3563112" cy="1828800"/>
          </a:xfrm>
          <a:prstGeom prst="roundRect">
            <a:avLst>
              <a:gd name="adj" fmla="val 6000"/>
            </a:avLst>
          </a:prstGeom>
          <a:solidFill>
            <a:srgbClr val="F7F7F3"/>
          </a:solidFill>
          <a:ln w="9525">
            <a:solidFill>
              <a:srgbClr val="DDDED6"/>
            </a:solidFill>
            <a:prstDash val="solid"/>
          </a:ln>
        </p:spPr>
      </p:sp>
      <p:sp>
        <p:nvSpPr>
          <p:cNvPr id="13" name="Text 11"/>
          <p:cNvSpPr txBox="1"/>
          <p:nvPr/>
        </p:nvSpPr>
        <p:spPr>
          <a:xfrm>
            <a:off x="8305800" y="1892808"/>
            <a:ext cx="3105912" cy="256032"/>
          </a:xfrm>
          <a:prstGeom prst="rect">
            <a:avLst/>
          </a:prstGeom>
          <a:noFill/>
          <a:ln/>
        </p:spPr>
        <p:txBody>
          <a:bodyPr wrap="square" lIns="0" tIns="0" rIns="0" bIns="0" rtlCol="0" anchor="t"/>
          <a:lstStyle/>
          <a:p>
            <a:pPr indent="0" marL="0">
              <a:buNone/>
            </a:pPr>
            <a:r>
              <a:rPr lang="en-US" sz="1100" dirty="0">
                <a:solidFill>
                  <a:srgbClr val="8A8F86"/>
                </a:solidFill>
                <a:latin typeface="Courier New" pitchFamily="34" charset="0"/>
                <a:ea typeface="Courier New" pitchFamily="34" charset="-122"/>
                <a:cs typeface="Courier New" pitchFamily="34" charset="-120"/>
              </a:rPr>
              <a:t>Dependency edges</a:t>
            </a:r>
            <a:endParaRPr lang="en-US" sz="1100" dirty="0"/>
          </a:p>
        </p:txBody>
      </p:sp>
      <p:sp>
        <p:nvSpPr>
          <p:cNvPr id="14" name="Text 12"/>
          <p:cNvSpPr txBox="1"/>
          <p:nvPr/>
        </p:nvSpPr>
        <p:spPr>
          <a:xfrm>
            <a:off x="8305800" y="2203704"/>
            <a:ext cx="3105912" cy="50292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201</a:t>
            </a:r>
            <a:endParaRPr lang="en-US" sz="3000" dirty="0"/>
          </a:p>
        </p:txBody>
      </p:sp>
      <p:sp>
        <p:nvSpPr>
          <p:cNvPr id="15" name="Text 13"/>
          <p:cNvSpPr txBox="1"/>
          <p:nvPr/>
        </p:nvSpPr>
        <p:spPr>
          <a:xfrm>
            <a:off x="8305800" y="2843784"/>
            <a:ext cx="3105912" cy="4937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typed prerequisite, with a strength and a written justification on each</a:t>
            </a:r>
            <a:endParaRPr lang="en-US" sz="1150" dirty="0"/>
          </a:p>
        </p:txBody>
      </p:sp>
      <p:sp>
        <p:nvSpPr>
          <p:cNvPr id="16" name="Text 14"/>
          <p:cNvSpPr txBox="1"/>
          <p:nvPr/>
        </p:nvSpPr>
        <p:spPr>
          <a:xfrm>
            <a:off x="548640" y="3794760"/>
            <a:ext cx="5440680" cy="36576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What a graph rule carries that a flat rule cannot</a:t>
            </a:r>
            <a:endParaRPr lang="en-US" sz="1500" dirty="0"/>
          </a:p>
        </p:txBody>
      </p:sp>
      <p:sp>
        <p:nvSpPr>
          <p:cNvPr id="17" name="Text 15"/>
          <p:cNvSpPr txBox="1"/>
          <p:nvPr/>
        </p:nvSpPr>
        <p:spPr>
          <a:xfrm>
            <a:off x="548640" y="4206240"/>
            <a:ext cx="5440680" cy="1737360"/>
          </a:xfrm>
          <a:prstGeom prst="rect">
            <a:avLst/>
          </a:prstGeom>
          <a:noFill/>
          <a:ln/>
        </p:spPr>
        <p:txBody>
          <a:bodyPr wrap="square" lIns="0" tIns="0" rIns="0" bIns="0" rtlCol="0" anchor="t"/>
          <a:lstStyle/>
          <a:p>
            <a:pPr indent="0" marL="0">
              <a:buNone/>
            </a:pPr>
            <a:r>
              <a:rPr lang="en-US" sz="1200" dirty="0">
                <a:solidFill>
                  <a:srgbClr val="47525E"/>
                </a:solidFill>
                <a:latin typeface="Calibri" pitchFamily="34" charset="0"/>
                <a:ea typeface="Calibri" pitchFamily="34" charset="-122"/>
                <a:cs typeface="Calibri" pitchFamily="34" charset="-120"/>
              </a:rPr>
              <a:t>Applicability scope, data points required, jurisdiction, effective and expiration dates, what supersedes it, which entity it constrains, and the rules it depends on. The source reference is checked against the guide text, and a confidence score says how much to trust the extraction.</a:t>
            </a:r>
            <a:endParaRPr lang="en-US" sz="1200" dirty="0"/>
          </a:p>
        </p:txBody>
      </p:sp>
      <p:sp>
        <p:nvSpPr>
          <p:cNvPr id="18" name="Text 16"/>
          <p:cNvSpPr txBox="1"/>
          <p:nvPr/>
        </p:nvSpPr>
        <p:spPr>
          <a:xfrm>
            <a:off x="6199632" y="3794760"/>
            <a:ext cx="5440680" cy="36576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How it runs, and how it meets the platform</a:t>
            </a:r>
            <a:endParaRPr lang="en-US" sz="1500" dirty="0"/>
          </a:p>
        </p:txBody>
      </p:sp>
      <p:sp>
        <p:nvSpPr>
          <p:cNvPr id="19" name="Text 17"/>
          <p:cNvSpPr txBox="1"/>
          <p:nvPr/>
        </p:nvSpPr>
        <p:spPr>
          <a:xfrm>
            <a:off x="6199632" y="4206240"/>
            <a:ext cx="5440680" cy="1737360"/>
          </a:xfrm>
          <a:prstGeom prst="rect">
            <a:avLst/>
          </a:prstGeom>
          <a:noFill/>
          <a:ln/>
        </p:spPr>
        <p:txBody>
          <a:bodyPr wrap="square" lIns="0" tIns="0" rIns="0" bIns="0" rtlCol="0" anchor="t"/>
          <a:lstStyle/>
          <a:p>
            <a:pPr indent="0" marL="0">
              <a:buNone/>
            </a:pPr>
            <a:r>
              <a:rPr lang="en-US" sz="1200" dirty="0">
                <a:solidFill>
                  <a:srgbClr val="47525E"/>
                </a:solidFill>
                <a:latin typeface="Calibri" pitchFamily="34" charset="0"/>
                <a:ea typeface="Calibri" pitchFamily="34" charset="-122"/>
                <a:cs typeface="Calibri" pitchFamily="34" charset="-120"/>
              </a:rPr>
              <a:t>A graph is queried with SPARQL, so this form needs a graph store and a SPARQL runner beside it. Entities and relationships land in fabric.graph against the pack's ontology. Rules convert down to JTBDs one-to-one, with a sidecar that keeps the edges and scope the JTBD file cannot hold.</a:t>
            </a:r>
            <a:endParaRPr lang="en-US" sz="1200" dirty="0"/>
          </a:p>
        </p:txBody>
      </p:sp>
      <p:sp>
        <p:nvSpPr>
          <p:cNvPr id="20" name="Text 18"/>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kernel-lab guideline-to-graph pipeline, agents 1 to 5 · graph-to-JTBD conversion with a lossless sidecar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POLICY AS CODE</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Code form: generated evaluators, run sandboxed</a:t>
            </a:r>
            <a:endParaRPr lang="en-US" sz="3000" dirty="0"/>
          </a:p>
        </p:txBody>
      </p:sp>
      <p:sp>
        <p:nvSpPr>
          <p:cNvPr id="4" name="Shape 2"/>
          <p:cNvSpPr/>
          <p:nvPr/>
        </p:nvSpPr>
        <p:spPr>
          <a:xfrm>
            <a:off x="548640" y="1691640"/>
            <a:ext cx="5440680" cy="2377440"/>
          </a:xfrm>
          <a:prstGeom prst="roundRect">
            <a:avLst>
              <a:gd name="adj" fmla="val 4615"/>
            </a:avLst>
          </a:prstGeom>
          <a:solidFill>
            <a:srgbClr val="121A24"/>
          </a:solidFill>
          <a:ln w="12700">
            <a:solidFill>
              <a:srgbClr val="121A24"/>
            </a:solidFill>
            <a:prstDash val="solid"/>
          </a:ln>
        </p:spPr>
      </p:sp>
      <p:sp>
        <p:nvSpPr>
          <p:cNvPr id="5" name="Text 3"/>
          <p:cNvSpPr txBox="1"/>
          <p:nvPr/>
        </p:nvSpPr>
        <p:spPr>
          <a:xfrm>
            <a:off x="777240" y="1874520"/>
            <a:ext cx="4983480" cy="256032"/>
          </a:xfrm>
          <a:prstGeom prst="rect">
            <a:avLst/>
          </a:prstGeom>
          <a:noFill/>
          <a:ln/>
        </p:spPr>
        <p:txBody>
          <a:bodyPr wrap="square" lIns="0" tIns="0" rIns="0" bIns="0" rtlCol="0" anchor="t"/>
          <a:lstStyle/>
          <a:p>
            <a:pPr indent="0" marL="0">
              <a:buNone/>
            </a:pPr>
            <a:r>
              <a:rPr lang="en-US" sz="1050" dirty="0">
                <a:solidFill>
                  <a:srgbClr val="5FBFB3"/>
                </a:solidFill>
                <a:latin typeface="Courier New" pitchFamily="34" charset="0"/>
                <a:ea typeface="Courier New" pitchFamily="34" charset="-122"/>
                <a:cs typeface="Courier New" pitchFamily="34" charset="-120"/>
              </a:rPr>
              <a:t>generated evaluator · apr_clt_….py</a:t>
            </a:r>
            <a:endParaRPr lang="en-US" sz="1050" dirty="0"/>
          </a:p>
        </p:txBody>
      </p:sp>
      <p:sp>
        <p:nvSpPr>
          <p:cNvPr id="6" name="Text 4"/>
          <p:cNvSpPr txBox="1"/>
          <p:nvPr/>
        </p:nvSpPr>
        <p:spPr>
          <a:xfrm>
            <a:off x="777240" y="2194560"/>
            <a:ext cx="4983480" cy="1691640"/>
          </a:xfrm>
          <a:prstGeom prst="rect">
            <a:avLst/>
          </a:prstGeom>
          <a:noFill/>
          <a:ln/>
        </p:spPr>
        <p:txBody>
          <a:bodyPr wrap="square" lIns="0" tIns="0" rIns="0" bIns="0" rtlCol="0" anchor="t"/>
          <a:lstStyle/>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class AprCltEvaluator(EvaluatorBase):</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mnemonic = "APR-CLT"</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sequence = 11</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depends_on = ["APR-META", "APR-BASE"]</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provides = ["clt_appraisal_status", …]</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investor_overlays = {"FNMA": "NO_CHANGE", …}</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 returns PASS | FAIL |</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   CONDITIONAL | NOT_APPLICABLE</a:t>
            </a:r>
            <a:endParaRPr lang="en-US" sz="1000" dirty="0"/>
          </a:p>
        </p:txBody>
      </p:sp>
      <p:sp>
        <p:nvSpPr>
          <p:cNvPr id="7" name="Shape 5"/>
          <p:cNvSpPr/>
          <p:nvPr/>
        </p:nvSpPr>
        <p:spPr>
          <a:xfrm>
            <a:off x="6199632" y="1691640"/>
            <a:ext cx="5440680" cy="2377440"/>
          </a:xfrm>
          <a:prstGeom prst="roundRect">
            <a:avLst>
              <a:gd name="adj" fmla="val 4615"/>
            </a:avLst>
          </a:prstGeom>
          <a:solidFill>
            <a:srgbClr val="121A24"/>
          </a:solidFill>
          <a:ln w="12700">
            <a:solidFill>
              <a:srgbClr val="121A24"/>
            </a:solidFill>
            <a:prstDash val="solid"/>
          </a:ln>
        </p:spPr>
      </p:sp>
      <p:sp>
        <p:nvSpPr>
          <p:cNvPr id="8" name="Text 6"/>
          <p:cNvSpPr txBox="1"/>
          <p:nvPr/>
        </p:nvSpPr>
        <p:spPr>
          <a:xfrm>
            <a:off x="6428232" y="1874520"/>
            <a:ext cx="4983480" cy="256032"/>
          </a:xfrm>
          <a:prstGeom prst="rect">
            <a:avLst/>
          </a:prstGeom>
          <a:noFill/>
          <a:ln/>
        </p:spPr>
        <p:txBody>
          <a:bodyPr wrap="square" lIns="0" tIns="0" rIns="0" bIns="0" rtlCol="0" anchor="t"/>
          <a:lstStyle/>
          <a:p>
            <a:pPr indent="0" marL="0">
              <a:buNone/>
            </a:pPr>
            <a:r>
              <a:rPr lang="en-US" sz="1050" dirty="0">
                <a:solidFill>
                  <a:srgbClr val="5FBFB3"/>
                </a:solidFill>
                <a:latin typeface="Courier New" pitchFamily="34" charset="0"/>
                <a:ea typeface="Courier New" pitchFamily="34" charset="-122"/>
                <a:cs typeface="Courier New" pitchFamily="34" charset="-120"/>
              </a:rPr>
              <a:t>jazzx_sdk · PythonCondition</a:t>
            </a:r>
            <a:endParaRPr lang="en-US" sz="1050" dirty="0"/>
          </a:p>
        </p:txBody>
      </p:sp>
      <p:sp>
        <p:nvSpPr>
          <p:cNvPr id="9" name="Text 7"/>
          <p:cNvSpPr txBox="1"/>
          <p:nvPr/>
        </p:nvSpPr>
        <p:spPr>
          <a:xfrm>
            <a:off x="6428232" y="2194560"/>
            <a:ext cx="4983480" cy="1691640"/>
          </a:xfrm>
          <a:prstGeom prst="rect">
            <a:avLst/>
          </a:prstGeom>
          <a:noFill/>
          <a:ln/>
        </p:spPr>
        <p:txBody>
          <a:bodyPr wrap="square" lIns="0" tIns="0" rIns="0" bIns="0" rtlCol="0" anchor="t"/>
          <a:lstStyle/>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kind: python</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source: str          one module</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entrypoint: check</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reads: […]           the only fields it may see</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derived_from: rule_id  the English it formalises</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cases: [{context, expected}]</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run only through a PythonExecutor the</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deployment installs. Never in process.</a:t>
            </a:r>
            <a:endParaRPr lang="en-US" sz="1000" dirty="0"/>
          </a:p>
        </p:txBody>
      </p:sp>
      <p:sp>
        <p:nvSpPr>
          <p:cNvPr id="10" name="Shape 8"/>
          <p:cNvSpPr/>
          <p:nvPr/>
        </p:nvSpPr>
        <p:spPr>
          <a:xfrm>
            <a:off x="548640" y="4297680"/>
            <a:ext cx="3563112" cy="1554480"/>
          </a:xfrm>
          <a:prstGeom prst="roundRect">
            <a:avLst>
              <a:gd name="adj" fmla="val 7059"/>
            </a:avLst>
          </a:prstGeom>
          <a:solidFill>
            <a:srgbClr val="FFFFFF"/>
          </a:solidFill>
          <a:ln w="9525">
            <a:solidFill>
              <a:srgbClr val="DDDED6"/>
            </a:solidFill>
            <a:prstDash val="solid"/>
          </a:ln>
        </p:spPr>
      </p:sp>
      <p:sp>
        <p:nvSpPr>
          <p:cNvPr id="11" name="Text 9"/>
          <p:cNvSpPr txBox="1"/>
          <p:nvPr/>
        </p:nvSpPr>
        <p:spPr>
          <a:xfrm>
            <a:off x="777240" y="4498848"/>
            <a:ext cx="310591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157 evaluators in a dependency graph</a:t>
            </a:r>
            <a:endParaRPr lang="en-US" sz="1500" dirty="0"/>
          </a:p>
        </p:txBody>
      </p:sp>
      <p:sp>
        <p:nvSpPr>
          <p:cNvPr id="12" name="Text 10"/>
          <p:cNvSpPr txBox="1"/>
          <p:nvPr/>
        </p:nvSpPr>
        <p:spPr>
          <a:xfrm>
            <a:off x="777240" y="5047488"/>
            <a:ext cx="3105912" cy="62179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Generated from JTBDs, run tier by tier, each declaring what it provides to the next.</a:t>
            </a:r>
            <a:endParaRPr lang="en-US" sz="1150" dirty="0"/>
          </a:p>
        </p:txBody>
      </p:sp>
      <p:sp>
        <p:nvSpPr>
          <p:cNvPr id="13" name="Shape 11"/>
          <p:cNvSpPr/>
          <p:nvPr/>
        </p:nvSpPr>
        <p:spPr>
          <a:xfrm>
            <a:off x="4312920" y="4297680"/>
            <a:ext cx="3563112" cy="1554480"/>
          </a:xfrm>
          <a:prstGeom prst="roundRect">
            <a:avLst>
              <a:gd name="adj" fmla="val 7059"/>
            </a:avLst>
          </a:prstGeom>
          <a:solidFill>
            <a:srgbClr val="FFFFFF"/>
          </a:solidFill>
          <a:ln w="9525">
            <a:solidFill>
              <a:srgbClr val="DDDED6"/>
            </a:solidFill>
            <a:prstDash val="solid"/>
          </a:ln>
        </p:spPr>
      </p:sp>
      <p:sp>
        <p:nvSpPr>
          <p:cNvPr id="14" name="Text 12"/>
          <p:cNvSpPr txBox="1"/>
          <p:nvPr/>
        </p:nvSpPr>
        <p:spPr>
          <a:xfrm>
            <a:off x="4541520" y="4498848"/>
            <a:ext cx="310591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Calibrated, with a floor</a:t>
            </a:r>
            <a:endParaRPr lang="en-US" sz="1500" dirty="0"/>
          </a:p>
        </p:txBody>
      </p:sp>
      <p:sp>
        <p:nvSpPr>
          <p:cNvPr id="15" name="Text 13"/>
          <p:cNvSpPr txBox="1"/>
          <p:nvPr/>
        </p:nvSpPr>
        <p:spPr>
          <a:xfrm>
            <a:off x="4541520" y="5047488"/>
            <a:ext cx="3105912" cy="62179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 ground-truth loop targets 90% per evaluator. A patch that regresses the holdout set by more than 2% is refused.</a:t>
            </a:r>
            <a:endParaRPr lang="en-US" sz="1150" dirty="0"/>
          </a:p>
        </p:txBody>
      </p:sp>
      <p:sp>
        <p:nvSpPr>
          <p:cNvPr id="16" name="Shape 14"/>
          <p:cNvSpPr/>
          <p:nvPr/>
        </p:nvSpPr>
        <p:spPr>
          <a:xfrm>
            <a:off x="8077200" y="4297680"/>
            <a:ext cx="3563112" cy="1554480"/>
          </a:xfrm>
          <a:prstGeom prst="roundRect">
            <a:avLst>
              <a:gd name="adj" fmla="val 7059"/>
            </a:avLst>
          </a:prstGeom>
          <a:solidFill>
            <a:srgbClr val="FFFFFF"/>
          </a:solidFill>
          <a:ln w="9525">
            <a:solidFill>
              <a:srgbClr val="DDDED6"/>
            </a:solidFill>
            <a:prstDash val="solid"/>
          </a:ln>
        </p:spPr>
      </p:sp>
      <p:sp>
        <p:nvSpPr>
          <p:cNvPr id="17" name="Text 15"/>
          <p:cNvSpPr txBox="1"/>
          <p:nvPr/>
        </p:nvSpPr>
        <p:spPr>
          <a:xfrm>
            <a:off x="8305800" y="4498848"/>
            <a:ext cx="310591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Readable by the approver</a:t>
            </a:r>
            <a:endParaRPr lang="en-US" sz="1500" dirty="0"/>
          </a:p>
        </p:txBody>
      </p:sp>
      <p:sp>
        <p:nvSpPr>
          <p:cNvPr id="18" name="Text 16"/>
          <p:cNvSpPr txBox="1"/>
          <p:nvPr/>
        </p:nvSpPr>
        <p:spPr>
          <a:xfrm>
            <a:off x="8305800" y="5047488"/>
            <a:ext cx="3105912" cy="62179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 governed Pack asset, not logic hidden in an app. An SME will not approve Python. Each evaluator keeps its JTBD in the docstring, and derived_from points back at the English rule it came from.</a:t>
            </a:r>
            <a:endParaRPr lang="en-US" sz="1150" dirty="0"/>
          </a:p>
        </p:txBody>
      </p:sp>
      <p:sp>
        <p:nvSpPr>
          <p:cNvPr id="19" name="Text 17"/>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kernel-lab mortgage compliance pilot · jazzx_sdk/fabric/canonical/python_check.py checks a module before an executor sees it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CRAFTING THE RULES</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Crafting rules for a customer instance</a:t>
            </a:r>
            <a:endParaRPr lang="en-US" sz="3000" dirty="0"/>
          </a:p>
        </p:txBody>
      </p:sp>
      <p:sp>
        <p:nvSpPr>
          <p:cNvPr id="4" name="Shape 2"/>
          <p:cNvSpPr/>
          <p:nvPr/>
        </p:nvSpPr>
        <p:spPr>
          <a:xfrm>
            <a:off x="548640" y="1737360"/>
            <a:ext cx="2622042" cy="2651760"/>
          </a:xfrm>
          <a:prstGeom prst="roundRect">
            <a:avLst>
              <a:gd name="adj" fmla="val 4185"/>
            </a:avLst>
          </a:prstGeom>
          <a:solidFill>
            <a:srgbClr val="F7F7F3"/>
          </a:solidFill>
          <a:ln w="9525">
            <a:solidFill>
              <a:srgbClr val="DDDED6"/>
            </a:solidFill>
            <a:prstDash val="solid"/>
          </a:ln>
        </p:spPr>
      </p:sp>
      <p:sp>
        <p:nvSpPr>
          <p:cNvPr id="5" name="Text 3"/>
          <p:cNvSpPr txBox="1"/>
          <p:nvPr/>
        </p:nvSpPr>
        <p:spPr>
          <a:xfrm>
            <a:off x="777240" y="1938528"/>
            <a:ext cx="2164842"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01 · documents in</a:t>
            </a:r>
            <a:endParaRPr lang="en-US" sz="1100" dirty="0"/>
          </a:p>
        </p:txBody>
      </p:sp>
      <p:sp>
        <p:nvSpPr>
          <p:cNvPr id="6" name="Text 4"/>
          <p:cNvSpPr txBox="1"/>
          <p:nvPr/>
        </p:nvSpPr>
        <p:spPr>
          <a:xfrm>
            <a:off x="77724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Knowledge Studio</a:t>
            </a:r>
            <a:endParaRPr lang="en-US" sz="1500" dirty="0"/>
          </a:p>
        </p:txBody>
      </p:sp>
      <p:sp>
        <p:nvSpPr>
          <p:cNvPr id="7" name="Text 5"/>
          <p:cNvSpPr txBox="1"/>
          <p:nvPr/>
        </p:nvSpPr>
        <p:spPr>
          <a:xfrm>
            <a:off x="777240" y="2798064"/>
            <a:ext cx="2164842" cy="14081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The SME uploads the program summary, the investor guides and the customer's own overlays. The studio segments them and proposes JTBDs, section by section, into a review queue.</a:t>
            </a:r>
            <a:endParaRPr lang="en-US" sz="1150" dirty="0"/>
          </a:p>
        </p:txBody>
      </p:sp>
      <p:sp>
        <p:nvSpPr>
          <p:cNvPr id="8" name="Shape 6"/>
          <p:cNvSpPr/>
          <p:nvPr/>
        </p:nvSpPr>
        <p:spPr>
          <a:xfrm>
            <a:off x="3371850" y="1737360"/>
            <a:ext cx="2622042" cy="2651760"/>
          </a:xfrm>
          <a:prstGeom prst="roundRect">
            <a:avLst>
              <a:gd name="adj" fmla="val 4185"/>
            </a:avLst>
          </a:prstGeom>
          <a:solidFill>
            <a:srgbClr val="F7F7F3"/>
          </a:solidFill>
          <a:ln w="9525">
            <a:solidFill>
              <a:srgbClr val="DDDED6"/>
            </a:solidFill>
            <a:prstDash val="solid"/>
          </a:ln>
        </p:spPr>
      </p:sp>
      <p:sp>
        <p:nvSpPr>
          <p:cNvPr id="9" name="Text 7"/>
          <p:cNvSpPr txBox="1"/>
          <p:nvPr/>
        </p:nvSpPr>
        <p:spPr>
          <a:xfrm>
            <a:off x="3600450" y="1938528"/>
            <a:ext cx="2164842"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02 · SME review</a:t>
            </a:r>
            <a:endParaRPr lang="en-US" sz="1100" dirty="0"/>
          </a:p>
        </p:txBody>
      </p:sp>
      <p:sp>
        <p:nvSpPr>
          <p:cNvPr id="10" name="Text 8"/>
          <p:cNvSpPr txBox="1"/>
          <p:nvPr/>
        </p:nvSpPr>
        <p:spPr>
          <a:xfrm>
            <a:off x="360045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Approve in English</a:t>
            </a:r>
            <a:endParaRPr lang="en-US" sz="1500" dirty="0"/>
          </a:p>
        </p:txBody>
      </p:sp>
      <p:sp>
        <p:nvSpPr>
          <p:cNvPr id="11" name="Text 9"/>
          <p:cNvSpPr txBox="1"/>
          <p:nvPr/>
        </p:nvSpPr>
        <p:spPr>
          <a:xfrm>
            <a:off x="3600450" y="2798064"/>
            <a:ext cx="2164842" cy="14081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Each proposal is read against its citation and accepted, edited or rejected. What is accepted becomes a procedure rule in a versioned policy. Nothing runs until a person has said yes.</a:t>
            </a:r>
            <a:endParaRPr lang="en-US" sz="1150" dirty="0"/>
          </a:p>
        </p:txBody>
      </p:sp>
      <p:sp>
        <p:nvSpPr>
          <p:cNvPr id="12" name="Shape 10"/>
          <p:cNvSpPr/>
          <p:nvPr/>
        </p:nvSpPr>
        <p:spPr>
          <a:xfrm>
            <a:off x="6195060" y="1737360"/>
            <a:ext cx="2622042" cy="2651760"/>
          </a:xfrm>
          <a:prstGeom prst="roundRect">
            <a:avLst>
              <a:gd name="adj" fmla="val 4185"/>
            </a:avLst>
          </a:prstGeom>
          <a:solidFill>
            <a:srgbClr val="F7F7F3"/>
          </a:solidFill>
          <a:ln w="9525">
            <a:solidFill>
              <a:srgbClr val="DDDED6"/>
            </a:solidFill>
            <a:prstDash val="solid"/>
          </a:ln>
        </p:spPr>
      </p:sp>
      <p:sp>
        <p:nvSpPr>
          <p:cNvPr id="13" name="Text 11"/>
          <p:cNvSpPr txBox="1"/>
          <p:nvPr/>
        </p:nvSpPr>
        <p:spPr>
          <a:xfrm>
            <a:off x="6423660" y="1938528"/>
            <a:ext cx="2164842"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03 · formalise</a:t>
            </a:r>
            <a:endParaRPr lang="en-US" sz="1100" dirty="0"/>
          </a:p>
        </p:txBody>
      </p:sp>
      <p:sp>
        <p:nvSpPr>
          <p:cNvPr id="14" name="Text 12"/>
          <p:cNvSpPr txBox="1"/>
          <p:nvPr/>
        </p:nvSpPr>
        <p:spPr>
          <a:xfrm>
            <a:off x="642366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FDE runs the SDK offline</a:t>
            </a:r>
            <a:endParaRPr lang="en-US" sz="1500" dirty="0"/>
          </a:p>
        </p:txBody>
      </p:sp>
      <p:sp>
        <p:nvSpPr>
          <p:cNvPr id="15" name="Text 13"/>
          <p:cNvSpPr txBox="1"/>
          <p:nvPr/>
        </p:nvSpPr>
        <p:spPr>
          <a:xfrm>
            <a:off x="6423660" y="2798064"/>
            <a:ext cx="2164842" cy="14081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 command-line pass over the approved JTBDs emits typed rules, a graph, Rego or Python, each with derived_from pointing at the English. The FDE reviews the output; the SME reviews an English rendering of it.</a:t>
            </a:r>
            <a:endParaRPr lang="en-US" sz="1150" dirty="0"/>
          </a:p>
        </p:txBody>
      </p:sp>
      <p:sp>
        <p:nvSpPr>
          <p:cNvPr id="16" name="Shape 14"/>
          <p:cNvSpPr/>
          <p:nvPr/>
        </p:nvSpPr>
        <p:spPr>
          <a:xfrm>
            <a:off x="9018270" y="1737360"/>
            <a:ext cx="2622042" cy="2651760"/>
          </a:xfrm>
          <a:prstGeom prst="roundRect">
            <a:avLst>
              <a:gd name="adj" fmla="val 4185"/>
            </a:avLst>
          </a:prstGeom>
          <a:solidFill>
            <a:srgbClr val="121A24"/>
          </a:solidFill>
          <a:ln w="12700">
            <a:solidFill>
              <a:srgbClr val="121A24"/>
            </a:solidFill>
            <a:prstDash val="solid"/>
          </a:ln>
        </p:spPr>
      </p:sp>
      <p:sp>
        <p:nvSpPr>
          <p:cNvPr id="17" name="Text 15"/>
          <p:cNvSpPr txBox="1"/>
          <p:nvPr/>
        </p:nvSpPr>
        <p:spPr>
          <a:xfrm>
            <a:off x="9246870" y="1938528"/>
            <a:ext cx="2164842" cy="256032"/>
          </a:xfrm>
          <a:prstGeom prst="rect">
            <a:avLst/>
          </a:prstGeom>
          <a:noFill/>
          <a:ln/>
        </p:spPr>
        <p:txBody>
          <a:bodyPr wrap="square" lIns="0" tIns="0" rIns="0" bIns="0" rtlCol="0" anchor="t"/>
          <a:lstStyle/>
          <a:p>
            <a:pPr indent="0" marL="0">
              <a:buNone/>
            </a:pPr>
            <a:r>
              <a:rPr lang="en-US" sz="1100" dirty="0">
                <a:solidFill>
                  <a:srgbClr val="5FBFB3"/>
                </a:solidFill>
                <a:latin typeface="Courier New" pitchFamily="34" charset="0"/>
                <a:ea typeface="Courier New" pitchFamily="34" charset="-122"/>
                <a:cs typeface="Courier New" pitchFamily="34" charset="-120"/>
              </a:rPr>
              <a:t>04 · land it</a:t>
            </a:r>
            <a:endParaRPr lang="en-US" sz="1100" dirty="0"/>
          </a:p>
        </p:txBody>
      </p:sp>
      <p:sp>
        <p:nvSpPr>
          <p:cNvPr id="18" name="Text 16"/>
          <p:cNvSpPr txBox="1"/>
          <p:nvPr/>
        </p:nvSpPr>
        <p:spPr>
          <a:xfrm>
            <a:off x="9246870" y="2249424"/>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Into that customer's instance</a:t>
            </a:r>
            <a:endParaRPr lang="en-US" sz="1500" dirty="0"/>
          </a:p>
        </p:txBody>
      </p:sp>
      <p:sp>
        <p:nvSpPr>
          <p:cNvPr id="19" name="Text 17"/>
          <p:cNvSpPr txBox="1"/>
          <p:nvPr/>
        </p:nvSpPr>
        <p:spPr>
          <a:xfrm>
            <a:off x="9246870" y="2798064"/>
            <a:ext cx="2164842" cy="1408176"/>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Every deployment is single tenant, so the pack is published to that customer's instance and activated there. It is part of the forward-deployed engagement, not a platform release.</a:t>
            </a:r>
            <a:endParaRPr lang="en-US" sz="1150" dirty="0"/>
          </a:p>
        </p:txBody>
      </p:sp>
      <p:sp>
        <p:nvSpPr>
          <p:cNvPr id="20" name="Text 18"/>
          <p:cNvSpPr txBox="1"/>
          <p:nvPr/>
        </p:nvSpPr>
        <p:spPr>
          <a:xfrm>
            <a:off x="548640" y="4617720"/>
            <a:ext cx="5440680" cy="109728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The extraction service already does step 1 and the start of step 3: one corpus in, any of three representations out (jtbd, obligations, python), into a proposal queue with a review router in front of it.</a:t>
            </a:r>
            <a:endParaRPr lang="en-US" sz="1150" dirty="0"/>
          </a:p>
        </p:txBody>
      </p:sp>
      <p:sp>
        <p:nvSpPr>
          <p:cNvPr id="21" name="Text 19"/>
          <p:cNvSpPr txBox="1"/>
          <p:nvPr/>
        </p:nvSpPr>
        <p:spPr>
          <a:xfrm>
            <a:off x="6199632" y="4617720"/>
            <a:ext cx="5440680" cy="109728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Acra is the worked example: the program summary went in, three policy files and one profile came out, and the pack is published on the replica you will see in the second half.</a:t>
            </a:r>
            <a:endParaRPr lang="en-US" sz="1150" dirty="0"/>
          </a:p>
        </p:txBody>
      </p:sp>
      <p:sp>
        <p:nvSpPr>
          <p:cNvPr id="22" name="Text 20"/>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jazzx_sdk/server/policy_extract_api.py · jazzx_sdk/pipelines/policy_jtbd.py · mounted in the platform service under /authoring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RUNNING THE RULES</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One runtime per form; the end state is a hybrid</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011680"/>
                <a:gridCol w="3383280"/>
                <a:gridCol w="2011680"/>
                <a:gridCol w="3685032"/>
              </a:tblGrid>
              <a:tr h="0">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Form</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Runtime</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Repeatable</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In the SDK today</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r>
              <a:tr h="0">
                <a:tc>
                  <a:txBody>
                    <a:bodyPr/>
                    <a:lstStyle/>
                    <a:p>
                      <a:pPr indent="0" marL="0">
                        <a:buNone/>
                      </a:pPr>
                      <a:r>
                        <a:rPr lang="en-US" sz="1150" b="1" dirty="0">
                          <a:solidFill>
                            <a:srgbClr val="121A24"/>
                          </a:solidFill>
                          <a:latin typeface="Calibri" pitchFamily="34" charset="0"/>
                          <a:ea typeface="Calibri" pitchFamily="34" charset="-122"/>
                          <a:cs typeface="Calibri" pitchFamily="34" charset="-120"/>
                        </a:rPr>
                        <a:t>JTBD</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A reasoning agent over a foundation model</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C2703A"/>
                          </a:solidFill>
                          <a:latin typeface="Calibri" pitchFamily="34" charset="0"/>
                          <a:ea typeface="Calibri" pitchFamily="34" charset="-122"/>
                          <a:cs typeface="Calibri" pitchFamily="34" charset="-120"/>
                        </a:rPr>
                        <a:t>No, carries a confidence</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In the SDK: procedure and natural_language evaluators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1A24"/>
                          </a:solidFill>
                          <a:latin typeface="Calibri" pitchFamily="34" charset="0"/>
                          <a:ea typeface="Calibri" pitchFamily="34" charset="-122"/>
                          <a:cs typeface="Calibri" pitchFamily="34" charset="-120"/>
                        </a:rPr>
                        <a:t>Typed rules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In-process evaluator, one per condition kind</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1F6F6B"/>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In the SDK: expression, ratio, matrix, composites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150" b="1" dirty="0">
                          <a:solidFill>
                            <a:srgbClr val="121A24"/>
                          </a:solidFill>
                          <a:latin typeface="Calibri" pitchFamily="34" charset="0"/>
                          <a:ea typeface="Calibri" pitchFamily="34" charset="-122"/>
                          <a:cs typeface="Calibri" pitchFamily="34" charset="-120"/>
                        </a:rPr>
                        <a:t>Rego</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OPA policy engine</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1F6F6B"/>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C2703A"/>
                          </a:solidFill>
                          <a:latin typeface="Calibri" pitchFamily="34" charset="0"/>
                          <a:ea typeface="Calibri" pitchFamily="34" charset="-122"/>
                          <a:cs typeface="Calibri" pitchFamily="34" charset="-120"/>
                        </a:rPr>
                        <a:t>Surface reserved (fabric.opa), not wired</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1A24"/>
                          </a:solidFill>
                          <a:latin typeface="Calibri" pitchFamily="34" charset="0"/>
                          <a:ea typeface="Calibri" pitchFamily="34" charset="-122"/>
                          <a:cs typeface="Calibri" pitchFamily="34" charset="-120"/>
                        </a:rPr>
                        <a:t>Knowledge graph</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Graph store with a SPARQL runner</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1F6F6B"/>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C2703A"/>
                          </a:solidFill>
                          <a:latin typeface="Calibri" pitchFamily="34" charset="0"/>
                          <a:ea typeface="Calibri" pitchFamily="34" charset="-122"/>
                          <a:cs typeface="Calibri" pitchFamily="34" charset="-120"/>
                        </a:rPr>
                        <a:t>Graph store in the SDK; no SPARQL runner yet</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150" b="1" dirty="0">
                          <a:solidFill>
                            <a:srgbClr val="121A24"/>
                          </a:solidFill>
                          <a:latin typeface="Calibri" pitchFamily="34" charset="0"/>
                          <a:ea typeface="Calibri" pitchFamily="34" charset="-122"/>
                          <a:cs typeface="Calibri" pitchFamily="34" charset="-120"/>
                        </a:rPr>
                        <a:t>Code</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Sandboxed Python executor</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1F6F6B"/>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In the SDK: python kind, checked before execution</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663440"/>
            <a:ext cx="5440680" cy="1188720"/>
          </a:xfrm>
          <a:prstGeom prst="rect">
            <a:avLst/>
          </a:prstGeom>
          <a:noFill/>
          <a:ln/>
        </p:spPr>
        <p:txBody>
          <a:bodyPr wrap="square" lIns="0" tIns="0" rIns="0" bIns="0" rtlCol="0" anchor="t"/>
          <a:lstStyle/>
          <a:p>
            <a:pPr indent="0" marL="0">
              <a:buNone/>
            </a:pPr>
            <a:r>
              <a:rPr lang="en-US" sz="1200" dirty="0">
                <a:solidFill>
                  <a:srgbClr val="47525E"/>
                </a:solidFill>
                <a:latin typeface="Calibri" pitchFamily="34" charset="0"/>
                <a:ea typeface="Calibri" pitchFamily="34" charset="-122"/>
                <a:cs typeface="Calibri" pitchFamily="34" charset="-120"/>
              </a:rPr>
              <a:t>We convert as much as we can to the repeatable forms and leave the rest as JTBDs on a reasoning model. Some obligations will not convert cleanly, so the working setup is a hybrid, and that is fine as long as the trace says which runtime answered.</a:t>
            </a:r>
            <a:endParaRPr lang="en-US" sz="1200" dirty="0"/>
          </a:p>
        </p:txBody>
      </p:sp>
      <p:sp>
        <p:nvSpPr>
          <p:cNvPr id="6" name="Text 3"/>
          <p:cNvSpPr txBox="1"/>
          <p:nvPr/>
        </p:nvSpPr>
        <p:spPr>
          <a:xfrm>
            <a:off x="6199632" y="4663440"/>
            <a:ext cx="5440680" cy="1188720"/>
          </a:xfrm>
          <a:prstGeom prst="rect">
            <a:avLst/>
          </a:prstGeom>
          <a:noFill/>
          <a:ln/>
        </p:spPr>
        <p:txBody>
          <a:bodyPr wrap="square" lIns="0" tIns="0" rIns="0" bIns="0" rtlCol="0" anchor="t"/>
          <a:lstStyle/>
          <a:p>
            <a:pPr indent="0" marL="0">
              <a:buNone/>
            </a:pPr>
            <a:r>
              <a:rPr lang="en-US" sz="1200" dirty="0">
                <a:solidFill>
                  <a:srgbClr val="47525E"/>
                </a:solidFill>
                <a:latin typeface="Calibri" pitchFamily="34" charset="0"/>
                <a:ea typeface="Calibri" pitchFamily="34" charset="-122"/>
                <a:cs typeface="Calibri" pitchFamily="34" charset="-120"/>
              </a:rPr>
              <a:t>The hybrid is not fixed. A JTBD can be split, with its deterministic part moved to a rule or code and the judgment part left in English. Over time the English share shrinks.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6F6B"/>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F7F7F3"/>
                </a:solidFill>
                <a:latin typeface="Calibri" pitchFamily="34" charset="0"/>
                <a:ea typeface="Calibri" pitchFamily="34" charset="-122"/>
                <a:cs typeface="Calibri" pitchFamily="34" charset="-120"/>
              </a:rPr>
              <a:t>Ownership by persona and form</a:t>
            </a:r>
            <a:endParaRPr lang="en-US" sz="3000" dirty="0"/>
          </a:p>
        </p:txBody>
      </p:sp>
      <p:sp>
        <p:nvSpPr>
          <p:cNvPr id="3" name="Text 1"/>
          <p:cNvSpPr txBox="1"/>
          <p:nvPr/>
        </p:nvSpPr>
        <p:spPr>
          <a:xfrm>
            <a:off x="548640" y="1188720"/>
            <a:ext cx="11091672" cy="365760"/>
          </a:xfrm>
          <a:prstGeom prst="rect">
            <a:avLst/>
          </a:prstGeom>
          <a:noFill/>
          <a:ln/>
        </p:spPr>
        <p:txBody>
          <a:bodyPr wrap="square" lIns="0" tIns="0" rIns="0" bIns="0" rtlCol="0" anchor="t"/>
          <a:lstStyle/>
          <a:p>
            <a:pPr indent="0" marL="0">
              <a:buNone/>
            </a:pPr>
            <a:r>
              <a:rPr lang="en-US" sz="1300" dirty="0">
                <a:solidFill>
                  <a:srgbClr val="D6EFEB"/>
                </a:solidFill>
                <a:latin typeface="Calibri" pitchFamily="34" charset="0"/>
                <a:ea typeface="Calibri" pitchFamily="34" charset="-122"/>
                <a:cs typeface="Calibri" pitchFamily="34" charset="-120"/>
              </a:rPr>
              <a:t>The people who build and govern rules. Not the AI Co-workers in the Suite deck, who use them.</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377440"/>
                <a:gridCol w="2834640"/>
                <a:gridCol w="3017520"/>
                <a:gridCol w="2862072"/>
              </a:tblGrid>
              <a:tr h="0">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Persona</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0F3F3C"/>
                    </a:solidFill>
                  </a:tcPr>
                </a:tc>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Authors</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0F3F3C"/>
                    </a:solidFill>
                  </a:tcPr>
                </a:tc>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Approves</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0F3F3C"/>
                    </a:solidFill>
                  </a:tcPr>
                </a:tc>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Monitors</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0F3F3C"/>
                    </a:solidFill>
                  </a:tcPr>
                </a:tc>
              </a:tr>
              <a:tr h="0">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Underwriter or compliance SME</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75854"/>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JTBDs, in English, in Knowledge Studio</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75854"/>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Every form, read as English. Code and graph need a rendering they can sign</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75854"/>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Override rates and outcomes per rule</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75854"/>
                    </a:solidFill>
                  </a:tcPr>
                </a:tc>
              </a:tr>
              <a:tr h="0">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Forward-deployed engineer</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F6F6B"/>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Typed rules, profile tables, Rego, generated code</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F6F6B"/>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The formalisation matches the English it came from</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F6F6B"/>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Calibration against gold cases; indeterminate rate</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F6F6B"/>
                    </a:solidFill>
                  </a:tcPr>
                </a:tc>
              </a:tr>
              <a:tr h="0">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Platform engineer</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75854"/>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Condition kinds, evaluators, executors</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75854"/>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A new runtime or a schema change</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75854"/>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Which runtime answered, latency, cost</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75854"/>
                    </a:solidFill>
                  </a:tcPr>
                </a:tc>
              </a:tr>
              <a:tr h="0">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Governance reviewer</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F6F6B"/>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Nothing</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F6F6B"/>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Activation of a policy version; threshold provenance</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F6F6B"/>
                    </a:solidFill>
                  </a:tcPr>
                </a:tc>
                <a:tc>
                  <a:txBody>
                    <a:bodyPr/>
                    <a:lstStyle/>
                    <a:p>
                      <a:pPr indent="0" marL="0">
                        <a:buNone/>
                      </a:pPr>
                      <a:r>
                        <a:rPr lang="en-US" sz="1150" dirty="0">
                          <a:solidFill>
                            <a:srgbClr val="D6EFEB"/>
                          </a:solidFill>
                          <a:latin typeface="Calibri" pitchFamily="34" charset="0"/>
                          <a:ea typeface="Calibri" pitchFamily="34" charset="-122"/>
                          <a:cs typeface="Calibri" pitchFamily="34" charset="-120"/>
                        </a:rPr>
                        <a:t>The trace: which version applied to which decision</a:t>
                      </a:r>
                      <a:endParaRPr lang="en-US" sz="1150" dirty="0">
                        <a:latin typeface="Calibri" charset="0"/>
                        <a:ea typeface="Calibri" charset="0"/>
                        <a:cs typeface="Calibri" charset="0"/>
                      </a:endParaRPr>
                    </a:p>
                  </a:txBody>
                  <a:tcPr marL="73152" marR="73152" marT="73152" marB="73152" anchor="ctr">
                    <a:lnL w="6350" cap="flat" cmpd="sng" algn="ctr">
                      <a:solidFill>
                        <a:srgbClr val="0F3F3C"/>
                      </a:solidFill>
                      <a:prstDash val="solid"/>
                      <a:round/>
                      <a:headEnd type="none" w="med" len="med"/>
                      <a:tailEnd type="none" w="med" len="med"/>
                    </a:lnL>
                    <a:lnR w="6350" cap="flat" cmpd="sng" algn="ctr">
                      <a:solidFill>
                        <a:srgbClr val="0F3F3C"/>
                      </a:solidFill>
                      <a:prstDash val="solid"/>
                      <a:round/>
                      <a:headEnd type="none" w="med" len="med"/>
                      <a:tailEnd type="none" w="med" len="med"/>
                    </a:lnR>
                    <a:lnT w="6350" cap="flat" cmpd="sng" algn="ctr">
                      <a:solidFill>
                        <a:srgbClr val="0F3F3C"/>
                      </a:solidFill>
                      <a:prstDash val="solid"/>
                      <a:round/>
                      <a:headEnd type="none" w="med" len="med"/>
                      <a:tailEnd type="none" w="med" len="med"/>
                    </a:lnT>
                    <a:lnB w="6350" cap="flat" cmpd="sng" algn="ctr">
                      <a:solidFill>
                        <a:srgbClr val="0F3F3C"/>
                      </a:solidFill>
                      <a:prstDash val="solid"/>
                      <a:round/>
                      <a:headEnd type="none" w="med" len="med"/>
                      <a:tailEnd type="none" w="med" len="med"/>
                    </a:lnB>
                    <a:solidFill>
                      <a:srgbClr val="1F6F6B"/>
                    </a:solidFill>
                  </a:tcPr>
                </a:tc>
              </a:tr>
            </a:tbl>
          </a:graphicData>
        </a:graphic>
      </p:graphicFrame>
      <p:sp>
        <p:nvSpPr>
          <p:cNvPr id="5" name="Text 2"/>
          <p:cNvSpPr txBox="1"/>
          <p:nvPr/>
        </p:nvSpPr>
        <p:spPr>
          <a:xfrm>
            <a:off x="548640" y="4846320"/>
            <a:ext cx="11091672" cy="1005840"/>
          </a:xfrm>
          <a:prstGeom prst="rect">
            <a:avLst/>
          </a:prstGeom>
          <a:noFill/>
          <a:ln/>
        </p:spPr>
        <p:txBody>
          <a:bodyPr wrap="square" lIns="0" tIns="0" rIns="0" bIns="0" rtlCol="0" anchor="t"/>
          <a:lstStyle/>
          <a:p>
            <a:pPr indent="0" marL="0">
              <a:buNone/>
            </a:pPr>
            <a:r>
              <a:rPr lang="en-US" sz="1300" dirty="0">
                <a:solidFill>
                  <a:srgbClr val="D6EFEB"/>
                </a:solidFill>
                <a:latin typeface="Calibri" pitchFamily="34" charset="0"/>
                <a:ea typeface="Calibri" pitchFamily="34" charset="-122"/>
                <a:cs typeface="Calibri" pitchFamily="34" charset="-120"/>
              </a:rPr>
              <a:t>English is the common readable form, so every other form links back to it. A rule moves from JTBD to typed rule to code as confidence grows. The approver of the English stays the owner.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POLICY SECTION SUMMARY</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Rule path: document to trace</a:t>
            </a:r>
            <a:endParaRPr lang="en-US" sz="3000" dirty="0"/>
          </a:p>
        </p:txBody>
      </p:sp>
      <p:sp>
        <p:nvSpPr>
          <p:cNvPr id="4" name="Text 2"/>
          <p:cNvSpPr txBox="1"/>
          <p:nvPr/>
        </p:nvSpPr>
        <p:spPr>
          <a:xfrm>
            <a:off x="548640" y="2011680"/>
            <a:ext cx="1371600" cy="274320"/>
          </a:xfrm>
          <a:prstGeom prst="rect">
            <a:avLst/>
          </a:prstGeom>
          <a:noFill/>
          <a:ln/>
        </p:spPr>
        <p:txBody>
          <a:bodyPr wrap="square" lIns="0" tIns="0" rIns="0" bIns="0" rtlCol="0" anchor="t"/>
          <a:lstStyle/>
          <a:p>
            <a:pPr indent="0" marL="0">
              <a:buNone/>
            </a:pPr>
            <a:r>
              <a:rPr lang="en-US" sz="1050" dirty="0">
                <a:solidFill>
                  <a:srgbClr val="8A8F86"/>
                </a:solidFill>
                <a:latin typeface="Courier New" pitchFamily="34" charset="0"/>
                <a:ea typeface="Courier New" pitchFamily="34" charset="-122"/>
                <a:cs typeface="Courier New" pitchFamily="34" charset="-120"/>
              </a:rPr>
              <a:t>SME authors</a:t>
            </a:r>
            <a:endParaRPr lang="en-US" sz="1050" dirty="0"/>
          </a:p>
        </p:txBody>
      </p:sp>
      <p:sp>
        <p:nvSpPr>
          <p:cNvPr id="5" name="Text 3"/>
          <p:cNvSpPr txBox="1"/>
          <p:nvPr/>
        </p:nvSpPr>
        <p:spPr>
          <a:xfrm>
            <a:off x="548640" y="3337560"/>
            <a:ext cx="1371600" cy="274320"/>
          </a:xfrm>
          <a:prstGeom prst="rect">
            <a:avLst/>
          </a:prstGeom>
          <a:noFill/>
          <a:ln/>
        </p:spPr>
        <p:txBody>
          <a:bodyPr wrap="square" lIns="0" tIns="0" rIns="0" bIns="0" rtlCol="0" anchor="t"/>
          <a:lstStyle/>
          <a:p>
            <a:pPr indent="0" marL="0">
              <a:buNone/>
            </a:pPr>
            <a:r>
              <a:rPr lang="en-US" sz="1050" dirty="0">
                <a:solidFill>
                  <a:srgbClr val="8A8F86"/>
                </a:solidFill>
                <a:latin typeface="Courier New" pitchFamily="34" charset="0"/>
                <a:ea typeface="Courier New" pitchFamily="34" charset="-122"/>
                <a:cs typeface="Courier New" pitchFamily="34" charset="-120"/>
              </a:rPr>
              <a:t>FDE formalises</a:t>
            </a:r>
            <a:endParaRPr lang="en-US" sz="1050" dirty="0"/>
          </a:p>
        </p:txBody>
      </p:sp>
      <p:sp>
        <p:nvSpPr>
          <p:cNvPr id="6" name="Text 4"/>
          <p:cNvSpPr txBox="1"/>
          <p:nvPr/>
        </p:nvSpPr>
        <p:spPr>
          <a:xfrm>
            <a:off x="548640" y="4663440"/>
            <a:ext cx="1371600" cy="274320"/>
          </a:xfrm>
          <a:prstGeom prst="rect">
            <a:avLst/>
          </a:prstGeom>
          <a:noFill/>
          <a:ln/>
        </p:spPr>
        <p:txBody>
          <a:bodyPr wrap="square" lIns="0" tIns="0" rIns="0" bIns="0" rtlCol="0" anchor="t"/>
          <a:lstStyle/>
          <a:p>
            <a:pPr indent="0" marL="0">
              <a:buNone/>
            </a:pPr>
            <a:r>
              <a:rPr lang="en-US" sz="1050" dirty="0">
                <a:solidFill>
                  <a:srgbClr val="8A8F86"/>
                </a:solidFill>
                <a:latin typeface="Courier New" pitchFamily="34" charset="0"/>
                <a:ea typeface="Courier New" pitchFamily="34" charset="-122"/>
                <a:cs typeface="Courier New" pitchFamily="34" charset="-120"/>
              </a:rPr>
              <a:t>Platform runs</a:t>
            </a:r>
            <a:endParaRPr lang="en-US" sz="1050" dirty="0"/>
          </a:p>
        </p:txBody>
      </p:sp>
      <p:sp>
        <p:nvSpPr>
          <p:cNvPr id="7" name="Shape 5"/>
          <p:cNvSpPr/>
          <p:nvPr/>
        </p:nvSpPr>
        <p:spPr>
          <a:xfrm>
            <a:off x="2011680" y="1737360"/>
            <a:ext cx="2148840" cy="868680"/>
          </a:xfrm>
          <a:prstGeom prst="roundRect">
            <a:avLst>
              <a:gd name="adj" fmla="val 10526"/>
            </a:avLst>
          </a:prstGeom>
          <a:solidFill>
            <a:srgbClr val="F7F7F3"/>
          </a:solidFill>
          <a:ln w="12700">
            <a:solidFill>
              <a:srgbClr val="DDDED6"/>
            </a:solidFill>
            <a:prstDash val="solid"/>
          </a:ln>
        </p:spPr>
      </p:sp>
      <p:sp>
        <p:nvSpPr>
          <p:cNvPr id="8" name="Text 6"/>
          <p:cNvSpPr txBox="1"/>
          <p:nvPr/>
        </p:nvSpPr>
        <p:spPr>
          <a:xfrm>
            <a:off x="2148840" y="1847088"/>
            <a:ext cx="18745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Source documents</a:t>
            </a:r>
            <a:endParaRPr lang="en-US" sz="1250" dirty="0"/>
          </a:p>
        </p:txBody>
      </p:sp>
      <p:sp>
        <p:nvSpPr>
          <p:cNvPr id="9" name="Text 7"/>
          <p:cNvSpPr txBox="1"/>
          <p:nvPr/>
        </p:nvSpPr>
        <p:spPr>
          <a:xfrm>
            <a:off x="2148840" y="2148840"/>
            <a:ext cx="1874520" cy="411480"/>
          </a:xfrm>
          <a:prstGeom prst="rect">
            <a:avLst/>
          </a:prstGeom>
          <a:noFill/>
          <a:ln/>
        </p:spPr>
        <p:txBody>
          <a:bodyPr wrap="square" lIns="0" tIns="0" rIns="0" bIns="0" rtlCol="0" anchor="t"/>
          <a:lstStyle/>
          <a:p>
            <a:pPr indent="0" marL="0">
              <a:buNone/>
            </a:pPr>
            <a:r>
              <a:rPr lang="en-US" sz="1050" dirty="0">
                <a:solidFill>
                  <a:srgbClr val="47525E"/>
                </a:solidFill>
                <a:latin typeface="Calibri" pitchFamily="34" charset="0"/>
                <a:ea typeface="Calibri" pitchFamily="34" charset="-122"/>
                <a:cs typeface="Calibri" pitchFamily="34" charset="-120"/>
              </a:rPr>
              <a:t>program summary, investor guides, overlays</a:t>
            </a:r>
            <a:endParaRPr lang="en-US" sz="1050" dirty="0"/>
          </a:p>
        </p:txBody>
      </p:sp>
      <p:sp>
        <p:nvSpPr>
          <p:cNvPr id="10" name="Shape 8"/>
          <p:cNvSpPr/>
          <p:nvPr/>
        </p:nvSpPr>
        <p:spPr>
          <a:xfrm>
            <a:off x="4434840" y="1737360"/>
            <a:ext cx="2148840" cy="868680"/>
          </a:xfrm>
          <a:prstGeom prst="roundRect">
            <a:avLst>
              <a:gd name="adj" fmla="val 10526"/>
            </a:avLst>
          </a:prstGeom>
          <a:solidFill>
            <a:srgbClr val="F7F7F3"/>
          </a:solidFill>
          <a:ln w="12700">
            <a:solidFill>
              <a:srgbClr val="DDDED6"/>
            </a:solidFill>
            <a:prstDash val="solid"/>
          </a:ln>
        </p:spPr>
      </p:sp>
      <p:sp>
        <p:nvSpPr>
          <p:cNvPr id="11" name="Text 9"/>
          <p:cNvSpPr txBox="1"/>
          <p:nvPr/>
        </p:nvSpPr>
        <p:spPr>
          <a:xfrm>
            <a:off x="4572000" y="1847088"/>
            <a:ext cx="18745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Knowledge Studio</a:t>
            </a:r>
            <a:endParaRPr lang="en-US" sz="1250" dirty="0"/>
          </a:p>
        </p:txBody>
      </p:sp>
      <p:sp>
        <p:nvSpPr>
          <p:cNvPr id="12" name="Text 10"/>
          <p:cNvSpPr txBox="1"/>
          <p:nvPr/>
        </p:nvSpPr>
        <p:spPr>
          <a:xfrm>
            <a:off x="4572000" y="2148840"/>
            <a:ext cx="1874520" cy="411480"/>
          </a:xfrm>
          <a:prstGeom prst="rect">
            <a:avLst/>
          </a:prstGeom>
          <a:noFill/>
          <a:ln/>
        </p:spPr>
        <p:txBody>
          <a:bodyPr wrap="square" lIns="0" tIns="0" rIns="0" bIns="0" rtlCol="0" anchor="t"/>
          <a:lstStyle/>
          <a:p>
            <a:pPr indent="0" marL="0">
              <a:buNone/>
            </a:pPr>
            <a:r>
              <a:rPr lang="en-US" sz="1050" dirty="0">
                <a:solidFill>
                  <a:srgbClr val="47525E"/>
                </a:solidFill>
                <a:latin typeface="Calibri" pitchFamily="34" charset="0"/>
                <a:ea typeface="Calibri" pitchFamily="34" charset="-122"/>
                <a:cs typeface="Calibri" pitchFamily="34" charset="-120"/>
              </a:rPr>
              <a:t>segments, proposes, queues for review</a:t>
            </a:r>
            <a:endParaRPr lang="en-US" sz="1050" dirty="0"/>
          </a:p>
        </p:txBody>
      </p:sp>
      <p:sp>
        <p:nvSpPr>
          <p:cNvPr id="13" name="Shape 11"/>
          <p:cNvSpPr/>
          <p:nvPr/>
        </p:nvSpPr>
        <p:spPr>
          <a:xfrm>
            <a:off x="6858000" y="1737360"/>
            <a:ext cx="2148840" cy="868680"/>
          </a:xfrm>
          <a:prstGeom prst="roundRect">
            <a:avLst>
              <a:gd name="adj" fmla="val 10526"/>
            </a:avLst>
          </a:prstGeom>
          <a:solidFill>
            <a:srgbClr val="121A24"/>
          </a:solidFill>
          <a:ln w="12700">
            <a:solidFill>
              <a:srgbClr val="121A24"/>
            </a:solidFill>
            <a:prstDash val="solid"/>
          </a:ln>
        </p:spPr>
      </p:sp>
      <p:sp>
        <p:nvSpPr>
          <p:cNvPr id="14" name="Text 12"/>
          <p:cNvSpPr txBox="1"/>
          <p:nvPr/>
        </p:nvSpPr>
        <p:spPr>
          <a:xfrm>
            <a:off x="6995160" y="1847088"/>
            <a:ext cx="1874520" cy="274320"/>
          </a:xfrm>
          <a:prstGeom prst="rect">
            <a:avLst/>
          </a:prstGeom>
          <a:noFill/>
          <a:ln/>
        </p:spPr>
        <p:txBody>
          <a:bodyPr wrap="square" lIns="0" tIns="0" rIns="0" bIns="0" rtlCol="0" anchor="t"/>
          <a:lstStyle/>
          <a:p>
            <a:pPr indent="0" marL="0">
              <a:buNone/>
            </a:pPr>
            <a:r>
              <a:rPr lang="en-US" sz="1250" b="1" dirty="0">
                <a:solidFill>
                  <a:srgbClr val="F7F7F3"/>
                </a:solidFill>
                <a:latin typeface="Calibri" pitchFamily="34" charset="0"/>
                <a:ea typeface="Calibri" pitchFamily="34" charset="-122"/>
                <a:cs typeface="Calibri" pitchFamily="34" charset="-120"/>
              </a:rPr>
              <a:t>JTBD, in English</a:t>
            </a:r>
            <a:endParaRPr lang="en-US" sz="1250" dirty="0"/>
          </a:p>
        </p:txBody>
      </p:sp>
      <p:sp>
        <p:nvSpPr>
          <p:cNvPr id="15" name="Text 13"/>
          <p:cNvSpPr txBox="1"/>
          <p:nvPr/>
        </p:nvSpPr>
        <p:spPr>
          <a:xfrm>
            <a:off x="6995160" y="2148840"/>
            <a:ext cx="1874520" cy="411480"/>
          </a:xfrm>
          <a:prstGeom prst="rect">
            <a:avLst/>
          </a:prstGeom>
          <a:noFill/>
          <a:ln/>
        </p:spPr>
        <p:txBody>
          <a:bodyPr wrap="square" lIns="0" tIns="0" rIns="0" bIns="0" rtlCol="0" anchor="t"/>
          <a:lstStyle/>
          <a:p>
            <a:pPr indent="0" marL="0">
              <a:buNone/>
            </a:pPr>
            <a:r>
              <a:rPr lang="en-US" sz="1050" dirty="0">
                <a:solidFill>
                  <a:srgbClr val="BFD8D5"/>
                </a:solidFill>
                <a:latin typeface="Calibri" pitchFamily="34" charset="0"/>
                <a:ea typeface="Calibri" pitchFamily="34" charset="-122"/>
                <a:cs typeface="Calibri" pitchFamily="34" charset="-120"/>
              </a:rPr>
              <a:t>approved by the SME, in a versioned policy</a:t>
            </a:r>
            <a:endParaRPr lang="en-US" sz="1050" dirty="0"/>
          </a:p>
        </p:txBody>
      </p:sp>
      <p:sp>
        <p:nvSpPr>
          <p:cNvPr id="16" name="Shape 14"/>
          <p:cNvSpPr/>
          <p:nvPr/>
        </p:nvSpPr>
        <p:spPr>
          <a:xfrm>
            <a:off x="9281160" y="1737360"/>
            <a:ext cx="2148840" cy="868680"/>
          </a:xfrm>
          <a:prstGeom prst="roundRect">
            <a:avLst>
              <a:gd name="adj" fmla="val 10526"/>
            </a:avLst>
          </a:prstGeom>
          <a:solidFill>
            <a:srgbClr val="FBF0E6"/>
          </a:solidFill>
          <a:ln w="12700">
            <a:solidFill>
              <a:srgbClr val="E8C9AC"/>
            </a:solidFill>
            <a:prstDash val="solid"/>
          </a:ln>
        </p:spPr>
      </p:sp>
      <p:sp>
        <p:nvSpPr>
          <p:cNvPr id="17" name="Text 15"/>
          <p:cNvSpPr txBox="1"/>
          <p:nvPr/>
        </p:nvSpPr>
        <p:spPr>
          <a:xfrm>
            <a:off x="9418320" y="1847088"/>
            <a:ext cx="1874520" cy="274320"/>
          </a:xfrm>
          <a:prstGeom prst="rect">
            <a:avLst/>
          </a:prstGeom>
          <a:noFill/>
          <a:ln/>
        </p:spPr>
        <p:txBody>
          <a:bodyPr wrap="square" lIns="0" tIns="0" rIns="0" bIns="0" rtlCol="0" anchor="t"/>
          <a:lstStyle/>
          <a:p>
            <a:pPr indent="0" marL="0">
              <a:buNone/>
            </a:pPr>
            <a:r>
              <a:rPr lang="en-US" sz="1250" b="1" dirty="0">
                <a:solidFill>
                  <a:srgbClr val="8A4B16"/>
                </a:solidFill>
                <a:latin typeface="Calibri" pitchFamily="34" charset="0"/>
                <a:ea typeface="Calibri" pitchFamily="34" charset="-122"/>
                <a:cs typeface="Calibri" pitchFamily="34" charset="-120"/>
              </a:rPr>
              <a:t>Reasoning agent</a:t>
            </a:r>
            <a:endParaRPr lang="en-US" sz="1250" dirty="0"/>
          </a:p>
        </p:txBody>
      </p:sp>
      <p:sp>
        <p:nvSpPr>
          <p:cNvPr id="18" name="Text 16"/>
          <p:cNvSpPr txBox="1"/>
          <p:nvPr/>
        </p:nvSpPr>
        <p:spPr>
          <a:xfrm>
            <a:off x="9418320" y="2148840"/>
            <a:ext cx="1874520" cy="411480"/>
          </a:xfrm>
          <a:prstGeom prst="rect">
            <a:avLst/>
          </a:prstGeom>
          <a:noFill/>
          <a:ln/>
        </p:spPr>
        <p:txBody>
          <a:bodyPr wrap="square" lIns="0" tIns="0" rIns="0" bIns="0" rtlCol="0" anchor="t"/>
          <a:lstStyle/>
          <a:p>
            <a:pPr indent="0" marL="0">
              <a:buNone/>
            </a:pPr>
            <a:r>
              <a:rPr lang="en-US" sz="1050" dirty="0">
                <a:solidFill>
                  <a:srgbClr val="8A4B16"/>
                </a:solidFill>
                <a:latin typeface="Calibri" pitchFamily="34" charset="0"/>
                <a:ea typeface="Calibri" pitchFamily="34" charset="-122"/>
                <a:cs typeface="Calibri" pitchFamily="34" charset="-120"/>
              </a:rPr>
              <a:t>runs the English directly. Not repeatable</a:t>
            </a:r>
            <a:endParaRPr lang="en-US" sz="1050" dirty="0"/>
          </a:p>
        </p:txBody>
      </p:sp>
      <p:sp>
        <p:nvSpPr>
          <p:cNvPr id="19" name="Shape 17"/>
          <p:cNvSpPr/>
          <p:nvPr/>
        </p:nvSpPr>
        <p:spPr>
          <a:xfrm>
            <a:off x="2011680" y="3063240"/>
            <a:ext cx="2148840" cy="868680"/>
          </a:xfrm>
          <a:prstGeom prst="roundRect">
            <a:avLst>
              <a:gd name="adj" fmla="val 10526"/>
            </a:avLst>
          </a:prstGeom>
          <a:solidFill>
            <a:srgbClr val="FFFFFF"/>
          </a:solidFill>
          <a:ln w="12700">
            <a:solidFill>
              <a:srgbClr val="1F6F6B"/>
            </a:solidFill>
            <a:prstDash val="solid"/>
          </a:ln>
        </p:spPr>
      </p:sp>
      <p:sp>
        <p:nvSpPr>
          <p:cNvPr id="20" name="Text 18"/>
          <p:cNvSpPr txBox="1"/>
          <p:nvPr/>
        </p:nvSpPr>
        <p:spPr>
          <a:xfrm>
            <a:off x="2148840" y="3172968"/>
            <a:ext cx="18745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Typed rules</a:t>
            </a:r>
            <a:endParaRPr lang="en-US" sz="1250" dirty="0"/>
          </a:p>
        </p:txBody>
      </p:sp>
      <p:sp>
        <p:nvSpPr>
          <p:cNvPr id="21" name="Text 19"/>
          <p:cNvSpPr txBox="1"/>
          <p:nvPr/>
        </p:nvSpPr>
        <p:spPr>
          <a:xfrm>
            <a:off x="2148840" y="3474720"/>
            <a:ext cx="1874520" cy="411480"/>
          </a:xfrm>
          <a:prstGeom prst="rect">
            <a:avLst/>
          </a:prstGeom>
          <a:noFill/>
          <a:ln/>
        </p:spPr>
        <p:txBody>
          <a:bodyPr wrap="square" lIns="0" tIns="0" rIns="0" bIns="0" rtlCol="0" anchor="t"/>
          <a:lstStyle/>
          <a:p>
            <a:pPr indent="0" marL="0">
              <a:buNone/>
            </a:pPr>
            <a:r>
              <a:rPr lang="en-US" sz="1050" dirty="0">
                <a:solidFill>
                  <a:srgbClr val="47525E"/>
                </a:solidFill>
                <a:latin typeface="Calibri" pitchFamily="34" charset="0"/>
                <a:ea typeface="Calibri" pitchFamily="34" charset="-122"/>
                <a:cs typeface="Calibri" pitchFamily="34" charset="-120"/>
              </a:rPr>
              <a:t>expression, ratio, matrix; numbers in the profile</a:t>
            </a:r>
            <a:endParaRPr lang="en-US" sz="1050" dirty="0"/>
          </a:p>
        </p:txBody>
      </p:sp>
      <p:sp>
        <p:nvSpPr>
          <p:cNvPr id="22" name="Shape 20"/>
          <p:cNvSpPr/>
          <p:nvPr/>
        </p:nvSpPr>
        <p:spPr>
          <a:xfrm>
            <a:off x="4434840" y="3063240"/>
            <a:ext cx="2148840" cy="868680"/>
          </a:xfrm>
          <a:prstGeom prst="roundRect">
            <a:avLst>
              <a:gd name="adj" fmla="val 10526"/>
            </a:avLst>
          </a:prstGeom>
          <a:solidFill>
            <a:srgbClr val="FFFFFF"/>
          </a:solidFill>
          <a:ln w="12700">
            <a:solidFill>
              <a:srgbClr val="1F6F6B"/>
            </a:solidFill>
            <a:prstDash val="solid"/>
          </a:ln>
        </p:spPr>
      </p:sp>
      <p:sp>
        <p:nvSpPr>
          <p:cNvPr id="23" name="Text 21"/>
          <p:cNvSpPr txBox="1"/>
          <p:nvPr/>
        </p:nvSpPr>
        <p:spPr>
          <a:xfrm>
            <a:off x="4572000" y="3172968"/>
            <a:ext cx="18745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Rego</a:t>
            </a:r>
            <a:endParaRPr lang="en-US" sz="1250" dirty="0"/>
          </a:p>
        </p:txBody>
      </p:sp>
      <p:sp>
        <p:nvSpPr>
          <p:cNvPr id="24" name="Text 22"/>
          <p:cNvSpPr txBox="1"/>
          <p:nvPr/>
        </p:nvSpPr>
        <p:spPr>
          <a:xfrm>
            <a:off x="4572000" y="3474720"/>
            <a:ext cx="1874520" cy="411480"/>
          </a:xfrm>
          <a:prstGeom prst="rect">
            <a:avLst/>
          </a:prstGeom>
          <a:noFill/>
          <a:ln/>
        </p:spPr>
        <p:txBody>
          <a:bodyPr wrap="square" lIns="0" tIns="0" rIns="0" bIns="0" rtlCol="0" anchor="t"/>
          <a:lstStyle/>
          <a:p>
            <a:pPr indent="0" marL="0">
              <a:buNone/>
            </a:pPr>
            <a:r>
              <a:rPr lang="en-US" sz="1050" dirty="0">
                <a:solidFill>
                  <a:srgbClr val="47525E"/>
                </a:solidFill>
                <a:latin typeface="Calibri" pitchFamily="34" charset="0"/>
                <a:ea typeface="Calibri" pitchFamily="34" charset="-122"/>
                <a:cs typeface="Calibri" pitchFamily="34" charset="-120"/>
              </a:rPr>
              <a:t>the same rule, for a policy engine</a:t>
            </a:r>
            <a:endParaRPr lang="en-US" sz="1050" dirty="0"/>
          </a:p>
        </p:txBody>
      </p:sp>
      <p:sp>
        <p:nvSpPr>
          <p:cNvPr id="25" name="Shape 23"/>
          <p:cNvSpPr/>
          <p:nvPr/>
        </p:nvSpPr>
        <p:spPr>
          <a:xfrm>
            <a:off x="6858000" y="3063240"/>
            <a:ext cx="2148840" cy="868680"/>
          </a:xfrm>
          <a:prstGeom prst="roundRect">
            <a:avLst>
              <a:gd name="adj" fmla="val 10526"/>
            </a:avLst>
          </a:prstGeom>
          <a:solidFill>
            <a:srgbClr val="FFFFFF"/>
          </a:solidFill>
          <a:ln w="12700">
            <a:solidFill>
              <a:srgbClr val="1F6F6B"/>
            </a:solidFill>
            <a:prstDash val="solid"/>
          </a:ln>
        </p:spPr>
      </p:sp>
      <p:sp>
        <p:nvSpPr>
          <p:cNvPr id="26" name="Text 24"/>
          <p:cNvSpPr txBox="1"/>
          <p:nvPr/>
        </p:nvSpPr>
        <p:spPr>
          <a:xfrm>
            <a:off x="6995160" y="3172968"/>
            <a:ext cx="18745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Knowledge graph</a:t>
            </a:r>
            <a:endParaRPr lang="en-US" sz="1250" dirty="0"/>
          </a:p>
        </p:txBody>
      </p:sp>
      <p:sp>
        <p:nvSpPr>
          <p:cNvPr id="27" name="Text 25"/>
          <p:cNvSpPr txBox="1"/>
          <p:nvPr/>
        </p:nvSpPr>
        <p:spPr>
          <a:xfrm>
            <a:off x="6995160" y="3474720"/>
            <a:ext cx="1874520" cy="411480"/>
          </a:xfrm>
          <a:prstGeom prst="rect">
            <a:avLst/>
          </a:prstGeom>
          <a:noFill/>
          <a:ln/>
        </p:spPr>
        <p:txBody>
          <a:bodyPr wrap="square" lIns="0" tIns="0" rIns="0" bIns="0" rtlCol="0" anchor="t"/>
          <a:lstStyle/>
          <a:p>
            <a:pPr indent="0" marL="0">
              <a:buNone/>
            </a:pPr>
            <a:r>
              <a:rPr lang="en-US" sz="1050" dirty="0">
                <a:solidFill>
                  <a:srgbClr val="47525E"/>
                </a:solidFill>
                <a:latin typeface="Calibri" pitchFamily="34" charset="0"/>
                <a:ea typeface="Calibri" pitchFamily="34" charset="-122"/>
                <a:cs typeface="Calibri" pitchFamily="34" charset="-120"/>
              </a:rPr>
              <a:t>rules over entities, with edges</a:t>
            </a:r>
            <a:endParaRPr lang="en-US" sz="1050" dirty="0"/>
          </a:p>
        </p:txBody>
      </p:sp>
      <p:sp>
        <p:nvSpPr>
          <p:cNvPr id="28" name="Shape 26"/>
          <p:cNvSpPr/>
          <p:nvPr/>
        </p:nvSpPr>
        <p:spPr>
          <a:xfrm>
            <a:off x="9281160" y="3063240"/>
            <a:ext cx="2148840" cy="868680"/>
          </a:xfrm>
          <a:prstGeom prst="roundRect">
            <a:avLst>
              <a:gd name="adj" fmla="val 10526"/>
            </a:avLst>
          </a:prstGeom>
          <a:solidFill>
            <a:srgbClr val="FFFFFF"/>
          </a:solidFill>
          <a:ln w="12700">
            <a:solidFill>
              <a:srgbClr val="1F6F6B"/>
            </a:solidFill>
            <a:prstDash val="solid"/>
          </a:ln>
        </p:spPr>
      </p:sp>
      <p:sp>
        <p:nvSpPr>
          <p:cNvPr id="29" name="Text 27"/>
          <p:cNvSpPr txBox="1"/>
          <p:nvPr/>
        </p:nvSpPr>
        <p:spPr>
          <a:xfrm>
            <a:off x="9418320" y="3172968"/>
            <a:ext cx="18745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Python</a:t>
            </a:r>
            <a:endParaRPr lang="en-US" sz="1250" dirty="0"/>
          </a:p>
        </p:txBody>
      </p:sp>
      <p:sp>
        <p:nvSpPr>
          <p:cNvPr id="30" name="Text 28"/>
          <p:cNvSpPr txBox="1"/>
          <p:nvPr/>
        </p:nvSpPr>
        <p:spPr>
          <a:xfrm>
            <a:off x="9418320" y="3474720"/>
            <a:ext cx="1874520" cy="411480"/>
          </a:xfrm>
          <a:prstGeom prst="rect">
            <a:avLst/>
          </a:prstGeom>
          <a:noFill/>
          <a:ln/>
        </p:spPr>
        <p:txBody>
          <a:bodyPr wrap="square" lIns="0" tIns="0" rIns="0" bIns="0" rtlCol="0" anchor="t"/>
          <a:lstStyle/>
          <a:p>
            <a:pPr indent="0" marL="0">
              <a:buNone/>
            </a:pPr>
            <a:r>
              <a:rPr lang="en-US" sz="1050" dirty="0">
                <a:solidFill>
                  <a:srgbClr val="47525E"/>
                </a:solidFill>
                <a:latin typeface="Calibri" pitchFamily="34" charset="0"/>
                <a:ea typeface="Calibri" pitchFamily="34" charset="-122"/>
                <a:cs typeface="Calibri" pitchFamily="34" charset="-120"/>
              </a:rPr>
              <a:t>generated, calibrated, derived_from the English</a:t>
            </a:r>
            <a:endParaRPr lang="en-US" sz="1050" dirty="0"/>
          </a:p>
        </p:txBody>
      </p:sp>
      <p:sp>
        <p:nvSpPr>
          <p:cNvPr id="31" name="Shape 29"/>
          <p:cNvSpPr/>
          <p:nvPr/>
        </p:nvSpPr>
        <p:spPr>
          <a:xfrm>
            <a:off x="2011680" y="4389120"/>
            <a:ext cx="2148840" cy="868680"/>
          </a:xfrm>
          <a:prstGeom prst="roundRect">
            <a:avLst>
              <a:gd name="adj" fmla="val 10526"/>
            </a:avLst>
          </a:prstGeom>
          <a:solidFill>
            <a:srgbClr val="F7F7F3"/>
          </a:solidFill>
          <a:ln w="12700">
            <a:solidFill>
              <a:srgbClr val="DDDED6"/>
            </a:solidFill>
            <a:prstDash val="solid"/>
          </a:ln>
        </p:spPr>
      </p:sp>
      <p:sp>
        <p:nvSpPr>
          <p:cNvPr id="32" name="Text 30"/>
          <p:cNvSpPr txBox="1"/>
          <p:nvPr/>
        </p:nvSpPr>
        <p:spPr>
          <a:xfrm>
            <a:off x="2148840" y="4498848"/>
            <a:ext cx="18745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In-process evaluator</a:t>
            </a:r>
            <a:endParaRPr lang="en-US" sz="1250" dirty="0"/>
          </a:p>
        </p:txBody>
      </p:sp>
      <p:sp>
        <p:nvSpPr>
          <p:cNvPr id="33" name="Text 31"/>
          <p:cNvSpPr txBox="1"/>
          <p:nvPr/>
        </p:nvSpPr>
        <p:spPr>
          <a:xfrm>
            <a:off x="2148840" y="4800600"/>
            <a:ext cx="1874520" cy="365760"/>
          </a:xfrm>
          <a:prstGeom prst="rect">
            <a:avLst/>
          </a:prstGeom>
          <a:noFill/>
          <a:ln/>
        </p:spPr>
        <p:txBody>
          <a:bodyPr wrap="square" lIns="0" tIns="0" rIns="0" bIns="0" rtlCol="0" anchor="t"/>
          <a:lstStyle/>
          <a:p>
            <a:pPr indent="0" marL="0">
              <a:buNone/>
            </a:pPr>
            <a:r>
              <a:rPr lang="en-US" sz="1050" dirty="0">
                <a:solidFill>
                  <a:srgbClr val="1F6F6B"/>
                </a:solidFill>
                <a:latin typeface="Calibri" pitchFamily="34" charset="0"/>
                <a:ea typeface="Calibri" pitchFamily="34" charset="-122"/>
                <a:cs typeface="Calibri" pitchFamily="34" charset="-120"/>
              </a:rPr>
              <a:t>repeatable · in the SDK</a:t>
            </a:r>
            <a:endParaRPr lang="en-US" sz="1050" dirty="0"/>
          </a:p>
        </p:txBody>
      </p:sp>
      <p:sp>
        <p:nvSpPr>
          <p:cNvPr id="34" name="Shape 32"/>
          <p:cNvSpPr/>
          <p:nvPr/>
        </p:nvSpPr>
        <p:spPr>
          <a:xfrm>
            <a:off x="4434840" y="4389120"/>
            <a:ext cx="2148840" cy="868680"/>
          </a:xfrm>
          <a:prstGeom prst="roundRect">
            <a:avLst>
              <a:gd name="adj" fmla="val 10526"/>
            </a:avLst>
          </a:prstGeom>
          <a:solidFill>
            <a:srgbClr val="F7F7F3"/>
          </a:solidFill>
          <a:ln w="12700">
            <a:solidFill>
              <a:srgbClr val="DDDED6"/>
            </a:solidFill>
            <a:prstDash val="solid"/>
          </a:ln>
        </p:spPr>
      </p:sp>
      <p:sp>
        <p:nvSpPr>
          <p:cNvPr id="35" name="Text 33"/>
          <p:cNvSpPr txBox="1"/>
          <p:nvPr/>
        </p:nvSpPr>
        <p:spPr>
          <a:xfrm>
            <a:off x="4572000" y="4498848"/>
            <a:ext cx="18745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OPA engine</a:t>
            </a:r>
            <a:endParaRPr lang="en-US" sz="1250" dirty="0"/>
          </a:p>
        </p:txBody>
      </p:sp>
      <p:sp>
        <p:nvSpPr>
          <p:cNvPr id="36" name="Text 34"/>
          <p:cNvSpPr txBox="1"/>
          <p:nvPr/>
        </p:nvSpPr>
        <p:spPr>
          <a:xfrm>
            <a:off x="4572000" y="4800600"/>
            <a:ext cx="1874520" cy="365760"/>
          </a:xfrm>
          <a:prstGeom prst="rect">
            <a:avLst/>
          </a:prstGeom>
          <a:noFill/>
          <a:ln/>
        </p:spPr>
        <p:txBody>
          <a:bodyPr wrap="square" lIns="0" tIns="0" rIns="0" bIns="0" rtlCol="0" anchor="t"/>
          <a:lstStyle/>
          <a:p>
            <a:pPr indent="0" marL="0">
              <a:buNone/>
            </a:pPr>
            <a:r>
              <a:rPr lang="en-US" sz="1050" dirty="0">
                <a:solidFill>
                  <a:srgbClr val="C2703A"/>
                </a:solidFill>
                <a:latin typeface="Calibri" pitchFamily="34" charset="0"/>
                <a:ea typeface="Calibri" pitchFamily="34" charset="-122"/>
                <a:cs typeface="Calibri" pitchFamily="34" charset="-120"/>
              </a:rPr>
              <a:t>repeatable · surface reserved</a:t>
            </a:r>
            <a:endParaRPr lang="en-US" sz="1050" dirty="0"/>
          </a:p>
        </p:txBody>
      </p:sp>
      <p:sp>
        <p:nvSpPr>
          <p:cNvPr id="37" name="Shape 35"/>
          <p:cNvSpPr/>
          <p:nvPr/>
        </p:nvSpPr>
        <p:spPr>
          <a:xfrm>
            <a:off x="6858000" y="4389120"/>
            <a:ext cx="2148840" cy="868680"/>
          </a:xfrm>
          <a:prstGeom prst="roundRect">
            <a:avLst>
              <a:gd name="adj" fmla="val 10526"/>
            </a:avLst>
          </a:prstGeom>
          <a:solidFill>
            <a:srgbClr val="F7F7F3"/>
          </a:solidFill>
          <a:ln w="12700">
            <a:solidFill>
              <a:srgbClr val="DDDED6"/>
            </a:solidFill>
            <a:prstDash val="solid"/>
          </a:ln>
        </p:spPr>
      </p:sp>
      <p:sp>
        <p:nvSpPr>
          <p:cNvPr id="38" name="Text 36"/>
          <p:cNvSpPr txBox="1"/>
          <p:nvPr/>
        </p:nvSpPr>
        <p:spPr>
          <a:xfrm>
            <a:off x="6995160" y="4498848"/>
            <a:ext cx="18745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SPARQL runner</a:t>
            </a:r>
            <a:endParaRPr lang="en-US" sz="1250" dirty="0"/>
          </a:p>
        </p:txBody>
      </p:sp>
      <p:sp>
        <p:nvSpPr>
          <p:cNvPr id="39" name="Text 37"/>
          <p:cNvSpPr txBox="1"/>
          <p:nvPr/>
        </p:nvSpPr>
        <p:spPr>
          <a:xfrm>
            <a:off x="6995160" y="4800600"/>
            <a:ext cx="1874520" cy="365760"/>
          </a:xfrm>
          <a:prstGeom prst="rect">
            <a:avLst/>
          </a:prstGeom>
          <a:noFill/>
          <a:ln/>
        </p:spPr>
        <p:txBody>
          <a:bodyPr wrap="square" lIns="0" tIns="0" rIns="0" bIns="0" rtlCol="0" anchor="t"/>
          <a:lstStyle/>
          <a:p>
            <a:pPr indent="0" marL="0">
              <a:buNone/>
            </a:pPr>
            <a:r>
              <a:rPr lang="en-US" sz="1050" dirty="0">
                <a:solidFill>
                  <a:srgbClr val="C2703A"/>
                </a:solidFill>
                <a:latin typeface="Calibri" pitchFamily="34" charset="0"/>
                <a:ea typeface="Calibri" pitchFamily="34" charset="-122"/>
                <a:cs typeface="Calibri" pitchFamily="34" charset="-120"/>
              </a:rPr>
              <a:t>repeatable · not yet</a:t>
            </a:r>
            <a:endParaRPr lang="en-US" sz="1050" dirty="0"/>
          </a:p>
        </p:txBody>
      </p:sp>
      <p:sp>
        <p:nvSpPr>
          <p:cNvPr id="40" name="Shape 38"/>
          <p:cNvSpPr/>
          <p:nvPr/>
        </p:nvSpPr>
        <p:spPr>
          <a:xfrm>
            <a:off x="9281160" y="4389120"/>
            <a:ext cx="2148840" cy="868680"/>
          </a:xfrm>
          <a:prstGeom prst="roundRect">
            <a:avLst>
              <a:gd name="adj" fmla="val 10526"/>
            </a:avLst>
          </a:prstGeom>
          <a:solidFill>
            <a:srgbClr val="F7F7F3"/>
          </a:solidFill>
          <a:ln w="12700">
            <a:solidFill>
              <a:srgbClr val="DDDED6"/>
            </a:solidFill>
            <a:prstDash val="solid"/>
          </a:ln>
        </p:spPr>
      </p:sp>
      <p:sp>
        <p:nvSpPr>
          <p:cNvPr id="41" name="Text 39"/>
          <p:cNvSpPr txBox="1"/>
          <p:nvPr/>
        </p:nvSpPr>
        <p:spPr>
          <a:xfrm>
            <a:off x="9418320" y="4498848"/>
            <a:ext cx="18745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Sandboxed Python</a:t>
            </a:r>
            <a:endParaRPr lang="en-US" sz="1250" dirty="0"/>
          </a:p>
        </p:txBody>
      </p:sp>
      <p:sp>
        <p:nvSpPr>
          <p:cNvPr id="42" name="Text 40"/>
          <p:cNvSpPr txBox="1"/>
          <p:nvPr/>
        </p:nvSpPr>
        <p:spPr>
          <a:xfrm>
            <a:off x="9418320" y="4800600"/>
            <a:ext cx="1874520" cy="365760"/>
          </a:xfrm>
          <a:prstGeom prst="rect">
            <a:avLst/>
          </a:prstGeom>
          <a:noFill/>
          <a:ln/>
        </p:spPr>
        <p:txBody>
          <a:bodyPr wrap="square" lIns="0" tIns="0" rIns="0" bIns="0" rtlCol="0" anchor="t"/>
          <a:lstStyle/>
          <a:p>
            <a:pPr indent="0" marL="0">
              <a:buNone/>
            </a:pPr>
            <a:r>
              <a:rPr lang="en-US" sz="1050" dirty="0">
                <a:solidFill>
                  <a:srgbClr val="1F6F6B"/>
                </a:solidFill>
                <a:latin typeface="Calibri" pitchFamily="34" charset="0"/>
                <a:ea typeface="Calibri" pitchFamily="34" charset="-122"/>
                <a:cs typeface="Calibri" pitchFamily="34" charset="-120"/>
              </a:rPr>
              <a:t>repeatable · in the SDK</a:t>
            </a:r>
            <a:endParaRPr lang="en-US" sz="1050" dirty="0"/>
          </a:p>
        </p:txBody>
      </p:sp>
      <p:sp>
        <p:nvSpPr>
          <p:cNvPr id="43" name="Shape 41"/>
          <p:cNvSpPr/>
          <p:nvPr/>
        </p:nvSpPr>
        <p:spPr>
          <a:xfrm>
            <a:off x="4160520" y="2148840"/>
            <a:ext cx="274320" cy="9144"/>
          </a:xfrm>
          <a:prstGeom prst="line">
            <a:avLst/>
          </a:prstGeom>
          <a:noFill/>
          <a:ln w="25400">
            <a:solidFill>
              <a:srgbClr val="47525E"/>
            </a:solidFill>
            <a:prstDash val="solid"/>
            <a:tailEnd type="triangle"/>
          </a:ln>
        </p:spPr>
      </p:sp>
      <p:sp>
        <p:nvSpPr>
          <p:cNvPr id="44" name="Shape 42"/>
          <p:cNvSpPr/>
          <p:nvPr/>
        </p:nvSpPr>
        <p:spPr>
          <a:xfrm>
            <a:off x="6583680" y="2148840"/>
            <a:ext cx="274320" cy="9144"/>
          </a:xfrm>
          <a:prstGeom prst="line">
            <a:avLst/>
          </a:prstGeom>
          <a:noFill/>
          <a:ln w="25400">
            <a:solidFill>
              <a:srgbClr val="47525E"/>
            </a:solidFill>
            <a:prstDash val="solid"/>
            <a:tailEnd type="triangle"/>
          </a:ln>
        </p:spPr>
      </p:sp>
      <p:sp>
        <p:nvSpPr>
          <p:cNvPr id="45" name="Shape 43"/>
          <p:cNvSpPr/>
          <p:nvPr/>
        </p:nvSpPr>
        <p:spPr>
          <a:xfrm>
            <a:off x="9006840" y="2148840"/>
            <a:ext cx="274320" cy="9144"/>
          </a:xfrm>
          <a:prstGeom prst="line">
            <a:avLst/>
          </a:prstGeom>
          <a:noFill/>
          <a:ln w="25400">
            <a:solidFill>
              <a:srgbClr val="C2703A"/>
            </a:solidFill>
            <a:prstDash val="solid"/>
            <a:tailEnd type="triangle"/>
          </a:ln>
        </p:spPr>
      </p:sp>
      <p:sp>
        <p:nvSpPr>
          <p:cNvPr id="46" name="Shape 44"/>
          <p:cNvSpPr/>
          <p:nvPr/>
        </p:nvSpPr>
        <p:spPr>
          <a:xfrm>
            <a:off x="7932420" y="2606040"/>
            <a:ext cx="9144" cy="228600"/>
          </a:xfrm>
          <a:prstGeom prst="line">
            <a:avLst/>
          </a:prstGeom>
          <a:noFill/>
          <a:ln w="25400">
            <a:solidFill>
              <a:srgbClr val="1F6F6B"/>
            </a:solidFill>
            <a:prstDash val="solid"/>
          </a:ln>
        </p:spPr>
      </p:sp>
      <p:sp>
        <p:nvSpPr>
          <p:cNvPr id="47" name="Shape 45"/>
          <p:cNvSpPr/>
          <p:nvPr/>
        </p:nvSpPr>
        <p:spPr>
          <a:xfrm>
            <a:off x="3086100" y="2834640"/>
            <a:ext cx="7269480" cy="9144"/>
          </a:xfrm>
          <a:prstGeom prst="line">
            <a:avLst/>
          </a:prstGeom>
          <a:noFill/>
          <a:ln w="25400">
            <a:solidFill>
              <a:srgbClr val="1F6F6B"/>
            </a:solidFill>
            <a:prstDash val="solid"/>
          </a:ln>
        </p:spPr>
      </p:sp>
      <p:sp>
        <p:nvSpPr>
          <p:cNvPr id="48" name="Shape 46"/>
          <p:cNvSpPr/>
          <p:nvPr/>
        </p:nvSpPr>
        <p:spPr>
          <a:xfrm>
            <a:off x="3086100" y="2834640"/>
            <a:ext cx="9144" cy="228600"/>
          </a:xfrm>
          <a:prstGeom prst="line">
            <a:avLst/>
          </a:prstGeom>
          <a:noFill/>
          <a:ln w="25400">
            <a:solidFill>
              <a:srgbClr val="1F6F6B"/>
            </a:solidFill>
            <a:prstDash val="solid"/>
            <a:tailEnd type="triangle"/>
          </a:ln>
        </p:spPr>
      </p:sp>
      <p:sp>
        <p:nvSpPr>
          <p:cNvPr id="49" name="Shape 47"/>
          <p:cNvSpPr/>
          <p:nvPr/>
        </p:nvSpPr>
        <p:spPr>
          <a:xfrm>
            <a:off x="5509260" y="2834640"/>
            <a:ext cx="9144" cy="228600"/>
          </a:xfrm>
          <a:prstGeom prst="line">
            <a:avLst/>
          </a:prstGeom>
          <a:noFill/>
          <a:ln w="25400">
            <a:solidFill>
              <a:srgbClr val="1F6F6B"/>
            </a:solidFill>
            <a:prstDash val="solid"/>
            <a:tailEnd type="triangle"/>
          </a:ln>
        </p:spPr>
      </p:sp>
      <p:sp>
        <p:nvSpPr>
          <p:cNvPr id="50" name="Shape 48"/>
          <p:cNvSpPr/>
          <p:nvPr/>
        </p:nvSpPr>
        <p:spPr>
          <a:xfrm>
            <a:off x="7932420" y="2834640"/>
            <a:ext cx="9144" cy="228600"/>
          </a:xfrm>
          <a:prstGeom prst="line">
            <a:avLst/>
          </a:prstGeom>
          <a:noFill/>
          <a:ln w="25400">
            <a:solidFill>
              <a:srgbClr val="1F6F6B"/>
            </a:solidFill>
            <a:prstDash val="solid"/>
            <a:tailEnd type="triangle"/>
          </a:ln>
        </p:spPr>
      </p:sp>
      <p:sp>
        <p:nvSpPr>
          <p:cNvPr id="51" name="Shape 49"/>
          <p:cNvSpPr/>
          <p:nvPr/>
        </p:nvSpPr>
        <p:spPr>
          <a:xfrm>
            <a:off x="10355580" y="2834640"/>
            <a:ext cx="9144" cy="228600"/>
          </a:xfrm>
          <a:prstGeom prst="line">
            <a:avLst/>
          </a:prstGeom>
          <a:noFill/>
          <a:ln w="25400">
            <a:solidFill>
              <a:srgbClr val="1F6F6B"/>
            </a:solidFill>
            <a:prstDash val="solid"/>
            <a:tailEnd type="triangle"/>
          </a:ln>
        </p:spPr>
      </p:sp>
      <p:sp>
        <p:nvSpPr>
          <p:cNvPr id="52" name="Shape 50"/>
          <p:cNvSpPr/>
          <p:nvPr/>
        </p:nvSpPr>
        <p:spPr>
          <a:xfrm>
            <a:off x="3086100" y="3931920"/>
            <a:ext cx="9144" cy="457200"/>
          </a:xfrm>
          <a:prstGeom prst="line">
            <a:avLst/>
          </a:prstGeom>
          <a:noFill/>
          <a:ln w="25400">
            <a:solidFill>
              <a:srgbClr val="47525E"/>
            </a:solidFill>
            <a:prstDash val="solid"/>
            <a:tailEnd type="triangle"/>
          </a:ln>
        </p:spPr>
      </p:sp>
      <p:sp>
        <p:nvSpPr>
          <p:cNvPr id="53" name="Shape 51"/>
          <p:cNvSpPr/>
          <p:nvPr/>
        </p:nvSpPr>
        <p:spPr>
          <a:xfrm>
            <a:off x="5509260" y="3931920"/>
            <a:ext cx="9144" cy="457200"/>
          </a:xfrm>
          <a:prstGeom prst="line">
            <a:avLst/>
          </a:prstGeom>
          <a:noFill/>
          <a:ln w="25400">
            <a:solidFill>
              <a:srgbClr val="47525E"/>
            </a:solidFill>
            <a:prstDash val="solid"/>
            <a:tailEnd type="triangle"/>
          </a:ln>
        </p:spPr>
      </p:sp>
      <p:sp>
        <p:nvSpPr>
          <p:cNvPr id="54" name="Shape 52"/>
          <p:cNvSpPr/>
          <p:nvPr/>
        </p:nvSpPr>
        <p:spPr>
          <a:xfrm>
            <a:off x="7932420" y="3931920"/>
            <a:ext cx="9144" cy="457200"/>
          </a:xfrm>
          <a:prstGeom prst="line">
            <a:avLst/>
          </a:prstGeom>
          <a:noFill/>
          <a:ln w="25400">
            <a:solidFill>
              <a:srgbClr val="47525E"/>
            </a:solidFill>
            <a:prstDash val="solid"/>
            <a:tailEnd type="triangle"/>
          </a:ln>
        </p:spPr>
      </p:sp>
      <p:sp>
        <p:nvSpPr>
          <p:cNvPr id="55" name="Shape 53"/>
          <p:cNvSpPr/>
          <p:nvPr/>
        </p:nvSpPr>
        <p:spPr>
          <a:xfrm>
            <a:off x="10355580" y="3931920"/>
            <a:ext cx="9144" cy="457200"/>
          </a:xfrm>
          <a:prstGeom prst="line">
            <a:avLst/>
          </a:prstGeom>
          <a:noFill/>
          <a:ln w="25400">
            <a:solidFill>
              <a:srgbClr val="47525E"/>
            </a:solidFill>
            <a:prstDash val="solid"/>
            <a:tailEnd type="triangle"/>
          </a:ln>
        </p:spPr>
      </p:sp>
      <p:sp>
        <p:nvSpPr>
          <p:cNvPr id="56" name="Shape 54"/>
          <p:cNvSpPr/>
          <p:nvPr/>
        </p:nvSpPr>
        <p:spPr>
          <a:xfrm>
            <a:off x="2011680" y="5532120"/>
            <a:ext cx="9418320" cy="457200"/>
          </a:xfrm>
          <a:prstGeom prst="roundRect">
            <a:avLst>
              <a:gd name="adj" fmla="val 16000"/>
            </a:avLst>
          </a:prstGeom>
          <a:solidFill>
            <a:srgbClr val="121A24"/>
          </a:solidFill>
          <a:ln w="12700">
            <a:solidFill>
              <a:srgbClr val="121A24"/>
            </a:solidFill>
            <a:prstDash val="solid"/>
          </a:ln>
        </p:spPr>
      </p:sp>
      <p:sp>
        <p:nvSpPr>
          <p:cNvPr id="57" name="Text 55"/>
          <p:cNvSpPr txBox="1"/>
          <p:nvPr/>
        </p:nvSpPr>
        <p:spPr>
          <a:xfrm>
            <a:off x="2194560" y="5641848"/>
            <a:ext cx="9052560" cy="274320"/>
          </a:xfrm>
          <a:prstGeom prst="rect">
            <a:avLst/>
          </a:prstGeom>
          <a:noFill/>
          <a:ln/>
        </p:spPr>
        <p:txBody>
          <a:bodyPr wrap="square" lIns="0" tIns="0" rIns="0" bIns="0" rtlCol="0" anchor="t"/>
          <a:lstStyle/>
          <a:p>
            <a:pPr algn="ctr" indent="0" marL="0">
              <a:buNone/>
            </a:pPr>
            <a:r>
              <a:rPr lang="en-US" sz="1150" dirty="0">
                <a:solidFill>
                  <a:srgbClr val="F7F7F3"/>
                </a:solidFill>
                <a:latin typeface="Calibri" pitchFamily="34" charset="0"/>
                <a:ea typeface="Calibri" pitchFamily="34" charset="-122"/>
                <a:cs typeface="Calibri" pitchFamily="34" charset="-120"/>
              </a:rPr>
              <a:t>Trace records which runtime answered, under which policy version. The hybrid is fine as long as this line holds.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TRACE</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Trace: steps, actors, tool calls, versions</a:t>
            </a:r>
            <a:endParaRPr lang="en-US" sz="3000" dirty="0"/>
          </a:p>
        </p:txBody>
      </p:sp>
      <p:sp>
        <p:nvSpPr>
          <p:cNvPr id="4" name="Shape 2"/>
          <p:cNvSpPr/>
          <p:nvPr/>
        </p:nvSpPr>
        <p:spPr>
          <a:xfrm>
            <a:off x="548640" y="1691640"/>
            <a:ext cx="5440680" cy="2514600"/>
          </a:xfrm>
          <a:prstGeom prst="roundRect">
            <a:avLst>
              <a:gd name="adj" fmla="val 4364"/>
            </a:avLst>
          </a:prstGeom>
          <a:solidFill>
            <a:srgbClr val="121A24"/>
          </a:solidFill>
          <a:ln w="12700">
            <a:solidFill>
              <a:srgbClr val="121A24"/>
            </a:solidFill>
            <a:prstDash val="solid"/>
          </a:ln>
        </p:spPr>
      </p:sp>
      <p:sp>
        <p:nvSpPr>
          <p:cNvPr id="5" name="Text 3"/>
          <p:cNvSpPr txBox="1"/>
          <p:nvPr/>
        </p:nvSpPr>
        <p:spPr>
          <a:xfrm>
            <a:off x="777240" y="1874520"/>
            <a:ext cx="4983480" cy="256032"/>
          </a:xfrm>
          <a:prstGeom prst="rect">
            <a:avLst/>
          </a:prstGeom>
          <a:noFill/>
          <a:ln/>
        </p:spPr>
        <p:txBody>
          <a:bodyPr wrap="square" lIns="0" tIns="0" rIns="0" bIns="0" rtlCol="0" anchor="t"/>
          <a:lstStyle/>
          <a:p>
            <a:pPr indent="0" marL="0">
              <a:buNone/>
            </a:pPr>
            <a:r>
              <a:rPr lang="en-US" sz="1050" dirty="0">
                <a:solidFill>
                  <a:srgbClr val="5FBFB3"/>
                </a:solidFill>
                <a:latin typeface="Courier New" pitchFamily="34" charset="0"/>
                <a:ea typeface="Courier New" pitchFamily="34" charset="-122"/>
                <a:cs typeface="Courier New" pitchFamily="34" charset="-120"/>
              </a:rPr>
              <a:t>CanonicalTrace</a:t>
            </a:r>
            <a:endParaRPr lang="en-US" sz="1050" dirty="0"/>
          </a:p>
        </p:txBody>
      </p:sp>
      <p:sp>
        <p:nvSpPr>
          <p:cNvPr id="6" name="Text 4"/>
          <p:cNvSpPr txBox="1"/>
          <p:nvPr/>
        </p:nvSpPr>
        <p:spPr>
          <a:xfrm>
            <a:off x="777240" y="2194560"/>
            <a:ext cx="4983480" cy="1828800"/>
          </a:xfrm>
          <a:prstGeom prst="rect">
            <a:avLst/>
          </a:prstGeom>
          <a:noFill/>
          <a:ln/>
        </p:spPr>
        <p:txBody>
          <a:bodyPr wrap="square" lIns="0" tIns="0" rIns="0" bIns="0" rtlCol="0" anchor="t"/>
          <a:lstStyle/>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trace_id, workflow_id, case_id, status</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steps: [TraceStep, …]</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policies_applied: [policy ids]</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evidence_consumed: [evidence ids]</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decisions_produced: [decision ids]</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outcomes_linked: [outcome ids]</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override_events: [OverrideEvent, …]</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pack_id, pack_version · binding_id, deployment_id</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participants: [ParticipantRef, …]</a:t>
            </a:r>
            <a:endParaRPr lang="en-US" sz="1000" dirty="0"/>
          </a:p>
        </p:txBody>
      </p:sp>
      <p:sp>
        <p:nvSpPr>
          <p:cNvPr id="7" name="Shape 5"/>
          <p:cNvSpPr/>
          <p:nvPr/>
        </p:nvSpPr>
        <p:spPr>
          <a:xfrm>
            <a:off x="6199632" y="1691640"/>
            <a:ext cx="5440680" cy="2514600"/>
          </a:xfrm>
          <a:prstGeom prst="roundRect">
            <a:avLst>
              <a:gd name="adj" fmla="val 4364"/>
            </a:avLst>
          </a:prstGeom>
          <a:solidFill>
            <a:srgbClr val="121A24"/>
          </a:solidFill>
          <a:ln w="12700">
            <a:solidFill>
              <a:srgbClr val="121A24"/>
            </a:solidFill>
            <a:prstDash val="solid"/>
          </a:ln>
        </p:spPr>
      </p:sp>
      <p:sp>
        <p:nvSpPr>
          <p:cNvPr id="8" name="Text 6"/>
          <p:cNvSpPr txBox="1"/>
          <p:nvPr/>
        </p:nvSpPr>
        <p:spPr>
          <a:xfrm>
            <a:off x="6428232" y="1874520"/>
            <a:ext cx="4983480" cy="256032"/>
          </a:xfrm>
          <a:prstGeom prst="rect">
            <a:avLst/>
          </a:prstGeom>
          <a:noFill/>
          <a:ln/>
        </p:spPr>
        <p:txBody>
          <a:bodyPr wrap="square" lIns="0" tIns="0" rIns="0" bIns="0" rtlCol="0" anchor="t"/>
          <a:lstStyle/>
          <a:p>
            <a:pPr indent="0" marL="0">
              <a:buNone/>
            </a:pPr>
            <a:r>
              <a:rPr lang="en-US" sz="1050" dirty="0">
                <a:solidFill>
                  <a:srgbClr val="5FBFB3"/>
                </a:solidFill>
                <a:latin typeface="Courier New" pitchFamily="34" charset="0"/>
                <a:ea typeface="Courier New" pitchFamily="34" charset="-122"/>
                <a:cs typeface="Courier New" pitchFamily="34" charset="-120"/>
              </a:rPr>
              <a:t>TraceStep · one per cognitive step</a:t>
            </a:r>
            <a:endParaRPr lang="en-US" sz="1050" dirty="0"/>
          </a:p>
        </p:txBody>
      </p:sp>
      <p:sp>
        <p:nvSpPr>
          <p:cNvPr id="9" name="Text 7"/>
          <p:cNvSpPr txBox="1"/>
          <p:nvPr/>
        </p:nvSpPr>
        <p:spPr>
          <a:xfrm>
            <a:off x="6428232" y="2194560"/>
            <a:ext cx="4983480" cy="1828800"/>
          </a:xfrm>
          <a:prstGeom prst="rect">
            <a:avLst/>
          </a:prstGeom>
          <a:noFill/>
          <a:ln/>
        </p:spPr>
        <p:txBody>
          <a:bodyPr wrap="square" lIns="0" tIns="0" rIns="0" bIns="0" rtlCol="0" anchor="t"/>
          <a:lstStyle/>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sequence, mode          one of 13 modes</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actor: ActorRef         human, agent or system</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autonomy_level: 0..4</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inputs, outputs</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tools_invoked: [ToolCall]</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inputs_digest, outputs_digest   never raw</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  model, token_usage, cost, latency</a:t>
            </a:r>
            <a:endParaRPr lang="en-US" sz="1000" dirty="0"/>
          </a:p>
          <a:p>
            <a:pPr indent="0" marL="0">
              <a:lnSpc>
                <a:spcPct val="115000"/>
              </a:lnSpc>
              <a:buNone/>
            </a:pPr>
            <a:r>
              <a:rPr lang="en-US" sz="1000" dirty="0">
                <a:solidFill>
                  <a:srgbClr val="BFD8D5"/>
                </a:solidFill>
                <a:latin typeface="Courier New" pitchFamily="34" charset="0"/>
                <a:ea typeface="Courier New" pitchFamily="34" charset="-122"/>
                <a:cs typeface="Courier New" pitchFamily="34" charset="-120"/>
              </a:rPr>
              <a:t>status, iteration, duration_ms</a:t>
            </a:r>
            <a:endParaRPr lang="en-US" sz="1000" dirty="0"/>
          </a:p>
        </p:txBody>
      </p:sp>
      <p:sp>
        <p:nvSpPr>
          <p:cNvPr id="10" name="Shape 8"/>
          <p:cNvSpPr/>
          <p:nvPr/>
        </p:nvSpPr>
        <p:spPr>
          <a:xfrm>
            <a:off x="548640" y="4434840"/>
            <a:ext cx="3563112" cy="1463040"/>
          </a:xfrm>
          <a:prstGeom prst="roundRect">
            <a:avLst>
              <a:gd name="adj" fmla="val 7500"/>
            </a:avLst>
          </a:prstGeom>
          <a:solidFill>
            <a:srgbClr val="F7F7F3"/>
          </a:solidFill>
          <a:ln w="9525">
            <a:solidFill>
              <a:srgbClr val="DDDED6"/>
            </a:solidFill>
            <a:prstDash val="solid"/>
          </a:ln>
        </p:spPr>
      </p:sp>
      <p:sp>
        <p:nvSpPr>
          <p:cNvPr id="11" name="Text 9"/>
          <p:cNvSpPr txBox="1"/>
          <p:nvPr/>
        </p:nvSpPr>
        <p:spPr>
          <a:xfrm>
            <a:off x="777240" y="4636008"/>
            <a:ext cx="310591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Overrides are events</a:t>
            </a:r>
            <a:endParaRPr lang="en-US" sz="1500" dirty="0"/>
          </a:p>
        </p:txBody>
      </p:sp>
      <p:sp>
        <p:nvSpPr>
          <p:cNvPr id="12" name="Text 10"/>
          <p:cNvSpPr txBox="1"/>
          <p:nvPr/>
        </p:nvSpPr>
        <p:spPr>
          <a:xfrm>
            <a:off x="777240" y="5184648"/>
            <a:ext cx="3105912" cy="53035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Who, under what authority basis, with a reason code from a closed list, state before and after, and which decision superseded it.</a:t>
            </a:r>
            <a:endParaRPr lang="en-US" sz="1150" dirty="0"/>
          </a:p>
        </p:txBody>
      </p:sp>
      <p:sp>
        <p:nvSpPr>
          <p:cNvPr id="13" name="Shape 11"/>
          <p:cNvSpPr/>
          <p:nvPr/>
        </p:nvSpPr>
        <p:spPr>
          <a:xfrm>
            <a:off x="4312920" y="4434840"/>
            <a:ext cx="3563112" cy="1463040"/>
          </a:xfrm>
          <a:prstGeom prst="roundRect">
            <a:avLst>
              <a:gd name="adj" fmla="val 7500"/>
            </a:avLst>
          </a:prstGeom>
          <a:solidFill>
            <a:srgbClr val="F7F7F3"/>
          </a:solidFill>
          <a:ln w="9525">
            <a:solidFill>
              <a:srgbClr val="DDDED6"/>
            </a:solidFill>
            <a:prstDash val="solid"/>
          </a:ln>
        </p:spPr>
      </p:sp>
      <p:sp>
        <p:nvSpPr>
          <p:cNvPr id="14" name="Text 12"/>
          <p:cNvSpPr txBox="1"/>
          <p:nvPr/>
        </p:nvSpPr>
        <p:spPr>
          <a:xfrm>
            <a:off x="4541520" y="4636008"/>
            <a:ext cx="310591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Version bundle</a:t>
            </a:r>
            <a:endParaRPr lang="en-US" sz="1500" dirty="0"/>
          </a:p>
        </p:txBody>
      </p:sp>
      <p:sp>
        <p:nvSpPr>
          <p:cNvPr id="15" name="Text 13"/>
          <p:cNvSpPr txBox="1"/>
          <p:nvPr/>
        </p:nvSpPr>
        <p:spPr>
          <a:xfrm>
            <a:off x="4541520" y="5184648"/>
            <a:ext cx="3105912" cy="53035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Model per role, schema, prompt, policy bundle, pack, overlay, execution profile, plus an open extension map. The 29-component bundle in the concept deck maps onto these fields and that map.</a:t>
            </a:r>
            <a:endParaRPr lang="en-US" sz="1150" dirty="0"/>
          </a:p>
        </p:txBody>
      </p:sp>
      <p:sp>
        <p:nvSpPr>
          <p:cNvPr id="16" name="Shape 14"/>
          <p:cNvSpPr/>
          <p:nvPr/>
        </p:nvSpPr>
        <p:spPr>
          <a:xfrm>
            <a:off x="8077200" y="4434840"/>
            <a:ext cx="3563112" cy="1463040"/>
          </a:xfrm>
          <a:prstGeom prst="roundRect">
            <a:avLst>
              <a:gd name="adj" fmla="val 7500"/>
            </a:avLst>
          </a:prstGeom>
          <a:solidFill>
            <a:srgbClr val="F7F7F3"/>
          </a:solidFill>
          <a:ln w="9525">
            <a:solidFill>
              <a:srgbClr val="DDDED6"/>
            </a:solidFill>
            <a:prstDash val="solid"/>
          </a:ln>
        </p:spPr>
      </p:sp>
      <p:sp>
        <p:nvSpPr>
          <p:cNvPr id="17" name="Text 15"/>
          <p:cNvSpPr txBox="1"/>
          <p:nvPr/>
        </p:nvSpPr>
        <p:spPr>
          <a:xfrm>
            <a:off x="8305800" y="4636008"/>
            <a:ext cx="310591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Schema is frozen</a:t>
            </a:r>
            <a:endParaRPr lang="en-US" sz="1500" dirty="0"/>
          </a:p>
        </p:txBody>
      </p:sp>
      <p:sp>
        <p:nvSpPr>
          <p:cNvPr id="18" name="Text 16"/>
          <p:cNvSpPr txBox="1"/>
          <p:nvPr/>
        </p:nvSpPr>
        <p:spPr>
          <a:xfrm>
            <a:off x="8305800" y="5184648"/>
            <a:ext cx="3105912" cy="53035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 step forbids extra fields. The only hatch is trace metadata keyed by step. Extending it is a governed change.</a:t>
            </a:r>
            <a:endParaRPr lang="en-US" sz="1150" dirty="0"/>
          </a:p>
        </p:txBody>
      </p:sp>
      <p:sp>
        <p:nvSpPr>
          <p:cNvPr id="19" name="Text 17"/>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jazzx_sdk/fabric/canonical/trace.py · Schema Spec v1.5 · persisting it as the format of record is still open work</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Six surfaces, thirteen canonical objects</a:t>
            </a:r>
            <a:endParaRPr lang="en-US" sz="3000" dirty="0"/>
          </a:p>
        </p:txBody>
      </p:sp>
      <p:sp>
        <p:nvSpPr>
          <p:cNvPr id="3" name="Text 1"/>
          <p:cNvSpPr txBox="1"/>
          <p:nvPr/>
        </p:nvSpPr>
        <p:spPr>
          <a:xfrm>
            <a:off x="548640" y="1554480"/>
            <a:ext cx="5440680"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FABRIC SURFACES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5440680" cy="914400"/>
        </p:xfrm>
        <a:graphic>
          <a:graphicData uri="http://schemas.openxmlformats.org/drawingml/2006/table">
            <a:tbl>
              <a:tblPr/>
              <a:tblGrid>
                <a:gridCol w="2103120"/>
                <a:gridCol w="3337560"/>
              </a:tblGrid>
              <a:tr h="0">
                <a:tc>
                  <a:txBody>
                    <a:bodyPr/>
                    <a:lstStyle/>
                    <a:p>
                      <a:pPr indent="0" marL="0">
                        <a:buNone/>
                      </a:pPr>
                      <a:r>
                        <a:rPr lang="en-US" sz="1150" b="1" dirty="0">
                          <a:solidFill>
                            <a:srgbClr val="121A24"/>
                          </a:solidFill>
                          <a:latin typeface="Courier New" pitchFamily="34" charset="0"/>
                          <a:ea typeface="Courier New" pitchFamily="34" charset="-122"/>
                          <a:cs typeface="Courier New" pitchFamily="34" charset="-120"/>
                        </a:rPr>
                        <a:t>fabric.canonical</a:t>
                      </a:r>
                      <a:endParaRPr lang="en-US" sz="1150" dirty="0">
                        <a:latin typeface="Courier New" charset="0"/>
                        <a:ea typeface="Courier New" charset="0"/>
                        <a:cs typeface="Courier New" charset="0"/>
                      </a:endParaRPr>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rPr>
                        <a:t>Governed, audit-grade records</a:t>
                      </a:r>
                      <a:endParaRPr lang="en-US" sz="1150" dirty="0"/>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1A24"/>
                          </a:solidFill>
                          <a:latin typeface="Courier New" pitchFamily="34" charset="0"/>
                          <a:ea typeface="Courier New" pitchFamily="34" charset="-122"/>
                          <a:cs typeface="Courier New" pitchFamily="34" charset="-120"/>
                        </a:rPr>
                        <a:t>fabric.graph</a:t>
                      </a:r>
                      <a:endParaRPr lang="en-US" sz="1150" dirty="0">
                        <a:latin typeface="Courier New" charset="0"/>
                        <a:ea typeface="Courier New" charset="0"/>
                        <a:cs typeface="Courier New" charset="0"/>
                      </a:endParaRPr>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rPr>
                        <a:t>Triples: entities and relationships</a:t>
                      </a:r>
                      <a:endParaRPr lang="en-US" sz="1150" dirty="0"/>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1A24"/>
                          </a:solidFill>
                          <a:latin typeface="Courier New" pitchFamily="34" charset="0"/>
                          <a:ea typeface="Courier New" pitchFamily="34" charset="-122"/>
                          <a:cs typeface="Courier New" pitchFamily="34" charset="-120"/>
                        </a:rPr>
                        <a:t>fabric.rag</a:t>
                      </a:r>
                      <a:endParaRPr lang="en-US" sz="1150" dirty="0">
                        <a:latin typeface="Courier New" charset="0"/>
                        <a:ea typeface="Courier New" charset="0"/>
                        <a:cs typeface="Courier New" charset="0"/>
                      </a:endParaRPr>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rPr>
                        <a:t>Retrieval over indexed content</a:t>
                      </a:r>
                      <a:endParaRPr lang="en-US" sz="1150" dirty="0"/>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1A24"/>
                          </a:solidFill>
                          <a:latin typeface="Courier New" pitchFamily="34" charset="0"/>
                          <a:ea typeface="Courier New" pitchFamily="34" charset="-122"/>
                          <a:cs typeface="Courier New" pitchFamily="34" charset="-120"/>
                        </a:rPr>
                        <a:t>fabric.docs</a:t>
                      </a:r>
                      <a:endParaRPr lang="en-US" sz="1150" dirty="0">
                        <a:latin typeface="Courier New" charset="0"/>
                        <a:ea typeface="Courier New" charset="0"/>
                        <a:cs typeface="Courier New" charset="0"/>
                      </a:endParaRPr>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rPr>
                        <a:t>Governed source documents</a:t>
                      </a:r>
                      <a:endParaRPr lang="en-US" sz="1150" dirty="0"/>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1A24"/>
                          </a:solidFill>
                          <a:latin typeface="Courier New" pitchFamily="34" charset="0"/>
                          <a:ea typeface="Courier New" pitchFamily="34" charset="-122"/>
                          <a:cs typeface="Courier New" pitchFamily="34" charset="-120"/>
                        </a:rPr>
                        <a:t>fabric.entities</a:t>
                      </a:r>
                      <a:endParaRPr lang="en-US" sz="1150" dirty="0">
                        <a:latin typeface="Courier New" charset="0"/>
                        <a:ea typeface="Courier New" charset="0"/>
                        <a:cs typeface="Courier New" charset="0"/>
                      </a:endParaRPr>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rPr>
                        <a:t>Typed non-canonical CRUD</a:t>
                      </a:r>
                      <a:endParaRPr lang="en-US" sz="1150" dirty="0"/>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21A24"/>
                          </a:solidFill>
                          <a:latin typeface="Courier New" pitchFamily="34" charset="0"/>
                          <a:ea typeface="Courier New" pitchFamily="34" charset="-122"/>
                          <a:cs typeface="Courier New" pitchFamily="34" charset="-120"/>
                        </a:rPr>
                        <a:t>fabric.opa</a:t>
                      </a:r>
                      <a:endParaRPr lang="en-US" sz="1150" dirty="0">
                        <a:latin typeface="Courier New" charset="0"/>
                        <a:ea typeface="Courier New" charset="0"/>
                        <a:cs typeface="Courier New" charset="0"/>
                      </a:endParaRPr>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rPr>
                        <a:t>Rego enforcement bundles</a:t>
                      </a:r>
                      <a:endParaRPr lang="en-US" sz="1150" dirty="0"/>
                    </a:p>
                  </a:txBody>
                  <a:tcPr marL="73152" marR="73152" marT="73152" marB="73152">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199632" y="1554480"/>
            <a:ext cx="5440680" cy="274320"/>
          </a:xfrm>
          <a:prstGeom prst="rect">
            <a:avLst/>
          </a:prstGeom>
          <a:noFill/>
          <a:ln/>
        </p:spPr>
        <p:txBody>
          <a:bodyPr wrap="square" lIns="0" tIns="0" rIns="0" bIns="0" rtlCol="0" anchor="t"/>
          <a:lstStyle/>
          <a:p>
            <a:pPr indent="0" marL="0">
              <a:buNone/>
            </a:pPr>
            <a:r>
              <a:rPr lang="en-US" sz="1100" spc="200" kern="0" dirty="0">
                <a:solidFill>
                  <a:srgbClr val="C2703A"/>
                </a:solidFill>
                <a:latin typeface="Courier New" pitchFamily="34" charset="0"/>
                <a:ea typeface="Courier New" pitchFamily="34" charset="-122"/>
                <a:cs typeface="Courier New" pitchFamily="34" charset="-120"/>
              </a:rPr>
              <a:t>CANONICAL OBJECTS</a:t>
            </a:r>
            <a:endParaRPr lang="en-US" sz="1100" dirty="0"/>
          </a:p>
        </p:txBody>
      </p:sp>
      <p:sp>
        <p:nvSpPr>
          <p:cNvPr id="6" name="Shape 3"/>
          <p:cNvSpPr/>
          <p:nvPr/>
        </p:nvSpPr>
        <p:spPr>
          <a:xfrm>
            <a:off x="6199632" y="1920240"/>
            <a:ext cx="5440680" cy="1188720"/>
          </a:xfrm>
          <a:prstGeom prst="roundRect">
            <a:avLst>
              <a:gd name="adj" fmla="val 9231"/>
            </a:avLst>
          </a:prstGeom>
          <a:solidFill>
            <a:srgbClr val="FFFFFF"/>
          </a:solidFill>
          <a:ln w="9525">
            <a:solidFill>
              <a:srgbClr val="DDDED6"/>
            </a:solidFill>
            <a:prstDash val="solid"/>
          </a:ln>
        </p:spPr>
      </p:sp>
      <p:sp>
        <p:nvSpPr>
          <p:cNvPr id="7" name="Text 4"/>
          <p:cNvSpPr txBox="1"/>
          <p:nvPr/>
        </p:nvSpPr>
        <p:spPr>
          <a:xfrm>
            <a:off x="6428232" y="2103120"/>
            <a:ext cx="4983480" cy="36576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5 core</a:t>
            </a:r>
            <a:endParaRPr lang="en-US" sz="1500" dirty="0"/>
          </a:p>
        </p:txBody>
      </p:sp>
      <p:sp>
        <p:nvSpPr>
          <p:cNvPr id="8" name="Text 5"/>
          <p:cNvSpPr txBox="1"/>
          <p:nvPr/>
        </p:nvSpPr>
        <p:spPr>
          <a:xfrm>
            <a:off x="6428232" y="2468880"/>
            <a:ext cx="4983480" cy="594360"/>
          </a:xfrm>
          <a:prstGeom prst="rect">
            <a:avLst/>
          </a:prstGeom>
          <a:noFill/>
          <a:ln/>
        </p:spPr>
        <p:txBody>
          <a:bodyPr wrap="square" lIns="0" tIns="0" rIns="0" bIns="0" rtlCol="0" anchor="t"/>
          <a:lstStyle/>
          <a:p>
            <a:pPr indent="0" marL="0">
              <a:buNone/>
            </a:pPr>
            <a:r>
              <a:rPr lang="en-US" sz="1200" dirty="0">
                <a:solidFill>
                  <a:srgbClr val="47525E"/>
                </a:solidFill>
                <a:latin typeface="Calibri" pitchFamily="34" charset="0"/>
                <a:ea typeface="Calibri" pitchFamily="34" charset="-122"/>
                <a:cs typeface="Calibri" pitchFamily="34" charset="-120"/>
              </a:rPr>
              <a:t>Policy · Evidence · Decision · Trace · Outcome</a:t>
            </a:r>
            <a:endParaRPr lang="en-US" sz="1200" dirty="0"/>
          </a:p>
        </p:txBody>
      </p:sp>
      <p:sp>
        <p:nvSpPr>
          <p:cNvPr id="9" name="Shape 6"/>
          <p:cNvSpPr/>
          <p:nvPr/>
        </p:nvSpPr>
        <p:spPr>
          <a:xfrm>
            <a:off x="6199632" y="3246120"/>
            <a:ext cx="5440680" cy="1188720"/>
          </a:xfrm>
          <a:prstGeom prst="roundRect">
            <a:avLst>
              <a:gd name="adj" fmla="val 9231"/>
            </a:avLst>
          </a:prstGeom>
          <a:solidFill>
            <a:srgbClr val="FFFFFF"/>
          </a:solidFill>
          <a:ln w="9525">
            <a:solidFill>
              <a:srgbClr val="DDDED6"/>
            </a:solidFill>
            <a:prstDash val="solid"/>
          </a:ln>
        </p:spPr>
      </p:sp>
      <p:sp>
        <p:nvSpPr>
          <p:cNvPr id="10" name="Text 7"/>
          <p:cNvSpPr txBox="1"/>
          <p:nvPr/>
        </p:nvSpPr>
        <p:spPr>
          <a:xfrm>
            <a:off x="6428232" y="3429000"/>
            <a:ext cx="4983480" cy="36576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8 derived</a:t>
            </a:r>
            <a:endParaRPr lang="en-US" sz="1500" dirty="0"/>
          </a:p>
        </p:txBody>
      </p:sp>
      <p:sp>
        <p:nvSpPr>
          <p:cNvPr id="11" name="Text 8"/>
          <p:cNvSpPr txBox="1"/>
          <p:nvPr/>
        </p:nvSpPr>
        <p:spPr>
          <a:xfrm>
            <a:off x="6428232" y="3794760"/>
            <a:ext cx="4983480" cy="594360"/>
          </a:xfrm>
          <a:prstGeom prst="rect">
            <a:avLst/>
          </a:prstGeom>
          <a:noFill/>
          <a:ln/>
        </p:spPr>
        <p:txBody>
          <a:bodyPr wrap="square" lIns="0" tIns="0" rIns="0" bIns="0" rtlCol="0" anchor="t"/>
          <a:lstStyle/>
          <a:p>
            <a:pPr indent="0" marL="0">
              <a:buNone/>
            </a:pPr>
            <a:r>
              <a:rPr lang="en-US" sz="1200" dirty="0">
                <a:solidFill>
                  <a:srgbClr val="47525E"/>
                </a:solidFill>
                <a:latin typeface="Calibri" pitchFamily="34" charset="0"/>
                <a:ea typeface="Calibri" pitchFamily="34" charset="-122"/>
                <a:cs typeface="Calibri" pitchFamily="34" charset="-120"/>
              </a:rPr>
              <a:t>CaseContext · CaseFile · ScenarioReport · Artifact · EngagementPlan · AgreementRecord · EvaluationReport · DomainPack</a:t>
            </a:r>
            <a:endParaRPr lang="en-US" sz="1200" dirty="0"/>
          </a:p>
        </p:txBody>
      </p:sp>
      <p:sp>
        <p:nvSpPr>
          <p:cNvPr id="12" name="Text 9"/>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jazzx_sdk.platform_catalog computes both lists from the registries, so a UI cannot drift from the runtime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DYNAMIC ONTOLOGY, CONCRETELY</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Ontology: versioned YAML in the pack</a:t>
            </a:r>
            <a:endParaRPr lang="en-US" sz="3000" dirty="0"/>
          </a:p>
        </p:txBody>
      </p:sp>
      <p:sp>
        <p:nvSpPr>
          <p:cNvPr id="4" name="Shape 2"/>
          <p:cNvSpPr/>
          <p:nvPr/>
        </p:nvSpPr>
        <p:spPr>
          <a:xfrm>
            <a:off x="548640" y="1691640"/>
            <a:ext cx="5120640" cy="3931920"/>
          </a:xfrm>
          <a:prstGeom prst="roundRect">
            <a:avLst>
              <a:gd name="adj" fmla="val 2791"/>
            </a:avLst>
          </a:prstGeom>
          <a:solidFill>
            <a:srgbClr val="121A24"/>
          </a:solidFill>
          <a:ln w="12700">
            <a:solidFill>
              <a:srgbClr val="121A24"/>
            </a:solidFill>
            <a:prstDash val="solid"/>
          </a:ln>
        </p:spPr>
      </p:sp>
      <p:sp>
        <p:nvSpPr>
          <p:cNvPr id="5" name="Text 3"/>
          <p:cNvSpPr txBox="1"/>
          <p:nvPr/>
        </p:nvSpPr>
        <p:spPr>
          <a:xfrm>
            <a:off x="777240" y="1874520"/>
            <a:ext cx="4663440" cy="256032"/>
          </a:xfrm>
          <a:prstGeom prst="rect">
            <a:avLst/>
          </a:prstGeom>
          <a:noFill/>
          <a:ln/>
        </p:spPr>
        <p:txBody>
          <a:bodyPr wrap="square" lIns="0" tIns="0" rIns="0" bIns="0" rtlCol="0" anchor="t"/>
          <a:lstStyle/>
          <a:p>
            <a:pPr indent="0" marL="0">
              <a:buNone/>
            </a:pPr>
            <a:r>
              <a:rPr lang="en-US" sz="1050" dirty="0">
                <a:solidFill>
                  <a:srgbClr val="5FBFB3"/>
                </a:solidFill>
                <a:latin typeface="Courier New" pitchFamily="34" charset="0"/>
                <a:ea typeface="Courier New" pitchFamily="34" charset="-122"/>
                <a:cs typeface="Courier New" pitchFamily="34" charset="-120"/>
              </a:rPr>
              <a:t>ci-spread-core/ontology/ci_lending.yaml</a:t>
            </a:r>
            <a:endParaRPr lang="en-US" sz="1050" dirty="0"/>
          </a:p>
        </p:txBody>
      </p:sp>
      <p:sp>
        <p:nvSpPr>
          <p:cNvPr id="6" name="Text 4"/>
          <p:cNvSpPr txBox="1"/>
          <p:nvPr/>
        </p:nvSpPr>
        <p:spPr>
          <a:xfrm>
            <a:off x="777240" y="2194560"/>
            <a:ext cx="4663440" cy="3246120"/>
          </a:xfrm>
          <a:prstGeom prst="rect">
            <a:avLst/>
          </a:prstGeom>
          <a:noFill/>
          <a:ln/>
        </p:spPr>
        <p:txBody>
          <a:bodyPr wrap="square" lIns="0" tIns="0" rIns="0" bIns="0" rtlCol="0" anchor="t"/>
          <a:lstStyle/>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version: 0.2.1</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domain: commercial_lending</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segment: ci</a:t>
            </a:r>
            <a:endParaRPr lang="en-US" sz="1050" dirty="0"/>
          </a:p>
          <a:p>
            <a:pPr indent="0" marL="0">
              <a:lnSpc>
                <a:spcPct val="115000"/>
              </a:lnSpc>
              <a:buNone/>
            </a:pP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entities:</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Borrower, Guarantor, Facility,</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CollateralPool, Lien, Covenant,</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FinancialSpread, SpreadLine,</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SourceDocument, Evidence, Policy…</a:t>
            </a:r>
            <a:endParaRPr lang="en-US" sz="1050" dirty="0"/>
          </a:p>
          <a:p>
            <a:pPr indent="0" marL="0">
              <a:lnSpc>
                <a:spcPct val="115000"/>
              </a:lnSpc>
              <a:buNone/>
            </a:pP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concept_graph:</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BorrowingBase, Leverage, FCCR</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each carrying a policy_ref</a:t>
            </a:r>
            <a:endParaRPr lang="en-US" sz="1050" dirty="0"/>
          </a:p>
        </p:txBody>
      </p:sp>
      <p:sp>
        <p:nvSpPr>
          <p:cNvPr id="7" name="Text 5"/>
          <p:cNvSpPr txBox="1"/>
          <p:nvPr/>
        </p:nvSpPr>
        <p:spPr>
          <a:xfrm>
            <a:off x="5943600" y="1691640"/>
            <a:ext cx="5669280" cy="3291840"/>
          </a:xfrm>
          <a:prstGeom prst="rect">
            <a:avLst/>
          </a:prstGeom>
          <a:noFill/>
          <a:ln/>
        </p:spPr>
        <p:txBody>
          <a:bodyPr wrap="square" lIns="0" tIns="0" rIns="0" bIns="0" rtlCol="0" anchor="t"/>
          <a:lstStyle/>
          <a:p>
            <a:pPr indent="0" marL="0">
              <a:spcAft>
                <a:spcPts val="1000"/>
              </a:spcAft>
              <a:buNone/>
            </a:pPr>
            <a:r>
              <a:rPr lang="en-US" sz="1250" dirty="0">
                <a:solidFill>
                  <a:srgbClr val="47525E"/>
                </a:solidFill>
                <a:latin typeface="Calibri" pitchFamily="34" charset="0"/>
                <a:ea typeface="Calibri" pitchFamily="34" charset="-122"/>
                <a:cs typeface="Calibri" pitchFamily="34" charset="-120"/>
              </a:rPr>
              <a:t>One concept graph per domain. Every C&amp;I transaction runs on the same schema, whatever the borrower or the institution.</a:t>
            </a:r>
            <a:endParaRPr lang="en-US" sz="1250" dirty="0"/>
          </a:p>
          <a:p>
            <a:pPr indent="0" marL="0">
              <a:spcAft>
                <a:spcPts val="1000"/>
              </a:spcAft>
              <a:buNone/>
            </a:pPr>
            <a:r>
              <a:rPr lang="en-US" sz="1250" dirty="0">
                <a:solidFill>
                  <a:srgbClr val="47525E"/>
                </a:solidFill>
                <a:latin typeface="Calibri" pitchFamily="34" charset="0"/>
                <a:ea typeface="Calibri" pitchFamily="34" charset="-122"/>
                <a:cs typeface="Calibri" pitchFamily="34" charset="-120"/>
              </a:rPr>
              <a:t>Extraction writes against it. Entities and relationships land in fabric.graph; derived concepts are formulas the policies read.</a:t>
            </a:r>
            <a:endParaRPr lang="en-US" sz="1250" dirty="0"/>
          </a:p>
          <a:p>
            <a:pPr indent="0" marL="0">
              <a:spcAft>
                <a:spcPts val="1000"/>
              </a:spcAft>
              <a:buNone/>
            </a:pPr>
            <a:r>
              <a:rPr lang="en-US" sz="1250" dirty="0">
                <a:solidFill>
                  <a:srgbClr val="47525E"/>
                </a:solidFill>
                <a:latin typeface="Calibri" pitchFamily="34" charset="0"/>
                <a:ea typeface="Calibri" pitchFamily="34" charset="-122"/>
                <a:cs typeface="Calibri" pitchFamily="34" charset="-120"/>
              </a:rPr>
              <a:t>Versioned inside the pack, with a changelog. v0.2.1 fixed FCCR reading a field the schema never declared. An SME caught it in review, and the fix needed no deploy.</a:t>
            </a:r>
            <a:endParaRPr lang="en-US" sz="1250" dirty="0"/>
          </a:p>
        </p:txBody>
      </p:sp>
      <p:sp>
        <p:nvSpPr>
          <p:cNvPr id="8" name="Text 6"/>
          <p:cNvSpPr txBox="1"/>
          <p:nvPr/>
        </p:nvSpPr>
        <p:spPr>
          <a:xfrm>
            <a:off x="5943600" y="5029200"/>
            <a:ext cx="5669280" cy="457200"/>
          </a:xfrm>
          <a:prstGeom prst="rect">
            <a:avLst/>
          </a:prstGeom>
          <a:noFill/>
          <a:ln/>
        </p:spPr>
        <p:txBody>
          <a:bodyPr wrap="square" lIns="0" tIns="0" rIns="0" bIns="0" rtlCol="0" anchor="t"/>
          <a:lstStyle/>
          <a:p>
            <a:pPr indent="0" marL="0">
              <a:buNone/>
            </a:pPr>
            <a:r>
              <a:rPr lang="en-US" sz="1200" dirty="0">
                <a:solidFill>
                  <a:srgbClr val="C2703A"/>
                </a:solidFill>
                <a:latin typeface="Calibri" pitchFamily="34" charset="0"/>
                <a:ea typeface="Calibri" pitchFamily="34" charset="-122"/>
                <a:cs typeface="Calibri" pitchFamily="34" charset="-120"/>
              </a:rPr>
              <a:t>Current status: LLM-bootstrapped draft, pending SME review.</a:t>
            </a:r>
            <a:endParaRPr lang="en-US" sz="1200" dirty="0"/>
          </a:p>
        </p:txBody>
      </p:sp>
      <p:sp>
        <p:nvSpPr>
          <p:cNvPr id="9" name="Text 7"/>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plato/data/seed_packs/ci-spread-core/ontology/ci_lending.yaml</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Grounding: declared in the profile</a:t>
            </a:r>
            <a:endParaRPr lang="en-US" sz="3000" dirty="0"/>
          </a:p>
        </p:txBody>
      </p:sp>
      <p:sp>
        <p:nvSpPr>
          <p:cNvPr id="3" name="Shape 1"/>
          <p:cNvSpPr/>
          <p:nvPr/>
        </p:nvSpPr>
        <p:spPr>
          <a:xfrm>
            <a:off x="548640" y="1554480"/>
            <a:ext cx="5120640" cy="3657600"/>
          </a:xfrm>
          <a:prstGeom prst="roundRect">
            <a:avLst>
              <a:gd name="adj" fmla="val 3000"/>
            </a:avLst>
          </a:prstGeom>
          <a:solidFill>
            <a:srgbClr val="121A24"/>
          </a:solidFill>
          <a:ln w="12700">
            <a:solidFill>
              <a:srgbClr val="121A24"/>
            </a:solidFill>
            <a:prstDash val="solid"/>
          </a:ln>
        </p:spPr>
      </p:sp>
      <p:sp>
        <p:nvSpPr>
          <p:cNvPr id="4" name="Text 2"/>
          <p:cNvSpPr txBox="1"/>
          <p:nvPr/>
        </p:nvSpPr>
        <p:spPr>
          <a:xfrm>
            <a:off x="777240" y="1737360"/>
            <a:ext cx="4663440" cy="256032"/>
          </a:xfrm>
          <a:prstGeom prst="rect">
            <a:avLst/>
          </a:prstGeom>
          <a:noFill/>
          <a:ln/>
        </p:spPr>
        <p:txBody>
          <a:bodyPr wrap="square" lIns="0" tIns="0" rIns="0" bIns="0" rtlCol="0" anchor="t"/>
          <a:lstStyle/>
          <a:p>
            <a:pPr indent="0" marL="0">
              <a:buNone/>
            </a:pPr>
            <a:r>
              <a:rPr lang="en-US" sz="1050" dirty="0">
                <a:solidFill>
                  <a:srgbClr val="5FBFB3"/>
                </a:solidFill>
                <a:latin typeface="Courier New" pitchFamily="34" charset="0"/>
                <a:ea typeface="Courier New" pitchFamily="34" charset="-122"/>
                <a:cs typeface="Courier New" pitchFamily="34" charset="-120"/>
              </a:rPr>
              <a:t>profiles/case-agent/profile.yaml</a:t>
            </a:r>
            <a:endParaRPr lang="en-US" sz="1050" dirty="0"/>
          </a:p>
        </p:txBody>
      </p:sp>
      <p:sp>
        <p:nvSpPr>
          <p:cNvPr id="5" name="Text 3"/>
          <p:cNvSpPr txBox="1"/>
          <p:nvPr/>
        </p:nvSpPr>
        <p:spPr>
          <a:xfrm>
            <a:off x="777240" y="2057400"/>
            <a:ext cx="4663440" cy="2971800"/>
          </a:xfrm>
          <a:prstGeom prst="rect">
            <a:avLst/>
          </a:prstGeom>
          <a:noFill/>
          <a:ln/>
        </p:spPr>
        <p:txBody>
          <a:bodyPr wrap="square" lIns="0" tIns="0" rIns="0" bIns="0" rtlCol="0" anchor="t"/>
          <a:lstStyle/>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name: case-agent</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persona: persona.md</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scope: [subject_id]</a:t>
            </a:r>
            <a:endParaRPr lang="en-US" sz="1050" dirty="0"/>
          </a:p>
          <a:p>
            <a:pPr indent="0" marL="0">
              <a:lnSpc>
                <a:spcPct val="115000"/>
              </a:lnSpc>
              <a:buNone/>
            </a:pP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knowledge:</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 {canonical: Outcome,</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where: [[subject_id, eq, $subject_id]]}</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 {canonical: Evidence,</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where: [[subject_id, eq, $subject_id]]}</a:t>
            </a:r>
            <a:endParaRPr lang="en-US" sz="1050" dirty="0"/>
          </a:p>
          <a:p>
            <a:pPr indent="0" marL="0">
              <a:lnSpc>
                <a:spcPct val="115000"/>
              </a:lnSpc>
              <a:buNone/>
            </a:pP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skills: []</a:t>
            </a:r>
            <a:endParaRPr lang="en-US" sz="1050" dirty="0"/>
          </a:p>
        </p:txBody>
      </p:sp>
      <p:sp>
        <p:nvSpPr>
          <p:cNvPr id="6" name="Text 4"/>
          <p:cNvSpPr txBox="1"/>
          <p:nvPr/>
        </p:nvSpPr>
        <p:spPr>
          <a:xfrm>
            <a:off x="5943600" y="1737360"/>
            <a:ext cx="5669280" cy="3474720"/>
          </a:xfrm>
          <a:prstGeom prst="rect">
            <a:avLst/>
          </a:prstGeom>
          <a:noFill/>
          <a:ln/>
        </p:spPr>
        <p:txBody>
          <a:bodyPr wrap="square" lIns="0" tIns="0" rIns="0" bIns="0" rtlCol="0" anchor="t"/>
          <a:lstStyle/>
          <a:p>
            <a:pPr indent="0" marL="0">
              <a:spcAft>
                <a:spcPts val="1000"/>
              </a:spcAft>
              <a:buNone/>
            </a:pPr>
            <a:r>
              <a:rPr lang="en-US" sz="1350" dirty="0">
                <a:solidFill>
                  <a:srgbClr val="47525E"/>
                </a:solidFill>
                <a:latin typeface="Calibri" pitchFamily="34" charset="0"/>
                <a:ea typeface="Calibri" pitchFamily="34" charset="-122"/>
                <a:cs typeface="Calibri" pitchFamily="34" charset="-120"/>
              </a:rPr>
              <a:t>The agent grounds through fabric.canonical.find, scoped to a subject the caller supplies at ask-time.</a:t>
            </a:r>
            <a:endParaRPr lang="en-US" sz="1350" dirty="0"/>
          </a:p>
          <a:p>
            <a:pPr indent="0" marL="0">
              <a:spcAft>
                <a:spcPts val="1000"/>
              </a:spcAft>
              <a:buNone/>
            </a:pPr>
            <a:r>
              <a:rPr lang="en-US" sz="1350" dirty="0">
                <a:solidFill>
                  <a:srgbClr val="47525E"/>
                </a:solidFill>
                <a:latin typeface="Calibri" pitchFamily="34" charset="0"/>
                <a:ea typeface="Calibri" pitchFamily="34" charset="-122"/>
                <a:cs typeface="Calibri" pitchFamily="34" charset="-120"/>
              </a:rPr>
              <a:t>Leave skills empty and you get grounded Q&amp;A over whatever the pack already produced. Add skills and the same profile becomes an agentic loop.</a:t>
            </a:r>
            <a:endParaRPr lang="en-US" sz="1350" dirty="0"/>
          </a:p>
          <a:p>
            <a:pPr indent="0" marL="0">
              <a:spcAft>
                <a:spcPts val="1000"/>
              </a:spcAft>
              <a:buNone/>
            </a:pPr>
            <a:r>
              <a:rPr lang="en-US" sz="1350" dirty="0">
                <a:solidFill>
                  <a:srgbClr val="47525E"/>
                </a:solidFill>
                <a:latin typeface="Calibri" pitchFamily="34" charset="0"/>
                <a:ea typeface="Calibri" pitchFamily="34" charset="-122"/>
                <a:cs typeface="Calibri" pitchFamily="34" charset="-120"/>
              </a:rPr>
              <a:t>Any conductor that writes canonical objects gets a case agent over them without a standalone app and without a deploy.</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Knowledge Fabric: current state and gaps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377440"/>
                <a:gridCol w="4206240"/>
                <a:gridCol w="4507992"/>
              </a:tblGrid>
              <a:tr h="0">
                <a:tc>
                  <a:txBody>
                    <a:bodyPr/>
                    <a:lstStyle/>
                    <a:p>
                      <a:pPr indent="0" marL="0">
                        <a:buNone/>
                      </a:pPr>
                      <a:r>
                        <a:rPr lang="en-US" sz="1100" b="1" dirty="0">
                          <a:solidFill>
                            <a:srgbClr val="F7F7F3"/>
                          </a:solidFill>
                          <a:latin typeface="Calibri" pitchFamily="34" charset="0"/>
                          <a:ea typeface="Calibri" pitchFamily="34" charset="-122"/>
                          <a:cs typeface="Calibri" pitchFamily="34" charset="-120"/>
                        </a:rPr>
                        <a:t>Capability</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00" b="1" dirty="0">
                          <a:solidFill>
                            <a:srgbClr val="F7F7F3"/>
                          </a:solidFill>
                          <a:latin typeface="Calibri" pitchFamily="34" charset="0"/>
                          <a:ea typeface="Calibri" pitchFamily="34" charset="-122"/>
                          <a:cs typeface="Calibri" pitchFamily="34" charset="-120"/>
                        </a:rPr>
                        <a:t>In the SDK today</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00" b="1" dirty="0">
                          <a:solidFill>
                            <a:srgbClr val="F7F7F3"/>
                          </a:solidFill>
                          <a:latin typeface="Calibri" pitchFamily="34" charset="0"/>
                          <a:ea typeface="Calibri" pitchFamily="34" charset="-122"/>
                          <a:cs typeface="Calibri" pitchFamily="34" charset="-120"/>
                        </a:rPr>
                        <a:t>What is missing</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r>
              <a:tr h="0">
                <a:tc>
                  <a:txBody>
                    <a:bodyPr/>
                    <a:lstStyle/>
                    <a:p>
                      <a:pPr indent="0" marL="0">
                        <a:buNone/>
                      </a:pPr>
                      <a:r>
                        <a:rPr lang="en-US" sz="1100" b="1" dirty="0">
                          <a:solidFill>
                            <a:srgbClr val="121A24"/>
                          </a:solidFill>
                          <a:latin typeface="Calibri" pitchFamily="34" charset="0"/>
                          <a:ea typeface="Calibri" pitchFamily="34" charset="-122"/>
                          <a:cs typeface="Calibri" pitchFamily="34" charset="-120"/>
                        </a:rPr>
                        <a:t>Canonical objects</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Typed, stored, queryable. Policy is a typed IR with an open condition registry</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C2703A"/>
                          </a:solidFill>
                          <a:latin typeface="Calibri" pitchFamily="34" charset="0"/>
                          <a:ea typeface="Calibri" pitchFamily="34" charset="-122"/>
                          <a:cs typeface="Calibri" pitchFamily="34" charset="-120"/>
                        </a:rPr>
                        <a:t>Nothing material. This is the strong half</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21A24"/>
                          </a:solidFill>
                          <a:latin typeface="Calibri" pitchFamily="34" charset="0"/>
                          <a:ea typeface="Calibri" pitchFamily="34" charset="-122"/>
                          <a:cs typeface="Calibri" pitchFamily="34" charset="-120"/>
                        </a:rPr>
                        <a:t>Graph / KG</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KGStore over Knowledge Hub triples. Query and traverse both work</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C2703A"/>
                          </a:solidFill>
                          <a:latin typeface="Calibri" pitchFamily="34" charset="0"/>
                          <a:ea typeface="Calibri" pitchFamily="34" charset="-122"/>
                          <a:cs typeface="Calibri" pitchFamily="34" charset="-120"/>
                        </a:rPr>
                        <a:t>The server filters by substring and the search finishes client-side; traverse costs N round trips. Survivable for a mortgage file, not for an AML entity graph</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100" b="1" dirty="0">
                          <a:solidFill>
                            <a:srgbClr val="121A24"/>
                          </a:solidFill>
                          <a:latin typeface="Calibri" pitchFamily="34" charset="0"/>
                          <a:ea typeface="Calibri" pitchFamily="34" charset="-122"/>
                          <a:cs typeface="Calibri" pitchFamily="34" charset="-120"/>
                        </a:rPr>
                        <a:t>Ontology</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Authored per pack, versioned, referenced from the manifest</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C2703A"/>
                          </a:solidFill>
                          <a:latin typeface="Calibri" pitchFamily="34" charset="0"/>
                          <a:ea typeface="Calibri" pitchFamily="34" charset="-122"/>
                          <a:cs typeface="Calibri" pitchFamily="34" charset="-120"/>
                        </a:rPr>
                        <a:t>Never promoted into the fabric stores. The jaci wiring for it is unwired</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21A24"/>
                          </a:solidFill>
                          <a:latin typeface="Calibri" pitchFamily="34" charset="0"/>
                          <a:ea typeface="Calibri" pitchFamily="34" charset="-122"/>
                          <a:cs typeface="Calibri" pitchFamily="34" charset="-120"/>
                        </a:rPr>
                        <a:t>DomainPack record</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Canonical shape exists and the helper loads it</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00" dirty="0">
                          <a:solidFill>
                            <a:srgbClr val="C2703A"/>
                          </a:solidFill>
                          <a:latin typeface="Calibri" pitchFamily="34" charset="0"/>
                          <a:ea typeface="Calibri" pitchFamily="34" charset="-122"/>
                          <a:cs typeface="Calibri" pitchFamily="34" charset="-120"/>
                        </a:rPr>
                        <a:t>The write path points at Knowledge Hub and writes nothing yet</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100" b="1" dirty="0">
                          <a:solidFill>
                            <a:srgbClr val="121A24"/>
                          </a:solidFill>
                          <a:latin typeface="Calibri" pitchFamily="34" charset="0"/>
                          <a:ea typeface="Calibri" pitchFamily="34" charset="-122"/>
                          <a:cs typeface="Calibri" pitchFamily="34" charset="-120"/>
                        </a:rPr>
                        <a:t>Policy reasoning</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47525E"/>
                          </a:solidFill>
                          <a:latin typeface="Calibri" pitchFamily="34" charset="0"/>
                          <a:ea typeface="Calibri" pitchFamily="34" charset="-122"/>
                          <a:cs typeface="Calibri" pitchFamily="34" charset="-120"/>
                        </a:rPr>
                        <a:t>Typed rules, replayable and testable. We chose this over SPARQL deliberately</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00" dirty="0">
                          <a:solidFill>
                            <a:srgbClr val="C2703A"/>
                          </a:solidFill>
                          <a:latin typeface="Calibri" pitchFamily="34" charset="0"/>
                          <a:ea typeface="Calibri" pitchFamily="34" charset="-122"/>
                          <a:cs typeface="Calibri" pitchFamily="34" charset="-120"/>
                        </a:rPr>
                        <a:t>Advisory by design. The Governor remains the gate</a:t>
                      </a:r>
                      <a:endParaRPr lang="en-US" sz="11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Right column: planned work.</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6F6B"/>
        </a:solidFill>
      </p:bgPr>
    </p:bg>
    <p:spTree>
      <p:nvGrpSpPr>
        <p:cNvPr id="1" name=""/>
        <p:cNvGrpSpPr/>
        <p:nvPr/>
      </p:nvGrpSpPr>
      <p:grpSpPr>
        <a:xfrm>
          <a:off x="0" y="0"/>
          <a:ext cx="0" cy="0"/>
          <a:chOff x="0" y="0"/>
          <a:chExt cx="0" cy="0"/>
        </a:xfrm>
      </p:grpSpPr>
      <p:sp>
        <p:nvSpPr>
          <p:cNvPr id="2" name="Text 0"/>
          <p:cNvSpPr txBox="1"/>
          <p:nvPr/>
        </p:nvSpPr>
        <p:spPr>
          <a:xfrm>
            <a:off x="548640" y="731520"/>
            <a:ext cx="11091672" cy="822960"/>
          </a:xfrm>
          <a:prstGeom prst="rect">
            <a:avLst/>
          </a:prstGeom>
          <a:noFill/>
          <a:ln/>
        </p:spPr>
        <p:txBody>
          <a:bodyPr wrap="square" lIns="0" tIns="0" rIns="0" bIns="0" rtlCol="0" anchor="t"/>
          <a:lstStyle/>
          <a:p>
            <a:pPr indent="0" marL="0">
              <a:buNone/>
            </a:pPr>
            <a:r>
              <a:rPr lang="en-US" sz="3000" b="1" dirty="0">
                <a:solidFill>
                  <a:srgbClr val="F7F7F3"/>
                </a:solidFill>
                <a:latin typeface="Calibri" pitchFamily="34" charset="0"/>
                <a:ea typeface="Calibri" pitchFamily="34" charset="-122"/>
                <a:cs typeface="Calibri" pitchFamily="34" charset="-120"/>
              </a:rPr>
              <a:t>Knowledge Fabric roadmap</a:t>
            </a:r>
            <a:endParaRPr lang="en-US" sz="3000" dirty="0"/>
          </a:p>
        </p:txBody>
      </p:sp>
      <p:sp>
        <p:nvSpPr>
          <p:cNvPr id="3" name="Shape 1"/>
          <p:cNvSpPr/>
          <p:nvPr/>
        </p:nvSpPr>
        <p:spPr>
          <a:xfrm>
            <a:off x="548640" y="2011680"/>
            <a:ext cx="2622042" cy="2377440"/>
          </a:xfrm>
          <a:prstGeom prst="roundRect">
            <a:avLst>
              <a:gd name="adj" fmla="val 4615"/>
            </a:avLst>
          </a:prstGeom>
          <a:solidFill>
            <a:srgbClr val="175854"/>
          </a:solidFill>
          <a:ln w="12700">
            <a:solidFill>
              <a:srgbClr val="175854"/>
            </a:solidFill>
            <a:prstDash val="solid"/>
          </a:ln>
        </p:spPr>
      </p:sp>
      <p:sp>
        <p:nvSpPr>
          <p:cNvPr id="4" name="Text 2"/>
          <p:cNvSpPr txBox="1"/>
          <p:nvPr/>
        </p:nvSpPr>
        <p:spPr>
          <a:xfrm>
            <a:off x="777240" y="2212848"/>
            <a:ext cx="2164842" cy="256032"/>
          </a:xfrm>
          <a:prstGeom prst="rect">
            <a:avLst/>
          </a:prstGeom>
          <a:noFill/>
          <a:ln/>
        </p:spPr>
        <p:txBody>
          <a:bodyPr wrap="square" lIns="0" tIns="0" rIns="0" bIns="0" rtlCol="0" anchor="t"/>
          <a:lstStyle/>
          <a:p>
            <a:pPr indent="0" marL="0">
              <a:buNone/>
            </a:pPr>
            <a:r>
              <a:rPr lang="en-US" sz="1100" dirty="0">
                <a:solidFill>
                  <a:srgbClr val="9FE0D6"/>
                </a:solidFill>
                <a:latin typeface="Courier New" pitchFamily="34" charset="0"/>
                <a:ea typeface="Courier New" pitchFamily="34" charset="-122"/>
                <a:cs typeface="Courier New" pitchFamily="34" charset="-120"/>
              </a:rPr>
              <a:t>01</a:t>
            </a:r>
            <a:endParaRPr lang="en-US" sz="1100" dirty="0"/>
          </a:p>
        </p:txBody>
      </p:sp>
      <p:sp>
        <p:nvSpPr>
          <p:cNvPr id="5" name="Text 3"/>
          <p:cNvSpPr txBox="1"/>
          <p:nvPr/>
        </p:nvSpPr>
        <p:spPr>
          <a:xfrm>
            <a:off x="777240" y="2523744"/>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Graph pushdown</a:t>
            </a:r>
            <a:endParaRPr lang="en-US" sz="1500" dirty="0"/>
          </a:p>
        </p:txBody>
      </p:sp>
      <p:sp>
        <p:nvSpPr>
          <p:cNvPr id="6" name="Text 4"/>
          <p:cNvSpPr txBox="1"/>
          <p:nvPr/>
        </p:nvSpPr>
        <p:spPr>
          <a:xfrm>
            <a:off x="777240" y="3072384"/>
            <a:ext cx="2164842" cy="1133856"/>
          </a:xfrm>
          <a:prstGeom prst="rect">
            <a:avLst/>
          </a:prstGeom>
          <a:noFill/>
          <a:ln/>
        </p:spPr>
        <p:txBody>
          <a:bodyPr wrap="square" lIns="0" tIns="0" rIns="0" bIns="0" rtlCol="0" anchor="t"/>
          <a:lstStyle/>
          <a:p>
            <a:pPr indent="0" marL="0">
              <a:buNone/>
            </a:pPr>
            <a:r>
              <a:rPr lang="en-US" sz="1150" dirty="0">
                <a:solidFill>
                  <a:srgbClr val="D6EFEB"/>
                </a:solidFill>
                <a:latin typeface="Calibri" pitchFamily="34" charset="0"/>
                <a:ea typeface="Calibri" pitchFamily="34" charset="-122"/>
                <a:cs typeface="Calibri" pitchFamily="34" charset="-120"/>
              </a:rPr>
              <a:t>Filter and traverse on the server. The AML entity graph is what forces it.</a:t>
            </a:r>
            <a:endParaRPr lang="en-US" sz="1150" dirty="0"/>
          </a:p>
        </p:txBody>
      </p:sp>
      <p:sp>
        <p:nvSpPr>
          <p:cNvPr id="7" name="Shape 5"/>
          <p:cNvSpPr/>
          <p:nvPr/>
        </p:nvSpPr>
        <p:spPr>
          <a:xfrm>
            <a:off x="3371850" y="2011680"/>
            <a:ext cx="2622042" cy="2377440"/>
          </a:xfrm>
          <a:prstGeom prst="roundRect">
            <a:avLst>
              <a:gd name="adj" fmla="val 4615"/>
            </a:avLst>
          </a:prstGeom>
          <a:solidFill>
            <a:srgbClr val="175854"/>
          </a:solidFill>
          <a:ln w="12700">
            <a:solidFill>
              <a:srgbClr val="175854"/>
            </a:solidFill>
            <a:prstDash val="solid"/>
          </a:ln>
        </p:spPr>
      </p:sp>
      <p:sp>
        <p:nvSpPr>
          <p:cNvPr id="8" name="Text 6"/>
          <p:cNvSpPr txBox="1"/>
          <p:nvPr/>
        </p:nvSpPr>
        <p:spPr>
          <a:xfrm>
            <a:off x="3600450" y="2212848"/>
            <a:ext cx="2164842" cy="256032"/>
          </a:xfrm>
          <a:prstGeom prst="rect">
            <a:avLst/>
          </a:prstGeom>
          <a:noFill/>
          <a:ln/>
        </p:spPr>
        <p:txBody>
          <a:bodyPr wrap="square" lIns="0" tIns="0" rIns="0" bIns="0" rtlCol="0" anchor="t"/>
          <a:lstStyle/>
          <a:p>
            <a:pPr indent="0" marL="0">
              <a:buNone/>
            </a:pPr>
            <a:r>
              <a:rPr lang="en-US" sz="1100" dirty="0">
                <a:solidFill>
                  <a:srgbClr val="9FE0D6"/>
                </a:solidFill>
                <a:latin typeface="Courier New" pitchFamily="34" charset="0"/>
                <a:ea typeface="Courier New" pitchFamily="34" charset="-122"/>
                <a:cs typeface="Courier New" pitchFamily="34" charset="-120"/>
              </a:rPr>
              <a:t>02</a:t>
            </a:r>
            <a:endParaRPr lang="en-US" sz="1100" dirty="0"/>
          </a:p>
        </p:txBody>
      </p:sp>
      <p:sp>
        <p:nvSpPr>
          <p:cNvPr id="9" name="Text 7"/>
          <p:cNvSpPr txBox="1"/>
          <p:nvPr/>
        </p:nvSpPr>
        <p:spPr>
          <a:xfrm>
            <a:off x="3600450" y="2523744"/>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Promote the ontology</a:t>
            </a:r>
            <a:endParaRPr lang="en-US" sz="1500" dirty="0"/>
          </a:p>
        </p:txBody>
      </p:sp>
      <p:sp>
        <p:nvSpPr>
          <p:cNvPr id="10" name="Text 8"/>
          <p:cNvSpPr txBox="1"/>
          <p:nvPr/>
        </p:nvSpPr>
        <p:spPr>
          <a:xfrm>
            <a:off x="3600450" y="3072384"/>
            <a:ext cx="2164842" cy="1133856"/>
          </a:xfrm>
          <a:prstGeom prst="rect">
            <a:avLst/>
          </a:prstGeom>
          <a:noFill/>
          <a:ln/>
        </p:spPr>
        <p:txBody>
          <a:bodyPr wrap="square" lIns="0" tIns="0" rIns="0" bIns="0" rtlCol="0" anchor="t"/>
          <a:lstStyle/>
          <a:p>
            <a:pPr indent="0" marL="0">
              <a:buNone/>
            </a:pPr>
            <a:r>
              <a:rPr lang="en-US" sz="1150" dirty="0">
                <a:solidFill>
                  <a:srgbClr val="D6EFEB"/>
                </a:solidFill>
                <a:latin typeface="Calibri" pitchFamily="34" charset="0"/>
                <a:ea typeface="Calibri" pitchFamily="34" charset="-122"/>
                <a:cs typeface="Calibri" pitchFamily="34" charset="-120"/>
              </a:rPr>
              <a:t>Pack startup writes ontology and policy into the fabric stores, and the DomainPack record persists.</a:t>
            </a:r>
            <a:endParaRPr lang="en-US" sz="1150" dirty="0"/>
          </a:p>
        </p:txBody>
      </p:sp>
      <p:sp>
        <p:nvSpPr>
          <p:cNvPr id="11" name="Shape 9"/>
          <p:cNvSpPr/>
          <p:nvPr/>
        </p:nvSpPr>
        <p:spPr>
          <a:xfrm>
            <a:off x="6195060" y="2011680"/>
            <a:ext cx="2622042" cy="2377440"/>
          </a:xfrm>
          <a:prstGeom prst="roundRect">
            <a:avLst>
              <a:gd name="adj" fmla="val 4615"/>
            </a:avLst>
          </a:prstGeom>
          <a:solidFill>
            <a:srgbClr val="175854"/>
          </a:solidFill>
          <a:ln w="12700">
            <a:solidFill>
              <a:srgbClr val="175854"/>
            </a:solidFill>
            <a:prstDash val="solid"/>
          </a:ln>
        </p:spPr>
      </p:sp>
      <p:sp>
        <p:nvSpPr>
          <p:cNvPr id="12" name="Text 10"/>
          <p:cNvSpPr txBox="1"/>
          <p:nvPr/>
        </p:nvSpPr>
        <p:spPr>
          <a:xfrm>
            <a:off x="6423660" y="2212848"/>
            <a:ext cx="2164842" cy="256032"/>
          </a:xfrm>
          <a:prstGeom prst="rect">
            <a:avLst/>
          </a:prstGeom>
          <a:noFill/>
          <a:ln/>
        </p:spPr>
        <p:txBody>
          <a:bodyPr wrap="square" lIns="0" tIns="0" rIns="0" bIns="0" rtlCol="0" anchor="t"/>
          <a:lstStyle/>
          <a:p>
            <a:pPr indent="0" marL="0">
              <a:buNone/>
            </a:pPr>
            <a:r>
              <a:rPr lang="en-US" sz="1100" dirty="0">
                <a:solidFill>
                  <a:srgbClr val="9FE0D6"/>
                </a:solidFill>
                <a:latin typeface="Courier New" pitchFamily="34" charset="0"/>
                <a:ea typeface="Courier New" pitchFamily="34" charset="-122"/>
                <a:cs typeface="Courier New" pitchFamily="34" charset="-120"/>
              </a:rPr>
              <a:t>03</a:t>
            </a:r>
            <a:endParaRPr lang="en-US" sz="1100" dirty="0"/>
          </a:p>
        </p:txBody>
      </p:sp>
      <p:sp>
        <p:nvSpPr>
          <p:cNvPr id="13" name="Text 11"/>
          <p:cNvSpPr txBox="1"/>
          <p:nvPr/>
        </p:nvSpPr>
        <p:spPr>
          <a:xfrm>
            <a:off x="6423660" y="2523744"/>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Trace of record</a:t>
            </a:r>
            <a:endParaRPr lang="en-US" sz="1500" dirty="0"/>
          </a:p>
        </p:txBody>
      </p:sp>
      <p:sp>
        <p:nvSpPr>
          <p:cNvPr id="14" name="Text 12"/>
          <p:cNvSpPr txBox="1"/>
          <p:nvPr/>
        </p:nvSpPr>
        <p:spPr>
          <a:xfrm>
            <a:off x="6423660" y="3072384"/>
            <a:ext cx="2164842" cy="1133856"/>
          </a:xfrm>
          <a:prstGeom prst="rect">
            <a:avLst/>
          </a:prstGeom>
          <a:noFill/>
          <a:ln/>
        </p:spPr>
        <p:txBody>
          <a:bodyPr wrap="square" lIns="0" tIns="0" rIns="0" bIns="0" rtlCol="0" anchor="t"/>
          <a:lstStyle/>
          <a:p>
            <a:pPr indent="0" marL="0">
              <a:buNone/>
            </a:pPr>
            <a:r>
              <a:rPr lang="en-US" sz="1150" dirty="0">
                <a:solidFill>
                  <a:srgbClr val="D6EFEB"/>
                </a:solidFill>
                <a:latin typeface="Calibri" pitchFamily="34" charset="0"/>
                <a:ea typeface="Calibri" pitchFamily="34" charset="-122"/>
                <a:cs typeface="Calibri" pitchFamily="34" charset="-120"/>
              </a:rPr>
              <a:t>CanonicalTrace persisted and served, naming the exact release and every skill version invoked.</a:t>
            </a:r>
            <a:endParaRPr lang="en-US" sz="1150" dirty="0"/>
          </a:p>
        </p:txBody>
      </p:sp>
      <p:sp>
        <p:nvSpPr>
          <p:cNvPr id="15" name="Shape 13"/>
          <p:cNvSpPr/>
          <p:nvPr/>
        </p:nvSpPr>
        <p:spPr>
          <a:xfrm>
            <a:off x="9018270" y="2011680"/>
            <a:ext cx="2622042" cy="2377440"/>
          </a:xfrm>
          <a:prstGeom prst="roundRect">
            <a:avLst>
              <a:gd name="adj" fmla="val 4615"/>
            </a:avLst>
          </a:prstGeom>
          <a:solidFill>
            <a:srgbClr val="175854"/>
          </a:solidFill>
          <a:ln w="12700">
            <a:solidFill>
              <a:srgbClr val="175854"/>
            </a:solidFill>
            <a:prstDash val="solid"/>
          </a:ln>
        </p:spPr>
      </p:sp>
      <p:sp>
        <p:nvSpPr>
          <p:cNvPr id="16" name="Text 14"/>
          <p:cNvSpPr txBox="1"/>
          <p:nvPr/>
        </p:nvSpPr>
        <p:spPr>
          <a:xfrm>
            <a:off x="9246870" y="2212848"/>
            <a:ext cx="2164842" cy="256032"/>
          </a:xfrm>
          <a:prstGeom prst="rect">
            <a:avLst/>
          </a:prstGeom>
          <a:noFill/>
          <a:ln/>
        </p:spPr>
        <p:txBody>
          <a:bodyPr wrap="square" lIns="0" tIns="0" rIns="0" bIns="0" rtlCol="0" anchor="t"/>
          <a:lstStyle/>
          <a:p>
            <a:pPr indent="0" marL="0">
              <a:buNone/>
            </a:pPr>
            <a:r>
              <a:rPr lang="en-US" sz="1100" dirty="0">
                <a:solidFill>
                  <a:srgbClr val="9FE0D6"/>
                </a:solidFill>
                <a:latin typeface="Courier New" pitchFamily="34" charset="0"/>
                <a:ea typeface="Courier New" pitchFamily="34" charset="-122"/>
                <a:cs typeface="Courier New" pitchFamily="34" charset="-120"/>
              </a:rPr>
              <a:t>04</a:t>
            </a:r>
            <a:endParaRPr lang="en-US" sz="1100" dirty="0"/>
          </a:p>
        </p:txBody>
      </p:sp>
      <p:sp>
        <p:nvSpPr>
          <p:cNvPr id="17" name="Text 15"/>
          <p:cNvSpPr txBox="1"/>
          <p:nvPr/>
        </p:nvSpPr>
        <p:spPr>
          <a:xfrm>
            <a:off x="9246870" y="2523744"/>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Link the outcomes</a:t>
            </a:r>
            <a:endParaRPr lang="en-US" sz="1500" dirty="0"/>
          </a:p>
        </p:txBody>
      </p:sp>
      <p:sp>
        <p:nvSpPr>
          <p:cNvPr id="18" name="Text 16"/>
          <p:cNvSpPr txBox="1"/>
          <p:nvPr/>
        </p:nvSpPr>
        <p:spPr>
          <a:xfrm>
            <a:off x="9246870" y="3072384"/>
            <a:ext cx="2164842" cy="1133856"/>
          </a:xfrm>
          <a:prstGeom prst="rect">
            <a:avLst/>
          </a:prstGeom>
          <a:noFill/>
          <a:ln/>
        </p:spPr>
        <p:txBody>
          <a:bodyPr wrap="square" lIns="0" tIns="0" rIns="0" bIns="0" rtlCol="0" anchor="t"/>
          <a:lstStyle/>
          <a:p>
            <a:pPr indent="0" marL="0">
              <a:buNone/>
            </a:pPr>
            <a:r>
              <a:rPr lang="en-US" sz="1150" dirty="0">
                <a:solidFill>
                  <a:srgbClr val="D6EFEB"/>
                </a:solidFill>
                <a:latin typeface="Calibri" pitchFamily="34" charset="0"/>
                <a:ea typeface="Calibri" pitchFamily="34" charset="-122"/>
                <a:cs typeface="Calibri" pitchFamily="34" charset="-120"/>
              </a:rPr>
              <a:t>Decisions, overrides and realised outcomes joined up. This is the input the learning framework (ROSI, behind the Curator and Evaluator modes) needs from us.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A24"/>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5FBFB3"/>
                </a:solidFill>
                <a:latin typeface="Courier New" pitchFamily="34" charset="0"/>
                <a:ea typeface="Courier New" pitchFamily="34" charset="-122"/>
                <a:cs typeface="Courier New" pitchFamily="34" charset="-120"/>
              </a:rPr>
              <a:t>AGENDA 6 — PLATFORM / SDK</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F7F7F3"/>
                </a:solidFill>
                <a:latin typeface="Calibri" pitchFamily="34" charset="0"/>
                <a:ea typeface="Calibri" pitchFamily="34" charset="-122"/>
                <a:cs typeface="Calibri" pitchFamily="34" charset="-120"/>
              </a:rPr>
              <a:t>Developer tooling: jstack, SDK, Juno</a:t>
            </a:r>
            <a:endParaRPr lang="en-US" sz="3000" dirty="0"/>
          </a:p>
        </p:txBody>
      </p:sp>
      <p:sp>
        <p:nvSpPr>
          <p:cNvPr id="4" name="Shape 2"/>
          <p:cNvSpPr/>
          <p:nvPr/>
        </p:nvSpPr>
        <p:spPr>
          <a:xfrm>
            <a:off x="548640" y="1737360"/>
            <a:ext cx="3291840" cy="2468880"/>
          </a:xfrm>
          <a:prstGeom prst="roundRect">
            <a:avLst>
              <a:gd name="adj" fmla="val 4444"/>
            </a:avLst>
          </a:prstGeom>
          <a:solidFill>
            <a:srgbClr val="1B2632"/>
          </a:solidFill>
          <a:ln w="12700">
            <a:solidFill>
              <a:srgbClr val="3A4A5C"/>
            </a:solidFill>
            <a:prstDash val="solid"/>
          </a:ln>
        </p:spPr>
      </p:sp>
      <p:sp>
        <p:nvSpPr>
          <p:cNvPr id="5" name="Text 3"/>
          <p:cNvSpPr txBox="1"/>
          <p:nvPr/>
        </p:nvSpPr>
        <p:spPr>
          <a:xfrm>
            <a:off x="777240" y="1920240"/>
            <a:ext cx="2834640" cy="274320"/>
          </a:xfrm>
          <a:prstGeom prst="rect">
            <a:avLst/>
          </a:prstGeom>
          <a:noFill/>
          <a:ln/>
        </p:spPr>
        <p:txBody>
          <a:bodyPr wrap="square" lIns="0" tIns="0" rIns="0" bIns="0" rtlCol="0" anchor="t"/>
          <a:lstStyle/>
          <a:p>
            <a:pPr indent="0" marL="0">
              <a:buNone/>
            </a:pPr>
            <a:r>
              <a:rPr lang="en-US" sz="1100" dirty="0">
                <a:solidFill>
                  <a:srgbClr val="5FBFB3"/>
                </a:solidFill>
                <a:latin typeface="Courier New" pitchFamily="34" charset="0"/>
                <a:ea typeface="Courier New" pitchFamily="34" charset="-122"/>
                <a:cs typeface="Courier New" pitchFamily="34" charset="-120"/>
              </a:rPr>
              <a:t>Juno · authoring copilot</a:t>
            </a:r>
            <a:endParaRPr lang="en-US" sz="1100" dirty="0"/>
          </a:p>
        </p:txBody>
      </p:sp>
      <p:sp>
        <p:nvSpPr>
          <p:cNvPr id="6" name="Text 4"/>
          <p:cNvSpPr txBox="1"/>
          <p:nvPr/>
        </p:nvSpPr>
        <p:spPr>
          <a:xfrm>
            <a:off x="777240" y="2240280"/>
            <a:ext cx="2834640" cy="411480"/>
          </a:xfrm>
          <a:prstGeom prst="rect">
            <a:avLst/>
          </a:prstGeom>
          <a:noFill/>
          <a:ln/>
        </p:spPr>
        <p:txBody>
          <a:bodyPr wrap="square" lIns="0" tIns="0" rIns="0" bIns="0" rtlCol="0" anchor="t"/>
          <a:lstStyle/>
          <a:p>
            <a:pPr indent="0" marL="0">
              <a:buNone/>
            </a:pPr>
            <a:r>
              <a:rPr lang="en-US" sz="1600" b="1" dirty="0">
                <a:solidFill>
                  <a:srgbClr val="F7F7F3"/>
                </a:solidFill>
                <a:latin typeface="Calibri" pitchFamily="34" charset="0"/>
                <a:ea typeface="Calibri" pitchFamily="34" charset="-122"/>
                <a:cs typeface="Calibri" pitchFamily="34" charset="-120"/>
              </a:rPr>
              <a:t>Conversational authoring</a:t>
            </a:r>
            <a:endParaRPr lang="en-US" sz="1600" dirty="0"/>
          </a:p>
        </p:txBody>
      </p:sp>
      <p:sp>
        <p:nvSpPr>
          <p:cNvPr id="7" name="Text 5"/>
          <p:cNvSpPr txBox="1"/>
          <p:nvPr/>
        </p:nvSpPr>
        <p:spPr>
          <a:xfrm>
            <a:off x="777240" y="2697480"/>
            <a:ext cx="2834640" cy="1097280"/>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A copilot in Builder Studio. Proposes an agent, tool or workflow from a description; a person applies it. Scores a configuration against evaluation cases.</a:t>
            </a:r>
            <a:endParaRPr lang="en-US" sz="1150" dirty="0"/>
          </a:p>
        </p:txBody>
      </p:sp>
      <p:sp>
        <p:nvSpPr>
          <p:cNvPr id="8" name="Text 6"/>
          <p:cNvSpPr txBox="1"/>
          <p:nvPr/>
        </p:nvSpPr>
        <p:spPr>
          <a:xfrm>
            <a:off x="777240" y="3840480"/>
            <a:ext cx="2834640" cy="274320"/>
          </a:xfrm>
          <a:prstGeom prst="rect">
            <a:avLst/>
          </a:prstGeom>
          <a:noFill/>
          <a:ln/>
        </p:spPr>
        <p:txBody>
          <a:bodyPr wrap="square" lIns="0" tIns="0" rIns="0" bIns="0" rtlCol="0" anchor="t"/>
          <a:lstStyle/>
          <a:p>
            <a:pPr indent="0" marL="0">
              <a:buNone/>
            </a:pPr>
            <a:r>
              <a:rPr lang="en-US" sz="1050" dirty="0">
                <a:solidFill>
                  <a:srgbClr val="9FB0BF"/>
                </a:solidFill>
                <a:latin typeface="Calibri" pitchFamily="34" charset="0"/>
                <a:ea typeface="Calibri" pitchFamily="34" charset="-122"/>
                <a:cs typeface="Calibri" pitchFamily="34" charset="-120"/>
              </a:rPr>
              <a:t>Used by Studio users, engineers or not</a:t>
            </a:r>
            <a:endParaRPr lang="en-US" sz="1050" dirty="0"/>
          </a:p>
        </p:txBody>
      </p:sp>
      <p:sp>
        <p:nvSpPr>
          <p:cNvPr id="9" name="Shape 7"/>
          <p:cNvSpPr/>
          <p:nvPr/>
        </p:nvSpPr>
        <p:spPr>
          <a:xfrm>
            <a:off x="4453128" y="1737360"/>
            <a:ext cx="3291840" cy="2468880"/>
          </a:xfrm>
          <a:prstGeom prst="roundRect">
            <a:avLst>
              <a:gd name="adj" fmla="val 4444"/>
            </a:avLst>
          </a:prstGeom>
          <a:solidFill>
            <a:srgbClr val="1F6F6B"/>
          </a:solidFill>
          <a:ln w="12700">
            <a:solidFill>
              <a:srgbClr val="1F6F6B"/>
            </a:solidFill>
            <a:prstDash val="solid"/>
          </a:ln>
        </p:spPr>
      </p:sp>
      <p:sp>
        <p:nvSpPr>
          <p:cNvPr id="10" name="Text 8"/>
          <p:cNvSpPr txBox="1"/>
          <p:nvPr/>
        </p:nvSpPr>
        <p:spPr>
          <a:xfrm>
            <a:off x="4681728" y="1920240"/>
            <a:ext cx="2834640" cy="274320"/>
          </a:xfrm>
          <a:prstGeom prst="rect">
            <a:avLst/>
          </a:prstGeom>
          <a:noFill/>
          <a:ln/>
        </p:spPr>
        <p:txBody>
          <a:bodyPr wrap="square" lIns="0" tIns="0" rIns="0" bIns="0" rtlCol="0" anchor="t"/>
          <a:lstStyle/>
          <a:p>
            <a:pPr indent="0" marL="0">
              <a:buNone/>
            </a:pPr>
            <a:r>
              <a:rPr lang="en-US" sz="1100" dirty="0">
                <a:solidFill>
                  <a:srgbClr val="9FE0D6"/>
                </a:solidFill>
                <a:latin typeface="Courier New" pitchFamily="34" charset="0"/>
                <a:ea typeface="Courier New" pitchFamily="34" charset="-122"/>
                <a:cs typeface="Courier New" pitchFamily="34" charset="-120"/>
              </a:rPr>
              <a:t>the SDK · shared library</a:t>
            </a:r>
            <a:endParaRPr lang="en-US" sz="1100" dirty="0"/>
          </a:p>
        </p:txBody>
      </p:sp>
      <p:sp>
        <p:nvSpPr>
          <p:cNvPr id="11" name="Text 9"/>
          <p:cNvSpPr txBox="1"/>
          <p:nvPr/>
        </p:nvSpPr>
        <p:spPr>
          <a:xfrm>
            <a:off x="4681728" y="2240280"/>
            <a:ext cx="2834640" cy="411480"/>
          </a:xfrm>
          <a:prstGeom prst="rect">
            <a:avLst/>
          </a:prstGeom>
          <a:noFill/>
          <a:ln/>
        </p:spPr>
        <p:txBody>
          <a:bodyPr wrap="square" lIns="0" tIns="0" rIns="0" bIns="0" rtlCol="0" anchor="t"/>
          <a:lstStyle/>
          <a:p>
            <a:pPr indent="0" marL="0">
              <a:buNone/>
            </a:pPr>
            <a:r>
              <a:rPr lang="en-US" sz="1600" b="1" dirty="0">
                <a:solidFill>
                  <a:srgbClr val="F7F7F3"/>
                </a:solidFill>
                <a:latin typeface="Calibri" pitchFamily="34" charset="0"/>
                <a:ea typeface="Calibri" pitchFamily="34" charset="-122"/>
                <a:cs typeface="Calibri" pitchFamily="34" charset="-120"/>
              </a:rPr>
              <a:t>Shared library</a:t>
            </a:r>
            <a:endParaRPr lang="en-US" sz="1600" dirty="0"/>
          </a:p>
        </p:txBody>
      </p:sp>
      <p:sp>
        <p:nvSpPr>
          <p:cNvPr id="12" name="Text 10"/>
          <p:cNvSpPr txBox="1"/>
          <p:nvPr/>
        </p:nvSpPr>
        <p:spPr>
          <a:xfrm>
            <a:off x="4681728" y="2697480"/>
            <a:ext cx="2834640" cy="1097280"/>
          </a:xfrm>
          <a:prstGeom prst="rect">
            <a:avLst/>
          </a:prstGeom>
          <a:noFill/>
          <a:ln/>
        </p:spPr>
        <p:txBody>
          <a:bodyPr wrap="square" lIns="0" tIns="0" rIns="0" bIns="0" rtlCol="0" anchor="t"/>
          <a:lstStyle/>
          <a:p>
            <a:pPr indent="0" marL="0">
              <a:buNone/>
            </a:pPr>
            <a:r>
              <a:rPr lang="en-US" sz="1150" dirty="0">
                <a:solidFill>
                  <a:srgbClr val="E4F4F1"/>
                </a:solidFill>
                <a:latin typeface="Calibri" pitchFamily="34" charset="0"/>
                <a:ea typeface="Calibri" pitchFamily="34" charset="-122"/>
                <a:cs typeface="Calibri" pitchFamily="34" charset="-120"/>
              </a:rPr>
              <a:t>One library: the governed objects, the five platform agents, the reference pipelines, the modes, the evaluation harness. Import it instead of learning the topology.</a:t>
            </a:r>
            <a:endParaRPr lang="en-US" sz="1150" dirty="0"/>
          </a:p>
        </p:txBody>
      </p:sp>
      <p:sp>
        <p:nvSpPr>
          <p:cNvPr id="13" name="Text 11"/>
          <p:cNvSpPr txBox="1"/>
          <p:nvPr/>
        </p:nvSpPr>
        <p:spPr>
          <a:xfrm>
            <a:off x="4681728" y="3840480"/>
            <a:ext cx="2834640" cy="274320"/>
          </a:xfrm>
          <a:prstGeom prst="rect">
            <a:avLst/>
          </a:prstGeom>
          <a:noFill/>
          <a:ln/>
        </p:spPr>
        <p:txBody>
          <a:bodyPr wrap="square" lIns="0" tIns="0" rIns="0" bIns="0" rtlCol="0" anchor="t"/>
          <a:lstStyle/>
          <a:p>
            <a:pPr indent="0" marL="0">
              <a:buNone/>
            </a:pPr>
            <a:r>
              <a:rPr lang="en-US" sz="1050" dirty="0">
                <a:solidFill>
                  <a:srgbClr val="D6EFEB"/>
                </a:solidFill>
                <a:latin typeface="Calibri" pitchFamily="34" charset="0"/>
                <a:ea typeface="Calibri" pitchFamily="34" charset="-122"/>
                <a:cs typeface="Calibri" pitchFamily="34" charset="-120"/>
              </a:rPr>
              <a:t>Used by product and solution engineers</a:t>
            </a:r>
            <a:endParaRPr lang="en-US" sz="1050" dirty="0"/>
          </a:p>
        </p:txBody>
      </p:sp>
      <p:sp>
        <p:nvSpPr>
          <p:cNvPr id="14" name="Shape 12"/>
          <p:cNvSpPr/>
          <p:nvPr/>
        </p:nvSpPr>
        <p:spPr>
          <a:xfrm>
            <a:off x="8357616" y="1737360"/>
            <a:ext cx="3291840" cy="2468880"/>
          </a:xfrm>
          <a:prstGeom prst="roundRect">
            <a:avLst>
              <a:gd name="adj" fmla="val 4444"/>
            </a:avLst>
          </a:prstGeom>
          <a:solidFill>
            <a:srgbClr val="1B2632"/>
          </a:solidFill>
          <a:ln w="12700">
            <a:solidFill>
              <a:srgbClr val="3A4A5C"/>
            </a:solidFill>
            <a:prstDash val="solid"/>
          </a:ln>
        </p:spPr>
      </p:sp>
      <p:sp>
        <p:nvSpPr>
          <p:cNvPr id="15" name="Text 13"/>
          <p:cNvSpPr txBox="1"/>
          <p:nvPr/>
        </p:nvSpPr>
        <p:spPr>
          <a:xfrm>
            <a:off x="8586216" y="1920240"/>
            <a:ext cx="2834640" cy="274320"/>
          </a:xfrm>
          <a:prstGeom prst="rect">
            <a:avLst/>
          </a:prstGeom>
          <a:noFill/>
          <a:ln/>
        </p:spPr>
        <p:txBody>
          <a:bodyPr wrap="square" lIns="0" tIns="0" rIns="0" bIns="0" rtlCol="0" anchor="t"/>
          <a:lstStyle/>
          <a:p>
            <a:pPr indent="0" marL="0">
              <a:buNone/>
            </a:pPr>
            <a:r>
              <a:rPr lang="en-US" sz="1100" dirty="0">
                <a:solidFill>
                  <a:srgbClr val="5FBFB3"/>
                </a:solidFill>
                <a:latin typeface="Courier New" pitchFamily="34" charset="0"/>
                <a:ea typeface="Courier New" pitchFamily="34" charset="-122"/>
                <a:cs typeface="Courier New" pitchFamily="34" charset="-120"/>
              </a:rPr>
              <a:t>jstack · local environment</a:t>
            </a:r>
            <a:endParaRPr lang="en-US" sz="1100" dirty="0"/>
          </a:p>
        </p:txBody>
      </p:sp>
      <p:sp>
        <p:nvSpPr>
          <p:cNvPr id="16" name="Text 14"/>
          <p:cNvSpPr txBox="1"/>
          <p:nvPr/>
        </p:nvSpPr>
        <p:spPr>
          <a:xfrm>
            <a:off x="8586216" y="2240280"/>
            <a:ext cx="2834640" cy="411480"/>
          </a:xfrm>
          <a:prstGeom prst="rect">
            <a:avLst/>
          </a:prstGeom>
          <a:noFill/>
          <a:ln/>
        </p:spPr>
        <p:txBody>
          <a:bodyPr wrap="square" lIns="0" tIns="0" rIns="0" bIns="0" rtlCol="0" anchor="t"/>
          <a:lstStyle/>
          <a:p>
            <a:pPr indent="0" marL="0">
              <a:buNone/>
            </a:pPr>
            <a:r>
              <a:rPr lang="en-US" sz="1600" b="1" dirty="0">
                <a:solidFill>
                  <a:srgbClr val="F7F7F3"/>
                </a:solidFill>
                <a:latin typeface="Calibri" pitchFamily="34" charset="0"/>
                <a:ea typeface="Calibri" pitchFamily="34" charset="-122"/>
                <a:cs typeface="Calibri" pitchFamily="34" charset="-120"/>
              </a:rPr>
              <a:t>Local platform environment</a:t>
            </a:r>
            <a:endParaRPr lang="en-US" sz="1600" dirty="0"/>
          </a:p>
        </p:txBody>
      </p:sp>
      <p:sp>
        <p:nvSpPr>
          <p:cNvPr id="17" name="Text 15"/>
          <p:cNvSpPr txBox="1"/>
          <p:nvPr/>
        </p:nvSpPr>
        <p:spPr>
          <a:xfrm>
            <a:off x="8586216" y="2697480"/>
            <a:ext cx="2834640" cy="1097280"/>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One command brings up about thirty services with their databases and queues. Change one thing, test the full journey before it reaches a shared environment.</a:t>
            </a:r>
            <a:endParaRPr lang="en-US" sz="1150" dirty="0"/>
          </a:p>
        </p:txBody>
      </p:sp>
      <p:sp>
        <p:nvSpPr>
          <p:cNvPr id="18" name="Text 16"/>
          <p:cNvSpPr txBox="1"/>
          <p:nvPr/>
        </p:nvSpPr>
        <p:spPr>
          <a:xfrm>
            <a:off x="8586216" y="3840480"/>
            <a:ext cx="2834640" cy="274320"/>
          </a:xfrm>
          <a:prstGeom prst="rect">
            <a:avLst/>
          </a:prstGeom>
          <a:noFill/>
          <a:ln/>
        </p:spPr>
        <p:txBody>
          <a:bodyPr wrap="square" lIns="0" tIns="0" rIns="0" bIns="0" rtlCol="0" anchor="t"/>
          <a:lstStyle/>
          <a:p>
            <a:pPr indent="0" marL="0">
              <a:buNone/>
            </a:pPr>
            <a:r>
              <a:rPr lang="en-US" sz="1050" dirty="0">
                <a:solidFill>
                  <a:srgbClr val="9FB0BF"/>
                </a:solidFill>
                <a:latin typeface="Calibri" pitchFamily="34" charset="0"/>
                <a:ea typeface="Calibri" pitchFamily="34" charset="-122"/>
                <a:cs typeface="Calibri" pitchFamily="34" charset="-120"/>
              </a:rPr>
              <a:t>Used by engineers</a:t>
            </a:r>
            <a:endParaRPr lang="en-US" sz="1050" dirty="0"/>
          </a:p>
        </p:txBody>
      </p:sp>
      <p:sp>
        <p:nvSpPr>
          <p:cNvPr id="19" name="Shape 17"/>
          <p:cNvSpPr/>
          <p:nvPr/>
        </p:nvSpPr>
        <p:spPr>
          <a:xfrm>
            <a:off x="3840480" y="2651760"/>
            <a:ext cx="612648" cy="9144"/>
          </a:xfrm>
          <a:prstGeom prst="line">
            <a:avLst/>
          </a:prstGeom>
          <a:noFill/>
          <a:ln w="25400">
            <a:solidFill>
              <a:srgbClr val="5FBFB3"/>
            </a:solidFill>
            <a:prstDash val="solid"/>
            <a:tailEnd type="triangle"/>
          </a:ln>
        </p:spPr>
      </p:sp>
      <p:sp>
        <p:nvSpPr>
          <p:cNvPr id="20" name="Shape 18"/>
          <p:cNvSpPr/>
          <p:nvPr/>
        </p:nvSpPr>
        <p:spPr>
          <a:xfrm>
            <a:off x="7744968" y="2651760"/>
            <a:ext cx="612648" cy="9144"/>
          </a:xfrm>
          <a:prstGeom prst="line">
            <a:avLst/>
          </a:prstGeom>
          <a:noFill/>
          <a:ln w="25400">
            <a:solidFill>
              <a:srgbClr val="5FBFB3"/>
            </a:solidFill>
            <a:prstDash val="solid"/>
            <a:tailEnd type="triangle"/>
          </a:ln>
        </p:spPr>
      </p:sp>
      <p:sp>
        <p:nvSpPr>
          <p:cNvPr id="21" name="Text 19"/>
          <p:cNvSpPr txBox="1"/>
          <p:nvPr/>
        </p:nvSpPr>
        <p:spPr>
          <a:xfrm>
            <a:off x="3749040" y="2240280"/>
            <a:ext cx="822960" cy="365760"/>
          </a:xfrm>
          <a:prstGeom prst="rect">
            <a:avLst/>
          </a:prstGeom>
          <a:noFill/>
          <a:ln/>
        </p:spPr>
        <p:txBody>
          <a:bodyPr wrap="square" lIns="0" tIns="0" rIns="0" bIns="0" rtlCol="0" anchor="t"/>
          <a:lstStyle/>
          <a:p>
            <a:pPr algn="ctr" indent="0" marL="0">
              <a:buNone/>
            </a:pPr>
            <a:r>
              <a:rPr lang="en-US" sz="900" dirty="0">
                <a:solidFill>
                  <a:srgbClr val="5FBFB3"/>
                </a:solidFill>
                <a:latin typeface="Calibri" pitchFamily="34" charset="0"/>
                <a:ea typeface="Calibri" pitchFamily="34" charset="-122"/>
                <a:cs typeface="Calibri" pitchFamily="34" charset="-120"/>
              </a:rPr>
              <a:t>writes packs, profiles, skills</a:t>
            </a:r>
            <a:endParaRPr lang="en-US" sz="900" dirty="0"/>
          </a:p>
        </p:txBody>
      </p:sp>
      <p:sp>
        <p:nvSpPr>
          <p:cNvPr id="22" name="Text 20"/>
          <p:cNvSpPr txBox="1"/>
          <p:nvPr/>
        </p:nvSpPr>
        <p:spPr>
          <a:xfrm>
            <a:off x="7653528" y="2240280"/>
            <a:ext cx="822960" cy="365760"/>
          </a:xfrm>
          <a:prstGeom prst="rect">
            <a:avLst/>
          </a:prstGeom>
          <a:noFill/>
          <a:ln/>
        </p:spPr>
        <p:txBody>
          <a:bodyPr wrap="square" lIns="0" tIns="0" rIns="0" bIns="0" rtlCol="0" anchor="t"/>
          <a:lstStyle/>
          <a:p>
            <a:pPr algn="ctr" indent="0" marL="0">
              <a:buNone/>
            </a:pPr>
            <a:r>
              <a:rPr lang="en-US" sz="900" dirty="0">
                <a:solidFill>
                  <a:srgbClr val="5FBFB3"/>
                </a:solidFill>
                <a:latin typeface="Calibri" pitchFamily="34" charset="0"/>
                <a:ea typeface="Calibri" pitchFamily="34" charset="-122"/>
                <a:cs typeface="Calibri" pitchFamily="34" charset="-120"/>
              </a:rPr>
              <a:t>runs inside what jstack brings up</a:t>
            </a:r>
            <a:endParaRPr lang="en-US" sz="900" dirty="0"/>
          </a:p>
        </p:txBody>
      </p:sp>
      <p:sp>
        <p:nvSpPr>
          <p:cNvPr id="23" name="Shape 21"/>
          <p:cNvSpPr/>
          <p:nvPr/>
        </p:nvSpPr>
        <p:spPr>
          <a:xfrm>
            <a:off x="548640" y="4434840"/>
            <a:ext cx="11091672" cy="1325880"/>
          </a:xfrm>
          <a:prstGeom prst="roundRect">
            <a:avLst>
              <a:gd name="adj" fmla="val 8276"/>
            </a:avLst>
          </a:prstGeom>
          <a:solidFill>
            <a:srgbClr val="0F1720"/>
          </a:solidFill>
          <a:ln w="12700">
            <a:solidFill>
              <a:srgbClr val="3A4A5C"/>
            </a:solidFill>
            <a:prstDash val="solid"/>
          </a:ln>
        </p:spPr>
      </p:sp>
      <p:sp>
        <p:nvSpPr>
          <p:cNvPr id="24" name="Text 22"/>
          <p:cNvSpPr txBox="1"/>
          <p:nvPr/>
        </p:nvSpPr>
        <p:spPr>
          <a:xfrm>
            <a:off x="777240" y="4572000"/>
            <a:ext cx="3453384" cy="274320"/>
          </a:xfrm>
          <a:prstGeom prst="rect">
            <a:avLst/>
          </a:prstGeom>
          <a:noFill/>
          <a:ln/>
        </p:spPr>
        <p:txBody>
          <a:bodyPr wrap="square" lIns="0" tIns="0" rIns="0" bIns="0" rtlCol="0" anchor="t"/>
          <a:lstStyle/>
          <a:p>
            <a:pPr indent="0" marL="0">
              <a:buNone/>
            </a:pPr>
            <a:r>
              <a:rPr lang="en-US" sz="1250" b="1" dirty="0">
                <a:solidFill>
                  <a:srgbClr val="F7F7F3"/>
                </a:solidFill>
                <a:latin typeface="Calibri" pitchFamily="34" charset="0"/>
                <a:ea typeface="Calibri" pitchFamily="34" charset="-122"/>
                <a:cs typeface="Calibri" pitchFamily="34" charset="-120"/>
              </a:rPr>
              <a:t>Overlap</a:t>
            </a:r>
            <a:endParaRPr lang="en-US" sz="1250" dirty="0"/>
          </a:p>
        </p:txBody>
      </p:sp>
      <p:sp>
        <p:nvSpPr>
          <p:cNvPr id="25" name="Text 23"/>
          <p:cNvSpPr txBox="1"/>
          <p:nvPr/>
        </p:nvSpPr>
        <p:spPr>
          <a:xfrm>
            <a:off x="777240" y="4892040"/>
            <a:ext cx="3453384" cy="822960"/>
          </a:xfrm>
          <a:prstGeom prst="rect">
            <a:avLst/>
          </a:prstGeom>
          <a:noFill/>
          <a:ln/>
        </p:spPr>
        <p:txBody>
          <a:bodyPr wrap="square" lIns="0" tIns="0" rIns="0" bIns="0" rtlCol="0" anchor="t"/>
          <a:lstStyle/>
          <a:p>
            <a:pPr indent="0" marL="0">
              <a:buNone/>
            </a:pPr>
            <a:r>
              <a:rPr lang="en-US" sz="1050" dirty="0">
                <a:solidFill>
                  <a:srgbClr val="BFD8D5"/>
                </a:solidFill>
                <a:latin typeface="Calibri" pitchFamily="34" charset="0"/>
                <a:ea typeface="Calibri" pitchFamily="34" charset="-122"/>
                <a:cs typeface="Calibri" pitchFamily="34" charset="-120"/>
              </a:rPr>
              <a:t>Juno's next job: the agent that helps a developer use the SDK. Scaffold a pack, propose a profile, wire a skill, run the keyless test, from a description.</a:t>
            </a:r>
            <a:endParaRPr lang="en-US" sz="1050" dirty="0"/>
          </a:p>
        </p:txBody>
      </p:sp>
      <p:sp>
        <p:nvSpPr>
          <p:cNvPr id="26" name="Text 24"/>
          <p:cNvSpPr txBox="1"/>
          <p:nvPr/>
        </p:nvSpPr>
        <p:spPr>
          <a:xfrm>
            <a:off x="4504944" y="4572000"/>
            <a:ext cx="3453384" cy="274320"/>
          </a:xfrm>
          <a:prstGeom prst="rect">
            <a:avLst/>
          </a:prstGeom>
          <a:noFill/>
          <a:ln/>
        </p:spPr>
        <p:txBody>
          <a:bodyPr wrap="square" lIns="0" tIns="0" rIns="0" bIns="0" rtlCol="0" anchor="t"/>
          <a:lstStyle/>
          <a:p>
            <a:pPr indent="0" marL="0">
              <a:buNone/>
            </a:pPr>
            <a:r>
              <a:rPr lang="en-US" sz="1250" b="1" dirty="0">
                <a:solidFill>
                  <a:srgbClr val="F7F7F3"/>
                </a:solidFill>
                <a:latin typeface="Calibri" pitchFamily="34" charset="0"/>
                <a:ea typeface="Calibri" pitchFamily="34" charset="-122"/>
                <a:cs typeface="Calibri" pitchFamily="34" charset="-120"/>
              </a:rPr>
              <a:t>Duplication</a:t>
            </a:r>
            <a:endParaRPr lang="en-US" sz="1250" dirty="0"/>
          </a:p>
        </p:txBody>
      </p:sp>
      <p:sp>
        <p:nvSpPr>
          <p:cNvPr id="27" name="Text 25"/>
          <p:cNvSpPr txBox="1"/>
          <p:nvPr/>
        </p:nvSpPr>
        <p:spPr>
          <a:xfrm>
            <a:off x="4504944" y="4892040"/>
            <a:ext cx="3453384" cy="822960"/>
          </a:xfrm>
          <a:prstGeom prst="rect">
            <a:avLst/>
          </a:prstGeom>
          <a:noFill/>
          <a:ln/>
        </p:spPr>
        <p:txBody>
          <a:bodyPr wrap="square" lIns="0" tIns="0" rIns="0" bIns="0" rtlCol="0" anchor="t"/>
          <a:lstStyle/>
          <a:p>
            <a:pPr indent="0" marL="0">
              <a:buNone/>
            </a:pPr>
            <a:r>
              <a:rPr lang="en-US" sz="1050" dirty="0">
                <a:solidFill>
                  <a:srgbClr val="BFD8D5"/>
                </a:solidFill>
                <a:latin typeface="Calibri" pitchFamily="34" charset="0"/>
                <a:ea typeface="Calibri" pitchFamily="34" charset="-122"/>
                <a:cs typeface="Calibri" pitchFamily="34" charset="-120"/>
              </a:rPr>
              <a:t>Juno's stack-operator profile and jstack's operator service both automate running the platform. Needs one owner.</a:t>
            </a:r>
            <a:endParaRPr lang="en-US" sz="1050" dirty="0"/>
          </a:p>
        </p:txBody>
      </p:sp>
      <p:sp>
        <p:nvSpPr>
          <p:cNvPr id="28" name="Text 26"/>
          <p:cNvSpPr txBox="1"/>
          <p:nvPr/>
        </p:nvSpPr>
        <p:spPr>
          <a:xfrm>
            <a:off x="8232648" y="4572000"/>
            <a:ext cx="3453384" cy="274320"/>
          </a:xfrm>
          <a:prstGeom prst="rect">
            <a:avLst/>
          </a:prstGeom>
          <a:noFill/>
          <a:ln/>
        </p:spPr>
        <p:txBody>
          <a:bodyPr wrap="square" lIns="0" tIns="0" rIns="0" bIns="0" rtlCol="0" anchor="t"/>
          <a:lstStyle/>
          <a:p>
            <a:pPr indent="0" marL="0">
              <a:buNone/>
            </a:pPr>
            <a:r>
              <a:rPr lang="en-US" sz="1250" b="1" dirty="0">
                <a:solidFill>
                  <a:srgbClr val="F7F7F3"/>
                </a:solidFill>
                <a:latin typeface="Calibri" pitchFamily="34" charset="0"/>
                <a:ea typeface="Calibri" pitchFamily="34" charset="-122"/>
                <a:cs typeface="Calibri" pitchFamily="34" charset="-120"/>
              </a:rPr>
              <a:t>Cost removed</a:t>
            </a:r>
            <a:endParaRPr lang="en-US" sz="1250" dirty="0"/>
          </a:p>
        </p:txBody>
      </p:sp>
      <p:sp>
        <p:nvSpPr>
          <p:cNvPr id="29" name="Text 27"/>
          <p:cNvSpPr txBox="1"/>
          <p:nvPr/>
        </p:nvSpPr>
        <p:spPr>
          <a:xfrm>
            <a:off x="8232648" y="4892040"/>
            <a:ext cx="3453384" cy="822960"/>
          </a:xfrm>
          <a:prstGeom prst="rect">
            <a:avLst/>
          </a:prstGeom>
          <a:noFill/>
          <a:ln/>
        </p:spPr>
        <p:txBody>
          <a:bodyPr wrap="square" lIns="0" tIns="0" rIns="0" bIns="0" rtlCol="0" anchor="t"/>
          <a:lstStyle/>
          <a:p>
            <a:pPr indent="0" marL="0">
              <a:buNone/>
            </a:pPr>
            <a:r>
              <a:rPr lang="en-US" sz="1050" dirty="0">
                <a:solidFill>
                  <a:srgbClr val="BFD8D5"/>
                </a:solidFill>
                <a:latin typeface="Calibri" pitchFamily="34" charset="0"/>
                <a:ea typeface="Calibri" pitchFamily="34" charset="-122"/>
                <a:cs typeface="Calibri" pitchFamily="34" charset="-120"/>
              </a:rPr>
              <a:t>jstack: the cost of testing a change end to end. SDK: the cost of relearning the platform. Juno: the cost of needing a repository to author.</a:t>
            </a:r>
            <a:endParaRPr lang="en-US" sz="1050" dirty="0"/>
          </a:p>
        </p:txBody>
      </p:sp>
      <p:sp>
        <p:nvSpPr>
          <p:cNvPr id="30" name="Text 28"/>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9FB0BF"/>
                </a:solidFill>
                <a:latin typeface="Courier New" pitchFamily="34" charset="0"/>
                <a:ea typeface="Courier New" pitchFamily="34" charset="-122"/>
                <a:cs typeface="Courier New" pitchFamily="34" charset="-120"/>
              </a:rPr>
              <a:t>Three Platform Terms, Explained · project doc, August 2026</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1A24"/>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F7F7F3"/>
                </a:solidFill>
                <a:latin typeface="Calibri" pitchFamily="34" charset="0"/>
                <a:ea typeface="Calibri" pitchFamily="34" charset="-122"/>
                <a:cs typeface="Calibri" pitchFamily="34" charset="-120"/>
              </a:rPr>
              <a:t>SDK: shared implementation for every service</a:t>
            </a:r>
            <a:endParaRPr lang="en-US" sz="3000" dirty="0"/>
          </a:p>
        </p:txBody>
      </p:sp>
      <p:sp>
        <p:nvSpPr>
          <p:cNvPr id="3" name="Shape 1"/>
          <p:cNvSpPr/>
          <p:nvPr/>
        </p:nvSpPr>
        <p:spPr>
          <a:xfrm>
            <a:off x="548640" y="1737360"/>
            <a:ext cx="2622042" cy="2286000"/>
          </a:xfrm>
          <a:prstGeom prst="roundRect">
            <a:avLst>
              <a:gd name="adj" fmla="val 4800"/>
            </a:avLst>
          </a:prstGeom>
          <a:solidFill>
            <a:srgbClr val="1B2632"/>
          </a:solidFill>
          <a:ln w="12700">
            <a:solidFill>
              <a:srgbClr val="1B2632"/>
            </a:solidFill>
            <a:prstDash val="solid"/>
          </a:ln>
        </p:spPr>
      </p:sp>
      <p:sp>
        <p:nvSpPr>
          <p:cNvPr id="4" name="Text 2"/>
          <p:cNvSpPr txBox="1"/>
          <p:nvPr/>
        </p:nvSpPr>
        <p:spPr>
          <a:xfrm>
            <a:off x="777240" y="1938528"/>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Reasoning</a:t>
            </a:r>
            <a:endParaRPr lang="en-US" sz="1500" dirty="0"/>
          </a:p>
        </p:txBody>
      </p:sp>
      <p:sp>
        <p:nvSpPr>
          <p:cNvPr id="5" name="Text 3"/>
          <p:cNvSpPr txBox="1"/>
          <p:nvPr/>
        </p:nvSpPr>
        <p:spPr>
          <a:xfrm>
            <a:off x="777240" y="2487168"/>
            <a:ext cx="2164842" cy="1353312"/>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13 cognitive modes, the expert base classes, the conductor with checkpoints and durable suspension. A pack tunes them with markdown and a model tier. It does not reimplement them.</a:t>
            </a:r>
            <a:endParaRPr lang="en-US" sz="1150" dirty="0"/>
          </a:p>
        </p:txBody>
      </p:sp>
      <p:sp>
        <p:nvSpPr>
          <p:cNvPr id="6" name="Shape 4"/>
          <p:cNvSpPr/>
          <p:nvPr/>
        </p:nvSpPr>
        <p:spPr>
          <a:xfrm>
            <a:off x="3371850" y="1737360"/>
            <a:ext cx="2622042" cy="2286000"/>
          </a:xfrm>
          <a:prstGeom prst="roundRect">
            <a:avLst>
              <a:gd name="adj" fmla="val 4800"/>
            </a:avLst>
          </a:prstGeom>
          <a:solidFill>
            <a:srgbClr val="1B2632"/>
          </a:solidFill>
          <a:ln w="12700">
            <a:solidFill>
              <a:srgbClr val="1B2632"/>
            </a:solidFill>
            <a:prstDash val="solid"/>
          </a:ln>
        </p:spPr>
      </p:sp>
      <p:sp>
        <p:nvSpPr>
          <p:cNvPr id="7" name="Text 5"/>
          <p:cNvSpPr txBox="1"/>
          <p:nvPr/>
        </p:nvSpPr>
        <p:spPr>
          <a:xfrm>
            <a:off x="3600450" y="1938528"/>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Governance</a:t>
            </a:r>
            <a:endParaRPr lang="en-US" sz="1500" dirty="0"/>
          </a:p>
        </p:txBody>
      </p:sp>
      <p:sp>
        <p:nvSpPr>
          <p:cNvPr id="8" name="Text 6"/>
          <p:cNvSpPr txBox="1"/>
          <p:nvPr/>
        </p:nvSpPr>
        <p:spPr>
          <a:xfrm>
            <a:off x="3600450" y="2487168"/>
            <a:ext cx="2164842" cy="1353312"/>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Policy IR and its evaluators, the authority resolver, guardrails, the override vocabulary, refusal as a typed result. One implementation, every vertical.</a:t>
            </a:r>
            <a:endParaRPr lang="en-US" sz="1150" dirty="0"/>
          </a:p>
        </p:txBody>
      </p:sp>
      <p:sp>
        <p:nvSpPr>
          <p:cNvPr id="9" name="Shape 7"/>
          <p:cNvSpPr/>
          <p:nvPr/>
        </p:nvSpPr>
        <p:spPr>
          <a:xfrm>
            <a:off x="6195060" y="1737360"/>
            <a:ext cx="2622042" cy="2286000"/>
          </a:xfrm>
          <a:prstGeom prst="roundRect">
            <a:avLst>
              <a:gd name="adj" fmla="val 4800"/>
            </a:avLst>
          </a:prstGeom>
          <a:solidFill>
            <a:srgbClr val="1B2632"/>
          </a:solidFill>
          <a:ln w="12700">
            <a:solidFill>
              <a:srgbClr val="1B2632"/>
            </a:solidFill>
            <a:prstDash val="solid"/>
          </a:ln>
        </p:spPr>
      </p:sp>
      <p:sp>
        <p:nvSpPr>
          <p:cNvPr id="10" name="Text 8"/>
          <p:cNvSpPr txBox="1"/>
          <p:nvPr/>
        </p:nvSpPr>
        <p:spPr>
          <a:xfrm>
            <a:off x="6423660" y="1938528"/>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Models and tools</a:t>
            </a:r>
            <a:endParaRPr lang="en-US" sz="1500" dirty="0"/>
          </a:p>
        </p:txBody>
      </p:sp>
      <p:sp>
        <p:nvSpPr>
          <p:cNvPr id="11" name="Text 9"/>
          <p:cNvSpPr txBox="1"/>
          <p:nvPr/>
        </p:nvSpPr>
        <p:spPr>
          <a:xfrm>
            <a:off x="6423660" y="2487168"/>
            <a:ext cx="2164842" cy="1353312"/>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The LLM gateway with routing, retry and a priced model card per model; the tool registry; the document agent with its confidence floor.</a:t>
            </a:r>
            <a:endParaRPr lang="en-US" sz="1150" dirty="0"/>
          </a:p>
        </p:txBody>
      </p:sp>
      <p:sp>
        <p:nvSpPr>
          <p:cNvPr id="12" name="Shape 10"/>
          <p:cNvSpPr/>
          <p:nvPr/>
        </p:nvSpPr>
        <p:spPr>
          <a:xfrm>
            <a:off x="9018270" y="1737360"/>
            <a:ext cx="2622042" cy="2286000"/>
          </a:xfrm>
          <a:prstGeom prst="roundRect">
            <a:avLst>
              <a:gd name="adj" fmla="val 4800"/>
            </a:avLst>
          </a:prstGeom>
          <a:solidFill>
            <a:srgbClr val="1F6F6B"/>
          </a:solidFill>
          <a:ln w="12700">
            <a:solidFill>
              <a:srgbClr val="1F6F6B"/>
            </a:solidFill>
            <a:prstDash val="solid"/>
          </a:ln>
        </p:spPr>
      </p:sp>
      <p:sp>
        <p:nvSpPr>
          <p:cNvPr id="13" name="Text 11"/>
          <p:cNvSpPr txBox="1"/>
          <p:nvPr/>
        </p:nvSpPr>
        <p:spPr>
          <a:xfrm>
            <a:off x="9246870" y="1938528"/>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The Fabric</a:t>
            </a:r>
            <a:endParaRPr lang="en-US" sz="1500" dirty="0"/>
          </a:p>
        </p:txBody>
      </p:sp>
      <p:sp>
        <p:nvSpPr>
          <p:cNvPr id="14" name="Text 12"/>
          <p:cNvSpPr txBox="1"/>
          <p:nvPr/>
        </p:nvSpPr>
        <p:spPr>
          <a:xfrm>
            <a:off x="9246870" y="2487168"/>
            <a:ext cx="2164842" cy="1353312"/>
          </a:xfrm>
          <a:prstGeom prst="rect">
            <a:avLst/>
          </a:prstGeom>
          <a:noFill/>
          <a:ln/>
        </p:spPr>
        <p:txBody>
          <a:bodyPr wrap="square" lIns="0" tIns="0" rIns="0" bIns="0" rtlCol="0" anchor="t"/>
          <a:lstStyle/>
          <a:p>
            <a:pPr indent="0" marL="0">
              <a:buNone/>
            </a:pPr>
            <a:r>
              <a:rPr lang="en-US" sz="1150" dirty="0">
                <a:solidFill>
                  <a:srgbClr val="E4F4F1"/>
                </a:solidFill>
                <a:latin typeface="Calibri" pitchFamily="34" charset="0"/>
                <a:ea typeface="Calibri" pitchFamily="34" charset="-122"/>
                <a:cs typeface="Calibri" pitchFamily="34" charset="-120"/>
              </a:rPr>
              <a:t>Canonical, graph, rag, docs, entities. A service that imports the SDK reads and writes the institutional record through one contract instead of reaching into a store.</a:t>
            </a:r>
            <a:endParaRPr lang="en-US" sz="1150" dirty="0"/>
          </a:p>
        </p:txBody>
      </p:sp>
      <p:sp>
        <p:nvSpPr>
          <p:cNvPr id="15" name="Text 13"/>
          <p:cNvSpPr txBox="1"/>
          <p:nvPr/>
        </p:nvSpPr>
        <p:spPr>
          <a:xfrm>
            <a:off x="548640" y="4297680"/>
            <a:ext cx="5440680" cy="1463040"/>
          </a:xfrm>
          <a:prstGeom prst="rect">
            <a:avLst/>
          </a:prstGeom>
          <a:noFill/>
          <a:ln/>
        </p:spPr>
        <p:txBody>
          <a:bodyPr wrap="square" lIns="0" tIns="0" rIns="0" bIns="0" rtlCol="0" anchor="t"/>
          <a:lstStyle/>
          <a:p>
            <a:pPr indent="0" marL="0">
              <a:buNone/>
            </a:pPr>
            <a:r>
              <a:rPr lang="en-US" sz="1200" dirty="0">
                <a:solidFill>
                  <a:srgbClr val="BFD8D5"/>
                </a:solidFill>
                <a:latin typeface="Calibri" pitchFamily="34" charset="0"/>
                <a:ea typeface="Calibri" pitchFamily="34" charset="-122"/>
                <a:cs typeface="Calibri" pitchFamily="34" charset="-120"/>
              </a:rPr>
              <a:t>jazzx-assistant already runs on it in production. eval-service and assistant are replacing their own copies of the first three columns with imports, and new capability such as formal verification lands on the SDK first. Each service still carrying a private copy is a place where a governance fix has to land twice.</a:t>
            </a:r>
            <a:endParaRPr lang="en-US" sz="1200" dirty="0"/>
          </a:p>
        </p:txBody>
      </p:sp>
      <p:sp>
        <p:nvSpPr>
          <p:cNvPr id="16" name="Text 14"/>
          <p:cNvSpPr txBox="1"/>
          <p:nvPr/>
        </p:nvSpPr>
        <p:spPr>
          <a:xfrm>
            <a:off x="6199632" y="4297680"/>
            <a:ext cx="5440680" cy="1463040"/>
          </a:xfrm>
          <a:prstGeom prst="rect">
            <a:avLst/>
          </a:prstGeom>
          <a:noFill/>
          <a:ln/>
        </p:spPr>
        <p:txBody>
          <a:bodyPr wrap="square" lIns="0" tIns="0" rIns="0" bIns="0" rtlCol="0" anchor="t"/>
          <a:lstStyle/>
          <a:p>
            <a:pPr indent="0" marL="0">
              <a:buNone/>
            </a:pPr>
            <a:r>
              <a:rPr lang="en-US" sz="1200" dirty="0">
                <a:solidFill>
                  <a:srgbClr val="BFD8D5"/>
                </a:solidFill>
                <a:latin typeface="Calibri" pitchFamily="34" charset="0"/>
                <a:ea typeface="Calibri" pitchFamily="34" charset="-122"/>
                <a:cs typeface="Calibri" pitchFamily="34" charset="-120"/>
              </a:rPr>
              <a:t>The fourth column is the new part. Content that did not exist before v2, the canonical chain, the ontology, the trace, is reachable only through the SDK. A service that wants the record has to import the thing that governs it.</a:t>
            </a:r>
            <a:endParaRPr lang="en-US" sz="1200" dirty="0"/>
          </a:p>
        </p:txBody>
      </p:sp>
      <p:sp>
        <p:nvSpPr>
          <p:cNvPr id="17" name="Text 15"/>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9FB0BF"/>
                </a:solidFill>
                <a:latin typeface="Courier New" pitchFamily="34" charset="0"/>
                <a:ea typeface="Courier New" pitchFamily="34" charset="-122"/>
                <a:cs typeface="Courier New" pitchFamily="34" charset="-120"/>
              </a:rPr>
              <a:t>Concept decks: "JazzX SDK, early alpha". In code: package jazzx_sdk 2.5.x, in the japes repository · platform_catalog derives all four inventories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THE SDK</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Five layers, each built on the one below</a:t>
            </a:r>
            <a:endParaRPr lang="en-US" sz="3000" dirty="0"/>
          </a:p>
        </p:txBody>
      </p:sp>
      <p:sp>
        <p:nvSpPr>
          <p:cNvPr id="4" name="Shape 2"/>
          <p:cNvSpPr/>
          <p:nvPr/>
        </p:nvSpPr>
        <p:spPr>
          <a:xfrm>
            <a:off x="548640" y="1691640"/>
            <a:ext cx="11091672" cy="640080"/>
          </a:xfrm>
          <a:prstGeom prst="roundRect">
            <a:avLst>
              <a:gd name="adj" fmla="val 11429"/>
            </a:avLst>
          </a:prstGeom>
          <a:solidFill>
            <a:srgbClr val="121A24"/>
          </a:solidFill>
          <a:ln w="12700">
            <a:solidFill>
              <a:srgbClr val="121A24"/>
            </a:solidFill>
            <a:prstDash val="solid"/>
          </a:ln>
        </p:spPr>
      </p:sp>
      <p:sp>
        <p:nvSpPr>
          <p:cNvPr id="5" name="Text 3"/>
          <p:cNvSpPr txBox="1"/>
          <p:nvPr/>
        </p:nvSpPr>
        <p:spPr>
          <a:xfrm>
            <a:off x="822960" y="1874520"/>
            <a:ext cx="2560320" cy="274320"/>
          </a:xfrm>
          <a:prstGeom prst="rect">
            <a:avLst/>
          </a:prstGeom>
          <a:noFill/>
          <a:ln/>
        </p:spPr>
        <p:txBody>
          <a:bodyPr wrap="square" lIns="0" tIns="0" rIns="0" bIns="0" rtlCol="0" anchor="t"/>
          <a:lstStyle/>
          <a:p>
            <a:pPr indent="0" marL="0">
              <a:buNone/>
            </a:pPr>
            <a:r>
              <a:rPr lang="en-US" sz="1300" b="1" dirty="0">
                <a:solidFill>
                  <a:srgbClr val="5FBFB3"/>
                </a:solidFill>
                <a:latin typeface="Courier New" pitchFamily="34" charset="0"/>
                <a:ea typeface="Courier New" pitchFamily="34" charset="-122"/>
                <a:cs typeface="Courier New" pitchFamily="34" charset="-120"/>
              </a:rPr>
              <a:t>Pipelines</a:t>
            </a:r>
            <a:endParaRPr lang="en-US" sz="1300" dirty="0"/>
          </a:p>
        </p:txBody>
      </p:sp>
      <p:sp>
        <p:nvSpPr>
          <p:cNvPr id="6" name="Text 4"/>
          <p:cNvSpPr txBox="1"/>
          <p:nvPr/>
        </p:nvSpPr>
        <p:spPr>
          <a:xfrm>
            <a:off x="3474720" y="1801368"/>
            <a:ext cx="7891272" cy="457200"/>
          </a:xfrm>
          <a:prstGeom prst="rect">
            <a:avLst/>
          </a:prstGeom>
          <a:noFill/>
          <a:ln/>
        </p:spPr>
        <p:txBody>
          <a:bodyPr wrap="square" lIns="0" tIns="0" rIns="0" bIns="0" rtlCol="0" anchor="ctr"/>
          <a:lstStyle/>
          <a:p>
            <a:pPr indent="0" marL="0">
              <a:buNone/>
            </a:pPr>
            <a:r>
              <a:rPr lang="en-US" sz="1150" dirty="0">
                <a:solidFill>
                  <a:srgbClr val="F7F7F3"/>
                </a:solidFill>
                <a:latin typeface="Calibri" pitchFamily="34" charset="0"/>
                <a:ea typeface="Calibri" pitchFamily="34" charset="-122"/>
                <a:cs typeface="Calibri" pitchFamily="34" charset="-120"/>
              </a:rPr>
              <a:t>chat, document_ingest, vocabulary_build, policy_extract, financial_spread, investigation_loop. Declared steps the Conductor runs, with loops, streaming and durable resume</a:t>
            </a:r>
            <a:endParaRPr lang="en-US" sz="1150" dirty="0"/>
          </a:p>
        </p:txBody>
      </p:sp>
      <p:sp>
        <p:nvSpPr>
          <p:cNvPr id="7" name="Shape 5"/>
          <p:cNvSpPr/>
          <p:nvPr/>
        </p:nvSpPr>
        <p:spPr>
          <a:xfrm>
            <a:off x="548640" y="2441448"/>
            <a:ext cx="11091672" cy="640080"/>
          </a:xfrm>
          <a:prstGeom prst="roundRect">
            <a:avLst>
              <a:gd name="adj" fmla="val 11429"/>
            </a:avLst>
          </a:prstGeom>
          <a:solidFill>
            <a:srgbClr val="FFFFFF"/>
          </a:solidFill>
          <a:ln w="12700">
            <a:solidFill>
              <a:srgbClr val="DDDED6"/>
            </a:solidFill>
            <a:prstDash val="solid"/>
          </a:ln>
        </p:spPr>
      </p:sp>
      <p:sp>
        <p:nvSpPr>
          <p:cNvPr id="8" name="Text 6"/>
          <p:cNvSpPr txBox="1"/>
          <p:nvPr/>
        </p:nvSpPr>
        <p:spPr>
          <a:xfrm>
            <a:off x="822960" y="2624328"/>
            <a:ext cx="2560320" cy="274320"/>
          </a:xfrm>
          <a:prstGeom prst="rect">
            <a:avLst/>
          </a:prstGeom>
          <a:noFill/>
          <a:ln/>
        </p:spPr>
        <p:txBody>
          <a:bodyPr wrap="square" lIns="0" tIns="0" rIns="0" bIns="0" rtlCol="0" anchor="t"/>
          <a:lstStyle/>
          <a:p>
            <a:pPr indent="0" marL="0">
              <a:buNone/>
            </a:pPr>
            <a:r>
              <a:rPr lang="en-US" sz="1300" b="1" dirty="0">
                <a:solidFill>
                  <a:srgbClr val="121A24"/>
                </a:solidFill>
                <a:latin typeface="Courier New" pitchFamily="34" charset="0"/>
                <a:ea typeface="Courier New" pitchFamily="34" charset="-122"/>
                <a:cs typeface="Courier New" pitchFamily="34" charset="-120"/>
              </a:rPr>
              <a:t>Platform agents</a:t>
            </a:r>
            <a:endParaRPr lang="en-US" sz="1300" dirty="0"/>
          </a:p>
        </p:txBody>
      </p:sp>
      <p:sp>
        <p:nvSpPr>
          <p:cNvPr id="9" name="Text 7"/>
          <p:cNvSpPr txBox="1"/>
          <p:nvPr/>
        </p:nvSpPr>
        <p:spPr>
          <a:xfrm>
            <a:off x="3474720" y="2551176"/>
            <a:ext cx="7891272" cy="457200"/>
          </a:xfrm>
          <a:prstGeom prst="rect">
            <a:avLst/>
          </a:prstGeom>
          <a:noFill/>
          <a:ln/>
        </p:spPr>
        <p:txBody>
          <a:bodyPr wrap="square" lIns="0" tIns="0" rIns="0" bIns="0" rtlCol="0" anchor="ctr"/>
          <a:lstStyle/>
          <a:p>
            <a:pPr indent="0" marL="0">
              <a:buNone/>
            </a:pPr>
            <a:r>
              <a:rPr lang="en-US" sz="1150" dirty="0">
                <a:solidFill>
                  <a:srgbClr val="47525E"/>
                </a:solidFill>
                <a:latin typeface="Calibri" pitchFamily="34" charset="0"/>
                <a:ea typeface="Calibri" pitchFamily="34" charset="-122"/>
                <a:cs typeface="Calibri" pitchFamily="34" charset="-120"/>
              </a:rPr>
              <a:t>Interactive, Document, KG, Reasoning and Adjudication agents, configured as data</a:t>
            </a:r>
            <a:endParaRPr lang="en-US" sz="1150" dirty="0"/>
          </a:p>
        </p:txBody>
      </p:sp>
      <p:sp>
        <p:nvSpPr>
          <p:cNvPr id="10" name="Shape 8"/>
          <p:cNvSpPr/>
          <p:nvPr/>
        </p:nvSpPr>
        <p:spPr>
          <a:xfrm>
            <a:off x="548640" y="3191256"/>
            <a:ext cx="11091672" cy="640080"/>
          </a:xfrm>
          <a:prstGeom prst="roundRect">
            <a:avLst>
              <a:gd name="adj" fmla="val 11429"/>
            </a:avLst>
          </a:prstGeom>
          <a:solidFill>
            <a:srgbClr val="FFFFFF"/>
          </a:solidFill>
          <a:ln w="12700">
            <a:solidFill>
              <a:srgbClr val="DDDED6"/>
            </a:solidFill>
            <a:prstDash val="solid"/>
          </a:ln>
        </p:spPr>
      </p:sp>
      <p:sp>
        <p:nvSpPr>
          <p:cNvPr id="11" name="Text 9"/>
          <p:cNvSpPr txBox="1"/>
          <p:nvPr/>
        </p:nvSpPr>
        <p:spPr>
          <a:xfrm>
            <a:off x="822960" y="3374136"/>
            <a:ext cx="2560320" cy="274320"/>
          </a:xfrm>
          <a:prstGeom prst="rect">
            <a:avLst/>
          </a:prstGeom>
          <a:noFill/>
          <a:ln/>
        </p:spPr>
        <p:txBody>
          <a:bodyPr wrap="square" lIns="0" tIns="0" rIns="0" bIns="0" rtlCol="0" anchor="t"/>
          <a:lstStyle/>
          <a:p>
            <a:pPr indent="0" marL="0">
              <a:buNone/>
            </a:pPr>
            <a:r>
              <a:rPr lang="en-US" sz="1300" b="1" dirty="0">
                <a:solidFill>
                  <a:srgbClr val="121A24"/>
                </a:solidFill>
                <a:latin typeface="Courier New" pitchFamily="34" charset="0"/>
                <a:ea typeface="Courier New" pitchFamily="34" charset="-122"/>
                <a:cs typeface="Courier New" pitchFamily="34" charset="-120"/>
              </a:rPr>
              <a:t>Agent execution</a:t>
            </a:r>
            <a:endParaRPr lang="en-US" sz="1300" dirty="0"/>
          </a:p>
        </p:txBody>
      </p:sp>
      <p:sp>
        <p:nvSpPr>
          <p:cNvPr id="12" name="Text 10"/>
          <p:cNvSpPr txBox="1"/>
          <p:nvPr/>
        </p:nvSpPr>
        <p:spPr>
          <a:xfrm>
            <a:off x="3474720" y="3300984"/>
            <a:ext cx="7891272" cy="457200"/>
          </a:xfrm>
          <a:prstGeom prst="rect">
            <a:avLst/>
          </a:prstGeom>
          <a:noFill/>
          <a:ln/>
        </p:spPr>
        <p:txBody>
          <a:bodyPr wrap="square" lIns="0" tIns="0" rIns="0" bIns="0" rtlCol="0" anchor="ctr"/>
          <a:lstStyle/>
          <a:p>
            <a:pPr indent="0" marL="0">
              <a:buNone/>
            </a:pPr>
            <a:r>
              <a:rPr lang="en-US" sz="1150" dirty="0">
                <a:solidFill>
                  <a:srgbClr val="47525E"/>
                </a:solidFill>
                <a:latin typeface="Calibri" pitchFamily="34" charset="0"/>
                <a:ea typeface="Calibri" pitchFamily="34" charset="-122"/>
                <a:cs typeface="Calibri" pitchFamily="34" charset="-120"/>
              </a:rPr>
              <a:t>Multi-provider model routing and fallback, retry with failure classification, tracing, cost and budget</a:t>
            </a:r>
            <a:endParaRPr lang="en-US" sz="1150" dirty="0"/>
          </a:p>
        </p:txBody>
      </p:sp>
      <p:sp>
        <p:nvSpPr>
          <p:cNvPr id="13" name="Shape 11"/>
          <p:cNvSpPr/>
          <p:nvPr/>
        </p:nvSpPr>
        <p:spPr>
          <a:xfrm>
            <a:off x="548640" y="3941064"/>
            <a:ext cx="11091672" cy="640080"/>
          </a:xfrm>
          <a:prstGeom prst="roundRect">
            <a:avLst>
              <a:gd name="adj" fmla="val 11429"/>
            </a:avLst>
          </a:prstGeom>
          <a:solidFill>
            <a:srgbClr val="FFFFFF"/>
          </a:solidFill>
          <a:ln w="12700">
            <a:solidFill>
              <a:srgbClr val="1F6F6B"/>
            </a:solidFill>
            <a:prstDash val="solid"/>
          </a:ln>
        </p:spPr>
      </p:sp>
      <p:sp>
        <p:nvSpPr>
          <p:cNvPr id="14" name="Text 12"/>
          <p:cNvSpPr txBox="1"/>
          <p:nvPr/>
        </p:nvSpPr>
        <p:spPr>
          <a:xfrm>
            <a:off x="822960" y="4123944"/>
            <a:ext cx="2560320" cy="274320"/>
          </a:xfrm>
          <a:prstGeom prst="rect">
            <a:avLst/>
          </a:prstGeom>
          <a:noFill/>
          <a:ln/>
        </p:spPr>
        <p:txBody>
          <a:bodyPr wrap="square" lIns="0" tIns="0" rIns="0" bIns="0" rtlCol="0" anchor="t"/>
          <a:lstStyle/>
          <a:p>
            <a:pPr indent="0" marL="0">
              <a:buNone/>
            </a:pPr>
            <a:r>
              <a:rPr lang="en-US" sz="1300" b="1" dirty="0">
                <a:solidFill>
                  <a:srgbClr val="1F6F6B"/>
                </a:solidFill>
                <a:latin typeface="Courier New" pitchFamily="34" charset="0"/>
                <a:ea typeface="Courier New" pitchFamily="34" charset="-122"/>
                <a:cs typeface="Courier New" pitchFamily="34" charset="-120"/>
              </a:rPr>
              <a:t>Knowledge Fabric</a:t>
            </a:r>
            <a:endParaRPr lang="en-US" sz="1300" dirty="0"/>
          </a:p>
        </p:txBody>
      </p:sp>
      <p:sp>
        <p:nvSpPr>
          <p:cNvPr id="15" name="Text 13"/>
          <p:cNvSpPr txBox="1"/>
          <p:nvPr/>
        </p:nvSpPr>
        <p:spPr>
          <a:xfrm>
            <a:off x="3474720" y="4050792"/>
            <a:ext cx="7891272" cy="457200"/>
          </a:xfrm>
          <a:prstGeom prst="rect">
            <a:avLst/>
          </a:prstGeom>
          <a:noFill/>
          <a:ln/>
        </p:spPr>
        <p:txBody>
          <a:bodyPr wrap="square" lIns="0" tIns="0" rIns="0" bIns="0" rtlCol="0" anchor="ctr"/>
          <a:lstStyle/>
          <a:p>
            <a:pPr indent="0" marL="0">
              <a:buNone/>
            </a:pPr>
            <a:r>
              <a:rPr lang="en-US" sz="1150" dirty="0">
                <a:solidFill>
                  <a:srgbClr val="47525E"/>
                </a:solidFill>
                <a:latin typeface="Calibri" pitchFamily="34" charset="0"/>
                <a:ea typeface="Calibri" pitchFamily="34" charset="-122"/>
                <a:cs typeface="Calibri" pitchFamily="34" charset="-120"/>
              </a:rPr>
              <a:t>Canonical objects, graph, retrieval, documents, governed guidance. The first half of this talk lives here</a:t>
            </a:r>
            <a:endParaRPr lang="en-US" sz="1150" dirty="0"/>
          </a:p>
        </p:txBody>
      </p:sp>
      <p:sp>
        <p:nvSpPr>
          <p:cNvPr id="16" name="Shape 14"/>
          <p:cNvSpPr/>
          <p:nvPr/>
        </p:nvSpPr>
        <p:spPr>
          <a:xfrm>
            <a:off x="548640" y="4690872"/>
            <a:ext cx="11091672" cy="640080"/>
          </a:xfrm>
          <a:prstGeom prst="roundRect">
            <a:avLst>
              <a:gd name="adj" fmla="val 11429"/>
            </a:avLst>
          </a:prstGeom>
          <a:solidFill>
            <a:srgbClr val="FFFFFF"/>
          </a:solidFill>
          <a:ln w="12700">
            <a:solidFill>
              <a:srgbClr val="DDDED6"/>
            </a:solidFill>
            <a:prstDash val="solid"/>
          </a:ln>
        </p:spPr>
      </p:sp>
      <p:sp>
        <p:nvSpPr>
          <p:cNvPr id="17" name="Text 15"/>
          <p:cNvSpPr txBox="1"/>
          <p:nvPr/>
        </p:nvSpPr>
        <p:spPr>
          <a:xfrm>
            <a:off x="822960" y="4873752"/>
            <a:ext cx="2560320" cy="274320"/>
          </a:xfrm>
          <a:prstGeom prst="rect">
            <a:avLst/>
          </a:prstGeom>
          <a:noFill/>
          <a:ln/>
        </p:spPr>
        <p:txBody>
          <a:bodyPr wrap="square" lIns="0" tIns="0" rIns="0" bIns="0" rtlCol="0" anchor="t"/>
          <a:lstStyle/>
          <a:p>
            <a:pPr indent="0" marL="0">
              <a:buNone/>
            </a:pPr>
            <a:r>
              <a:rPr lang="en-US" sz="1300" b="1" dirty="0">
                <a:solidFill>
                  <a:srgbClr val="121A24"/>
                </a:solidFill>
                <a:latin typeface="Courier New" pitchFamily="34" charset="0"/>
                <a:ea typeface="Courier New" pitchFamily="34" charset="-122"/>
                <a:cs typeface="Courier New" pitchFamily="34" charset="-120"/>
              </a:rPr>
              <a:t>Runtime</a:t>
            </a:r>
            <a:endParaRPr lang="en-US" sz="1300" dirty="0"/>
          </a:p>
        </p:txBody>
      </p:sp>
      <p:sp>
        <p:nvSpPr>
          <p:cNvPr id="18" name="Text 16"/>
          <p:cNvSpPr txBox="1"/>
          <p:nvPr/>
        </p:nvSpPr>
        <p:spPr>
          <a:xfrm>
            <a:off x="3474720" y="4800600"/>
            <a:ext cx="7891272" cy="457200"/>
          </a:xfrm>
          <a:prstGeom prst="rect">
            <a:avLst/>
          </a:prstGeom>
          <a:noFill/>
          <a:ln/>
        </p:spPr>
        <p:txBody>
          <a:bodyPr wrap="square" lIns="0" tIns="0" rIns="0" bIns="0" rtlCol="0" anchor="ctr"/>
          <a:lstStyle/>
          <a:p>
            <a:pPr indent="0" marL="0">
              <a:buNone/>
            </a:pPr>
            <a:r>
              <a:rPr lang="en-US" sz="1150" dirty="0">
                <a:solidFill>
                  <a:srgbClr val="47525E"/>
                </a:solidFill>
                <a:latin typeface="Calibri" pitchFamily="34" charset="0"/>
                <a:ea typeface="Calibri" pitchFamily="34" charset="-122"/>
                <a:cs typeface="Calibri" pitchFamily="34" charset="-120"/>
              </a:rPr>
              <a:t>Queue processing, handlers, Kernel and Knowledge Hub clients, settings, the boot contract</a:t>
            </a:r>
            <a:endParaRPr lang="en-US" sz="1150" dirty="0"/>
          </a:p>
        </p:txBody>
      </p:sp>
      <p:sp>
        <p:nvSpPr>
          <p:cNvPr id="19" name="Text 17"/>
          <p:cNvSpPr txBox="1"/>
          <p:nvPr/>
        </p:nvSpPr>
        <p:spPr>
          <a:xfrm>
            <a:off x="548640" y="5532120"/>
            <a:ext cx="11091672" cy="274320"/>
          </a:xfrm>
          <a:prstGeom prst="rect">
            <a:avLst/>
          </a:prstGeom>
          <a:noFill/>
          <a:ln/>
        </p:spPr>
        <p:txBody>
          <a:bodyPr wrap="square" lIns="0" tIns="0" rIns="0" bIns="0" rtlCol="0" anchor="t"/>
          <a:lstStyle/>
          <a:p>
            <a:pPr indent="0" marL="0">
              <a:buNone/>
            </a:pPr>
            <a:r>
              <a:rPr lang="en-US" sz="1100" dirty="0">
                <a:solidFill>
                  <a:srgbClr val="8A8F86"/>
                </a:solidFill>
                <a:latin typeface="Calibri" pitchFamily="34" charset="0"/>
                <a:ea typeface="Calibri" pitchFamily="34" charset="-122"/>
                <a:cs typeface="Calibri" pitchFamily="34" charset="-120"/>
              </a:rPr>
              <a:t>Underneath: the OpenAI Agents SDK, made governed, traced and config-driven.</a:t>
            </a:r>
            <a:endParaRPr lang="en-US" sz="1100" dirty="0"/>
          </a:p>
        </p:txBody>
      </p:sp>
      <p:sp>
        <p:nvSpPr>
          <p:cNvPr id="20" name="Text 18"/>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jazzx_sdk 2.5.7 · pipelines/ · agents/ · llm/ · fabric/ · server/, queue_processor.py</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WHAT THE SDK GIVES A SERVICE</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Platform agents</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103120"/>
                <a:gridCol w="5120640"/>
                <a:gridCol w="3867912"/>
              </a:tblGrid>
              <a:tr h="0">
                <a:tc>
                  <a:txBody>
                    <a:bodyPr/>
                    <a:lstStyle/>
                    <a:p>
                      <a:pPr indent="0" marL="0">
                        <a:buNone/>
                      </a:pPr>
                      <a:r>
                        <a:rPr lang="en-US" sz="1050" b="1" dirty="0">
                          <a:solidFill>
                            <a:srgbClr val="F7F7F3"/>
                          </a:solidFill>
                          <a:latin typeface="Calibri" pitchFamily="34" charset="0"/>
                          <a:ea typeface="Calibri" pitchFamily="34" charset="-122"/>
                          <a:cs typeface="Calibri" pitchFamily="34" charset="-120"/>
                        </a:rPr>
                        <a:t>Agent</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050" b="1" dirty="0">
                          <a:solidFill>
                            <a:srgbClr val="F7F7F3"/>
                          </a:solidFill>
                          <a:latin typeface="Calibri" pitchFamily="34" charset="0"/>
                          <a:ea typeface="Calibri" pitchFamily="34" charset="-122"/>
                          <a:cs typeface="Calibri" pitchFamily="34" charset="-120"/>
                        </a:rPr>
                        <a:t>What it owns</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050" b="1" dirty="0">
                          <a:solidFill>
                            <a:srgbClr val="F7F7F3"/>
                          </a:solidFill>
                          <a:latin typeface="Calibri" pitchFamily="34" charset="0"/>
                          <a:ea typeface="Calibri" pitchFamily="34" charset="-122"/>
                          <a:cs typeface="Calibri" pitchFamily="34" charset="-120"/>
                        </a:rPr>
                        <a:t>Configured by</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r>
              <a:tr h="0">
                <a:tc>
                  <a:txBody>
                    <a:bodyPr/>
                    <a:lstStyle/>
                    <a:p>
                      <a:pPr indent="0" marL="0">
                        <a:buNone/>
                      </a:pPr>
                      <a:r>
                        <a:rPr lang="en-US" sz="1050" dirty="0">
                          <a:solidFill>
                            <a:srgbClr val="121A24"/>
                          </a:solidFill>
                          <a:latin typeface="Courier New" pitchFamily="34" charset="0"/>
                          <a:ea typeface="Courier New" pitchFamily="34" charset="-122"/>
                          <a:cs typeface="Courier New" pitchFamily="34" charset="-120"/>
                        </a:rPr>
                        <a:t>InteractiveAgent</a:t>
                      </a:r>
                      <a:endParaRPr lang="en-US" sz="10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A conversation. Persona, scope, grounding through the Fabric, skills as sub-agents, guardrails in and out. The assistant behind every chat surface</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A profile folder: profile.yaml, persona.md, skills/. No code</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21A24"/>
                          </a:solidFill>
                          <a:latin typeface="Courier New" pitchFamily="34" charset="0"/>
                          <a:ea typeface="Courier New" pitchFamily="34" charset="-122"/>
                          <a:cs typeface="Courier New" pitchFamily="34" charset="-120"/>
                        </a:rPr>
                        <a:t>DocumentAgent</a:t>
                      </a:r>
                      <a:endParaRPr lang="en-US" sz="10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Ingest, classify, extract, emit. Every value carries a source coordinate and a confidence; below the admission floor it is refused, not written</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A spec: templates, admission floor, chunking, collection and ontology ids</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050" dirty="0">
                          <a:solidFill>
                            <a:srgbClr val="121A24"/>
                          </a:solidFill>
                          <a:latin typeface="Courier New" pitchFamily="34" charset="0"/>
                          <a:ea typeface="Courier New" pitchFamily="34" charset="-122"/>
                          <a:cs typeface="Courier New" pitchFamily="34" charset="-120"/>
                        </a:rPr>
                        <a:t>KGAgent</a:t>
                      </a:r>
                      <a:endParaRPr lang="en-US" sz="10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Growing a pack's vocabulary from what its documents say. Observe, propose, decide under an admission policy, merge into a new version. Extraction stays with DocumentAgent</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A spec: pack id and admission policy (review, frequency, judged, trusted)</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21A24"/>
                          </a:solidFill>
                          <a:latin typeface="Courier New" pitchFamily="34" charset="0"/>
                          <a:ea typeface="Courier New" pitchFamily="34" charset="-122"/>
                          <a:cs typeface="Courier New" pitchFamily="34" charset="-120"/>
                        </a:rPr>
                        <a:t>ReasoningAgent</a:t>
                      </a:r>
                      <a:endParaRPr lang="en-US" sz="10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One structured model call, done properly: retry on transient errors, feedback on schema failure or truncation, tools optional. The primitive every cognitive mode now stands on</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A schema for the result, a prompt, optionally tools</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050" dirty="0">
                          <a:solidFill>
                            <a:srgbClr val="121A24"/>
                          </a:solidFill>
                          <a:latin typeface="Courier New" pitchFamily="34" charset="0"/>
                          <a:ea typeface="Courier New" pitchFamily="34" charset="-122"/>
                          <a:cs typeface="Courier New" pitchFamily="34" charset="-120"/>
                        </a:rPr>
                        <a:t>AdjudicationAgent</a:t>
                      </a:r>
                      <a:endParaRPr lang="en-US" sz="10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A case with many segments, run in parallel, reconciled, narrated. Each step tagged with its mode in the trace</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Segment list and the pack's rules; reconcile and emit can be overridden</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257800"/>
            <a:ext cx="11091672" cy="64008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All five run on the same execution kit: a run loop with turn limits, failure classification and retry, so no pack hand-rolls those. Agent definitions persist in a name-keyed store, which is the one thing the old kernel agent row had that the SDK lacked.</a:t>
            </a:r>
            <a:endParaRPr lang="en-US" sz="1150" dirty="0"/>
          </a:p>
        </p:txBody>
      </p:sp>
      <p:sp>
        <p:nvSpPr>
          <p:cNvPr id="6" name="Text 3"/>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jazzx_sdk/agents/{interactive,document,graph,reasoning,adjudication} · run_kit.py · definition_store.py</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WHAT THE SDK GIVES A SERVICE</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Reference pipelines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011680"/>
                <a:gridCol w="5029200"/>
                <a:gridCol w="4050792"/>
              </a:tblGrid>
              <a:tr h="0">
                <a:tc>
                  <a:txBody>
                    <a:bodyPr/>
                    <a:lstStyle/>
                    <a:p>
                      <a:pPr indent="0" marL="0">
                        <a:buNone/>
                      </a:pPr>
                      <a:r>
                        <a:rPr lang="en-US" sz="1000" b="1" dirty="0">
                          <a:solidFill>
                            <a:srgbClr val="F7F7F3"/>
                          </a:solidFill>
                          <a:latin typeface="Calibri" pitchFamily="34" charset="0"/>
                          <a:ea typeface="Calibri" pitchFamily="34" charset="-122"/>
                          <a:cs typeface="Calibri" pitchFamily="34" charset="-120"/>
                        </a:rPr>
                        <a:t>Pipeline</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000" b="1" dirty="0">
                          <a:solidFill>
                            <a:srgbClr val="F7F7F3"/>
                          </a:solidFill>
                          <a:latin typeface="Calibri" pitchFamily="34" charset="0"/>
                          <a:ea typeface="Calibri" pitchFamily="34" charset="-122"/>
                          <a:cs typeface="Calibri" pitchFamily="34" charset="-120"/>
                        </a:rPr>
                        <a:t>What it does</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000" b="1" dirty="0">
                          <a:solidFill>
                            <a:srgbClr val="F7F7F3"/>
                          </a:solidFill>
                          <a:latin typeface="Calibri" pitchFamily="34" charset="0"/>
                          <a:ea typeface="Calibri" pitchFamily="34" charset="-122"/>
                          <a:cs typeface="Calibri" pitchFamily="34" charset="-120"/>
                        </a:rPr>
                        <a:t>Steps</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r>
              <a:tr h="0">
                <a:tc>
                  <a:txBody>
                    <a:bodyPr/>
                    <a:lstStyle/>
                    <a:p>
                      <a:pPr indent="0" marL="0">
                        <a:buNone/>
                      </a:pPr>
                      <a:r>
                        <a:rPr lang="en-US" sz="1000" dirty="0">
                          <a:solidFill>
                            <a:srgbClr val="121A24"/>
                          </a:solidFill>
                          <a:latin typeface="Courier New" pitchFamily="34" charset="0"/>
                          <a:ea typeface="Courier New" pitchFamily="34" charset="-122"/>
                          <a:cs typeface="Courier New" pitchFamily="34" charset="-120"/>
                        </a:rPr>
                        <a:t>chat</a:t>
                      </a:r>
                      <a:endParaRPr lang="en-US" sz="100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Routes a conversational turn: validate, gate (direct, escalate, refuse), answer through InteractiveAgent, or hand off to a heavier engine</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validate, prepare, gate, ground, escalate, answer, refuse, compose, persist, finalize</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21A24"/>
                          </a:solidFill>
                          <a:latin typeface="Courier New" pitchFamily="34" charset="0"/>
                          <a:ea typeface="Courier New" pitchFamily="34" charset="-122"/>
                          <a:cs typeface="Courier New" pitchFamily="34" charset="-120"/>
                        </a:rPr>
                        <a:t>document_ingest</a:t>
                      </a:r>
                      <a:endParaRPr lang="en-US" sz="100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Detects single, package or collection, processes through DocumentAgent, emits with provenance</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detect, package, collection, single, refuse, emit, finalize</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000" dirty="0">
                          <a:solidFill>
                            <a:srgbClr val="121A24"/>
                          </a:solidFill>
                          <a:latin typeface="Courier New" pitchFamily="34" charset="0"/>
                          <a:ea typeface="Courier New" pitchFamily="34" charset="-122"/>
                          <a:cs typeface="Courier New" pitchFamily="34" charset="-120"/>
                        </a:rPr>
                        <a:t>vocabulary_build</a:t>
                      </a:r>
                      <a:endParaRPr lang="en-US" sz="100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Turns a corpus into a pack's vocabulary: DocumentAgent asserts, KGAgent proposes and merges</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ingest, emit, observe, propose, decide, merge, finalize</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21A24"/>
                          </a:solidFill>
                          <a:latin typeface="Courier New" pitchFamily="34" charset="0"/>
                          <a:ea typeface="Courier New" pitchFamily="34" charset="-122"/>
                          <a:cs typeface="Courier New" pitchFamily="34" charset="-120"/>
                        </a:rPr>
                        <a:t>policy_extract</a:t>
                      </a:r>
                      <a:endParaRPr lang="en-US" sz="100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Turns a policy corpus into reviewable rules, linted against the pack's own vocabulary. Three outputs: JTBD, obligations, Python</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ingest, segment, extract, observe, propose, decide, lint, finalize</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000" dirty="0">
                          <a:solidFill>
                            <a:srgbClr val="121A24"/>
                          </a:solidFill>
                          <a:latin typeface="Courier New" pitchFamily="34" charset="0"/>
                          <a:ea typeface="Courier New" pitchFamily="34" charset="-122"/>
                          <a:cs typeface="Courier New" pitchFamily="34" charset="-120"/>
                        </a:rPr>
                        <a:t>financial_spread</a:t>
                      </a:r>
                      <a:endParaRPr lang="en-US" sz="100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Spreads converted filings into a FinancialSpread: locate statements, structure each, assemble, merge. The engine under jaci's ci_spread scenario</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locate, structure, assemble, merge, finalize</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21A24"/>
                          </a:solidFill>
                          <a:latin typeface="Courier New" pitchFamily="34" charset="0"/>
                          <a:ea typeface="Courier New" pitchFamily="34" charset="-122"/>
                          <a:cs typeface="Courier New" pitchFamily="34" charset="-120"/>
                        </a:rPr>
                        <a:t>investigation_loop</a:t>
                      </a:r>
                      <a:endParaRPr lang="en-US" sz="100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Investigator, evidence, verifier and sentinel until convergence, then reasoner, governor, narrator. The first conductor kind a pack can name in its manifest</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00" dirty="0">
                          <a:solidFill>
                            <a:srgbClr val="47525E"/>
                          </a:solidFill>
                          <a:latin typeface="Calibri" pitchFamily="34" charset="0"/>
                          <a:ea typeface="Calibri" pitchFamily="34" charset="-122"/>
                          <a:cs typeface="Calibri" pitchFamily="34" charset="-120"/>
                        </a:rPr>
                        <a:t>investigator, evidence_fulfillment, verifier, sentinel, reasoner, governor, narrator, persist, finalize</a:t>
                      </a:r>
                      <a:endParaRPr lang="en-US" sz="100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bl>
          </a:graphicData>
        </a:graphic>
      </p:graphicFrame>
      <p:sp>
        <p:nvSpPr>
          <p:cNvPr id="5" name="Text 2"/>
          <p:cNvSpPr txBox="1"/>
          <p:nvPr/>
        </p:nvSpPr>
        <p:spPr>
          <a:xfrm>
            <a:off x="548640" y="5212080"/>
            <a:ext cx="11091672" cy="685800"/>
          </a:xfrm>
          <a:prstGeom prst="rect">
            <a:avLst/>
          </a:prstGeom>
          <a:noFill/>
          <a:ln/>
        </p:spPr>
        <p:txBody>
          <a:bodyPr wrap="square" lIns="0" tIns="0" rIns="0" bIns="0" rtlCol="0" anchor="t"/>
          <a:lstStyle/>
          <a:p>
            <a:pPr indent="0" marL="0">
              <a:buNone/>
            </a:pPr>
            <a:r>
              <a:rPr lang="en-US" sz="1100" dirty="0">
                <a:solidFill>
                  <a:srgbClr val="47525E"/>
                </a:solidFill>
                <a:latin typeface="Calibri" pitchFamily="34" charset="0"/>
                <a:ea typeface="Calibri" pitchFamily="34" charset="-122"/>
                <a:cs typeface="Calibri" pitchFamily="34" charset="-120"/>
              </a:rPr>
              <a:t>Each pipeline is a registered contract: which agents it wraps, its turn type, its steps, its entrypoint. A pack names a conductor kind in its manifest and configures it; it never names Python. Beside the registry sit the authoring pipelines that feed policy_extract: policy_jtbd, policy_code, jtbdset import and export, and an authoring_chat that writes only proposals.</a:t>
            </a:r>
            <a:endParaRPr lang="en-US" sz="1100" dirty="0"/>
          </a:p>
        </p:txBody>
      </p:sp>
      <p:sp>
        <p:nvSpPr>
          <p:cNvPr id="6" name="Text 3"/>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jazzx_sdk/pipelines/catalog.py · PIPELINE_REGISTRY · pipelines/kinds.py for conductor kinds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ONE LIBRARY, TWO HOSTS</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SDK deployment: two hosts</a:t>
            </a:r>
            <a:endParaRPr lang="en-US" sz="3000" dirty="0"/>
          </a:p>
        </p:txBody>
      </p:sp>
      <p:sp>
        <p:nvSpPr>
          <p:cNvPr id="4" name="Shape 2"/>
          <p:cNvSpPr/>
          <p:nvPr/>
        </p:nvSpPr>
        <p:spPr>
          <a:xfrm>
            <a:off x="548640" y="1691640"/>
            <a:ext cx="5239512" cy="2834640"/>
          </a:xfrm>
          <a:prstGeom prst="roundRect">
            <a:avLst>
              <a:gd name="adj" fmla="val 3871"/>
            </a:avLst>
          </a:prstGeom>
          <a:solidFill>
            <a:srgbClr val="FFFFFF"/>
          </a:solidFill>
          <a:ln w="12700">
            <a:solidFill>
              <a:srgbClr val="DDDED6"/>
            </a:solidFill>
            <a:prstDash val="solid"/>
          </a:ln>
        </p:spPr>
      </p:sp>
      <p:sp>
        <p:nvSpPr>
          <p:cNvPr id="5" name="Text 3"/>
          <p:cNvSpPr txBox="1"/>
          <p:nvPr/>
        </p:nvSpPr>
        <p:spPr>
          <a:xfrm>
            <a:off x="731520" y="1828800"/>
            <a:ext cx="4873752" cy="274320"/>
          </a:xfrm>
          <a:prstGeom prst="rect">
            <a:avLst/>
          </a:prstGeom>
          <a:noFill/>
          <a:ln/>
        </p:spPr>
        <p:txBody>
          <a:bodyPr wrap="square" lIns="0" tIns="0" rIns="0" bIns="0" rtlCol="0" anchor="t"/>
          <a:lstStyle/>
          <a:p>
            <a:pPr indent="0" marL="0">
              <a:buNone/>
            </a:pPr>
            <a:r>
              <a:rPr lang="en-US" sz="1400" b="1" dirty="0">
                <a:solidFill>
                  <a:srgbClr val="121A24"/>
                </a:solidFill>
                <a:latin typeface="Calibri" pitchFamily="34" charset="0"/>
                <a:ea typeface="Calibri" pitchFamily="34" charset="-122"/>
                <a:cs typeface="Calibri" pitchFamily="34" charset="-120"/>
              </a:rPr>
              <a:t>Inside JazzX: a service process</a:t>
            </a:r>
            <a:endParaRPr lang="en-US" sz="1400" dirty="0"/>
          </a:p>
        </p:txBody>
      </p:sp>
      <p:sp>
        <p:nvSpPr>
          <p:cNvPr id="6" name="Text 4"/>
          <p:cNvSpPr txBox="1"/>
          <p:nvPr/>
        </p:nvSpPr>
        <p:spPr>
          <a:xfrm>
            <a:off x="731520" y="2130552"/>
            <a:ext cx="4873752" cy="365760"/>
          </a:xfrm>
          <a:prstGeom prst="rect">
            <a:avLst/>
          </a:prstGeom>
          <a:noFill/>
          <a:ln/>
        </p:spPr>
        <p:txBody>
          <a:bodyPr wrap="square" lIns="0" tIns="0" rIns="0" bIns="0" rtlCol="0" anchor="t"/>
          <a:lstStyle/>
          <a:p>
            <a:pPr indent="0" marL="0">
              <a:buNone/>
            </a:pPr>
            <a:r>
              <a:rPr lang="en-US" sz="1050" dirty="0">
                <a:solidFill>
                  <a:srgbClr val="47525E"/>
                </a:solidFill>
                <a:latin typeface="Calibri" pitchFamily="34" charset="0"/>
                <a:ea typeface="Calibri" pitchFamily="34" charset="-122"/>
                <a:cs typeface="Calibri" pitchFamily="34" charset="-120"/>
              </a:rPr>
              <a:t>jazzx-assistant (in production), eval-service, assistant. The engineer imports the package.</a:t>
            </a:r>
            <a:endParaRPr lang="en-US" sz="1050" dirty="0"/>
          </a:p>
        </p:txBody>
      </p:sp>
      <p:sp>
        <p:nvSpPr>
          <p:cNvPr id="7" name="Shape 5"/>
          <p:cNvSpPr/>
          <p:nvPr/>
        </p:nvSpPr>
        <p:spPr>
          <a:xfrm>
            <a:off x="731520" y="2560320"/>
            <a:ext cx="4873752" cy="1828800"/>
          </a:xfrm>
          <a:prstGeom prst="roundRect">
            <a:avLst>
              <a:gd name="adj" fmla="val 5000"/>
            </a:avLst>
          </a:prstGeom>
          <a:solidFill>
            <a:srgbClr val="121A24"/>
          </a:solidFill>
          <a:ln w="12700">
            <a:solidFill>
              <a:srgbClr val="121A24"/>
            </a:solidFill>
            <a:prstDash val="solid"/>
          </a:ln>
        </p:spPr>
      </p:sp>
      <p:sp>
        <p:nvSpPr>
          <p:cNvPr id="8" name="Text 6"/>
          <p:cNvSpPr txBox="1"/>
          <p:nvPr/>
        </p:nvSpPr>
        <p:spPr>
          <a:xfrm>
            <a:off x="914400" y="2651760"/>
            <a:ext cx="2743200" cy="274320"/>
          </a:xfrm>
          <a:prstGeom prst="rect">
            <a:avLst/>
          </a:prstGeom>
          <a:noFill/>
          <a:ln/>
        </p:spPr>
        <p:txBody>
          <a:bodyPr wrap="square" lIns="0" tIns="0" rIns="0" bIns="0" rtlCol="0" anchor="t"/>
          <a:lstStyle/>
          <a:p>
            <a:pPr indent="0" marL="0">
              <a:buNone/>
            </a:pPr>
            <a:r>
              <a:rPr lang="en-US" sz="1250" b="1" dirty="0">
                <a:solidFill>
                  <a:srgbClr val="5FBFB3"/>
                </a:solidFill>
                <a:latin typeface="Courier New" pitchFamily="34" charset="0"/>
                <a:ea typeface="Courier New" pitchFamily="34" charset="-122"/>
                <a:cs typeface="Courier New" pitchFamily="34" charset="-120"/>
              </a:rPr>
              <a:t>jazzx_sdk</a:t>
            </a:r>
            <a:endParaRPr lang="en-US" sz="1250" dirty="0"/>
          </a:p>
        </p:txBody>
      </p:sp>
      <p:sp>
        <p:nvSpPr>
          <p:cNvPr id="9" name="Shape 7"/>
          <p:cNvSpPr/>
          <p:nvPr/>
        </p:nvSpPr>
        <p:spPr>
          <a:xfrm>
            <a:off x="914400" y="3017520"/>
            <a:ext cx="2240280" cy="548640"/>
          </a:xfrm>
          <a:prstGeom prst="roundRect">
            <a:avLst>
              <a:gd name="adj" fmla="val 13333"/>
            </a:avLst>
          </a:prstGeom>
          <a:solidFill>
            <a:srgbClr val="1B2632"/>
          </a:solidFill>
          <a:ln w="12700">
            <a:solidFill>
              <a:srgbClr val="1B2632"/>
            </a:solidFill>
            <a:prstDash val="solid"/>
          </a:ln>
        </p:spPr>
      </p:sp>
      <p:sp>
        <p:nvSpPr>
          <p:cNvPr id="10" name="Text 8"/>
          <p:cNvSpPr txBox="1"/>
          <p:nvPr/>
        </p:nvSpPr>
        <p:spPr>
          <a:xfrm>
            <a:off x="1024128" y="3154680"/>
            <a:ext cx="2011680" cy="320040"/>
          </a:xfrm>
          <a:prstGeom prst="rect">
            <a:avLst/>
          </a:prstGeom>
          <a:noFill/>
          <a:ln/>
        </p:spPr>
        <p:txBody>
          <a:bodyPr wrap="square" lIns="0" tIns="0" rIns="0" bIns="0" rtlCol="0" anchor="t"/>
          <a:lstStyle/>
          <a:p>
            <a:pPr indent="0" marL="0">
              <a:buNone/>
            </a:pPr>
            <a:r>
              <a:rPr lang="en-US" sz="1050" dirty="0">
                <a:solidFill>
                  <a:srgbClr val="F7F7F3"/>
                </a:solidFill>
                <a:latin typeface="Calibri" pitchFamily="34" charset="0"/>
                <a:ea typeface="Calibri" pitchFamily="34" charset="-122"/>
                <a:cs typeface="Calibri" pitchFamily="34" charset="-120"/>
              </a:rPr>
              <a:t>Reasoning modes, experts, conductor</a:t>
            </a:r>
            <a:endParaRPr lang="en-US" sz="1050" dirty="0"/>
          </a:p>
        </p:txBody>
      </p:sp>
      <p:sp>
        <p:nvSpPr>
          <p:cNvPr id="11" name="Shape 9"/>
          <p:cNvSpPr/>
          <p:nvPr/>
        </p:nvSpPr>
        <p:spPr>
          <a:xfrm>
            <a:off x="3291840" y="3017520"/>
            <a:ext cx="2240280" cy="548640"/>
          </a:xfrm>
          <a:prstGeom prst="roundRect">
            <a:avLst>
              <a:gd name="adj" fmla="val 13333"/>
            </a:avLst>
          </a:prstGeom>
          <a:solidFill>
            <a:srgbClr val="1B2632"/>
          </a:solidFill>
          <a:ln w="12700">
            <a:solidFill>
              <a:srgbClr val="1B2632"/>
            </a:solidFill>
            <a:prstDash val="solid"/>
          </a:ln>
        </p:spPr>
      </p:sp>
      <p:sp>
        <p:nvSpPr>
          <p:cNvPr id="12" name="Text 10"/>
          <p:cNvSpPr txBox="1"/>
          <p:nvPr/>
        </p:nvSpPr>
        <p:spPr>
          <a:xfrm>
            <a:off x="3401568" y="3154680"/>
            <a:ext cx="2011680" cy="320040"/>
          </a:xfrm>
          <a:prstGeom prst="rect">
            <a:avLst/>
          </a:prstGeom>
          <a:noFill/>
          <a:ln/>
        </p:spPr>
        <p:txBody>
          <a:bodyPr wrap="square" lIns="0" tIns="0" rIns="0" bIns="0" rtlCol="0" anchor="t"/>
          <a:lstStyle/>
          <a:p>
            <a:pPr indent="0" marL="0">
              <a:buNone/>
            </a:pPr>
            <a:r>
              <a:rPr lang="en-US" sz="1050" dirty="0">
                <a:solidFill>
                  <a:srgbClr val="F7F7F3"/>
                </a:solidFill>
                <a:latin typeface="Calibri" pitchFamily="34" charset="0"/>
                <a:ea typeface="Calibri" pitchFamily="34" charset="-122"/>
                <a:cs typeface="Calibri" pitchFamily="34" charset="-120"/>
              </a:rPr>
              <a:t>Policy IR, authority, guardrails</a:t>
            </a:r>
            <a:endParaRPr lang="en-US" sz="1050" dirty="0"/>
          </a:p>
        </p:txBody>
      </p:sp>
      <p:sp>
        <p:nvSpPr>
          <p:cNvPr id="13" name="Shape 11"/>
          <p:cNvSpPr/>
          <p:nvPr/>
        </p:nvSpPr>
        <p:spPr>
          <a:xfrm>
            <a:off x="914400" y="3675888"/>
            <a:ext cx="2240280" cy="548640"/>
          </a:xfrm>
          <a:prstGeom prst="roundRect">
            <a:avLst>
              <a:gd name="adj" fmla="val 13333"/>
            </a:avLst>
          </a:prstGeom>
          <a:solidFill>
            <a:srgbClr val="1B2632"/>
          </a:solidFill>
          <a:ln w="12700">
            <a:solidFill>
              <a:srgbClr val="1B2632"/>
            </a:solidFill>
            <a:prstDash val="solid"/>
          </a:ln>
        </p:spPr>
      </p:sp>
      <p:sp>
        <p:nvSpPr>
          <p:cNvPr id="14" name="Text 12"/>
          <p:cNvSpPr txBox="1"/>
          <p:nvPr/>
        </p:nvSpPr>
        <p:spPr>
          <a:xfrm>
            <a:off x="1024128" y="3813048"/>
            <a:ext cx="2011680" cy="320040"/>
          </a:xfrm>
          <a:prstGeom prst="rect">
            <a:avLst/>
          </a:prstGeom>
          <a:noFill/>
          <a:ln/>
        </p:spPr>
        <p:txBody>
          <a:bodyPr wrap="square" lIns="0" tIns="0" rIns="0" bIns="0" rtlCol="0" anchor="t"/>
          <a:lstStyle/>
          <a:p>
            <a:pPr indent="0" marL="0">
              <a:buNone/>
            </a:pPr>
            <a:r>
              <a:rPr lang="en-US" sz="1050" dirty="0">
                <a:solidFill>
                  <a:srgbClr val="F7F7F3"/>
                </a:solidFill>
                <a:latin typeface="Calibri" pitchFamily="34" charset="0"/>
                <a:ea typeface="Calibri" pitchFamily="34" charset="-122"/>
                <a:cs typeface="Calibri" pitchFamily="34" charset="-120"/>
              </a:rPr>
              <a:t>Platform agents, pipelines, gateway</a:t>
            </a:r>
            <a:endParaRPr lang="en-US" sz="1050" dirty="0"/>
          </a:p>
        </p:txBody>
      </p:sp>
      <p:sp>
        <p:nvSpPr>
          <p:cNvPr id="15" name="Shape 13"/>
          <p:cNvSpPr/>
          <p:nvPr/>
        </p:nvSpPr>
        <p:spPr>
          <a:xfrm>
            <a:off x="3291840" y="3675888"/>
            <a:ext cx="2240280" cy="548640"/>
          </a:xfrm>
          <a:prstGeom prst="roundRect">
            <a:avLst>
              <a:gd name="adj" fmla="val 13333"/>
            </a:avLst>
          </a:prstGeom>
          <a:solidFill>
            <a:srgbClr val="1F6F6B"/>
          </a:solidFill>
          <a:ln w="12700">
            <a:solidFill>
              <a:srgbClr val="1F6F6B"/>
            </a:solidFill>
            <a:prstDash val="solid"/>
          </a:ln>
        </p:spPr>
      </p:sp>
      <p:sp>
        <p:nvSpPr>
          <p:cNvPr id="16" name="Text 14"/>
          <p:cNvSpPr txBox="1"/>
          <p:nvPr/>
        </p:nvSpPr>
        <p:spPr>
          <a:xfrm>
            <a:off x="3401568" y="3813048"/>
            <a:ext cx="2011680" cy="320040"/>
          </a:xfrm>
          <a:prstGeom prst="rect">
            <a:avLst/>
          </a:prstGeom>
          <a:noFill/>
          <a:ln/>
        </p:spPr>
        <p:txBody>
          <a:bodyPr wrap="square" lIns="0" tIns="0" rIns="0" bIns="0" rtlCol="0" anchor="t"/>
          <a:lstStyle/>
          <a:p>
            <a:pPr indent="0" marL="0">
              <a:buNone/>
            </a:pPr>
            <a:r>
              <a:rPr lang="en-US" sz="1050" dirty="0">
                <a:solidFill>
                  <a:srgbClr val="F7F7F3"/>
                </a:solidFill>
                <a:latin typeface="Calibri" pitchFamily="34" charset="0"/>
                <a:ea typeface="Calibri" pitchFamily="34" charset="-122"/>
                <a:cs typeface="Calibri" pitchFamily="34" charset="-120"/>
              </a:rPr>
              <a:t>Fabric: canonical, graph, rag, docs</a:t>
            </a:r>
            <a:endParaRPr lang="en-US" sz="1050" dirty="0"/>
          </a:p>
        </p:txBody>
      </p:sp>
      <p:sp>
        <p:nvSpPr>
          <p:cNvPr id="17" name="Shape 15"/>
          <p:cNvSpPr/>
          <p:nvPr/>
        </p:nvSpPr>
        <p:spPr>
          <a:xfrm>
            <a:off x="6400800" y="1691640"/>
            <a:ext cx="5239512" cy="2834640"/>
          </a:xfrm>
          <a:prstGeom prst="roundRect">
            <a:avLst>
              <a:gd name="adj" fmla="val 3871"/>
            </a:avLst>
          </a:prstGeom>
          <a:solidFill>
            <a:srgbClr val="FFFFFF"/>
          </a:solidFill>
          <a:ln w="12700">
            <a:solidFill>
              <a:srgbClr val="1F6F6B"/>
            </a:solidFill>
            <a:prstDash val="solid"/>
          </a:ln>
        </p:spPr>
      </p:sp>
      <p:sp>
        <p:nvSpPr>
          <p:cNvPr id="18" name="Text 16"/>
          <p:cNvSpPr txBox="1"/>
          <p:nvPr/>
        </p:nvSpPr>
        <p:spPr>
          <a:xfrm>
            <a:off x="6583680" y="1828800"/>
            <a:ext cx="4873752" cy="274320"/>
          </a:xfrm>
          <a:prstGeom prst="rect">
            <a:avLst/>
          </a:prstGeom>
          <a:noFill/>
          <a:ln/>
        </p:spPr>
        <p:txBody>
          <a:bodyPr wrap="square" lIns="0" tIns="0" rIns="0" bIns="0" rtlCol="0" anchor="t"/>
          <a:lstStyle/>
          <a:p>
            <a:pPr indent="0" marL="0">
              <a:buNone/>
            </a:pPr>
            <a:r>
              <a:rPr lang="en-US" sz="1400" b="1" dirty="0">
                <a:solidFill>
                  <a:srgbClr val="121A24"/>
                </a:solidFill>
                <a:latin typeface="Calibri" pitchFamily="34" charset="0"/>
                <a:ea typeface="Calibri" pitchFamily="34" charset="-122"/>
                <a:cs typeface="Calibri" pitchFamily="34" charset="-120"/>
              </a:rPr>
              <a:t>Outside JazzX: Plato, the hosted service</a:t>
            </a:r>
            <a:endParaRPr lang="en-US" sz="1400" dirty="0"/>
          </a:p>
        </p:txBody>
      </p:sp>
      <p:sp>
        <p:nvSpPr>
          <p:cNvPr id="19" name="Text 17"/>
          <p:cNvSpPr txBox="1"/>
          <p:nvPr/>
        </p:nvSpPr>
        <p:spPr>
          <a:xfrm>
            <a:off x="6583680" y="2130552"/>
            <a:ext cx="4873752" cy="365760"/>
          </a:xfrm>
          <a:prstGeom prst="rect">
            <a:avLst/>
          </a:prstGeom>
          <a:noFill/>
          <a:ln/>
        </p:spPr>
        <p:txBody>
          <a:bodyPr wrap="square" lIns="0" tIns="0" rIns="0" bIns="0" rtlCol="0" anchor="t"/>
          <a:lstStyle/>
          <a:p>
            <a:pPr indent="0" marL="0">
              <a:buNone/>
            </a:pPr>
            <a:r>
              <a:rPr lang="en-US" sz="1050" dirty="0">
                <a:solidFill>
                  <a:srgbClr val="47525E"/>
                </a:solidFill>
                <a:latin typeface="Calibri" pitchFamily="34" charset="0"/>
                <a:ea typeface="Calibri" pitchFamily="34" charset="-122"/>
                <a:cs typeface="Calibri" pitchFamily="34" charset="-120"/>
              </a:rPr>
              <a:t>A partner or a customer team calls it. They never hold the package.</a:t>
            </a:r>
            <a:endParaRPr lang="en-US" sz="1050" dirty="0"/>
          </a:p>
        </p:txBody>
      </p:sp>
      <p:sp>
        <p:nvSpPr>
          <p:cNvPr id="20" name="Shape 18"/>
          <p:cNvSpPr/>
          <p:nvPr/>
        </p:nvSpPr>
        <p:spPr>
          <a:xfrm>
            <a:off x="6583680" y="2560320"/>
            <a:ext cx="4873752" cy="411480"/>
          </a:xfrm>
          <a:prstGeom prst="roundRect">
            <a:avLst>
              <a:gd name="adj" fmla="val 17778"/>
            </a:avLst>
          </a:prstGeom>
          <a:solidFill>
            <a:srgbClr val="E4F4F1"/>
          </a:solidFill>
          <a:ln w="12700">
            <a:solidFill>
              <a:srgbClr val="1F6F6B"/>
            </a:solidFill>
            <a:prstDash val="solid"/>
          </a:ln>
        </p:spPr>
      </p:sp>
      <p:sp>
        <p:nvSpPr>
          <p:cNvPr id="21" name="Text 19"/>
          <p:cNvSpPr txBox="1"/>
          <p:nvPr/>
        </p:nvSpPr>
        <p:spPr>
          <a:xfrm>
            <a:off x="6693408" y="2660904"/>
            <a:ext cx="4654296" cy="274320"/>
          </a:xfrm>
          <a:prstGeom prst="rect">
            <a:avLst/>
          </a:prstGeom>
          <a:noFill/>
          <a:ln/>
        </p:spPr>
        <p:txBody>
          <a:bodyPr wrap="square" lIns="0" tIns="0" rIns="0" bIns="0" rtlCol="0" anchor="t"/>
          <a:lstStyle/>
          <a:p>
            <a:pPr indent="0" marL="0">
              <a:buNone/>
            </a:pPr>
            <a:r>
              <a:rPr lang="en-US" sz="950" dirty="0">
                <a:solidFill>
                  <a:srgbClr val="0F3F3C"/>
                </a:solidFill>
                <a:latin typeface="Courier New" pitchFamily="34" charset="0"/>
                <a:ea typeface="Courier New" pitchFamily="34" charset="-122"/>
                <a:cs typeface="Courier New" pitchFamily="34" charset="-120"/>
              </a:rPr>
              <a:t>HTTPS · X-Tenant-Id · identity · assistants, releases, skills, runs, traces</a:t>
            </a:r>
            <a:endParaRPr lang="en-US" sz="950" dirty="0"/>
          </a:p>
        </p:txBody>
      </p:sp>
      <p:sp>
        <p:nvSpPr>
          <p:cNvPr id="22" name="Shape 20"/>
          <p:cNvSpPr/>
          <p:nvPr/>
        </p:nvSpPr>
        <p:spPr>
          <a:xfrm>
            <a:off x="6583680" y="3063240"/>
            <a:ext cx="4873752" cy="731520"/>
          </a:xfrm>
          <a:prstGeom prst="roundRect">
            <a:avLst>
              <a:gd name="adj" fmla="val 12500"/>
            </a:avLst>
          </a:prstGeom>
          <a:solidFill>
            <a:srgbClr val="121A24"/>
          </a:solidFill>
          <a:ln w="12700">
            <a:solidFill>
              <a:srgbClr val="121A24"/>
            </a:solidFill>
            <a:prstDash val="solid"/>
          </a:ln>
        </p:spPr>
      </p:sp>
      <p:sp>
        <p:nvSpPr>
          <p:cNvPr id="23" name="Text 21"/>
          <p:cNvSpPr txBox="1"/>
          <p:nvPr/>
        </p:nvSpPr>
        <p:spPr>
          <a:xfrm>
            <a:off x="6766560" y="3154680"/>
            <a:ext cx="2743200" cy="274320"/>
          </a:xfrm>
          <a:prstGeom prst="rect">
            <a:avLst/>
          </a:prstGeom>
          <a:noFill/>
          <a:ln/>
        </p:spPr>
        <p:txBody>
          <a:bodyPr wrap="square" lIns="0" tIns="0" rIns="0" bIns="0" rtlCol="0" anchor="t"/>
          <a:lstStyle/>
          <a:p>
            <a:pPr indent="0" marL="0">
              <a:buNone/>
            </a:pPr>
            <a:r>
              <a:rPr lang="en-US" sz="1250" b="1" dirty="0">
                <a:solidFill>
                  <a:srgbClr val="5FBFB3"/>
                </a:solidFill>
                <a:latin typeface="Courier New" pitchFamily="34" charset="0"/>
                <a:ea typeface="Courier New" pitchFamily="34" charset="-122"/>
                <a:cs typeface="Courier New" pitchFamily="34" charset="-120"/>
              </a:rPr>
              <a:t>jazzx_sdk</a:t>
            </a:r>
            <a:endParaRPr lang="en-US" sz="1250" dirty="0"/>
          </a:p>
        </p:txBody>
      </p:sp>
      <p:sp>
        <p:nvSpPr>
          <p:cNvPr id="24" name="Text 22"/>
          <p:cNvSpPr txBox="1"/>
          <p:nvPr/>
        </p:nvSpPr>
        <p:spPr>
          <a:xfrm>
            <a:off x="6766560" y="3447288"/>
            <a:ext cx="3657600" cy="274320"/>
          </a:xfrm>
          <a:prstGeom prst="rect">
            <a:avLst/>
          </a:prstGeom>
          <a:noFill/>
          <a:ln/>
        </p:spPr>
        <p:txBody>
          <a:bodyPr wrap="square" lIns="0" tIns="0" rIns="0" bIns="0" rtlCol="0" anchor="t"/>
          <a:lstStyle/>
          <a:p>
            <a:pPr indent="0" marL="0">
              <a:buNone/>
            </a:pPr>
            <a:r>
              <a:rPr lang="en-US" sz="1050" dirty="0">
                <a:solidFill>
                  <a:srgbClr val="BFD8D5"/>
                </a:solidFill>
                <a:latin typeface="Calibri" pitchFamily="34" charset="0"/>
                <a:ea typeface="Calibri" pitchFamily="34" charset="-122"/>
                <a:cs typeface="Calibri" pitchFamily="34" charset="-120"/>
              </a:rPr>
              <a:t>the same package, the same version</a:t>
            </a:r>
            <a:endParaRPr lang="en-US" sz="1050" dirty="0"/>
          </a:p>
        </p:txBody>
      </p:sp>
      <p:sp>
        <p:nvSpPr>
          <p:cNvPr id="25" name="Shape 23"/>
          <p:cNvSpPr/>
          <p:nvPr/>
        </p:nvSpPr>
        <p:spPr>
          <a:xfrm>
            <a:off x="6583680" y="3886200"/>
            <a:ext cx="4873752" cy="502920"/>
          </a:xfrm>
          <a:prstGeom prst="roundRect">
            <a:avLst>
              <a:gd name="adj" fmla="val 14545"/>
            </a:avLst>
          </a:prstGeom>
          <a:solidFill>
            <a:srgbClr val="F7F7F3"/>
          </a:solidFill>
          <a:ln w="12700">
            <a:solidFill>
              <a:srgbClr val="DDDED6"/>
            </a:solidFill>
            <a:prstDash val="solid"/>
          </a:ln>
        </p:spPr>
      </p:sp>
      <p:sp>
        <p:nvSpPr>
          <p:cNvPr id="26" name="Text 24"/>
          <p:cNvSpPr txBox="1"/>
          <p:nvPr/>
        </p:nvSpPr>
        <p:spPr>
          <a:xfrm>
            <a:off x="6693408" y="4005072"/>
            <a:ext cx="4654296" cy="274320"/>
          </a:xfrm>
          <a:prstGeom prst="rect">
            <a:avLst/>
          </a:prstGeom>
          <a:noFill/>
          <a:ln/>
        </p:spPr>
        <p:txBody>
          <a:bodyPr wrap="square" lIns="0" tIns="0" rIns="0" bIns="0" rtlCol="0" anchor="t"/>
          <a:lstStyle/>
          <a:p>
            <a:pPr indent="0" marL="0">
              <a:buNone/>
            </a:pPr>
            <a:r>
              <a:rPr lang="en-US" sz="1000" dirty="0">
                <a:solidFill>
                  <a:srgbClr val="47525E"/>
                </a:solidFill>
                <a:latin typeface="Calibri" pitchFamily="34" charset="0"/>
                <a:ea typeface="Calibri" pitchFamily="34" charset="-122"/>
                <a:cs typeface="Calibri" pitchFamily="34" charset="-120"/>
              </a:rPr>
              <a:t>Plato control plane in Postgres: tenants, packs and versions, sessions, runs, settings</a:t>
            </a:r>
            <a:endParaRPr lang="en-US" sz="1000" dirty="0"/>
          </a:p>
        </p:txBody>
      </p:sp>
      <p:sp>
        <p:nvSpPr>
          <p:cNvPr id="27" name="Shape 25"/>
          <p:cNvSpPr/>
          <p:nvPr/>
        </p:nvSpPr>
        <p:spPr>
          <a:xfrm>
            <a:off x="1371600" y="5074920"/>
            <a:ext cx="4389120" cy="777240"/>
          </a:xfrm>
          <a:prstGeom prst="roundRect">
            <a:avLst>
              <a:gd name="adj" fmla="val 14118"/>
            </a:avLst>
          </a:prstGeom>
          <a:solidFill>
            <a:srgbClr val="FFFFFF"/>
          </a:solidFill>
          <a:ln w="12700">
            <a:solidFill>
              <a:srgbClr val="DDDED6"/>
            </a:solidFill>
            <a:prstDash val="solid"/>
          </a:ln>
        </p:spPr>
      </p:sp>
      <p:sp>
        <p:nvSpPr>
          <p:cNvPr id="28" name="Text 26"/>
          <p:cNvSpPr txBox="1"/>
          <p:nvPr/>
        </p:nvSpPr>
        <p:spPr>
          <a:xfrm>
            <a:off x="1554480" y="5184648"/>
            <a:ext cx="402336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Knowledge Hub</a:t>
            </a:r>
            <a:endParaRPr lang="en-US" sz="1250" dirty="0"/>
          </a:p>
        </p:txBody>
      </p:sp>
      <p:sp>
        <p:nvSpPr>
          <p:cNvPr id="29" name="Text 27"/>
          <p:cNvSpPr txBox="1"/>
          <p:nvPr/>
        </p:nvSpPr>
        <p:spPr>
          <a:xfrm>
            <a:off x="1554480" y="5486400"/>
            <a:ext cx="4023360" cy="274320"/>
          </a:xfrm>
          <a:prstGeom prst="rect">
            <a:avLst/>
          </a:prstGeom>
          <a:noFill/>
          <a:ln/>
        </p:spPr>
        <p:txBody>
          <a:bodyPr wrap="square" lIns="0" tIns="0" rIns="0" bIns="0" rtlCol="0" anchor="t"/>
          <a:lstStyle/>
          <a:p>
            <a:pPr indent="0" marL="0">
              <a:buNone/>
            </a:pPr>
            <a:r>
              <a:rPr lang="en-US" sz="1050" dirty="0">
                <a:solidFill>
                  <a:srgbClr val="47525E"/>
                </a:solidFill>
                <a:latin typeface="Calibri" pitchFamily="34" charset="0"/>
                <a:ea typeface="Calibri" pitchFamily="34" charset="-122"/>
                <a:cs typeface="Calibri" pitchFamily="34" charset="-120"/>
              </a:rPr>
              <a:t>documents, entities, triples. The store behind the Fabric</a:t>
            </a:r>
            <a:endParaRPr lang="en-US" sz="1050" dirty="0"/>
          </a:p>
        </p:txBody>
      </p:sp>
      <p:sp>
        <p:nvSpPr>
          <p:cNvPr id="30" name="Shape 28"/>
          <p:cNvSpPr/>
          <p:nvPr/>
        </p:nvSpPr>
        <p:spPr>
          <a:xfrm>
            <a:off x="6583680" y="5074920"/>
            <a:ext cx="4873752" cy="777240"/>
          </a:xfrm>
          <a:prstGeom prst="roundRect">
            <a:avLst>
              <a:gd name="adj" fmla="val 14118"/>
            </a:avLst>
          </a:prstGeom>
          <a:solidFill>
            <a:srgbClr val="FFFFFF"/>
          </a:solidFill>
          <a:ln w="12700">
            <a:solidFill>
              <a:srgbClr val="DDDED6"/>
            </a:solidFill>
            <a:prstDash val="solid"/>
          </a:ln>
        </p:spPr>
      </p:sp>
      <p:sp>
        <p:nvSpPr>
          <p:cNvPr id="31" name="Text 29"/>
          <p:cNvSpPr txBox="1"/>
          <p:nvPr/>
        </p:nvSpPr>
        <p:spPr>
          <a:xfrm>
            <a:off x="6766560" y="5184648"/>
            <a:ext cx="4389120" cy="274320"/>
          </a:xfrm>
          <a:prstGeom prst="rect">
            <a:avLst/>
          </a:prstGeom>
          <a:noFill/>
          <a:ln/>
        </p:spPr>
        <p:txBody>
          <a:bodyPr wrap="square" lIns="0" tIns="0" rIns="0" bIns="0" rtlCol="0" anchor="t"/>
          <a:lstStyle/>
          <a:p>
            <a:pPr indent="0" marL="0">
              <a:buNone/>
            </a:pPr>
            <a:r>
              <a:rPr lang="en-US" sz="1250" b="1" dirty="0">
                <a:solidFill>
                  <a:srgbClr val="121A24"/>
                </a:solidFill>
                <a:latin typeface="Calibri" pitchFamily="34" charset="0"/>
                <a:ea typeface="Calibri" pitchFamily="34" charset="-122"/>
                <a:cs typeface="Calibri" pitchFamily="34" charset="-120"/>
              </a:rPr>
              <a:t>Eval-service</a:t>
            </a:r>
            <a:endParaRPr lang="en-US" sz="1250" dirty="0"/>
          </a:p>
        </p:txBody>
      </p:sp>
      <p:sp>
        <p:nvSpPr>
          <p:cNvPr id="32" name="Text 30"/>
          <p:cNvSpPr txBox="1"/>
          <p:nvPr/>
        </p:nvSpPr>
        <p:spPr>
          <a:xfrm>
            <a:off x="6766560" y="5486400"/>
            <a:ext cx="4389120" cy="274320"/>
          </a:xfrm>
          <a:prstGeom prst="rect">
            <a:avLst/>
          </a:prstGeom>
          <a:noFill/>
          <a:ln/>
        </p:spPr>
        <p:txBody>
          <a:bodyPr wrap="square" lIns="0" tIns="0" rIns="0" bIns="0" rtlCol="0" anchor="t"/>
          <a:lstStyle/>
          <a:p>
            <a:pPr indent="0" marL="0">
              <a:buNone/>
            </a:pPr>
            <a:r>
              <a:rPr lang="en-US" sz="1050" dirty="0">
                <a:solidFill>
                  <a:srgbClr val="47525E"/>
                </a:solidFill>
                <a:latin typeface="Calibri" pitchFamily="34" charset="0"/>
                <a:ea typeface="Calibri" pitchFamily="34" charset="-122"/>
                <a:cs typeface="Calibri" pitchFamily="34" charset="-120"/>
              </a:rPr>
              <a:t>durable run state, independent evaluation, release decisions</a:t>
            </a:r>
            <a:endParaRPr lang="en-US" sz="1050" dirty="0"/>
          </a:p>
        </p:txBody>
      </p:sp>
      <p:sp>
        <p:nvSpPr>
          <p:cNvPr id="33" name="Shape 31"/>
          <p:cNvSpPr/>
          <p:nvPr/>
        </p:nvSpPr>
        <p:spPr>
          <a:xfrm>
            <a:off x="3200400" y="4526280"/>
            <a:ext cx="9144" cy="548640"/>
          </a:xfrm>
          <a:prstGeom prst="line">
            <a:avLst/>
          </a:prstGeom>
          <a:noFill/>
          <a:ln w="25400">
            <a:solidFill>
              <a:srgbClr val="1F6F6B"/>
            </a:solidFill>
            <a:prstDash val="solid"/>
            <a:tailEnd type="triangle"/>
          </a:ln>
        </p:spPr>
      </p:sp>
      <p:sp>
        <p:nvSpPr>
          <p:cNvPr id="34" name="Shape 32"/>
          <p:cNvSpPr/>
          <p:nvPr/>
        </p:nvSpPr>
        <p:spPr>
          <a:xfrm>
            <a:off x="5303520" y="4754880"/>
            <a:ext cx="2468880" cy="9144"/>
          </a:xfrm>
          <a:prstGeom prst="line">
            <a:avLst/>
          </a:prstGeom>
          <a:noFill/>
          <a:ln w="25400">
            <a:solidFill>
              <a:srgbClr val="1F6F6B"/>
            </a:solidFill>
            <a:prstDash val="solid"/>
          </a:ln>
        </p:spPr>
      </p:sp>
      <p:sp>
        <p:nvSpPr>
          <p:cNvPr id="35" name="Shape 33"/>
          <p:cNvSpPr/>
          <p:nvPr/>
        </p:nvSpPr>
        <p:spPr>
          <a:xfrm>
            <a:off x="7772400" y="4526280"/>
            <a:ext cx="9144" cy="228600"/>
          </a:xfrm>
          <a:prstGeom prst="line">
            <a:avLst/>
          </a:prstGeom>
          <a:noFill/>
          <a:ln w="25400">
            <a:solidFill>
              <a:srgbClr val="1F6F6B"/>
            </a:solidFill>
            <a:prstDash val="solid"/>
          </a:ln>
        </p:spPr>
      </p:sp>
      <p:sp>
        <p:nvSpPr>
          <p:cNvPr id="36" name="Shape 34"/>
          <p:cNvSpPr/>
          <p:nvPr/>
        </p:nvSpPr>
        <p:spPr>
          <a:xfrm>
            <a:off x="5303520" y="4754880"/>
            <a:ext cx="9144" cy="320040"/>
          </a:xfrm>
          <a:prstGeom prst="line">
            <a:avLst/>
          </a:prstGeom>
          <a:noFill/>
          <a:ln w="25400">
            <a:solidFill>
              <a:srgbClr val="1F6F6B"/>
            </a:solidFill>
            <a:prstDash val="solid"/>
            <a:tailEnd type="triangle"/>
          </a:ln>
        </p:spPr>
      </p:sp>
      <p:sp>
        <p:nvSpPr>
          <p:cNvPr id="37" name="Shape 35"/>
          <p:cNvSpPr/>
          <p:nvPr/>
        </p:nvSpPr>
        <p:spPr>
          <a:xfrm>
            <a:off x="10515600" y="4526280"/>
            <a:ext cx="9144" cy="548640"/>
          </a:xfrm>
          <a:prstGeom prst="line">
            <a:avLst/>
          </a:prstGeom>
          <a:noFill/>
          <a:ln w="25400">
            <a:solidFill>
              <a:srgbClr val="47525E"/>
            </a:solidFill>
            <a:prstDash val="dash"/>
            <a:headEnd type="triangle"/>
            <a:tailEnd type="triangle"/>
          </a:ln>
        </p:spPr>
      </p:sp>
      <p:sp>
        <p:nvSpPr>
          <p:cNvPr id="38" name="Text 36"/>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Same shape as the common agent harness slide in the Studio deck: Plato is the reference host, the SDK is the harness, eval-service keeps the durable run state.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PLATO: THE SDK HOSTED AS A SERVICE</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Plato: one image, own control plane, HTTP surface</a:t>
            </a:r>
            <a:endParaRPr lang="en-US" sz="3000" dirty="0"/>
          </a:p>
        </p:txBody>
      </p:sp>
      <p:sp>
        <p:nvSpPr>
          <p:cNvPr id="4" name="Shape 2"/>
          <p:cNvSpPr/>
          <p:nvPr/>
        </p:nvSpPr>
        <p:spPr>
          <a:xfrm>
            <a:off x="548640" y="1554480"/>
            <a:ext cx="5440680" cy="1234440"/>
          </a:xfrm>
          <a:prstGeom prst="roundRect">
            <a:avLst>
              <a:gd name="adj" fmla="val 8889"/>
            </a:avLst>
          </a:prstGeom>
          <a:solidFill>
            <a:srgbClr val="FFFFFF"/>
          </a:solidFill>
          <a:ln w="9525">
            <a:solidFill>
              <a:srgbClr val="DDDED6"/>
            </a:solidFill>
            <a:prstDash val="solid"/>
          </a:ln>
        </p:spPr>
      </p:sp>
      <p:sp>
        <p:nvSpPr>
          <p:cNvPr id="5" name="Text 3"/>
          <p:cNvSpPr txBox="1"/>
          <p:nvPr/>
        </p:nvSpPr>
        <p:spPr>
          <a:xfrm>
            <a:off x="777240" y="1737360"/>
            <a:ext cx="4983480" cy="36576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Inside JazzX: import it</a:t>
            </a:r>
            <a:endParaRPr lang="en-US" sz="1500" dirty="0"/>
          </a:p>
        </p:txBody>
      </p:sp>
      <p:sp>
        <p:nvSpPr>
          <p:cNvPr id="6" name="Text 4"/>
          <p:cNvSpPr txBox="1"/>
          <p:nvPr/>
        </p:nvSpPr>
        <p:spPr>
          <a:xfrm>
            <a:off x="777240" y="2103120"/>
            <a:ext cx="4983480" cy="77724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Our own services import the package. They run in our infrastructure, under our identity, and the SDK's contracts are enforced by the type checker and the tests.</a:t>
            </a:r>
            <a:endParaRPr lang="en-US" sz="1150" dirty="0"/>
          </a:p>
        </p:txBody>
      </p:sp>
      <p:sp>
        <p:nvSpPr>
          <p:cNvPr id="7" name="Shape 5"/>
          <p:cNvSpPr/>
          <p:nvPr/>
        </p:nvSpPr>
        <p:spPr>
          <a:xfrm>
            <a:off x="548640" y="2926080"/>
            <a:ext cx="5440680" cy="1234440"/>
          </a:xfrm>
          <a:prstGeom prst="roundRect">
            <a:avLst>
              <a:gd name="adj" fmla="val 8889"/>
            </a:avLst>
          </a:prstGeom>
          <a:solidFill>
            <a:srgbClr val="FFFFFF"/>
          </a:solidFill>
          <a:ln w="9525">
            <a:solidFill>
              <a:srgbClr val="DDDED6"/>
            </a:solidFill>
            <a:prstDash val="solid"/>
          </a:ln>
        </p:spPr>
      </p:sp>
      <p:sp>
        <p:nvSpPr>
          <p:cNvPr id="8" name="Text 6"/>
          <p:cNvSpPr txBox="1"/>
          <p:nvPr/>
        </p:nvSpPr>
        <p:spPr>
          <a:xfrm>
            <a:off x="777240" y="3108960"/>
            <a:ext cx="4983480" cy="36576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Outside JazzX: call it</a:t>
            </a:r>
            <a:endParaRPr lang="en-US" sz="1500" dirty="0"/>
          </a:p>
        </p:txBody>
      </p:sp>
      <p:sp>
        <p:nvSpPr>
          <p:cNvPr id="9" name="Text 7"/>
          <p:cNvSpPr txBox="1"/>
          <p:nvPr/>
        </p:nvSpPr>
        <p:spPr>
          <a:xfrm>
            <a:off x="777240" y="3474720"/>
            <a:ext cx="4983480" cy="77724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 partner, a customer's integration team, a frontend contractor. They get an assistant id, a tenant, and the HTTP surface. They do not get a wheel.</a:t>
            </a:r>
            <a:endParaRPr lang="en-US" sz="1150" dirty="0"/>
          </a:p>
        </p:txBody>
      </p:sp>
      <p:sp>
        <p:nvSpPr>
          <p:cNvPr id="10" name="Shape 8"/>
          <p:cNvSpPr/>
          <p:nvPr/>
        </p:nvSpPr>
        <p:spPr>
          <a:xfrm>
            <a:off x="6199632" y="1554480"/>
            <a:ext cx="5440680" cy="2606040"/>
          </a:xfrm>
          <a:prstGeom prst="roundRect">
            <a:avLst>
              <a:gd name="adj" fmla="val 4211"/>
            </a:avLst>
          </a:prstGeom>
          <a:solidFill>
            <a:srgbClr val="121A24"/>
          </a:solidFill>
          <a:ln w="12700">
            <a:solidFill>
              <a:srgbClr val="121A24"/>
            </a:solidFill>
            <a:prstDash val="solid"/>
          </a:ln>
        </p:spPr>
      </p:sp>
      <p:sp>
        <p:nvSpPr>
          <p:cNvPr id="11" name="Text 9"/>
          <p:cNvSpPr txBox="1"/>
          <p:nvPr/>
        </p:nvSpPr>
        <p:spPr>
          <a:xfrm>
            <a:off x="6428232" y="1737360"/>
            <a:ext cx="4983480" cy="36576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Why host rather than distribute</a:t>
            </a:r>
            <a:endParaRPr lang="en-US" sz="1500" dirty="0"/>
          </a:p>
        </p:txBody>
      </p:sp>
      <p:sp>
        <p:nvSpPr>
          <p:cNvPr id="12" name="Text 10"/>
          <p:cNvSpPr txBox="1"/>
          <p:nvPr/>
        </p:nvSpPr>
        <p:spPr>
          <a:xfrm>
            <a:off x="6428232" y="2148840"/>
            <a:ext cx="4983480" cy="1920240"/>
          </a:xfrm>
          <a:prstGeom prst="rect">
            <a:avLst/>
          </a:prstGeom>
          <a:noFill/>
          <a:ln/>
        </p:spPr>
        <p:txBody>
          <a:bodyPr wrap="square" lIns="0" tIns="0" rIns="0" bIns="0" rtlCol="0" anchor="t"/>
          <a:lstStyle/>
          <a:p>
            <a:pPr indent="0" marL="0">
              <a:spcAft>
                <a:spcPts val="1000"/>
              </a:spcAft>
              <a:buNone/>
            </a:pPr>
            <a:r>
              <a:rPr lang="en-US" sz="1050" dirty="0">
                <a:solidFill>
                  <a:srgbClr val="BFD8D5"/>
                </a:solidFill>
                <a:latin typeface="Calibri" pitchFamily="34" charset="0"/>
                <a:ea typeface="Calibri" pitchFamily="34" charset="-122"/>
                <a:cs typeface="Calibri" pitchFamily="34" charset="-120"/>
              </a:rPr>
              <a:t>Plato is the SDK packaged as a deployable service: one container image, several roles, its own database for configuration, and an HTTP surface addressed by assistant. A Python wheel is source code with a different extension; anyone with the wheel can read the policy IR, the prompts and the fabric contracts.</a:t>
            </a:r>
            <a:endParaRPr lang="en-US" sz="1050" dirty="0"/>
          </a:p>
          <a:p>
            <a:pPr indent="0" marL="0">
              <a:spcAft>
                <a:spcPts val="1000"/>
              </a:spcAft>
              <a:buNone/>
            </a:pPr>
            <a:r>
              <a:rPr lang="en-US" sz="1050" dirty="0">
                <a:solidFill>
                  <a:srgbClr val="BFD8D5"/>
                </a:solidFill>
                <a:latin typeface="Calibri" pitchFamily="34" charset="0"/>
                <a:ea typeface="Calibri" pitchFamily="34" charset="-122"/>
                <a:cs typeface="Calibri" pitchFamily="34" charset="-120"/>
              </a:rPr>
              <a:t>The HTTP surface exposes five nouns: assistants, releases, skills, runs, traces. Everything else is reached through them.</a:t>
            </a:r>
            <a:endParaRPr lang="en-US" sz="1050" dirty="0"/>
          </a:p>
          <a:p>
            <a:pPr indent="0" marL="0">
              <a:spcAft>
                <a:spcPts val="1000"/>
              </a:spcAft>
              <a:buNone/>
            </a:pPr>
            <a:r>
              <a:rPr lang="en-US" sz="1050" dirty="0">
                <a:solidFill>
                  <a:srgbClr val="BFD8D5"/>
                </a:solidFill>
                <a:latin typeface="Calibri" pitchFamily="34" charset="0"/>
                <a:ea typeface="Calibri" pitchFamily="34" charset="-122"/>
                <a:cs typeface="Calibri" pitchFamily="34" charset="-120"/>
              </a:rPr>
              <a:t>Same code. The access path determines what is visible.</a:t>
            </a:r>
            <a:endParaRPr lang="en-US" sz="10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1091672" cy="914400"/>
        </p:xfrm>
        <a:graphic>
          <a:graphicData uri="http://schemas.openxmlformats.org/drawingml/2006/table">
            <a:tbl>
              <a:tblPr/>
              <a:tblGrid>
                <a:gridCol w="4206240"/>
                <a:gridCol w="6885432"/>
              </a:tblGrid>
              <a:tr h="0">
                <a:tc>
                  <a:txBody>
                    <a:bodyPr/>
                    <a:lstStyle/>
                    <a:p>
                      <a:pPr indent="0" marL="0">
                        <a:buNone/>
                      </a:pPr>
                      <a:r>
                        <a:rPr lang="en-US" sz="950" b="1" dirty="0">
                          <a:solidFill>
                            <a:srgbClr val="F7F7F3"/>
                          </a:solidFill>
                          <a:latin typeface="Calibri" pitchFamily="34" charset="0"/>
                          <a:ea typeface="Calibri" pitchFamily="34" charset="-122"/>
                          <a:cs typeface="Calibri" pitchFamily="34" charset="-120"/>
                        </a:rPr>
                        <a:t>Route, under /api/v1</a:t>
                      </a:r>
                      <a:endParaRPr lang="en-US" sz="9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950" b="1" dirty="0">
                          <a:solidFill>
                            <a:srgbClr val="F7F7F3"/>
                          </a:solidFill>
                          <a:latin typeface="Calibri" pitchFamily="34" charset="0"/>
                          <a:ea typeface="Calibri" pitchFamily="34" charset="-122"/>
                          <a:cs typeface="Calibri" pitchFamily="34" charset="-120"/>
                        </a:rPr>
                        <a:t>What it serves</a:t>
                      </a:r>
                      <a:endParaRPr lang="en-US" sz="9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r>
              <a:tr h="0">
                <a:tc>
                  <a:txBody>
                    <a:bodyPr/>
                    <a:lstStyle/>
                    <a:p>
                      <a:pPr indent="0" marL="0">
                        <a:buNone/>
                      </a:pPr>
                      <a:r>
                        <a:rPr lang="en-US" sz="950" dirty="0">
                          <a:solidFill>
                            <a:srgbClr val="121A24"/>
                          </a:solidFill>
                          <a:latin typeface="Courier New" pitchFamily="34" charset="0"/>
                          <a:ea typeface="Courier New" pitchFamily="34" charset="-122"/>
                          <a:cs typeface="Courier New" pitchFamily="34" charset="-120"/>
                        </a:rPr>
                        <a:t>assistants/{id}/chat, sessions</a:t>
                      </a:r>
                      <a:endParaRPr lang="en-US" sz="9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950" dirty="0">
                          <a:solidFill>
                            <a:srgbClr val="47525E"/>
                          </a:solidFill>
                          <a:latin typeface="Calibri" pitchFamily="34" charset="0"/>
                          <a:ea typeface="Calibri" pitchFamily="34" charset="-122"/>
                          <a:cs typeface="Calibri" pitchFamily="34" charset="-120"/>
                        </a:rPr>
                        <a:t>Chat turns, blocking or streamed, in a session</a:t>
                      </a:r>
                      <a:endParaRPr lang="en-US" sz="9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21A24"/>
                          </a:solidFill>
                          <a:latin typeface="Courier New" pitchFamily="34" charset="0"/>
                          <a:ea typeface="Courier New" pitchFamily="34" charset="-122"/>
                          <a:cs typeface="Courier New" pitchFamily="34" charset="-120"/>
                        </a:rPr>
                        <a:t>packs, packs/check, drafts, samples, activate</a:t>
                      </a:r>
                      <a:endParaRPr lang="en-US" sz="9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950" dirty="0">
                          <a:solidFill>
                            <a:srgbClr val="47525E"/>
                          </a:solidFill>
                          <a:latin typeface="Calibri" pitchFamily="34" charset="0"/>
                          <a:ea typeface="Calibri" pitchFamily="34" charset="-122"/>
                          <a:cs typeface="Calibri" pitchFamily="34" charset="-120"/>
                        </a:rPr>
                        <a:t>Versioned, digest-addressed packs; check before publish; per-tenant activation</a:t>
                      </a:r>
                      <a:endParaRPr lang="en-US" sz="9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950" dirty="0">
                          <a:solidFill>
                            <a:srgbClr val="121A24"/>
                          </a:solidFill>
                          <a:latin typeface="Courier New" pitchFamily="34" charset="0"/>
                          <a:ea typeface="Courier New" pitchFamily="34" charset="-122"/>
                          <a:cs typeface="Courier New" pitchFamily="34" charset="-120"/>
                        </a:rPr>
                        <a:t>packs/{id}/assess · runs, runs/{id}/stream</a:t>
                      </a:r>
                      <a:endParaRPr lang="en-US" sz="9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950" dirty="0">
                          <a:solidFill>
                            <a:srgbClr val="47525E"/>
                          </a:solidFill>
                          <a:latin typeface="Calibri" pitchFamily="34" charset="0"/>
                          <a:ea typeface="Calibri" pitchFamily="34" charset="-122"/>
                          <a:cs typeface="Calibri" pitchFamily="34" charset="-120"/>
                        </a:rPr>
                        <a:t>Deterministic policy assessment; durable domain runs, streamed and stoppable</a:t>
                      </a:r>
                      <a:endParaRPr lang="en-US" sz="9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21A24"/>
                          </a:solidFill>
                          <a:latin typeface="Courier New" pitchFamily="34" charset="0"/>
                          <a:ea typeface="Courier New" pitchFamily="34" charset="-122"/>
                          <a:cs typeface="Courier New" pitchFamily="34" charset="-120"/>
                        </a:rPr>
                        <a:t>formal/checks · eval · feedback</a:t>
                      </a:r>
                      <a:endParaRPr lang="en-US" sz="9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950" dirty="0">
                          <a:solidFill>
                            <a:srgbClr val="47525E"/>
                          </a:solidFill>
                          <a:latin typeface="Calibri" pitchFamily="34" charset="0"/>
                          <a:ea typeface="Calibri" pitchFamily="34" charset="-122"/>
                          <a:cs typeface="Calibri" pitchFamily="34" charset="-120"/>
                        </a:rPr>
                        <a:t>Formal claims; datasets, experiments, optimization; feedback intake</a:t>
                      </a:r>
                      <a:endParaRPr lang="en-US" sz="9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bl>
          </a:graphicData>
        </a:graphic>
      </p:graphicFrame>
      <p:sp>
        <p:nvSpPr>
          <p:cNvPr id="14" name="Text 11"/>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plato/ · one image, roles by JAPES_RUN_MODE · jazzx_sdk never imports plato, enforced in CI</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C2703A"/>
                </a:solidFill>
                <a:latin typeface="Courier New" pitchFamily="34" charset="0"/>
                <a:ea typeface="Courier New" pitchFamily="34" charset="-122"/>
                <a:cs typeface="Courier New" pitchFamily="34" charset="-120"/>
              </a:rPr>
              <a:t>LIVE, RIGHT NOW</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The running replica</a:t>
            </a:r>
            <a:endParaRPr lang="en-US" sz="3000" dirty="0"/>
          </a:p>
        </p:txBody>
      </p:sp>
      <p:sp>
        <p:nvSpPr>
          <p:cNvPr id="4" name="Shape 2"/>
          <p:cNvSpPr/>
          <p:nvPr/>
        </p:nvSpPr>
        <p:spPr>
          <a:xfrm>
            <a:off x="548640" y="1737360"/>
            <a:ext cx="2622042" cy="1737360"/>
          </a:xfrm>
          <a:prstGeom prst="roundRect">
            <a:avLst>
              <a:gd name="adj" fmla="val 6316"/>
            </a:avLst>
          </a:prstGeom>
          <a:solidFill>
            <a:srgbClr val="FFFFFF"/>
          </a:solidFill>
          <a:ln w="9525">
            <a:solidFill>
              <a:srgbClr val="DDDED6"/>
            </a:solidFill>
            <a:prstDash val="solid"/>
          </a:ln>
        </p:spPr>
      </p:sp>
      <p:sp>
        <p:nvSpPr>
          <p:cNvPr id="5" name="Text 3"/>
          <p:cNvSpPr txBox="1"/>
          <p:nvPr/>
        </p:nvSpPr>
        <p:spPr>
          <a:xfrm>
            <a:off x="777240" y="1938528"/>
            <a:ext cx="2164842" cy="256032"/>
          </a:xfrm>
          <a:prstGeom prst="rect">
            <a:avLst/>
          </a:prstGeom>
          <a:noFill/>
          <a:ln/>
        </p:spPr>
        <p:txBody>
          <a:bodyPr wrap="square" lIns="0" tIns="0" rIns="0" bIns="0" rtlCol="0" anchor="t"/>
          <a:lstStyle/>
          <a:p>
            <a:pPr indent="0" marL="0">
              <a:buNone/>
            </a:pPr>
            <a:r>
              <a:rPr lang="en-US" sz="1100" dirty="0">
                <a:solidFill>
                  <a:srgbClr val="8A8F86"/>
                </a:solidFill>
                <a:latin typeface="Courier New" pitchFamily="34" charset="0"/>
                <a:ea typeface="Courier New" pitchFamily="34" charset="-122"/>
                <a:cs typeface="Courier New" pitchFamily="34" charset="-120"/>
              </a:rPr>
              <a:t>Plato / SDK</a:t>
            </a:r>
            <a:endParaRPr lang="en-US" sz="1100" dirty="0"/>
          </a:p>
        </p:txBody>
      </p:sp>
      <p:sp>
        <p:nvSpPr>
          <p:cNvPr id="6" name="Text 4"/>
          <p:cNvSpPr txBox="1"/>
          <p:nvPr/>
        </p:nvSpPr>
        <p:spPr>
          <a:xfrm>
            <a:off x="777240" y="2249424"/>
            <a:ext cx="2164842" cy="502920"/>
          </a:xfrm>
          <a:prstGeom prst="rect">
            <a:avLst/>
          </a:prstGeom>
          <a:noFill/>
          <a:ln/>
        </p:spPr>
        <p:txBody>
          <a:bodyPr wrap="square" lIns="0" tIns="0" rIns="0" bIns="0" rtlCol="0" anchor="t"/>
          <a:lstStyle/>
          <a:p>
            <a:pPr indent="0" marL="0">
              <a:buNone/>
            </a:pPr>
            <a:r>
              <a:rPr lang="en-US" sz="2200" b="1" dirty="0">
                <a:solidFill>
                  <a:srgbClr val="121A24"/>
                </a:solidFill>
                <a:latin typeface="Calibri" pitchFamily="34" charset="0"/>
                <a:ea typeface="Calibri" pitchFamily="34" charset="-122"/>
                <a:cs typeface="Calibri" pitchFamily="34" charset="-120"/>
              </a:rPr>
              <a:t>0.1.7 / 2.5.5</a:t>
            </a:r>
            <a:endParaRPr lang="en-US" sz="2200" dirty="0"/>
          </a:p>
        </p:txBody>
      </p:sp>
      <p:sp>
        <p:nvSpPr>
          <p:cNvPr id="7" name="Text 5"/>
          <p:cNvSpPr txBox="1"/>
          <p:nvPr/>
        </p:nvSpPr>
        <p:spPr>
          <a:xfrm>
            <a:off x="777240" y="2798064"/>
            <a:ext cx="2164842" cy="4937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commit 46c8e29, read off the working tree</a:t>
            </a:r>
            <a:endParaRPr lang="en-US" sz="1150" dirty="0"/>
          </a:p>
        </p:txBody>
      </p:sp>
      <p:sp>
        <p:nvSpPr>
          <p:cNvPr id="8" name="Shape 6"/>
          <p:cNvSpPr/>
          <p:nvPr/>
        </p:nvSpPr>
        <p:spPr>
          <a:xfrm>
            <a:off x="3371850" y="1737360"/>
            <a:ext cx="2622042" cy="1737360"/>
          </a:xfrm>
          <a:prstGeom prst="roundRect">
            <a:avLst>
              <a:gd name="adj" fmla="val 6316"/>
            </a:avLst>
          </a:prstGeom>
          <a:solidFill>
            <a:srgbClr val="FFFFFF"/>
          </a:solidFill>
          <a:ln w="9525">
            <a:solidFill>
              <a:srgbClr val="DDDED6"/>
            </a:solidFill>
            <a:prstDash val="solid"/>
          </a:ln>
        </p:spPr>
      </p:sp>
      <p:sp>
        <p:nvSpPr>
          <p:cNvPr id="9" name="Text 7"/>
          <p:cNvSpPr txBox="1"/>
          <p:nvPr/>
        </p:nvSpPr>
        <p:spPr>
          <a:xfrm>
            <a:off x="3600450" y="1938528"/>
            <a:ext cx="2164842" cy="256032"/>
          </a:xfrm>
          <a:prstGeom prst="rect">
            <a:avLst/>
          </a:prstGeom>
          <a:noFill/>
          <a:ln/>
        </p:spPr>
        <p:txBody>
          <a:bodyPr wrap="square" lIns="0" tIns="0" rIns="0" bIns="0" rtlCol="0" anchor="t"/>
          <a:lstStyle/>
          <a:p>
            <a:pPr indent="0" marL="0">
              <a:buNone/>
            </a:pPr>
            <a:r>
              <a:rPr lang="en-US" sz="1100" dirty="0">
                <a:solidFill>
                  <a:srgbClr val="8A8F86"/>
                </a:solidFill>
                <a:latin typeface="Courier New" pitchFamily="34" charset="0"/>
                <a:ea typeface="Courier New" pitchFamily="34" charset="-122"/>
                <a:cs typeface="Courier New" pitchFamily="34" charset="-120"/>
              </a:rPr>
              <a:t>Posture</a:t>
            </a:r>
            <a:endParaRPr lang="en-US" sz="1100" dirty="0"/>
          </a:p>
        </p:txBody>
      </p:sp>
      <p:sp>
        <p:nvSpPr>
          <p:cNvPr id="10" name="Text 8"/>
          <p:cNvSpPr txBox="1"/>
          <p:nvPr/>
        </p:nvSpPr>
        <p:spPr>
          <a:xfrm>
            <a:off x="3600450" y="2249424"/>
            <a:ext cx="2164842" cy="502920"/>
          </a:xfrm>
          <a:prstGeom prst="rect">
            <a:avLst/>
          </a:prstGeom>
          <a:noFill/>
          <a:ln/>
        </p:spPr>
        <p:txBody>
          <a:bodyPr wrap="square" lIns="0" tIns="0" rIns="0" bIns="0" rtlCol="0" anchor="t"/>
          <a:lstStyle/>
          <a:p>
            <a:pPr indent="0" marL="0">
              <a:buNone/>
            </a:pPr>
            <a:r>
              <a:rPr lang="en-US" sz="2200" b="1" dirty="0">
                <a:solidFill>
                  <a:srgbClr val="121A24"/>
                </a:solidFill>
                <a:latin typeface="Calibri" pitchFamily="34" charset="0"/>
                <a:ea typeface="Calibri" pitchFamily="34" charset="-122"/>
                <a:cs typeface="Calibri" pitchFamily="34" charset="-120"/>
              </a:rPr>
              <a:t>dev-daily</a:t>
            </a:r>
            <a:endParaRPr lang="en-US" sz="2200" dirty="0"/>
          </a:p>
        </p:txBody>
      </p:sp>
      <p:sp>
        <p:nvSpPr>
          <p:cNvPr id="11" name="Text 9"/>
          <p:cNvSpPr txBox="1"/>
          <p:nvPr/>
        </p:nvSpPr>
        <p:spPr>
          <a:xfrm>
            <a:off x="3600450" y="2798064"/>
            <a:ext cx="2164842" cy="4937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deployed, relaxed, role=server</a:t>
            </a:r>
            <a:endParaRPr lang="en-US" sz="1150" dirty="0"/>
          </a:p>
        </p:txBody>
      </p:sp>
      <p:sp>
        <p:nvSpPr>
          <p:cNvPr id="12" name="Shape 10"/>
          <p:cNvSpPr/>
          <p:nvPr/>
        </p:nvSpPr>
        <p:spPr>
          <a:xfrm>
            <a:off x="6195060" y="1737360"/>
            <a:ext cx="2622042" cy="1737360"/>
          </a:xfrm>
          <a:prstGeom prst="roundRect">
            <a:avLst>
              <a:gd name="adj" fmla="val 6316"/>
            </a:avLst>
          </a:prstGeom>
          <a:solidFill>
            <a:srgbClr val="FFFFFF"/>
          </a:solidFill>
          <a:ln w="9525">
            <a:solidFill>
              <a:srgbClr val="DDDED6"/>
            </a:solidFill>
            <a:prstDash val="solid"/>
          </a:ln>
        </p:spPr>
      </p:sp>
      <p:sp>
        <p:nvSpPr>
          <p:cNvPr id="13" name="Text 11"/>
          <p:cNvSpPr txBox="1"/>
          <p:nvPr/>
        </p:nvSpPr>
        <p:spPr>
          <a:xfrm>
            <a:off x="6423660" y="1938528"/>
            <a:ext cx="2164842" cy="256032"/>
          </a:xfrm>
          <a:prstGeom prst="rect">
            <a:avLst/>
          </a:prstGeom>
          <a:noFill/>
          <a:ln/>
        </p:spPr>
        <p:txBody>
          <a:bodyPr wrap="square" lIns="0" tIns="0" rIns="0" bIns="0" rtlCol="0" anchor="t"/>
          <a:lstStyle/>
          <a:p>
            <a:pPr indent="0" marL="0">
              <a:buNone/>
            </a:pPr>
            <a:r>
              <a:rPr lang="en-US" sz="1100" dirty="0">
                <a:solidFill>
                  <a:srgbClr val="8A8F86"/>
                </a:solidFill>
                <a:latin typeface="Courier New" pitchFamily="34" charset="0"/>
                <a:ea typeface="Courier New" pitchFamily="34" charset="-122"/>
                <a:cs typeface="Courier New" pitchFamily="34" charset="-120"/>
              </a:rPr>
              <a:t>Schema</a:t>
            </a:r>
            <a:endParaRPr lang="en-US" sz="1100" dirty="0"/>
          </a:p>
        </p:txBody>
      </p:sp>
      <p:sp>
        <p:nvSpPr>
          <p:cNvPr id="14" name="Text 12"/>
          <p:cNvSpPr txBox="1"/>
          <p:nvPr/>
        </p:nvSpPr>
        <p:spPr>
          <a:xfrm>
            <a:off x="6423660" y="2249424"/>
            <a:ext cx="2164842" cy="502920"/>
          </a:xfrm>
          <a:prstGeom prst="rect">
            <a:avLst/>
          </a:prstGeom>
          <a:noFill/>
          <a:ln/>
        </p:spPr>
        <p:txBody>
          <a:bodyPr wrap="square" lIns="0" tIns="0" rIns="0" bIns="0" rtlCol="0" anchor="t"/>
          <a:lstStyle/>
          <a:p>
            <a:pPr indent="0" marL="0">
              <a:buNone/>
            </a:pPr>
            <a:r>
              <a:rPr lang="en-US" sz="2200" b="1" dirty="0">
                <a:solidFill>
                  <a:srgbClr val="121A24"/>
                </a:solidFill>
                <a:latin typeface="Calibri" pitchFamily="34" charset="0"/>
                <a:ea typeface="Calibri" pitchFamily="34" charset="-122"/>
                <a:cs typeface="Calibri" pitchFamily="34" charset="-120"/>
              </a:rPr>
              <a:t>current</a:t>
            </a:r>
            <a:endParaRPr lang="en-US" sz="2200" dirty="0"/>
          </a:p>
        </p:txBody>
      </p:sp>
      <p:sp>
        <p:nvSpPr>
          <p:cNvPr id="15" name="Text 13"/>
          <p:cNvSpPr txBox="1"/>
          <p:nvPr/>
        </p:nvSpPr>
        <p:spPr>
          <a:xfrm>
            <a:off x="6423660" y="2798064"/>
            <a:ext cx="2164842" cy="4937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expected matches actual, or the container refuses to boot</a:t>
            </a:r>
            <a:endParaRPr lang="en-US" sz="1150" dirty="0"/>
          </a:p>
        </p:txBody>
      </p:sp>
      <p:sp>
        <p:nvSpPr>
          <p:cNvPr id="16" name="Shape 14"/>
          <p:cNvSpPr/>
          <p:nvPr/>
        </p:nvSpPr>
        <p:spPr>
          <a:xfrm>
            <a:off x="9018270" y="1737360"/>
            <a:ext cx="2622042" cy="1737360"/>
          </a:xfrm>
          <a:prstGeom prst="roundRect">
            <a:avLst>
              <a:gd name="adj" fmla="val 6316"/>
            </a:avLst>
          </a:prstGeom>
          <a:solidFill>
            <a:srgbClr val="FFFFFF"/>
          </a:solidFill>
          <a:ln w="9525">
            <a:solidFill>
              <a:srgbClr val="DDDED6"/>
            </a:solidFill>
            <a:prstDash val="solid"/>
          </a:ln>
        </p:spPr>
      </p:sp>
      <p:sp>
        <p:nvSpPr>
          <p:cNvPr id="17" name="Text 15"/>
          <p:cNvSpPr txBox="1"/>
          <p:nvPr/>
        </p:nvSpPr>
        <p:spPr>
          <a:xfrm>
            <a:off x="9246870" y="1938528"/>
            <a:ext cx="2164842" cy="256032"/>
          </a:xfrm>
          <a:prstGeom prst="rect">
            <a:avLst/>
          </a:prstGeom>
          <a:noFill/>
          <a:ln/>
        </p:spPr>
        <p:txBody>
          <a:bodyPr wrap="square" lIns="0" tIns="0" rIns="0" bIns="0" rtlCol="0" anchor="t"/>
          <a:lstStyle/>
          <a:p>
            <a:pPr indent="0" marL="0">
              <a:buNone/>
            </a:pPr>
            <a:r>
              <a:rPr lang="en-US" sz="1100" dirty="0">
                <a:solidFill>
                  <a:srgbClr val="8A8F86"/>
                </a:solidFill>
                <a:latin typeface="Courier New" pitchFamily="34" charset="0"/>
                <a:ea typeface="Courier New" pitchFamily="34" charset="-122"/>
                <a:cs typeface="Courier New" pitchFamily="34" charset="-120"/>
              </a:rPr>
              <a:t>Store</a:t>
            </a:r>
            <a:endParaRPr lang="en-US" sz="1100" dirty="0"/>
          </a:p>
        </p:txBody>
      </p:sp>
      <p:sp>
        <p:nvSpPr>
          <p:cNvPr id="18" name="Text 16"/>
          <p:cNvSpPr txBox="1"/>
          <p:nvPr/>
        </p:nvSpPr>
        <p:spPr>
          <a:xfrm>
            <a:off x="9246870" y="2249424"/>
            <a:ext cx="2164842" cy="502920"/>
          </a:xfrm>
          <a:prstGeom prst="rect">
            <a:avLst/>
          </a:prstGeom>
          <a:noFill/>
          <a:ln/>
        </p:spPr>
        <p:txBody>
          <a:bodyPr wrap="square" lIns="0" tIns="0" rIns="0" bIns="0" rtlCol="0" anchor="t"/>
          <a:lstStyle/>
          <a:p>
            <a:pPr indent="0" marL="0">
              <a:buNone/>
            </a:pPr>
            <a:r>
              <a:rPr lang="en-US" sz="2200" b="1" dirty="0">
                <a:solidFill>
                  <a:srgbClr val="121A24"/>
                </a:solidFill>
                <a:latin typeface="Calibri" pitchFamily="34" charset="0"/>
                <a:ea typeface="Calibri" pitchFamily="34" charset="-122"/>
                <a:cs typeface="Calibri" pitchFamily="34" charset="-120"/>
              </a:rPr>
              <a:t>postgres</a:t>
            </a:r>
            <a:endParaRPr lang="en-US" sz="2200" dirty="0"/>
          </a:p>
        </p:txBody>
      </p:sp>
      <p:sp>
        <p:nvSpPr>
          <p:cNvPr id="19" name="Text 17"/>
          <p:cNvSpPr txBox="1"/>
          <p:nvPr/>
        </p:nvSpPr>
        <p:spPr>
          <a:xfrm>
            <a:off x="9246870" y="2798064"/>
            <a:ext cx="2164842" cy="4937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schema at 0010_feedback: packs, drafts, runs, eval, feedback</a:t>
            </a:r>
            <a:endParaRPr lang="en-US" sz="1150" dirty="0"/>
          </a:p>
        </p:txBody>
      </p:sp>
      <p:sp>
        <p:nvSpPr>
          <p:cNvPr id="20" name="Shape 18"/>
          <p:cNvSpPr/>
          <p:nvPr/>
        </p:nvSpPr>
        <p:spPr>
          <a:xfrm>
            <a:off x="548640" y="3749040"/>
            <a:ext cx="11091672" cy="1554480"/>
          </a:xfrm>
          <a:prstGeom prst="roundRect">
            <a:avLst>
              <a:gd name="adj" fmla="val 7059"/>
            </a:avLst>
          </a:prstGeom>
          <a:solidFill>
            <a:srgbClr val="FBF0E6"/>
          </a:solidFill>
          <a:ln w="9525">
            <a:solidFill>
              <a:srgbClr val="E8C9AC"/>
            </a:solidFill>
            <a:prstDash val="solid"/>
          </a:ln>
        </p:spPr>
      </p:sp>
      <p:sp>
        <p:nvSpPr>
          <p:cNvPr id="21" name="Text 19"/>
          <p:cNvSpPr txBox="1"/>
          <p:nvPr/>
        </p:nvSpPr>
        <p:spPr>
          <a:xfrm>
            <a:off x="822960" y="3931920"/>
            <a:ext cx="10543032" cy="365760"/>
          </a:xfrm>
          <a:prstGeom prst="rect">
            <a:avLst/>
          </a:prstGeom>
          <a:noFill/>
          <a:ln/>
        </p:spPr>
        <p:txBody>
          <a:bodyPr wrap="square" lIns="0" tIns="0" rIns="0" bIns="0" rtlCol="0" anchor="t"/>
          <a:lstStyle/>
          <a:p>
            <a:pPr indent="0" marL="0">
              <a:buNone/>
            </a:pPr>
            <a:r>
              <a:rPr lang="en-US" sz="1500" b="1" dirty="0">
                <a:solidFill>
                  <a:srgbClr val="8A4B16"/>
                </a:solidFill>
                <a:latin typeface="Calibri" pitchFamily="34" charset="0"/>
                <a:ea typeface="Calibri" pitchFamily="34" charset="-122"/>
                <a:cs typeface="Calibri" pitchFamily="34" charset="-120"/>
              </a:rPr>
              <a:t>Degraded state, reported</a:t>
            </a:r>
            <a:endParaRPr lang="en-US" sz="1500" dirty="0"/>
          </a:p>
        </p:txBody>
      </p:sp>
      <p:sp>
        <p:nvSpPr>
          <p:cNvPr id="22" name="Text 20"/>
          <p:cNvSpPr txBox="1"/>
          <p:nvPr/>
        </p:nvSpPr>
        <p:spPr>
          <a:xfrm>
            <a:off x="822960" y="4343400"/>
            <a:ext cx="10543032" cy="868680"/>
          </a:xfrm>
          <a:prstGeom prst="rect">
            <a:avLst/>
          </a:prstGeom>
          <a:noFill/>
          <a:ln/>
        </p:spPr>
        <p:txBody>
          <a:bodyPr wrap="square" lIns="0" tIns="0" rIns="0" bIns="0" rtlCol="0" anchor="t"/>
          <a:lstStyle/>
          <a:p>
            <a:pPr indent="0" marL="0">
              <a:buNone/>
            </a:pPr>
            <a:r>
              <a:rPr lang="en-US" sz="1250" dirty="0">
                <a:solidFill>
                  <a:srgbClr val="8A4B16"/>
                </a:solidFill>
                <a:latin typeface="Calibri" pitchFamily="34" charset="0"/>
                <a:ea typeface="Calibri" pitchFamily="34" charset="-122"/>
                <a:cs typeface="Calibri" pitchFamily="34" charset="-120"/>
              </a:rPr>
              <a:t>No Knowledge Hub (KH, the document and graph store) URL, so the fabric would run offline against a mock and answer from nothing. On the relaxed tier the replica serves anyway and reports the reason at /api/v1/info. A strict tier refuses to start at all.</a:t>
            </a:r>
            <a:endParaRPr lang="en-US" sz="1250" dirty="0"/>
          </a:p>
        </p:txBody>
      </p:sp>
      <p:sp>
        <p:nvSpPr>
          <p:cNvPr id="23" name="Text 21"/>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localhost:8000 · dashboard · /api/v1/info · /openapi.json</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Assistant pack: a profile directory</a:t>
            </a:r>
            <a:endParaRPr lang="en-US" sz="3000" dirty="0"/>
          </a:p>
        </p:txBody>
      </p:sp>
      <p:sp>
        <p:nvSpPr>
          <p:cNvPr id="3" name="Shape 1"/>
          <p:cNvSpPr/>
          <p:nvPr/>
        </p:nvSpPr>
        <p:spPr>
          <a:xfrm>
            <a:off x="548640" y="1554480"/>
            <a:ext cx="5120640" cy="3840480"/>
          </a:xfrm>
          <a:prstGeom prst="roundRect">
            <a:avLst>
              <a:gd name="adj" fmla="val 2857"/>
            </a:avLst>
          </a:prstGeom>
          <a:solidFill>
            <a:srgbClr val="121A24"/>
          </a:solidFill>
          <a:ln w="12700">
            <a:solidFill>
              <a:srgbClr val="121A24"/>
            </a:solidFill>
            <a:prstDash val="solid"/>
          </a:ln>
        </p:spPr>
      </p:sp>
      <p:sp>
        <p:nvSpPr>
          <p:cNvPr id="4" name="Text 2"/>
          <p:cNvSpPr txBox="1"/>
          <p:nvPr/>
        </p:nvSpPr>
        <p:spPr>
          <a:xfrm>
            <a:off x="777240" y="1737360"/>
            <a:ext cx="4663440" cy="256032"/>
          </a:xfrm>
          <a:prstGeom prst="rect">
            <a:avLst/>
          </a:prstGeom>
          <a:noFill/>
          <a:ln/>
        </p:spPr>
        <p:txBody>
          <a:bodyPr wrap="square" lIns="0" tIns="0" rIns="0" bIns="0" rtlCol="0" anchor="t"/>
          <a:lstStyle/>
          <a:p>
            <a:pPr indent="0" marL="0">
              <a:buNone/>
            </a:pPr>
            <a:r>
              <a:rPr lang="en-US" sz="1050" dirty="0">
                <a:solidFill>
                  <a:srgbClr val="5FBFB3"/>
                </a:solidFill>
                <a:latin typeface="Courier New" pitchFamily="34" charset="0"/>
                <a:ea typeface="Courier New" pitchFamily="34" charset="-122"/>
                <a:cs typeface="Courier New" pitchFamily="34" charset="-120"/>
              </a:rPr>
              <a:t>manifest.yaml + profile/</a:t>
            </a:r>
            <a:endParaRPr lang="en-US" sz="1050" dirty="0"/>
          </a:p>
        </p:txBody>
      </p:sp>
      <p:sp>
        <p:nvSpPr>
          <p:cNvPr id="5" name="Text 3"/>
          <p:cNvSpPr txBox="1"/>
          <p:nvPr/>
        </p:nvSpPr>
        <p:spPr>
          <a:xfrm>
            <a:off x="777240" y="2057400"/>
            <a:ext cx="4663440" cy="3154680"/>
          </a:xfrm>
          <a:prstGeom prst="rect">
            <a:avLst/>
          </a:prstGeom>
          <a:noFill/>
          <a:ln/>
        </p:spPr>
        <p:txBody>
          <a:bodyPr wrap="square" lIns="0" tIns="0" rIns="0" bIns="0" rtlCol="0" anchor="t"/>
          <a:lstStyle/>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manifest.yaml</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assistant_id, archetype_type,</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autonomy_level, allowed_skills,</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pack_id, pack_version_range</a:t>
            </a:r>
            <a:endParaRPr lang="en-US" sz="1050" dirty="0"/>
          </a:p>
          <a:p>
            <a:pPr indent="0" marL="0">
              <a:lnSpc>
                <a:spcPct val="115000"/>
              </a:lnSpc>
              <a:buNone/>
            </a:pP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profile/</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profile.yaml   scope, guardrails, skills</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persona.md     who it is, in prose</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skills/</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medication_capture.yaml</a:t>
            </a:r>
            <a:endParaRPr lang="en-US" sz="1050" dirty="0"/>
          </a:p>
          <a:p>
            <a:pPr indent="0" marL="0">
              <a:lnSpc>
                <a:spcPct val="115000"/>
              </a:lnSpc>
              <a:buNone/>
            </a:pPr>
            <a:r>
              <a:rPr lang="en-US" sz="1050" dirty="0">
                <a:solidFill>
                  <a:srgbClr val="BFD8D5"/>
                </a:solidFill>
                <a:latin typeface="Courier New" pitchFamily="34" charset="0"/>
                <a:ea typeface="Courier New" pitchFamily="34" charset="-122"/>
                <a:cs typeface="Courier New" pitchFamily="34" charset="-120"/>
              </a:rPr>
              <a:t>    symptom_probe.yaml</a:t>
            </a:r>
            <a:endParaRPr lang="en-US" sz="1050" dirty="0"/>
          </a:p>
        </p:txBody>
      </p:sp>
      <p:sp>
        <p:nvSpPr>
          <p:cNvPr id="6" name="Text 4"/>
          <p:cNvSpPr txBox="1"/>
          <p:nvPr/>
        </p:nvSpPr>
        <p:spPr>
          <a:xfrm>
            <a:off x="5943600" y="1691640"/>
            <a:ext cx="5669280" cy="3017520"/>
          </a:xfrm>
          <a:prstGeom prst="rect">
            <a:avLst/>
          </a:prstGeom>
          <a:noFill/>
          <a:ln/>
        </p:spPr>
        <p:txBody>
          <a:bodyPr wrap="square" lIns="0" tIns="0" rIns="0" bIns="0" rtlCol="0" anchor="t"/>
          <a:lstStyle/>
          <a:p>
            <a:pPr indent="0" marL="0">
              <a:spcAft>
                <a:spcPts val="1000"/>
              </a:spcAft>
              <a:buNone/>
            </a:pPr>
            <a:r>
              <a:rPr lang="en-US" sz="1300" dirty="0">
                <a:solidFill>
                  <a:srgbClr val="47525E"/>
                </a:solidFill>
                <a:latin typeface="Calibri" pitchFamily="34" charset="0"/>
                <a:ea typeface="Calibri" pitchFamily="34" charset="-122"/>
                <a:cs typeface="Calibri" pitchFamily="34" charset="-120"/>
              </a:rPr>
              <a:t>The bundled demo assistant is two declarative skills, a persona, and no Python.</a:t>
            </a:r>
            <a:endParaRPr lang="en-US" sz="1300" dirty="0"/>
          </a:p>
          <a:p>
            <a:pPr indent="0" marL="0">
              <a:spcAft>
                <a:spcPts val="1000"/>
              </a:spcAft>
              <a:buNone/>
            </a:pPr>
            <a:r>
              <a:rPr lang="en-US" sz="1300" dirty="0">
                <a:solidFill>
                  <a:srgbClr val="47525E"/>
                </a:solidFill>
                <a:latin typeface="Calibri" pitchFamily="34" charset="0"/>
                <a:ea typeface="Calibri" pitchFamily="34" charset="-122"/>
                <a:cs typeface="Calibri" pitchFamily="34" charset="-120"/>
              </a:rPr>
              <a:t>Guardrails are names resolved against a catalog. Skills run as scoped sub-agents. Compaction strategy, conversation threading and scope keys are all declared in the same file.</a:t>
            </a:r>
            <a:endParaRPr lang="en-US" sz="1300" dirty="0"/>
          </a:p>
          <a:p>
            <a:pPr indent="0" marL="0">
              <a:spcAft>
                <a:spcPts val="1000"/>
              </a:spcAft>
              <a:buNone/>
            </a:pPr>
            <a:r>
              <a:rPr lang="en-US" sz="1300" dirty="0">
                <a:solidFill>
                  <a:srgbClr val="47525E"/>
                </a:solidFill>
                <a:latin typeface="Calibri" pitchFamily="34" charset="0"/>
                <a:ea typeface="Calibri" pitchFamily="34" charset="-122"/>
                <a:cs typeface="Calibri" pitchFamily="34" charset="-120"/>
              </a:rPr>
              <a:t>Building the next assistant means writing a folder like this one, with no platform code involved.</a:t>
            </a:r>
            <a:endParaRPr lang="en-US" sz="1300" dirty="0"/>
          </a:p>
        </p:txBody>
      </p:sp>
      <p:sp>
        <p:nvSpPr>
          <p:cNvPr id="7" name="Text 5"/>
          <p:cNvSpPr txBox="1"/>
          <p:nvPr/>
        </p:nvSpPr>
        <p:spPr>
          <a:xfrm>
            <a:off x="5943600" y="4754880"/>
            <a:ext cx="5669280" cy="640080"/>
          </a:xfrm>
          <a:prstGeom prst="rect">
            <a:avLst/>
          </a:prstGeom>
          <a:noFill/>
          <a:ln/>
        </p:spPr>
        <p:txBody>
          <a:bodyPr wrap="square" lIns="0" tIns="0" rIns="0" bIns="0" rtlCol="0" anchor="t"/>
          <a:lstStyle/>
          <a:p>
            <a:pPr indent="0" marL="0">
              <a:buNone/>
            </a:pPr>
            <a:r>
              <a:rPr lang="en-US" sz="1150" dirty="0">
                <a:solidFill>
                  <a:srgbClr val="1F6F6B"/>
                </a:solidFill>
                <a:latin typeface="Courier New" pitchFamily="34" charset="0"/>
                <a:ea typeface="Courier New" pitchFamily="34" charset="-122"/>
                <a:cs typeface="Courier New" pitchFamily="34" charset="-120"/>
              </a:rPr>
              <a:t>scripts/new_assistant_scaffold.py &lt;domain&gt;  generates the folder, a harness, a handler stub and a keyless test.</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PATH TO AN APP</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An app is a pack: data, not a new service</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194560"/>
                <a:gridCol w="4443984"/>
                <a:gridCol w="4453128"/>
              </a:tblGrid>
              <a:tr h="0">
                <a:tc>
                  <a:txBody>
                    <a:bodyPr/>
                    <a:lstStyle/>
                    <a:p>
                      <a:pPr indent="0" marL="0">
                        <a:buNone/>
                      </a:pP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200" b="1" dirty="0">
                          <a:solidFill>
                            <a:srgbClr val="5FBFB3"/>
                          </a:solidFill>
                          <a:latin typeface="Calibri" pitchFamily="34" charset="0"/>
                          <a:ea typeface="Calibri" pitchFamily="34" charset="-122"/>
                          <a:cs typeface="Calibri" pitchFamily="34" charset="-120"/>
                        </a:rPr>
                        <a:t>Assistant pack</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200" b="1" dirty="0">
                          <a:solidFill>
                            <a:srgbClr val="F4C08A"/>
                          </a:solidFill>
                          <a:latin typeface="Calibri" pitchFamily="34" charset="0"/>
                          <a:ea typeface="Calibri" pitchFamily="34" charset="-122"/>
                          <a:cs typeface="Calibri" pitchFamily="34" charset="-120"/>
                        </a:rPr>
                        <a:t>Domain pack</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r>
              <a:tr h="0">
                <a:tc>
                  <a:txBody>
                    <a:bodyPr/>
                    <a:lstStyle/>
                    <a:p>
                      <a:pPr indent="0" marL="0">
                        <a:buNone/>
                      </a:pPr>
                      <a:r>
                        <a:rPr lang="en-US" sz="1200" b="1" dirty="0">
                          <a:solidFill>
                            <a:srgbClr val="121A24"/>
                          </a:solidFill>
                          <a:latin typeface="Calibri" pitchFamily="34" charset="0"/>
                          <a:ea typeface="Calibri" pitchFamily="34" charset="-122"/>
                          <a:cs typeface="Calibri" pitchFamily="34" charset="-120"/>
                        </a:rPr>
                        <a:t>What it is</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200" dirty="0">
                          <a:solidFill>
                            <a:srgbClr val="47525E"/>
                          </a:solidFill>
                          <a:latin typeface="Calibri" pitchFamily="34" charset="0"/>
                          <a:ea typeface="Calibri" pitchFamily="34" charset="-122"/>
                          <a:cs typeface="Calibri" pitchFamily="34" charset="-120"/>
                        </a:rPr>
                        <a:t>A persona with skills that answers questions</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200" dirty="0">
                          <a:solidFill>
                            <a:srgbClr val="47525E"/>
                          </a:solidFill>
                          <a:latin typeface="Calibri" pitchFamily="34" charset="0"/>
                          <a:ea typeface="Calibri" pitchFamily="34" charset="-122"/>
                          <a:cs typeface="Calibri" pitchFamily="34" charset="-120"/>
                        </a:rPr>
                        <a:t>A case workflow over policies and metrics</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200" b="1" dirty="0">
                          <a:solidFill>
                            <a:srgbClr val="121A24"/>
                          </a:solidFill>
                          <a:latin typeface="Calibri" pitchFamily="34" charset="0"/>
                          <a:ea typeface="Calibri" pitchFamily="34" charset="-122"/>
                          <a:cs typeface="Calibri" pitchFamily="34" charset="-120"/>
                        </a:rPr>
                        <a:t>It carries</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200" dirty="0">
                          <a:solidFill>
                            <a:srgbClr val="47525E"/>
                          </a:solidFill>
                          <a:latin typeface="Calibri" pitchFamily="34" charset="0"/>
                          <a:ea typeface="Calibri" pitchFamily="34" charset="-122"/>
                          <a:cs typeface="Calibri" pitchFamily="34" charset="-120"/>
                        </a:rPr>
                        <a:t>A manifest, a profile, a persona, its skills</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200" dirty="0">
                          <a:solidFill>
                            <a:srgbClr val="47525E"/>
                          </a:solidFill>
                          <a:latin typeface="Calibri" pitchFamily="34" charset="0"/>
                          <a:ea typeface="Calibri" pitchFamily="34" charset="-122"/>
                          <a:cs typeface="Calibri" pitchFamily="34" charset="-120"/>
                        </a:rPr>
                        <a:t>Policies, profiles, vocabulary, metrics, schemas, the conductor kind</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21A24"/>
                          </a:solidFill>
                          <a:latin typeface="Calibri" pitchFamily="34" charset="0"/>
                          <a:ea typeface="Calibri" pitchFamily="34" charset="-122"/>
                          <a:cs typeface="Calibri" pitchFamily="34" charset="-120"/>
                        </a:rPr>
                        <a:t>Plato serves</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200" dirty="0">
                          <a:solidFill>
                            <a:srgbClr val="47525E"/>
                          </a:solidFill>
                          <a:latin typeface="Calibri" pitchFamily="34" charset="0"/>
                          <a:ea typeface="Calibri" pitchFamily="34" charset="-122"/>
                          <a:cs typeface="Calibri" pitchFamily="34" charset="-120"/>
                        </a:rPr>
                        <a:t>Chat, blocking or streamed, in a session</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200" dirty="0">
                          <a:solidFill>
                            <a:srgbClr val="47525E"/>
                          </a:solidFill>
                          <a:latin typeface="Calibri" pitchFamily="34" charset="0"/>
                          <a:ea typeface="Calibri" pitchFamily="34" charset="-122"/>
                          <a:cs typeface="Calibri" pitchFamily="34" charset="-120"/>
                        </a:rPr>
                        <a:t>Runs, streamed and stoppable, and a deterministic assessment</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200" b="1" dirty="0">
                          <a:solidFill>
                            <a:srgbClr val="121A24"/>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200" dirty="0">
                          <a:solidFill>
                            <a:srgbClr val="47525E"/>
                          </a:solidFill>
                          <a:latin typeface="Calibri" pitchFamily="34" charset="0"/>
                          <a:ea typeface="Calibri" pitchFamily="34" charset="-122"/>
                          <a:cs typeface="Calibri" pitchFamily="34" charset="-120"/>
                        </a:rPr>
                        <a:t>The bundled clinical intake demo; the sample packs</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200" dirty="0">
                          <a:solidFill>
                            <a:srgbClr val="47525E"/>
                          </a:solidFill>
                          <a:latin typeface="Calibri" pitchFamily="34" charset="0"/>
                          <a:ea typeface="Calibri" pitchFamily="34" charset="-122"/>
                          <a:cs typeface="Calibri" pitchFamily="34" charset="-120"/>
                        </a:rPr>
                        <a:t>dscr_core for Acra; ci-spread-core for C&amp;I</a:t>
                      </a:r>
                      <a:endParaRPr lang="en-US" sz="1200" dirty="0">
                        <a:latin typeface="Calibri" charset="0"/>
                        <a:ea typeface="Calibri" charset="0"/>
                        <a:cs typeface="Calibri" charset="0"/>
                      </a:endParaRPr>
                    </a:p>
                  </a:txBody>
                  <a:tcPr marL="91440" marR="91440" marT="91440" marB="91440"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937760"/>
            <a:ext cx="11091672" cy="731520"/>
          </a:xfrm>
          <a:prstGeom prst="rect">
            <a:avLst/>
          </a:prstGeom>
          <a:noFill/>
          <a:ln/>
        </p:spPr>
        <p:txBody>
          <a:bodyPr wrap="square" lIns="0" tIns="0" rIns="0" bIns="0" rtlCol="0" anchor="t"/>
          <a:lstStyle/>
          <a:p>
            <a:pPr indent="0" marL="0">
              <a:buNone/>
            </a:pPr>
            <a:r>
              <a:rPr lang="en-US" sz="1300" dirty="0">
                <a:solidFill>
                  <a:srgbClr val="121A24"/>
                </a:solidFill>
                <a:latin typeface="Calibri" pitchFamily="34" charset="0"/>
                <a:ea typeface="Calibri" pitchFamily="34" charset="-122"/>
                <a:cs typeface="Calibri" pitchFamily="34" charset="-120"/>
              </a:rPr>
              <a:t>Both are a directory published as a zip, and both go through the same check before Plato accepts them. A domain pack can also carry an assistant over the cases it produces.</a:t>
            </a:r>
            <a:endParaRPr lang="en-US" sz="1300" dirty="0"/>
          </a:p>
        </p:txBody>
      </p:sp>
      <p:sp>
        <p:nvSpPr>
          <p:cNvPr id="6" name="Text 3"/>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plato/packs/loader.py · jazzx_sdk/pack/store.py · plato/data/seed_packs, plato/data/demo_pack</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PATH TO AN APP</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Five stages from a domain to a running app</a:t>
            </a:r>
            <a:endParaRPr lang="en-US" sz="3000" dirty="0"/>
          </a:p>
        </p:txBody>
      </p:sp>
      <p:sp>
        <p:nvSpPr>
          <p:cNvPr id="4" name="Shape 2"/>
          <p:cNvSpPr/>
          <p:nvPr/>
        </p:nvSpPr>
        <p:spPr>
          <a:xfrm>
            <a:off x="548640" y="1737360"/>
            <a:ext cx="2086661" cy="2468880"/>
          </a:xfrm>
          <a:prstGeom prst="roundRect">
            <a:avLst>
              <a:gd name="adj" fmla="val 5259"/>
            </a:avLst>
          </a:prstGeom>
          <a:solidFill>
            <a:srgbClr val="F7F7F3"/>
          </a:solidFill>
          <a:ln w="9525">
            <a:solidFill>
              <a:srgbClr val="DDDED6"/>
            </a:solidFill>
            <a:prstDash val="solid"/>
          </a:ln>
        </p:spPr>
      </p:sp>
      <p:sp>
        <p:nvSpPr>
          <p:cNvPr id="5" name="Text 3"/>
          <p:cNvSpPr txBox="1"/>
          <p:nvPr/>
        </p:nvSpPr>
        <p:spPr>
          <a:xfrm>
            <a:off x="777240" y="1938528"/>
            <a:ext cx="1629461"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01</a:t>
            </a:r>
            <a:endParaRPr lang="en-US" sz="1100" dirty="0"/>
          </a:p>
        </p:txBody>
      </p:sp>
      <p:sp>
        <p:nvSpPr>
          <p:cNvPr id="6" name="Text 4"/>
          <p:cNvSpPr txBox="1"/>
          <p:nvPr/>
        </p:nvSpPr>
        <p:spPr>
          <a:xfrm>
            <a:off x="777240" y="2249424"/>
            <a:ext cx="1629461" cy="502920"/>
          </a:xfrm>
          <a:prstGeom prst="rect">
            <a:avLst/>
          </a:prstGeom>
          <a:noFill/>
          <a:ln/>
        </p:spPr>
        <p:txBody>
          <a:bodyPr wrap="square" lIns="0" tIns="0" rIns="0" bIns="0" rtlCol="0" anchor="t"/>
          <a:lstStyle/>
          <a:p>
            <a:pPr indent="0" marL="0">
              <a:buNone/>
            </a:pPr>
            <a:r>
              <a:rPr lang="en-US" sz="1800" b="1" dirty="0">
                <a:solidFill>
                  <a:srgbClr val="121A24"/>
                </a:solidFill>
                <a:latin typeface="Calibri" pitchFamily="34" charset="0"/>
                <a:ea typeface="Calibri" pitchFamily="34" charset="-122"/>
                <a:cs typeface="Calibri" pitchFamily="34" charset="-120"/>
              </a:rPr>
              <a:t>Craft</a:t>
            </a:r>
            <a:endParaRPr lang="en-US" sz="1800" dirty="0"/>
          </a:p>
        </p:txBody>
      </p:sp>
      <p:sp>
        <p:nvSpPr>
          <p:cNvPr id="7" name="Text 5"/>
          <p:cNvSpPr txBox="1"/>
          <p:nvPr/>
        </p:nvSpPr>
        <p:spPr>
          <a:xfrm>
            <a:off x="777240" y="2798064"/>
            <a:ext cx="1629461" cy="122529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Policies, playbooks, ontology and the workflow, authored as pack data. The rule-crafting slides earlier are this stage.</a:t>
            </a:r>
            <a:endParaRPr lang="en-US" sz="1150" dirty="0"/>
          </a:p>
        </p:txBody>
      </p:sp>
      <p:sp>
        <p:nvSpPr>
          <p:cNvPr id="8" name="Shape 6"/>
          <p:cNvSpPr/>
          <p:nvPr/>
        </p:nvSpPr>
        <p:spPr>
          <a:xfrm>
            <a:off x="2799893" y="1737360"/>
            <a:ext cx="2086661" cy="2468880"/>
          </a:xfrm>
          <a:prstGeom prst="roundRect">
            <a:avLst>
              <a:gd name="adj" fmla="val 5259"/>
            </a:avLst>
          </a:prstGeom>
          <a:solidFill>
            <a:srgbClr val="F7F7F3"/>
          </a:solidFill>
          <a:ln w="9525">
            <a:solidFill>
              <a:srgbClr val="DDDED6"/>
            </a:solidFill>
            <a:prstDash val="solid"/>
          </a:ln>
        </p:spPr>
      </p:sp>
      <p:sp>
        <p:nvSpPr>
          <p:cNvPr id="9" name="Text 7"/>
          <p:cNvSpPr txBox="1"/>
          <p:nvPr/>
        </p:nvSpPr>
        <p:spPr>
          <a:xfrm>
            <a:off x="3028493" y="1938528"/>
            <a:ext cx="1629461"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02</a:t>
            </a:r>
            <a:endParaRPr lang="en-US" sz="1100" dirty="0"/>
          </a:p>
        </p:txBody>
      </p:sp>
      <p:sp>
        <p:nvSpPr>
          <p:cNvPr id="10" name="Text 8"/>
          <p:cNvSpPr txBox="1"/>
          <p:nvPr/>
        </p:nvSpPr>
        <p:spPr>
          <a:xfrm>
            <a:off x="3028493" y="2249424"/>
            <a:ext cx="1629461" cy="502920"/>
          </a:xfrm>
          <a:prstGeom prst="rect">
            <a:avLst/>
          </a:prstGeom>
          <a:noFill/>
          <a:ln/>
        </p:spPr>
        <p:txBody>
          <a:bodyPr wrap="square" lIns="0" tIns="0" rIns="0" bIns="0" rtlCol="0" anchor="t"/>
          <a:lstStyle/>
          <a:p>
            <a:pPr indent="0" marL="0">
              <a:buNone/>
            </a:pPr>
            <a:r>
              <a:rPr lang="en-US" sz="1800" b="1" dirty="0">
                <a:solidFill>
                  <a:srgbClr val="121A24"/>
                </a:solidFill>
                <a:latin typeface="Calibri" pitchFamily="34" charset="0"/>
                <a:ea typeface="Calibri" pitchFamily="34" charset="-122"/>
                <a:cs typeface="Calibri" pitchFamily="34" charset="-120"/>
              </a:rPr>
              <a:t>Prove</a:t>
            </a:r>
            <a:endParaRPr lang="en-US" sz="1800" dirty="0"/>
          </a:p>
        </p:txBody>
      </p:sp>
      <p:sp>
        <p:nvSpPr>
          <p:cNvPr id="11" name="Text 9"/>
          <p:cNvSpPr txBox="1"/>
          <p:nvPr/>
        </p:nvSpPr>
        <p:spPr>
          <a:xfrm>
            <a:off x="3028493" y="2798064"/>
            <a:ext cx="1629461" cy="122529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Gold cases and metrics before any tuning. A deterministic assessment and formal checks on the same policy.</a:t>
            </a:r>
            <a:endParaRPr lang="en-US" sz="1150" dirty="0"/>
          </a:p>
        </p:txBody>
      </p:sp>
      <p:sp>
        <p:nvSpPr>
          <p:cNvPr id="12" name="Shape 10"/>
          <p:cNvSpPr/>
          <p:nvPr/>
        </p:nvSpPr>
        <p:spPr>
          <a:xfrm>
            <a:off x="5051146" y="1737360"/>
            <a:ext cx="2086661" cy="2468880"/>
          </a:xfrm>
          <a:prstGeom prst="roundRect">
            <a:avLst>
              <a:gd name="adj" fmla="val 5259"/>
            </a:avLst>
          </a:prstGeom>
          <a:solidFill>
            <a:srgbClr val="F7F7F3"/>
          </a:solidFill>
          <a:ln w="9525">
            <a:solidFill>
              <a:srgbClr val="DDDED6"/>
            </a:solidFill>
            <a:prstDash val="solid"/>
          </a:ln>
        </p:spPr>
      </p:sp>
      <p:sp>
        <p:nvSpPr>
          <p:cNvPr id="13" name="Text 11"/>
          <p:cNvSpPr txBox="1"/>
          <p:nvPr/>
        </p:nvSpPr>
        <p:spPr>
          <a:xfrm>
            <a:off x="5279746" y="1938528"/>
            <a:ext cx="1629461"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03</a:t>
            </a:r>
            <a:endParaRPr lang="en-US" sz="1100" dirty="0"/>
          </a:p>
        </p:txBody>
      </p:sp>
      <p:sp>
        <p:nvSpPr>
          <p:cNvPr id="14" name="Text 12"/>
          <p:cNvSpPr txBox="1"/>
          <p:nvPr/>
        </p:nvSpPr>
        <p:spPr>
          <a:xfrm>
            <a:off x="5279746" y="2249424"/>
            <a:ext cx="1629461" cy="502920"/>
          </a:xfrm>
          <a:prstGeom prst="rect">
            <a:avLst/>
          </a:prstGeom>
          <a:noFill/>
          <a:ln/>
        </p:spPr>
        <p:txBody>
          <a:bodyPr wrap="square" lIns="0" tIns="0" rIns="0" bIns="0" rtlCol="0" anchor="t"/>
          <a:lstStyle/>
          <a:p>
            <a:pPr indent="0" marL="0">
              <a:buNone/>
            </a:pPr>
            <a:r>
              <a:rPr lang="en-US" sz="1800" b="1" dirty="0">
                <a:solidFill>
                  <a:srgbClr val="121A24"/>
                </a:solidFill>
                <a:latin typeface="Calibri" pitchFamily="34" charset="0"/>
                <a:ea typeface="Calibri" pitchFamily="34" charset="-122"/>
                <a:cs typeface="Calibri" pitchFamily="34" charset="-120"/>
              </a:rPr>
              <a:t>Publish</a:t>
            </a:r>
            <a:endParaRPr lang="en-US" sz="1800" dirty="0"/>
          </a:p>
        </p:txBody>
      </p:sp>
      <p:sp>
        <p:nvSpPr>
          <p:cNvPr id="15" name="Text 13"/>
          <p:cNvSpPr txBox="1"/>
          <p:nvPr/>
        </p:nvSpPr>
        <p:spPr>
          <a:xfrm>
            <a:off x="5279746" y="2798064"/>
            <a:ext cx="1629461" cy="122529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Check, publish a versioned pack, activate it for a tenant. No restart.</a:t>
            </a:r>
            <a:endParaRPr lang="en-US" sz="1150" dirty="0"/>
          </a:p>
        </p:txBody>
      </p:sp>
      <p:sp>
        <p:nvSpPr>
          <p:cNvPr id="16" name="Shape 14"/>
          <p:cNvSpPr/>
          <p:nvPr/>
        </p:nvSpPr>
        <p:spPr>
          <a:xfrm>
            <a:off x="7302398" y="1737360"/>
            <a:ext cx="2086661" cy="2468880"/>
          </a:xfrm>
          <a:prstGeom prst="roundRect">
            <a:avLst>
              <a:gd name="adj" fmla="val 5259"/>
            </a:avLst>
          </a:prstGeom>
          <a:solidFill>
            <a:srgbClr val="F7F7F3"/>
          </a:solidFill>
          <a:ln w="9525">
            <a:solidFill>
              <a:srgbClr val="DDDED6"/>
            </a:solidFill>
            <a:prstDash val="solid"/>
          </a:ln>
        </p:spPr>
      </p:sp>
      <p:sp>
        <p:nvSpPr>
          <p:cNvPr id="17" name="Text 15"/>
          <p:cNvSpPr txBox="1"/>
          <p:nvPr/>
        </p:nvSpPr>
        <p:spPr>
          <a:xfrm>
            <a:off x="7530998" y="1938528"/>
            <a:ext cx="1629461"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04</a:t>
            </a:r>
            <a:endParaRPr lang="en-US" sz="1100" dirty="0"/>
          </a:p>
        </p:txBody>
      </p:sp>
      <p:sp>
        <p:nvSpPr>
          <p:cNvPr id="18" name="Text 16"/>
          <p:cNvSpPr txBox="1"/>
          <p:nvPr/>
        </p:nvSpPr>
        <p:spPr>
          <a:xfrm>
            <a:off x="7530998" y="2249424"/>
            <a:ext cx="1629461" cy="502920"/>
          </a:xfrm>
          <a:prstGeom prst="rect">
            <a:avLst/>
          </a:prstGeom>
          <a:noFill/>
          <a:ln/>
        </p:spPr>
        <p:txBody>
          <a:bodyPr wrap="square" lIns="0" tIns="0" rIns="0" bIns="0" rtlCol="0" anchor="t"/>
          <a:lstStyle/>
          <a:p>
            <a:pPr indent="0" marL="0">
              <a:buNone/>
            </a:pPr>
            <a:r>
              <a:rPr lang="en-US" sz="1800" b="1" dirty="0">
                <a:solidFill>
                  <a:srgbClr val="121A24"/>
                </a:solidFill>
                <a:latin typeface="Calibri" pitchFamily="34" charset="0"/>
                <a:ea typeface="Calibri" pitchFamily="34" charset="-122"/>
                <a:cs typeface="Calibri" pitchFamily="34" charset="-120"/>
              </a:rPr>
              <a:t>Serve</a:t>
            </a:r>
            <a:endParaRPr lang="en-US" sz="1800" dirty="0"/>
          </a:p>
        </p:txBody>
      </p:sp>
      <p:sp>
        <p:nvSpPr>
          <p:cNvPr id="19" name="Text 17"/>
          <p:cNvSpPr txBox="1"/>
          <p:nvPr/>
        </p:nvSpPr>
        <p:spPr>
          <a:xfrm>
            <a:off x="7530998" y="2798064"/>
            <a:ext cx="1629461" cy="122529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Plato serves chat, runs and assessments from the active version.</a:t>
            </a:r>
            <a:endParaRPr lang="en-US" sz="1150" dirty="0"/>
          </a:p>
        </p:txBody>
      </p:sp>
      <p:sp>
        <p:nvSpPr>
          <p:cNvPr id="20" name="Shape 18"/>
          <p:cNvSpPr/>
          <p:nvPr/>
        </p:nvSpPr>
        <p:spPr>
          <a:xfrm>
            <a:off x="9553651" y="1737360"/>
            <a:ext cx="2086661" cy="2468880"/>
          </a:xfrm>
          <a:prstGeom prst="roundRect">
            <a:avLst>
              <a:gd name="adj" fmla="val 5259"/>
            </a:avLst>
          </a:prstGeom>
          <a:solidFill>
            <a:srgbClr val="121A24"/>
          </a:solidFill>
          <a:ln w="12700">
            <a:solidFill>
              <a:srgbClr val="121A24"/>
            </a:solidFill>
            <a:prstDash val="solid"/>
          </a:ln>
        </p:spPr>
      </p:sp>
      <p:sp>
        <p:nvSpPr>
          <p:cNvPr id="21" name="Text 19"/>
          <p:cNvSpPr txBox="1"/>
          <p:nvPr/>
        </p:nvSpPr>
        <p:spPr>
          <a:xfrm>
            <a:off x="9782251" y="1938528"/>
            <a:ext cx="1629461" cy="256032"/>
          </a:xfrm>
          <a:prstGeom prst="rect">
            <a:avLst/>
          </a:prstGeom>
          <a:noFill/>
          <a:ln/>
        </p:spPr>
        <p:txBody>
          <a:bodyPr wrap="square" lIns="0" tIns="0" rIns="0" bIns="0" rtlCol="0" anchor="t"/>
          <a:lstStyle/>
          <a:p>
            <a:pPr indent="0" marL="0">
              <a:buNone/>
            </a:pPr>
            <a:r>
              <a:rPr lang="en-US" sz="1100" dirty="0">
                <a:solidFill>
                  <a:srgbClr val="5FBFB3"/>
                </a:solidFill>
                <a:latin typeface="Courier New" pitchFamily="34" charset="0"/>
                <a:ea typeface="Courier New" pitchFamily="34" charset="-122"/>
                <a:cs typeface="Courier New" pitchFamily="34" charset="-120"/>
              </a:rPr>
              <a:t>05</a:t>
            </a:r>
            <a:endParaRPr lang="en-US" sz="1100" dirty="0"/>
          </a:p>
        </p:txBody>
      </p:sp>
      <p:sp>
        <p:nvSpPr>
          <p:cNvPr id="22" name="Text 20"/>
          <p:cNvSpPr txBox="1"/>
          <p:nvPr/>
        </p:nvSpPr>
        <p:spPr>
          <a:xfrm>
            <a:off x="9782251" y="2249424"/>
            <a:ext cx="1629461" cy="502920"/>
          </a:xfrm>
          <a:prstGeom prst="rect">
            <a:avLst/>
          </a:prstGeom>
          <a:noFill/>
          <a:ln/>
        </p:spPr>
        <p:txBody>
          <a:bodyPr wrap="square" lIns="0" tIns="0" rIns="0" bIns="0" rtlCol="0" anchor="t"/>
          <a:lstStyle/>
          <a:p>
            <a:pPr indent="0" marL="0">
              <a:buNone/>
            </a:pPr>
            <a:r>
              <a:rPr lang="en-US" sz="1800" b="1" dirty="0">
                <a:solidFill>
                  <a:srgbClr val="F7F7F3"/>
                </a:solidFill>
                <a:latin typeface="Calibri" pitchFamily="34" charset="0"/>
                <a:ea typeface="Calibri" pitchFamily="34" charset="-122"/>
                <a:cs typeface="Calibri" pitchFamily="34" charset="-120"/>
              </a:rPr>
              <a:t>Improve</a:t>
            </a:r>
            <a:endParaRPr lang="en-US" sz="1800" dirty="0"/>
          </a:p>
        </p:txBody>
      </p:sp>
      <p:sp>
        <p:nvSpPr>
          <p:cNvPr id="23" name="Text 21"/>
          <p:cNvSpPr txBox="1"/>
          <p:nvPr/>
        </p:nvSpPr>
        <p:spPr>
          <a:xfrm>
            <a:off x="9782251" y="2798064"/>
            <a:ext cx="1629461" cy="1225296"/>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Feedback becomes evaluation cases. Experiments measure every change before a person publishes it.</a:t>
            </a:r>
            <a:endParaRPr lang="en-US" sz="1150" dirty="0"/>
          </a:p>
        </p:txBody>
      </p:sp>
      <p:sp>
        <p:nvSpPr>
          <p:cNvPr id="24" name="Text 22"/>
          <p:cNvSpPr txBox="1"/>
          <p:nvPr/>
        </p:nvSpPr>
        <p:spPr>
          <a:xfrm>
            <a:off x="548640" y="4480560"/>
            <a:ext cx="11091672" cy="548640"/>
          </a:xfrm>
          <a:prstGeom prst="rect">
            <a:avLst/>
          </a:prstGeom>
          <a:noFill/>
          <a:ln/>
        </p:spPr>
        <p:txBody>
          <a:bodyPr wrap="square" lIns="0" tIns="0" rIns="0" bIns="0" rtlCol="0" anchor="t"/>
          <a:lstStyle/>
          <a:p>
            <a:pPr indent="0" marL="0">
              <a:buNone/>
            </a:pPr>
            <a:r>
              <a:rPr lang="en-US" sz="1300" dirty="0">
                <a:solidFill>
                  <a:srgbClr val="121A24"/>
                </a:solidFill>
                <a:latin typeface="Calibri" pitchFamily="34" charset="0"/>
                <a:ea typeface="Calibri" pitchFamily="34" charset="-122"/>
                <a:cs typeface="Calibri" pitchFamily="34" charset="-120"/>
              </a:rPr>
              <a:t>A pack earns live work by passing its gold cases first. The next three slides take stages 2, 3 and 5 in turn.</a:t>
            </a:r>
            <a:endParaRPr lang="en-US" sz="1300" dirty="0"/>
          </a:p>
        </p:txBody>
      </p:sp>
      <p:sp>
        <p:nvSpPr>
          <p:cNvPr id="25" name="Text 23"/>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docs/DOMAIN_PACK_QUICKSTART.md · the method jaci's reference packs were built with</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C2703A"/>
                </a:solidFill>
                <a:latin typeface="Courier New" pitchFamily="34" charset="0"/>
                <a:ea typeface="Courier New" pitchFamily="34" charset="-122"/>
                <a:cs typeface="Courier New" pitchFamily="34" charset="-120"/>
              </a:rPr>
              <a:t>DEMO</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Demo: publish, activate, chat, no deploy</a:t>
            </a:r>
            <a:endParaRPr lang="en-US" sz="3000" dirty="0"/>
          </a:p>
        </p:txBody>
      </p:sp>
      <p:sp>
        <p:nvSpPr>
          <p:cNvPr id="4" name="Shape 2"/>
          <p:cNvSpPr/>
          <p:nvPr/>
        </p:nvSpPr>
        <p:spPr>
          <a:xfrm>
            <a:off x="548640" y="1737360"/>
            <a:ext cx="2622042" cy="2651760"/>
          </a:xfrm>
          <a:prstGeom prst="roundRect">
            <a:avLst>
              <a:gd name="adj" fmla="val 4185"/>
            </a:avLst>
          </a:prstGeom>
          <a:solidFill>
            <a:srgbClr val="FFFFFF"/>
          </a:solidFill>
          <a:ln w="9525">
            <a:solidFill>
              <a:srgbClr val="DDDED6"/>
            </a:solidFill>
            <a:prstDash val="solid"/>
          </a:ln>
        </p:spPr>
      </p:sp>
      <p:sp>
        <p:nvSpPr>
          <p:cNvPr id="5" name="Text 3"/>
          <p:cNvSpPr txBox="1"/>
          <p:nvPr/>
        </p:nvSpPr>
        <p:spPr>
          <a:xfrm>
            <a:off x="777240" y="1938528"/>
            <a:ext cx="2164842"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01 · author</a:t>
            </a:r>
            <a:endParaRPr lang="en-US" sz="1100" dirty="0"/>
          </a:p>
        </p:txBody>
      </p:sp>
      <p:sp>
        <p:nvSpPr>
          <p:cNvPr id="6" name="Text 4"/>
          <p:cNvSpPr txBox="1"/>
          <p:nvPr/>
        </p:nvSpPr>
        <p:spPr>
          <a:xfrm>
            <a:off x="77724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Scaffold the folder</a:t>
            </a:r>
            <a:endParaRPr lang="en-US" sz="1500" dirty="0"/>
          </a:p>
        </p:txBody>
      </p:sp>
      <p:sp>
        <p:nvSpPr>
          <p:cNvPr id="7" name="Text 5"/>
          <p:cNvSpPr txBox="1"/>
          <p:nvPr/>
        </p:nvSpPr>
        <p:spPr>
          <a:xfrm>
            <a:off x="777240" y="2798064"/>
            <a:ext cx="2164842" cy="14081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Persona, scope, one skill. It runs against a scripted model with no API key, so the generated test is deterministic.</a:t>
            </a:r>
            <a:endParaRPr lang="en-US" sz="1150" dirty="0"/>
          </a:p>
        </p:txBody>
      </p:sp>
      <p:sp>
        <p:nvSpPr>
          <p:cNvPr id="8" name="Shape 6"/>
          <p:cNvSpPr/>
          <p:nvPr/>
        </p:nvSpPr>
        <p:spPr>
          <a:xfrm>
            <a:off x="3371850" y="1737360"/>
            <a:ext cx="2622042" cy="2651760"/>
          </a:xfrm>
          <a:prstGeom prst="roundRect">
            <a:avLst>
              <a:gd name="adj" fmla="val 4185"/>
            </a:avLst>
          </a:prstGeom>
          <a:solidFill>
            <a:srgbClr val="FFFFFF"/>
          </a:solidFill>
          <a:ln w="9525">
            <a:solidFill>
              <a:srgbClr val="DDDED6"/>
            </a:solidFill>
            <a:prstDash val="solid"/>
          </a:ln>
        </p:spPr>
      </p:sp>
      <p:sp>
        <p:nvSpPr>
          <p:cNvPr id="9" name="Text 7"/>
          <p:cNvSpPr txBox="1"/>
          <p:nvPr/>
        </p:nvSpPr>
        <p:spPr>
          <a:xfrm>
            <a:off x="3600450" y="1938528"/>
            <a:ext cx="2164842"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02 · publish</a:t>
            </a:r>
            <a:endParaRPr lang="en-US" sz="1100" dirty="0"/>
          </a:p>
        </p:txBody>
      </p:sp>
      <p:sp>
        <p:nvSpPr>
          <p:cNvPr id="10" name="Text 8"/>
          <p:cNvSpPr txBox="1"/>
          <p:nvPr/>
        </p:nvSpPr>
        <p:spPr>
          <a:xfrm>
            <a:off x="360045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POST the archive</a:t>
            </a:r>
            <a:endParaRPr lang="en-US" sz="1500" dirty="0"/>
          </a:p>
        </p:txBody>
      </p:sp>
      <p:sp>
        <p:nvSpPr>
          <p:cNvPr id="11" name="Text 9"/>
          <p:cNvSpPr txBox="1"/>
          <p:nvPr/>
        </p:nvSpPr>
        <p:spPr>
          <a:xfrm>
            <a:off x="3600450" y="2798064"/>
            <a:ext cx="2164842" cy="14081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It lands in the store as a new version and nothing that is serving changes. Publishing the same version twice returns 409.</a:t>
            </a:r>
            <a:endParaRPr lang="en-US" sz="1150" dirty="0"/>
          </a:p>
        </p:txBody>
      </p:sp>
      <p:sp>
        <p:nvSpPr>
          <p:cNvPr id="12" name="Shape 10"/>
          <p:cNvSpPr/>
          <p:nvPr/>
        </p:nvSpPr>
        <p:spPr>
          <a:xfrm>
            <a:off x="6195060" y="1737360"/>
            <a:ext cx="2622042" cy="2651760"/>
          </a:xfrm>
          <a:prstGeom prst="roundRect">
            <a:avLst>
              <a:gd name="adj" fmla="val 4185"/>
            </a:avLst>
          </a:prstGeom>
          <a:solidFill>
            <a:srgbClr val="FFFFFF"/>
          </a:solidFill>
          <a:ln w="9525">
            <a:solidFill>
              <a:srgbClr val="DDDED6"/>
            </a:solidFill>
            <a:prstDash val="solid"/>
          </a:ln>
        </p:spPr>
      </p:sp>
      <p:sp>
        <p:nvSpPr>
          <p:cNvPr id="13" name="Text 11"/>
          <p:cNvSpPr txBox="1"/>
          <p:nvPr/>
        </p:nvSpPr>
        <p:spPr>
          <a:xfrm>
            <a:off x="6423660" y="1938528"/>
            <a:ext cx="2164842"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03 · activate</a:t>
            </a:r>
            <a:endParaRPr lang="en-US" sz="1100" dirty="0"/>
          </a:p>
        </p:txBody>
      </p:sp>
      <p:sp>
        <p:nvSpPr>
          <p:cNvPr id="14" name="Text 12"/>
          <p:cNvSpPr txBox="1"/>
          <p:nvPr/>
        </p:nvSpPr>
        <p:spPr>
          <a:xfrm>
            <a:off x="642366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Swap, then persist</a:t>
            </a:r>
            <a:endParaRPr lang="en-US" sz="1500" dirty="0"/>
          </a:p>
        </p:txBody>
      </p:sp>
      <p:sp>
        <p:nvSpPr>
          <p:cNvPr id="15" name="Text 13"/>
          <p:cNvSpPr txBox="1"/>
          <p:nvPr/>
        </p:nvSpPr>
        <p:spPr>
          <a:xfrm>
            <a:off x="6423660" y="2798064"/>
            <a:ext cx="2164842" cy="14081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The running process rebinds first and the pointer is written only once that succeeded. No restart. Rolling back means activating the previous version.</a:t>
            </a:r>
            <a:endParaRPr lang="en-US" sz="1150" dirty="0"/>
          </a:p>
        </p:txBody>
      </p:sp>
      <p:sp>
        <p:nvSpPr>
          <p:cNvPr id="16" name="Shape 14"/>
          <p:cNvSpPr/>
          <p:nvPr/>
        </p:nvSpPr>
        <p:spPr>
          <a:xfrm>
            <a:off x="9018270" y="1737360"/>
            <a:ext cx="2622042" cy="2651760"/>
          </a:xfrm>
          <a:prstGeom prst="roundRect">
            <a:avLst>
              <a:gd name="adj" fmla="val 4185"/>
            </a:avLst>
          </a:prstGeom>
          <a:solidFill>
            <a:srgbClr val="121A24"/>
          </a:solidFill>
          <a:ln w="12700">
            <a:solidFill>
              <a:srgbClr val="121A24"/>
            </a:solidFill>
            <a:prstDash val="solid"/>
          </a:ln>
        </p:spPr>
      </p:sp>
      <p:sp>
        <p:nvSpPr>
          <p:cNvPr id="17" name="Text 15"/>
          <p:cNvSpPr txBox="1"/>
          <p:nvPr/>
        </p:nvSpPr>
        <p:spPr>
          <a:xfrm>
            <a:off x="9246870" y="1938528"/>
            <a:ext cx="2164842" cy="256032"/>
          </a:xfrm>
          <a:prstGeom prst="rect">
            <a:avLst/>
          </a:prstGeom>
          <a:noFill/>
          <a:ln/>
        </p:spPr>
        <p:txBody>
          <a:bodyPr wrap="square" lIns="0" tIns="0" rIns="0" bIns="0" rtlCol="0" anchor="t"/>
          <a:lstStyle/>
          <a:p>
            <a:pPr indent="0" marL="0">
              <a:buNone/>
            </a:pPr>
            <a:r>
              <a:rPr lang="en-US" sz="1100" dirty="0">
                <a:solidFill>
                  <a:srgbClr val="5FBFB3"/>
                </a:solidFill>
                <a:latin typeface="Courier New" pitchFamily="34" charset="0"/>
                <a:ea typeface="Courier New" pitchFamily="34" charset="-122"/>
                <a:cs typeface="Courier New" pitchFamily="34" charset="-120"/>
              </a:rPr>
              <a:t>04 · chat</a:t>
            </a:r>
            <a:endParaRPr lang="en-US" sz="1100" dirty="0"/>
          </a:p>
        </p:txBody>
      </p:sp>
      <p:sp>
        <p:nvSpPr>
          <p:cNvPr id="18" name="Text 16"/>
          <p:cNvSpPr txBox="1"/>
          <p:nvPr/>
        </p:nvSpPr>
        <p:spPr>
          <a:xfrm>
            <a:off x="9246870" y="2249424"/>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Two tenants, one replica</a:t>
            </a:r>
            <a:endParaRPr lang="en-US" sz="1500" dirty="0"/>
          </a:p>
        </p:txBody>
      </p:sp>
      <p:sp>
        <p:nvSpPr>
          <p:cNvPr id="19" name="Text 17"/>
          <p:cNvSpPr txBox="1"/>
          <p:nvPr/>
        </p:nvSpPr>
        <p:spPr>
          <a:xfrm>
            <a:off x="9246870" y="2798064"/>
            <a:ext cx="2164842" cy="1408176"/>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Different packs, different personas, same process. Everything separating them is configuration.</a:t>
            </a:r>
            <a:endParaRPr lang="en-US" sz="1150" dirty="0"/>
          </a:p>
        </p:txBody>
      </p:sp>
      <p:sp>
        <p:nvSpPr>
          <p:cNvPr id="20" name="Text 18"/>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The acceptance criterion from the plan, unmodified: two assistants served from one running instance, added by writing configuration.</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03 · PUBLISH, 04 · SERVE</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From a directory to a served, pinned version</a:t>
            </a:r>
            <a:endParaRPr lang="en-US" sz="3000" dirty="0"/>
          </a:p>
        </p:txBody>
      </p:sp>
      <p:sp>
        <p:nvSpPr>
          <p:cNvPr id="4" name="Shape 2"/>
          <p:cNvSpPr/>
          <p:nvPr/>
        </p:nvSpPr>
        <p:spPr>
          <a:xfrm>
            <a:off x="548640" y="1737360"/>
            <a:ext cx="2423160" cy="2194560"/>
          </a:xfrm>
          <a:prstGeom prst="roundRect">
            <a:avLst>
              <a:gd name="adj" fmla="val 5000"/>
            </a:avLst>
          </a:prstGeom>
          <a:solidFill>
            <a:srgbClr val="F7F7F3"/>
          </a:solidFill>
          <a:ln w="12700">
            <a:solidFill>
              <a:srgbClr val="DDDED6"/>
            </a:solidFill>
            <a:prstDash val="solid"/>
          </a:ln>
        </p:spPr>
      </p:sp>
      <p:sp>
        <p:nvSpPr>
          <p:cNvPr id="5" name="Text 3"/>
          <p:cNvSpPr txBox="1"/>
          <p:nvPr/>
        </p:nvSpPr>
        <p:spPr>
          <a:xfrm>
            <a:off x="731520" y="1874520"/>
            <a:ext cx="2057400" cy="274320"/>
          </a:xfrm>
          <a:prstGeom prst="rect">
            <a:avLst/>
          </a:prstGeom>
          <a:noFill/>
          <a:ln/>
        </p:spPr>
        <p:txBody>
          <a:bodyPr wrap="square" lIns="0" tIns="0" rIns="0" bIns="0" rtlCol="0" anchor="t"/>
          <a:lstStyle/>
          <a:p>
            <a:pPr indent="0" marL="0">
              <a:buNone/>
            </a:pPr>
            <a:r>
              <a:rPr lang="en-US" sz="1000" dirty="0">
                <a:solidFill>
                  <a:srgbClr val="1F6F6B"/>
                </a:solidFill>
                <a:latin typeface="Courier New" pitchFamily="34" charset="0"/>
                <a:ea typeface="Courier New" pitchFamily="34" charset="-122"/>
                <a:cs typeface="Courier New" pitchFamily="34" charset="-120"/>
              </a:rPr>
              <a:t>POST packs/check</a:t>
            </a:r>
            <a:endParaRPr lang="en-US" sz="1000" dirty="0"/>
          </a:p>
        </p:txBody>
      </p:sp>
      <p:sp>
        <p:nvSpPr>
          <p:cNvPr id="6" name="Text 4"/>
          <p:cNvSpPr txBox="1"/>
          <p:nvPr/>
        </p:nvSpPr>
        <p:spPr>
          <a:xfrm>
            <a:off x="731520" y="2176272"/>
            <a:ext cx="2057400" cy="365760"/>
          </a:xfrm>
          <a:prstGeom prst="rect">
            <a:avLst/>
          </a:prstGeom>
          <a:noFill/>
          <a:ln/>
        </p:spPr>
        <p:txBody>
          <a:bodyPr wrap="square" lIns="0" tIns="0" rIns="0" bIns="0" rtlCol="0" anchor="t"/>
          <a:lstStyle/>
          <a:p>
            <a:pPr indent="0" marL="0">
              <a:buNone/>
            </a:pPr>
            <a:r>
              <a:rPr lang="en-US" sz="1600" b="1" dirty="0">
                <a:solidFill>
                  <a:srgbClr val="121A24"/>
                </a:solidFill>
                <a:latin typeface="Calibri" pitchFamily="34" charset="0"/>
                <a:ea typeface="Calibri" pitchFamily="34" charset="-122"/>
                <a:cs typeface="Calibri" pitchFamily="34" charset="-120"/>
              </a:rPr>
              <a:t>Check</a:t>
            </a:r>
            <a:endParaRPr lang="en-US" sz="1600" dirty="0"/>
          </a:p>
        </p:txBody>
      </p:sp>
      <p:sp>
        <p:nvSpPr>
          <p:cNvPr id="7" name="Text 5"/>
          <p:cNvSpPr txBox="1"/>
          <p:nvPr/>
        </p:nvSpPr>
        <p:spPr>
          <a:xfrm>
            <a:off x="731520" y="2606040"/>
            <a:ext cx="2057400" cy="1280160"/>
          </a:xfrm>
          <a:prstGeom prst="rect">
            <a:avLst/>
          </a:prstGeom>
          <a:noFill/>
          <a:ln/>
        </p:spPr>
        <p:txBody>
          <a:bodyPr wrap="square" lIns="0" tIns="0" rIns="0" bIns="0" rtlCol="0" anchor="t"/>
          <a:lstStyle/>
          <a:p>
            <a:pPr indent="0" marL="0">
              <a:buNone/>
            </a:pPr>
            <a:r>
              <a:rPr lang="en-US" sz="1100" dirty="0">
                <a:solidFill>
                  <a:srgbClr val="47525E"/>
                </a:solidFill>
                <a:latin typeface="Calibri" pitchFamily="34" charset="0"/>
                <a:ea typeface="Calibri" pitchFamily="34" charset="-122"/>
                <a:cs typeface="Calibri" pitchFamily="34" charset="-120"/>
              </a:rPr>
              <a:t>Every blocking finding, before anything is published. A missing skill, a guardrail nothing registers.</a:t>
            </a:r>
            <a:endParaRPr lang="en-US" sz="1100" dirty="0"/>
          </a:p>
        </p:txBody>
      </p:sp>
      <p:sp>
        <p:nvSpPr>
          <p:cNvPr id="8" name="Shape 6"/>
          <p:cNvSpPr/>
          <p:nvPr/>
        </p:nvSpPr>
        <p:spPr>
          <a:xfrm>
            <a:off x="3017520" y="2834640"/>
            <a:ext cx="365760" cy="9144"/>
          </a:xfrm>
          <a:prstGeom prst="line">
            <a:avLst/>
          </a:prstGeom>
          <a:noFill/>
          <a:ln w="25400">
            <a:solidFill>
              <a:srgbClr val="1F6F6B"/>
            </a:solidFill>
            <a:prstDash val="solid"/>
            <a:tailEnd type="triangle"/>
          </a:ln>
        </p:spPr>
      </p:sp>
      <p:sp>
        <p:nvSpPr>
          <p:cNvPr id="9" name="Shape 7"/>
          <p:cNvSpPr/>
          <p:nvPr/>
        </p:nvSpPr>
        <p:spPr>
          <a:xfrm>
            <a:off x="3429000" y="1737360"/>
            <a:ext cx="2423160" cy="2194560"/>
          </a:xfrm>
          <a:prstGeom prst="roundRect">
            <a:avLst>
              <a:gd name="adj" fmla="val 5000"/>
            </a:avLst>
          </a:prstGeom>
          <a:solidFill>
            <a:srgbClr val="F7F7F3"/>
          </a:solidFill>
          <a:ln w="12700">
            <a:solidFill>
              <a:srgbClr val="DDDED6"/>
            </a:solidFill>
            <a:prstDash val="solid"/>
          </a:ln>
        </p:spPr>
      </p:sp>
      <p:sp>
        <p:nvSpPr>
          <p:cNvPr id="10" name="Text 8"/>
          <p:cNvSpPr txBox="1"/>
          <p:nvPr/>
        </p:nvSpPr>
        <p:spPr>
          <a:xfrm>
            <a:off x="3611880" y="1874520"/>
            <a:ext cx="2057400" cy="274320"/>
          </a:xfrm>
          <a:prstGeom prst="rect">
            <a:avLst/>
          </a:prstGeom>
          <a:noFill/>
          <a:ln/>
        </p:spPr>
        <p:txBody>
          <a:bodyPr wrap="square" lIns="0" tIns="0" rIns="0" bIns="0" rtlCol="0" anchor="t"/>
          <a:lstStyle/>
          <a:p>
            <a:pPr indent="0" marL="0">
              <a:buNone/>
            </a:pPr>
            <a:r>
              <a:rPr lang="en-US" sz="1000" dirty="0">
                <a:solidFill>
                  <a:srgbClr val="1F6F6B"/>
                </a:solidFill>
                <a:latin typeface="Courier New" pitchFamily="34" charset="0"/>
                <a:ea typeface="Courier New" pitchFamily="34" charset="-122"/>
                <a:cs typeface="Courier New" pitchFamily="34" charset="-120"/>
              </a:rPr>
              <a:t>POST packs</a:t>
            </a:r>
            <a:endParaRPr lang="en-US" sz="1000" dirty="0"/>
          </a:p>
        </p:txBody>
      </p:sp>
      <p:sp>
        <p:nvSpPr>
          <p:cNvPr id="11" name="Text 9"/>
          <p:cNvSpPr txBox="1"/>
          <p:nvPr/>
        </p:nvSpPr>
        <p:spPr>
          <a:xfrm>
            <a:off x="3611880" y="2176272"/>
            <a:ext cx="2057400" cy="365760"/>
          </a:xfrm>
          <a:prstGeom prst="rect">
            <a:avLst/>
          </a:prstGeom>
          <a:noFill/>
          <a:ln/>
        </p:spPr>
        <p:txBody>
          <a:bodyPr wrap="square" lIns="0" tIns="0" rIns="0" bIns="0" rtlCol="0" anchor="t"/>
          <a:lstStyle/>
          <a:p>
            <a:pPr indent="0" marL="0">
              <a:buNone/>
            </a:pPr>
            <a:r>
              <a:rPr lang="en-US" sz="1600" b="1" dirty="0">
                <a:solidFill>
                  <a:srgbClr val="121A24"/>
                </a:solidFill>
                <a:latin typeface="Calibri" pitchFamily="34" charset="0"/>
                <a:ea typeface="Calibri" pitchFamily="34" charset="-122"/>
                <a:cs typeface="Calibri" pitchFamily="34" charset="-120"/>
              </a:rPr>
              <a:t>Publish</a:t>
            </a:r>
            <a:endParaRPr lang="en-US" sz="1600" dirty="0"/>
          </a:p>
        </p:txBody>
      </p:sp>
      <p:sp>
        <p:nvSpPr>
          <p:cNvPr id="12" name="Text 10"/>
          <p:cNvSpPr txBox="1"/>
          <p:nvPr/>
        </p:nvSpPr>
        <p:spPr>
          <a:xfrm>
            <a:off x="3611880" y="2606040"/>
            <a:ext cx="2057400" cy="1280160"/>
          </a:xfrm>
          <a:prstGeom prst="rect">
            <a:avLst/>
          </a:prstGeom>
          <a:noFill/>
          <a:ln/>
        </p:spPr>
        <p:txBody>
          <a:bodyPr wrap="square" lIns="0" tIns="0" rIns="0" bIns="0" rtlCol="0" anchor="t"/>
          <a:lstStyle/>
          <a:p>
            <a:pPr indent="0" marL="0">
              <a:buNone/>
            </a:pPr>
            <a:r>
              <a:rPr lang="en-US" sz="1100" dirty="0">
                <a:solidFill>
                  <a:srgbClr val="47525E"/>
                </a:solidFill>
                <a:latin typeface="Calibri" pitchFamily="34" charset="0"/>
                <a:ea typeface="Calibri" pitchFamily="34" charset="-122"/>
                <a:cs typeface="Calibri" pitchFamily="34" charset="-120"/>
              </a:rPr>
              <a:t>A new version, addressed by its digest. Same version twice is a 409. Nothing serving changes.</a:t>
            </a:r>
            <a:endParaRPr lang="en-US" sz="1100" dirty="0"/>
          </a:p>
        </p:txBody>
      </p:sp>
      <p:sp>
        <p:nvSpPr>
          <p:cNvPr id="13" name="Shape 11"/>
          <p:cNvSpPr/>
          <p:nvPr/>
        </p:nvSpPr>
        <p:spPr>
          <a:xfrm>
            <a:off x="5897880" y="2834640"/>
            <a:ext cx="365760" cy="9144"/>
          </a:xfrm>
          <a:prstGeom prst="line">
            <a:avLst/>
          </a:prstGeom>
          <a:noFill/>
          <a:ln w="25400">
            <a:solidFill>
              <a:srgbClr val="1F6F6B"/>
            </a:solidFill>
            <a:prstDash val="solid"/>
            <a:tailEnd type="triangle"/>
          </a:ln>
        </p:spPr>
      </p:sp>
      <p:sp>
        <p:nvSpPr>
          <p:cNvPr id="14" name="Shape 12"/>
          <p:cNvSpPr/>
          <p:nvPr/>
        </p:nvSpPr>
        <p:spPr>
          <a:xfrm>
            <a:off x="6309360" y="1737360"/>
            <a:ext cx="2423160" cy="2194560"/>
          </a:xfrm>
          <a:prstGeom prst="roundRect">
            <a:avLst>
              <a:gd name="adj" fmla="val 5000"/>
            </a:avLst>
          </a:prstGeom>
          <a:solidFill>
            <a:srgbClr val="F7F7F3"/>
          </a:solidFill>
          <a:ln w="12700">
            <a:solidFill>
              <a:srgbClr val="DDDED6"/>
            </a:solidFill>
            <a:prstDash val="solid"/>
          </a:ln>
        </p:spPr>
      </p:sp>
      <p:sp>
        <p:nvSpPr>
          <p:cNvPr id="15" name="Text 13"/>
          <p:cNvSpPr txBox="1"/>
          <p:nvPr/>
        </p:nvSpPr>
        <p:spPr>
          <a:xfrm>
            <a:off x="6492240" y="1874520"/>
            <a:ext cx="2057400" cy="274320"/>
          </a:xfrm>
          <a:prstGeom prst="rect">
            <a:avLst/>
          </a:prstGeom>
          <a:noFill/>
          <a:ln/>
        </p:spPr>
        <p:txBody>
          <a:bodyPr wrap="square" lIns="0" tIns="0" rIns="0" bIns="0" rtlCol="0" anchor="t"/>
          <a:lstStyle/>
          <a:p>
            <a:pPr indent="0" marL="0">
              <a:buNone/>
            </a:pPr>
            <a:r>
              <a:rPr lang="en-US" sz="1000" dirty="0">
                <a:solidFill>
                  <a:srgbClr val="1F6F6B"/>
                </a:solidFill>
                <a:latin typeface="Courier New" pitchFamily="34" charset="0"/>
                <a:ea typeface="Courier New" pitchFamily="34" charset="-122"/>
                <a:cs typeface="Courier New" pitchFamily="34" charset="-120"/>
              </a:rPr>
              <a:t>POST …/activate</a:t>
            </a:r>
            <a:endParaRPr lang="en-US" sz="1000" dirty="0"/>
          </a:p>
        </p:txBody>
      </p:sp>
      <p:sp>
        <p:nvSpPr>
          <p:cNvPr id="16" name="Text 14"/>
          <p:cNvSpPr txBox="1"/>
          <p:nvPr/>
        </p:nvSpPr>
        <p:spPr>
          <a:xfrm>
            <a:off x="6492240" y="2176272"/>
            <a:ext cx="2057400" cy="365760"/>
          </a:xfrm>
          <a:prstGeom prst="rect">
            <a:avLst/>
          </a:prstGeom>
          <a:noFill/>
          <a:ln/>
        </p:spPr>
        <p:txBody>
          <a:bodyPr wrap="square" lIns="0" tIns="0" rIns="0" bIns="0" rtlCol="0" anchor="t"/>
          <a:lstStyle/>
          <a:p>
            <a:pPr indent="0" marL="0">
              <a:buNone/>
            </a:pPr>
            <a:r>
              <a:rPr lang="en-US" sz="1600" b="1" dirty="0">
                <a:solidFill>
                  <a:srgbClr val="121A24"/>
                </a:solidFill>
                <a:latin typeface="Calibri" pitchFamily="34" charset="0"/>
                <a:ea typeface="Calibri" pitchFamily="34" charset="-122"/>
                <a:cs typeface="Calibri" pitchFamily="34" charset="-120"/>
              </a:rPr>
              <a:t>Activate</a:t>
            </a:r>
            <a:endParaRPr lang="en-US" sz="1600" dirty="0"/>
          </a:p>
        </p:txBody>
      </p:sp>
      <p:sp>
        <p:nvSpPr>
          <p:cNvPr id="17" name="Text 15"/>
          <p:cNvSpPr txBox="1"/>
          <p:nvPr/>
        </p:nvSpPr>
        <p:spPr>
          <a:xfrm>
            <a:off x="6492240" y="2606040"/>
            <a:ext cx="2057400" cy="1280160"/>
          </a:xfrm>
          <a:prstGeom prst="rect">
            <a:avLst/>
          </a:prstGeom>
          <a:noFill/>
          <a:ln/>
        </p:spPr>
        <p:txBody>
          <a:bodyPr wrap="square" lIns="0" tIns="0" rIns="0" bIns="0" rtlCol="0" anchor="t"/>
          <a:lstStyle/>
          <a:p>
            <a:pPr indent="0" marL="0">
              <a:buNone/>
            </a:pPr>
            <a:r>
              <a:rPr lang="en-US" sz="1100" dirty="0">
                <a:solidFill>
                  <a:srgbClr val="47525E"/>
                </a:solidFill>
                <a:latin typeface="Calibri" pitchFamily="34" charset="0"/>
                <a:ea typeface="Calibri" pitchFamily="34" charset="-122"/>
                <a:cs typeface="Calibri" pitchFamily="34" charset="-120"/>
              </a:rPr>
              <a:t>A per-tenant pin to one version. Swap first, persist second, no restart. Rollback is activating the previous one.</a:t>
            </a:r>
            <a:endParaRPr lang="en-US" sz="1100" dirty="0"/>
          </a:p>
        </p:txBody>
      </p:sp>
      <p:sp>
        <p:nvSpPr>
          <p:cNvPr id="18" name="Shape 16"/>
          <p:cNvSpPr/>
          <p:nvPr/>
        </p:nvSpPr>
        <p:spPr>
          <a:xfrm>
            <a:off x="8778240" y="2834640"/>
            <a:ext cx="365760" cy="9144"/>
          </a:xfrm>
          <a:prstGeom prst="line">
            <a:avLst/>
          </a:prstGeom>
          <a:noFill/>
          <a:ln w="25400">
            <a:solidFill>
              <a:srgbClr val="1F6F6B"/>
            </a:solidFill>
            <a:prstDash val="solid"/>
            <a:tailEnd type="triangle"/>
          </a:ln>
        </p:spPr>
      </p:sp>
      <p:sp>
        <p:nvSpPr>
          <p:cNvPr id="19" name="Shape 17"/>
          <p:cNvSpPr/>
          <p:nvPr/>
        </p:nvSpPr>
        <p:spPr>
          <a:xfrm>
            <a:off x="9189720" y="1737360"/>
            <a:ext cx="2423160" cy="2194560"/>
          </a:xfrm>
          <a:prstGeom prst="roundRect">
            <a:avLst>
              <a:gd name="adj" fmla="val 5000"/>
            </a:avLst>
          </a:prstGeom>
          <a:solidFill>
            <a:srgbClr val="121A24"/>
          </a:solidFill>
          <a:ln w="12700">
            <a:solidFill>
              <a:srgbClr val="121A24"/>
            </a:solidFill>
            <a:prstDash val="solid"/>
          </a:ln>
        </p:spPr>
      </p:sp>
      <p:sp>
        <p:nvSpPr>
          <p:cNvPr id="20" name="Text 18"/>
          <p:cNvSpPr txBox="1"/>
          <p:nvPr/>
        </p:nvSpPr>
        <p:spPr>
          <a:xfrm>
            <a:off x="9372600" y="1874520"/>
            <a:ext cx="2057400" cy="274320"/>
          </a:xfrm>
          <a:prstGeom prst="rect">
            <a:avLst/>
          </a:prstGeom>
          <a:noFill/>
          <a:ln/>
        </p:spPr>
        <p:txBody>
          <a:bodyPr wrap="square" lIns="0" tIns="0" rIns="0" bIns="0" rtlCol="0" anchor="t"/>
          <a:lstStyle/>
          <a:p>
            <a:pPr indent="0" marL="0">
              <a:buNone/>
            </a:pPr>
            <a:r>
              <a:rPr lang="en-US" sz="1000" dirty="0">
                <a:solidFill>
                  <a:srgbClr val="5FBFB3"/>
                </a:solidFill>
                <a:latin typeface="Courier New" pitchFamily="34" charset="0"/>
                <a:ea typeface="Courier New" pitchFamily="34" charset="-122"/>
                <a:cs typeface="Courier New" pitchFamily="34" charset="-120"/>
              </a:rPr>
              <a:t>chat · runs · assess</a:t>
            </a:r>
            <a:endParaRPr lang="en-US" sz="1000" dirty="0"/>
          </a:p>
        </p:txBody>
      </p:sp>
      <p:sp>
        <p:nvSpPr>
          <p:cNvPr id="21" name="Text 19"/>
          <p:cNvSpPr txBox="1"/>
          <p:nvPr/>
        </p:nvSpPr>
        <p:spPr>
          <a:xfrm>
            <a:off x="9372600" y="2176272"/>
            <a:ext cx="2057400" cy="365760"/>
          </a:xfrm>
          <a:prstGeom prst="rect">
            <a:avLst/>
          </a:prstGeom>
          <a:noFill/>
          <a:ln/>
        </p:spPr>
        <p:txBody>
          <a:bodyPr wrap="square" lIns="0" tIns="0" rIns="0" bIns="0" rtlCol="0" anchor="t"/>
          <a:lstStyle/>
          <a:p>
            <a:pPr indent="0" marL="0">
              <a:buNone/>
            </a:pPr>
            <a:r>
              <a:rPr lang="en-US" sz="1600" b="1" dirty="0">
                <a:solidFill>
                  <a:srgbClr val="F7F7F3"/>
                </a:solidFill>
                <a:latin typeface="Calibri" pitchFamily="34" charset="0"/>
                <a:ea typeface="Calibri" pitchFamily="34" charset="-122"/>
                <a:cs typeface="Calibri" pitchFamily="34" charset="-120"/>
              </a:rPr>
              <a:t>Serve</a:t>
            </a:r>
            <a:endParaRPr lang="en-US" sz="1600" dirty="0"/>
          </a:p>
        </p:txBody>
      </p:sp>
      <p:sp>
        <p:nvSpPr>
          <p:cNvPr id="22" name="Text 20"/>
          <p:cNvSpPr txBox="1"/>
          <p:nvPr/>
        </p:nvSpPr>
        <p:spPr>
          <a:xfrm>
            <a:off x="9372600" y="2606040"/>
            <a:ext cx="2057400" cy="1280160"/>
          </a:xfrm>
          <a:prstGeom prst="rect">
            <a:avLst/>
          </a:prstGeom>
          <a:noFill/>
          <a:ln/>
        </p:spPr>
        <p:txBody>
          <a:bodyPr wrap="square" lIns="0" tIns="0" rIns="0" bIns="0" rtlCol="0" anchor="t"/>
          <a:lstStyle/>
          <a:p>
            <a:pPr indent="0" marL="0">
              <a:buNone/>
            </a:pPr>
            <a:r>
              <a:rPr lang="en-US" sz="1100" dirty="0">
                <a:solidFill>
                  <a:srgbClr val="BFD8D5"/>
                </a:solidFill>
                <a:latin typeface="Calibri" pitchFamily="34" charset="0"/>
                <a:ea typeface="Calibri" pitchFamily="34" charset="-122"/>
                <a:cs typeface="Calibri" pitchFamily="34" charset="-120"/>
              </a:rPr>
              <a:t>Chat, durable runs and assessments from that version, for that tenant.</a:t>
            </a:r>
            <a:endParaRPr lang="en-US" sz="1100" dirty="0"/>
          </a:p>
        </p:txBody>
      </p:sp>
      <p:sp>
        <p:nvSpPr>
          <p:cNvPr id="23" name="Text 21"/>
          <p:cNvSpPr txBox="1"/>
          <p:nvPr/>
        </p:nvSpPr>
        <p:spPr>
          <a:xfrm>
            <a:off x="548640" y="4251960"/>
            <a:ext cx="5394960" cy="320040"/>
          </a:xfrm>
          <a:prstGeom prst="rect">
            <a:avLst/>
          </a:prstGeom>
          <a:noFill/>
          <a:ln/>
        </p:spPr>
        <p:txBody>
          <a:bodyPr wrap="square" lIns="0" tIns="0" rIns="0" bIns="0" rtlCol="0" anchor="t"/>
          <a:lstStyle/>
          <a:p>
            <a:pPr indent="0" marL="0">
              <a:buNone/>
            </a:pPr>
            <a:r>
              <a:rPr lang="en-US" sz="1400" b="1" dirty="0">
                <a:solidFill>
                  <a:srgbClr val="121A24"/>
                </a:solidFill>
                <a:latin typeface="Calibri" pitchFamily="34" charset="0"/>
                <a:ea typeface="Calibri" pitchFamily="34" charset="-122"/>
                <a:cs typeface="Calibri" pitchFamily="34" charset="-120"/>
              </a:rPr>
              <a:t>A run keeps its version</a:t>
            </a:r>
            <a:endParaRPr lang="en-US" sz="1400" dirty="0"/>
          </a:p>
        </p:txBody>
      </p:sp>
      <p:sp>
        <p:nvSpPr>
          <p:cNvPr id="24" name="Text 22"/>
          <p:cNvSpPr txBox="1"/>
          <p:nvPr/>
        </p:nvSpPr>
        <p:spPr>
          <a:xfrm>
            <a:off x="548640" y="4572000"/>
            <a:ext cx="5394960" cy="64008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 domain run stays pinned to the pack version it started on, even if the tenant activates a newer one mid-run.</a:t>
            </a:r>
            <a:endParaRPr lang="en-US" sz="1150" dirty="0"/>
          </a:p>
        </p:txBody>
      </p:sp>
      <p:sp>
        <p:nvSpPr>
          <p:cNvPr id="25" name="Text 23"/>
          <p:cNvSpPr txBox="1"/>
          <p:nvPr/>
        </p:nvSpPr>
        <p:spPr>
          <a:xfrm>
            <a:off x="6217920" y="4251960"/>
            <a:ext cx="5394960" cy="320040"/>
          </a:xfrm>
          <a:prstGeom prst="rect">
            <a:avLst/>
          </a:prstGeom>
          <a:noFill/>
          <a:ln/>
        </p:spPr>
        <p:txBody>
          <a:bodyPr wrap="square" lIns="0" tIns="0" rIns="0" bIns="0" rtlCol="0" anchor="t"/>
          <a:lstStyle/>
          <a:p>
            <a:pPr indent="0" marL="0">
              <a:buNone/>
            </a:pPr>
            <a:r>
              <a:rPr lang="en-US" sz="1400" b="1" dirty="0">
                <a:solidFill>
                  <a:srgbClr val="121A24"/>
                </a:solidFill>
                <a:latin typeface="Calibri" pitchFamily="34" charset="0"/>
                <a:ea typeface="Calibri" pitchFamily="34" charset="-122"/>
                <a:cs typeface="Calibri" pitchFamily="34" charset="-120"/>
              </a:rPr>
              <a:t>What is served is what was published</a:t>
            </a:r>
            <a:endParaRPr lang="en-US" sz="1400" dirty="0"/>
          </a:p>
        </p:txBody>
      </p:sp>
      <p:sp>
        <p:nvSpPr>
          <p:cNvPr id="26" name="Text 24"/>
          <p:cNvSpPr txBox="1"/>
          <p:nvPr/>
        </p:nvSpPr>
        <p:spPr>
          <a:xfrm>
            <a:off x="6217920" y="4572000"/>
            <a:ext cx="5394960" cy="64008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A client can fetch the exact archive and check it against its digest. Drafts and sample packs sit beside the store for authoring.</a:t>
            </a:r>
            <a:endParaRPr lang="en-US" sz="1150" dirty="0"/>
          </a:p>
        </p:txBody>
      </p:sp>
      <p:sp>
        <p:nvSpPr>
          <p:cNvPr id="27" name="Text 25"/>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plato/api/packs.py · packs/check, packs/drafts, packs/samples, packs/{id}/{version}/archive · plato/api/runs.py</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02 · PROVE</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Evidence: gold cases, deterministic assessment, formal checks</a:t>
            </a:r>
            <a:endParaRPr lang="en-US" sz="3000" dirty="0"/>
          </a:p>
        </p:txBody>
      </p:sp>
      <p:sp>
        <p:nvSpPr>
          <p:cNvPr id="4" name="Shape 2"/>
          <p:cNvSpPr/>
          <p:nvPr/>
        </p:nvSpPr>
        <p:spPr>
          <a:xfrm>
            <a:off x="548640" y="1737360"/>
            <a:ext cx="3563112" cy="2834640"/>
          </a:xfrm>
          <a:prstGeom prst="roundRect">
            <a:avLst>
              <a:gd name="adj" fmla="val 3871"/>
            </a:avLst>
          </a:prstGeom>
          <a:solidFill>
            <a:srgbClr val="FFFFFF"/>
          </a:solidFill>
          <a:ln w="9525">
            <a:solidFill>
              <a:srgbClr val="DDDED6"/>
            </a:solidFill>
            <a:prstDash val="solid"/>
          </a:ln>
        </p:spPr>
      </p:sp>
      <p:sp>
        <p:nvSpPr>
          <p:cNvPr id="5" name="Text 3"/>
          <p:cNvSpPr txBox="1"/>
          <p:nvPr/>
        </p:nvSpPr>
        <p:spPr>
          <a:xfrm>
            <a:off x="777240" y="1938528"/>
            <a:ext cx="310591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Gold cases</a:t>
            </a:r>
            <a:endParaRPr lang="en-US" sz="1500" dirty="0"/>
          </a:p>
        </p:txBody>
      </p:sp>
      <p:sp>
        <p:nvSpPr>
          <p:cNvPr id="6" name="Text 4"/>
          <p:cNvSpPr txBox="1"/>
          <p:nvPr/>
        </p:nvSpPr>
        <p:spPr>
          <a:xfrm>
            <a:off x="777240" y="2487168"/>
            <a:ext cx="3105912" cy="190195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Typed inputs with expected results, written before tuning. The harness runs each end to end against a pass threshold the pack declares. Acra has five, copied from jaci.</a:t>
            </a:r>
            <a:endParaRPr lang="en-US" sz="1150" dirty="0"/>
          </a:p>
          <a:p>
            <a:pPr indent="0" marL="0">
              <a:buNone/>
            </a:pPr>
            <a:endParaRPr lang="en-US" sz="1150" dirty="0"/>
          </a:p>
          <a:p>
            <a:pPr indent="0" marL="0">
              <a:buNone/>
            </a:pPr>
            <a:r>
              <a:rPr lang="en-US" sz="1150" dirty="0">
                <a:solidFill>
                  <a:srgbClr val="47525E"/>
                </a:solidFill>
                <a:latin typeface="Calibri" pitchFamily="34" charset="0"/>
                <a:ea typeface="Calibri" pitchFamily="34" charset="-122"/>
                <a:cs typeface="Calibri" pitchFamily="34" charset="-120"/>
              </a:rPr>
              <a:t>jazzx_sdk/evaluation · tests/data/dscr_gold_cases</a:t>
            </a:r>
            <a:endParaRPr lang="en-US" sz="1150" dirty="0"/>
          </a:p>
        </p:txBody>
      </p:sp>
      <p:sp>
        <p:nvSpPr>
          <p:cNvPr id="7" name="Shape 5"/>
          <p:cNvSpPr/>
          <p:nvPr/>
        </p:nvSpPr>
        <p:spPr>
          <a:xfrm>
            <a:off x="4312920" y="1737360"/>
            <a:ext cx="3563112" cy="2834640"/>
          </a:xfrm>
          <a:prstGeom prst="roundRect">
            <a:avLst>
              <a:gd name="adj" fmla="val 3871"/>
            </a:avLst>
          </a:prstGeom>
          <a:solidFill>
            <a:srgbClr val="FFFFFF"/>
          </a:solidFill>
          <a:ln w="9525">
            <a:solidFill>
              <a:srgbClr val="DDDED6"/>
            </a:solidFill>
            <a:prstDash val="solid"/>
          </a:ln>
        </p:spPr>
      </p:sp>
      <p:sp>
        <p:nvSpPr>
          <p:cNvPr id="8" name="Text 6"/>
          <p:cNvSpPr txBox="1"/>
          <p:nvPr/>
        </p:nvSpPr>
        <p:spPr>
          <a:xfrm>
            <a:off x="4541520" y="1938528"/>
            <a:ext cx="310591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Deterministic assessment</a:t>
            </a:r>
            <a:endParaRPr lang="en-US" sz="1500" dirty="0"/>
          </a:p>
        </p:txBody>
      </p:sp>
      <p:sp>
        <p:nvSpPr>
          <p:cNvPr id="9" name="Text 7"/>
          <p:cNvSpPr txBox="1"/>
          <p:nvPr/>
        </p:nvSpPr>
        <p:spPr>
          <a:xfrm>
            <a:off x="4541520" y="2487168"/>
            <a:ext cx="3105912" cy="1901952"/>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Every rule checked against a record, the binding cap and rule named, one attestation per rule, what could not be derived and why. No model involved. Served over HTTP by Plato.</a:t>
            </a:r>
            <a:endParaRPr lang="en-US" sz="1150" dirty="0"/>
          </a:p>
          <a:p>
            <a:pPr indent="0" marL="0">
              <a:buNone/>
            </a:pPr>
            <a:endParaRPr lang="en-US" sz="1150" dirty="0"/>
          </a:p>
          <a:p>
            <a:pPr indent="0" marL="0">
              <a:buNone/>
            </a:pPr>
            <a:r>
              <a:rPr lang="en-US" sz="1150" dirty="0">
                <a:solidFill>
                  <a:srgbClr val="47525E"/>
                </a:solidFill>
                <a:latin typeface="Calibri" pitchFamily="34" charset="0"/>
                <a:ea typeface="Calibri" pitchFamily="34" charset="-122"/>
                <a:cs typeface="Calibri" pitchFamily="34" charset="-120"/>
              </a:rPr>
              <a:t>jazzx_sdk/pack/assessment.py · POST /packs/{id}/assess</a:t>
            </a:r>
            <a:endParaRPr lang="en-US" sz="1150" dirty="0"/>
          </a:p>
        </p:txBody>
      </p:sp>
      <p:sp>
        <p:nvSpPr>
          <p:cNvPr id="10" name="Shape 8"/>
          <p:cNvSpPr/>
          <p:nvPr/>
        </p:nvSpPr>
        <p:spPr>
          <a:xfrm>
            <a:off x="8077200" y="1737360"/>
            <a:ext cx="3563112" cy="2834640"/>
          </a:xfrm>
          <a:prstGeom prst="roundRect">
            <a:avLst>
              <a:gd name="adj" fmla="val 3871"/>
            </a:avLst>
          </a:prstGeom>
          <a:solidFill>
            <a:srgbClr val="121A24"/>
          </a:solidFill>
          <a:ln w="12700">
            <a:solidFill>
              <a:srgbClr val="121A24"/>
            </a:solidFill>
            <a:prstDash val="solid"/>
          </a:ln>
        </p:spPr>
      </p:sp>
      <p:sp>
        <p:nvSpPr>
          <p:cNvPr id="11" name="Text 9"/>
          <p:cNvSpPr txBox="1"/>
          <p:nvPr/>
        </p:nvSpPr>
        <p:spPr>
          <a:xfrm>
            <a:off x="8305800" y="1938528"/>
            <a:ext cx="310591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Formal checks</a:t>
            </a:r>
            <a:endParaRPr lang="en-US" sz="1500" dirty="0"/>
          </a:p>
        </p:txBody>
      </p:sp>
      <p:sp>
        <p:nvSpPr>
          <p:cNvPr id="12" name="Text 10"/>
          <p:cNvSpPr txBox="1"/>
          <p:nvPr/>
        </p:nvSpPr>
        <p:spPr>
          <a:xfrm>
            <a:off x="8305800" y="2487168"/>
            <a:ext cx="3105912" cy="1901952"/>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Claims compiled from the same canonical policy into Z3, one attestation per claim. In the SDK and runnable locally. A deployed Plato refuses them until an isolated job service is configured.</a:t>
            </a:r>
            <a:endParaRPr lang="en-US" sz="1150" dirty="0"/>
          </a:p>
          <a:p>
            <a:pPr indent="0" marL="0">
              <a:buNone/>
            </a:pPr>
            <a:endParaRPr lang="en-US" sz="1150" dirty="0"/>
          </a:p>
          <a:p>
            <a:pPr indent="0" marL="0">
              <a:buNone/>
            </a:pPr>
            <a:r>
              <a:rPr lang="en-US" sz="1150" dirty="0">
                <a:solidFill>
                  <a:srgbClr val="BFD8D5"/>
                </a:solidFill>
                <a:latin typeface="Calibri" pitchFamily="34" charset="0"/>
                <a:ea typeface="Calibri" pitchFamily="34" charset="-122"/>
                <a:cs typeface="Calibri" pitchFamily="34" charset="-120"/>
              </a:rPr>
              <a:t>jazzx_sdk/formal · POST /formal/checks</a:t>
            </a:r>
            <a:endParaRPr lang="en-US" sz="1150" dirty="0"/>
          </a:p>
        </p:txBody>
      </p:sp>
      <p:sp>
        <p:nvSpPr>
          <p:cNvPr id="13" name="Text 11"/>
          <p:cNvSpPr txBox="1"/>
          <p:nvPr/>
        </p:nvSpPr>
        <p:spPr>
          <a:xfrm>
            <a:off x="548640" y="4846320"/>
            <a:ext cx="11091672" cy="731520"/>
          </a:xfrm>
          <a:prstGeom prst="rect">
            <a:avLst/>
          </a:prstGeom>
          <a:noFill/>
          <a:ln/>
        </p:spPr>
        <p:txBody>
          <a:bodyPr wrap="square" lIns="0" tIns="0" rIns="0" bIns="0" rtlCol="0" anchor="t"/>
          <a:lstStyle/>
          <a:p>
            <a:pPr indent="0" marL="0">
              <a:buNone/>
            </a:pPr>
            <a:r>
              <a:rPr lang="en-US" sz="1250" dirty="0">
                <a:solidFill>
                  <a:srgbClr val="121A24"/>
                </a:solidFill>
                <a:latin typeface="Calibri" pitchFamily="34" charset="0"/>
                <a:ea typeface="Calibri" pitchFamily="34" charset="-122"/>
                <a:cs typeface="Calibri" pitchFamily="34" charset="-120"/>
              </a:rPr>
              <a:t>Proof comes from the policy itself, not from asking a model whether it complied. The English form on a reasoning agent is the one place a model does answer, and its verdict carries a confidence for that reason.</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05 · IMPROVE</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Feedback becomes a measured change</a:t>
            </a:r>
            <a:endParaRPr lang="en-US" sz="3000" dirty="0"/>
          </a:p>
        </p:txBody>
      </p:sp>
      <p:sp>
        <p:nvSpPr>
          <p:cNvPr id="4" name="Shape 2"/>
          <p:cNvSpPr/>
          <p:nvPr/>
        </p:nvSpPr>
        <p:spPr>
          <a:xfrm>
            <a:off x="548640" y="1737360"/>
            <a:ext cx="2423160" cy="1463040"/>
          </a:xfrm>
          <a:prstGeom prst="roundRect">
            <a:avLst>
              <a:gd name="adj" fmla="val 7500"/>
            </a:avLst>
          </a:prstGeom>
          <a:solidFill>
            <a:srgbClr val="FFFFFF"/>
          </a:solidFill>
          <a:ln w="12700">
            <a:solidFill>
              <a:srgbClr val="DDDED6"/>
            </a:solidFill>
            <a:prstDash val="solid"/>
          </a:ln>
        </p:spPr>
      </p:sp>
      <p:sp>
        <p:nvSpPr>
          <p:cNvPr id="5" name="Text 3"/>
          <p:cNvSpPr txBox="1"/>
          <p:nvPr/>
        </p:nvSpPr>
        <p:spPr>
          <a:xfrm>
            <a:off x="731520" y="1874520"/>
            <a:ext cx="914400" cy="274320"/>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1</a:t>
            </a:r>
            <a:endParaRPr lang="en-US" sz="1100" dirty="0"/>
          </a:p>
        </p:txBody>
      </p:sp>
      <p:sp>
        <p:nvSpPr>
          <p:cNvPr id="6" name="Text 4"/>
          <p:cNvSpPr txBox="1"/>
          <p:nvPr/>
        </p:nvSpPr>
        <p:spPr>
          <a:xfrm>
            <a:off x="731520" y="2194560"/>
            <a:ext cx="2057400" cy="914400"/>
          </a:xfrm>
          <a:prstGeom prst="rect">
            <a:avLst/>
          </a:prstGeom>
          <a:noFill/>
          <a:ln/>
        </p:spPr>
        <p:txBody>
          <a:bodyPr wrap="square" lIns="0" tIns="0" rIns="0" bIns="0" rtlCol="0" anchor="t"/>
          <a:lstStyle/>
          <a:p>
            <a:pPr indent="0" marL="0">
              <a:buNone/>
            </a:pPr>
            <a:r>
              <a:rPr lang="en-US" sz="1200" dirty="0">
                <a:solidFill>
                  <a:srgbClr val="121A24"/>
                </a:solidFill>
                <a:latin typeface="Calibri" pitchFamily="34" charset="0"/>
                <a:ea typeface="Calibri" pitchFamily="34" charset="-122"/>
                <a:cs typeface="Calibri" pitchFamily="34" charset="-120"/>
              </a:rPr>
              <a:t>A user or reviewer submits feedback on an answer or a run</a:t>
            </a:r>
            <a:endParaRPr lang="en-US" sz="1200" dirty="0"/>
          </a:p>
        </p:txBody>
      </p:sp>
      <p:sp>
        <p:nvSpPr>
          <p:cNvPr id="7" name="Shape 5"/>
          <p:cNvSpPr/>
          <p:nvPr/>
        </p:nvSpPr>
        <p:spPr>
          <a:xfrm>
            <a:off x="3017520" y="2468880"/>
            <a:ext cx="365760" cy="9144"/>
          </a:xfrm>
          <a:prstGeom prst="line">
            <a:avLst/>
          </a:prstGeom>
          <a:noFill/>
          <a:ln w="25400">
            <a:solidFill>
              <a:srgbClr val="1F6F6B"/>
            </a:solidFill>
            <a:prstDash val="solid"/>
            <a:tailEnd type="triangle"/>
          </a:ln>
        </p:spPr>
      </p:sp>
      <p:sp>
        <p:nvSpPr>
          <p:cNvPr id="8" name="Shape 6"/>
          <p:cNvSpPr/>
          <p:nvPr/>
        </p:nvSpPr>
        <p:spPr>
          <a:xfrm>
            <a:off x="3429000" y="1737360"/>
            <a:ext cx="2423160" cy="1463040"/>
          </a:xfrm>
          <a:prstGeom prst="roundRect">
            <a:avLst>
              <a:gd name="adj" fmla="val 7500"/>
            </a:avLst>
          </a:prstGeom>
          <a:solidFill>
            <a:srgbClr val="FFFFFF"/>
          </a:solidFill>
          <a:ln w="12700">
            <a:solidFill>
              <a:srgbClr val="DDDED6"/>
            </a:solidFill>
            <a:prstDash val="solid"/>
          </a:ln>
        </p:spPr>
      </p:sp>
      <p:sp>
        <p:nvSpPr>
          <p:cNvPr id="9" name="Text 7"/>
          <p:cNvSpPr txBox="1"/>
          <p:nvPr/>
        </p:nvSpPr>
        <p:spPr>
          <a:xfrm>
            <a:off x="3611880" y="1874520"/>
            <a:ext cx="914400" cy="274320"/>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2</a:t>
            </a:r>
            <a:endParaRPr lang="en-US" sz="1100" dirty="0"/>
          </a:p>
        </p:txBody>
      </p:sp>
      <p:sp>
        <p:nvSpPr>
          <p:cNvPr id="10" name="Text 8"/>
          <p:cNvSpPr txBox="1"/>
          <p:nvPr/>
        </p:nvSpPr>
        <p:spPr>
          <a:xfrm>
            <a:off x="3611880" y="2194560"/>
            <a:ext cx="2057400" cy="914400"/>
          </a:xfrm>
          <a:prstGeom prst="rect">
            <a:avLst/>
          </a:prstGeom>
          <a:noFill/>
          <a:ln/>
        </p:spPr>
        <p:txBody>
          <a:bodyPr wrap="square" lIns="0" tIns="0" rIns="0" bIns="0" rtlCol="0" anchor="t"/>
          <a:lstStyle/>
          <a:p>
            <a:pPr indent="0" marL="0">
              <a:buNone/>
            </a:pPr>
            <a:r>
              <a:rPr lang="en-US" sz="1200" dirty="0">
                <a:solidFill>
                  <a:srgbClr val="121A24"/>
                </a:solidFill>
                <a:latin typeface="Calibri" pitchFamily="34" charset="0"/>
                <a:ea typeface="Calibri" pitchFamily="34" charset="-122"/>
                <a:cs typeface="Calibri" pitchFamily="34" charset="-120"/>
              </a:rPr>
              <a:t>It is processed, reviewed, and added to an evaluation dataset as a case</a:t>
            </a:r>
            <a:endParaRPr lang="en-US" sz="1200" dirty="0"/>
          </a:p>
        </p:txBody>
      </p:sp>
      <p:sp>
        <p:nvSpPr>
          <p:cNvPr id="11" name="Shape 9"/>
          <p:cNvSpPr/>
          <p:nvPr/>
        </p:nvSpPr>
        <p:spPr>
          <a:xfrm>
            <a:off x="5897880" y="2468880"/>
            <a:ext cx="365760" cy="9144"/>
          </a:xfrm>
          <a:prstGeom prst="line">
            <a:avLst/>
          </a:prstGeom>
          <a:noFill/>
          <a:ln w="25400">
            <a:solidFill>
              <a:srgbClr val="1F6F6B"/>
            </a:solidFill>
            <a:prstDash val="solid"/>
            <a:tailEnd type="triangle"/>
          </a:ln>
        </p:spPr>
      </p:sp>
      <p:sp>
        <p:nvSpPr>
          <p:cNvPr id="12" name="Shape 10"/>
          <p:cNvSpPr/>
          <p:nvPr/>
        </p:nvSpPr>
        <p:spPr>
          <a:xfrm>
            <a:off x="6309360" y="1737360"/>
            <a:ext cx="2423160" cy="1463040"/>
          </a:xfrm>
          <a:prstGeom prst="roundRect">
            <a:avLst>
              <a:gd name="adj" fmla="val 7500"/>
            </a:avLst>
          </a:prstGeom>
          <a:solidFill>
            <a:srgbClr val="FFFFFF"/>
          </a:solidFill>
          <a:ln w="12700">
            <a:solidFill>
              <a:srgbClr val="DDDED6"/>
            </a:solidFill>
            <a:prstDash val="solid"/>
          </a:ln>
        </p:spPr>
      </p:sp>
      <p:sp>
        <p:nvSpPr>
          <p:cNvPr id="13" name="Text 11"/>
          <p:cNvSpPr txBox="1"/>
          <p:nvPr/>
        </p:nvSpPr>
        <p:spPr>
          <a:xfrm>
            <a:off x="6492240" y="1874520"/>
            <a:ext cx="914400" cy="274320"/>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3</a:t>
            </a:r>
            <a:endParaRPr lang="en-US" sz="1100" dirty="0"/>
          </a:p>
        </p:txBody>
      </p:sp>
      <p:sp>
        <p:nvSpPr>
          <p:cNvPr id="14" name="Text 12"/>
          <p:cNvSpPr txBox="1"/>
          <p:nvPr/>
        </p:nvSpPr>
        <p:spPr>
          <a:xfrm>
            <a:off x="6492240" y="2194560"/>
            <a:ext cx="2057400" cy="914400"/>
          </a:xfrm>
          <a:prstGeom prst="rect">
            <a:avLst/>
          </a:prstGeom>
          <a:noFill/>
          <a:ln/>
        </p:spPr>
        <p:txBody>
          <a:bodyPr wrap="square" lIns="0" tIns="0" rIns="0" bIns="0" rtlCol="0" anchor="t"/>
          <a:lstStyle/>
          <a:p>
            <a:pPr indent="0" marL="0">
              <a:buNone/>
            </a:pPr>
            <a:r>
              <a:rPr lang="en-US" sz="1200" dirty="0">
                <a:solidFill>
                  <a:srgbClr val="121A24"/>
                </a:solidFill>
                <a:latin typeface="Calibri" pitchFamily="34" charset="0"/>
                <a:ea typeface="Calibri" pitchFamily="34" charset="-122"/>
                <a:cs typeface="Calibri" pitchFamily="34" charset="-120"/>
              </a:rPr>
              <a:t>An experiment measures a change against a baseline on that dataset</a:t>
            </a:r>
            <a:endParaRPr lang="en-US" sz="1200" dirty="0"/>
          </a:p>
        </p:txBody>
      </p:sp>
      <p:sp>
        <p:nvSpPr>
          <p:cNvPr id="15" name="Shape 13"/>
          <p:cNvSpPr/>
          <p:nvPr/>
        </p:nvSpPr>
        <p:spPr>
          <a:xfrm>
            <a:off x="8778240" y="2468880"/>
            <a:ext cx="365760" cy="9144"/>
          </a:xfrm>
          <a:prstGeom prst="line">
            <a:avLst/>
          </a:prstGeom>
          <a:noFill/>
          <a:ln w="25400">
            <a:solidFill>
              <a:srgbClr val="1F6F6B"/>
            </a:solidFill>
            <a:prstDash val="solid"/>
            <a:tailEnd type="triangle"/>
          </a:ln>
        </p:spPr>
      </p:sp>
      <p:sp>
        <p:nvSpPr>
          <p:cNvPr id="16" name="Shape 14"/>
          <p:cNvSpPr/>
          <p:nvPr/>
        </p:nvSpPr>
        <p:spPr>
          <a:xfrm>
            <a:off x="9189720" y="1737360"/>
            <a:ext cx="2423160" cy="1463040"/>
          </a:xfrm>
          <a:prstGeom prst="roundRect">
            <a:avLst>
              <a:gd name="adj" fmla="val 7500"/>
            </a:avLst>
          </a:prstGeom>
          <a:solidFill>
            <a:srgbClr val="FFFFFF"/>
          </a:solidFill>
          <a:ln w="12700">
            <a:solidFill>
              <a:srgbClr val="DDDED6"/>
            </a:solidFill>
            <a:prstDash val="solid"/>
          </a:ln>
        </p:spPr>
      </p:sp>
      <p:sp>
        <p:nvSpPr>
          <p:cNvPr id="17" name="Text 15"/>
          <p:cNvSpPr txBox="1"/>
          <p:nvPr/>
        </p:nvSpPr>
        <p:spPr>
          <a:xfrm>
            <a:off x="9372600" y="1874520"/>
            <a:ext cx="914400" cy="274320"/>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4</a:t>
            </a:r>
            <a:endParaRPr lang="en-US" sz="1100" dirty="0"/>
          </a:p>
        </p:txBody>
      </p:sp>
      <p:sp>
        <p:nvSpPr>
          <p:cNvPr id="18" name="Text 16"/>
          <p:cNvSpPr txBox="1"/>
          <p:nvPr/>
        </p:nvSpPr>
        <p:spPr>
          <a:xfrm>
            <a:off x="9372600" y="2194560"/>
            <a:ext cx="2057400" cy="914400"/>
          </a:xfrm>
          <a:prstGeom prst="rect">
            <a:avLst/>
          </a:prstGeom>
          <a:noFill/>
          <a:ln/>
        </p:spPr>
        <p:txBody>
          <a:bodyPr wrap="square" lIns="0" tIns="0" rIns="0" bIns="0" rtlCol="0" anchor="t"/>
          <a:lstStyle/>
          <a:p>
            <a:pPr indent="0" marL="0">
              <a:buNone/>
            </a:pPr>
            <a:r>
              <a:rPr lang="en-US" sz="1200" dirty="0">
                <a:solidFill>
                  <a:srgbClr val="121A24"/>
                </a:solidFill>
                <a:latin typeface="Calibri" pitchFamily="34" charset="0"/>
                <a:ea typeface="Calibri" pitchFamily="34" charset="-122"/>
                <a:cs typeface="Calibri" pitchFamily="34" charset="-120"/>
              </a:rPr>
              <a:t>The winning prompt is applied to the tenant's pack draft</a:t>
            </a:r>
            <a:endParaRPr lang="en-US" sz="1200" dirty="0"/>
          </a:p>
        </p:txBody>
      </p:sp>
      <p:sp>
        <p:nvSpPr>
          <p:cNvPr id="19" name="Shape 17"/>
          <p:cNvSpPr/>
          <p:nvPr/>
        </p:nvSpPr>
        <p:spPr>
          <a:xfrm>
            <a:off x="548640" y="3520440"/>
            <a:ext cx="11091672" cy="868680"/>
          </a:xfrm>
          <a:prstGeom prst="roundRect">
            <a:avLst>
              <a:gd name="adj" fmla="val 12632"/>
            </a:avLst>
          </a:prstGeom>
          <a:solidFill>
            <a:srgbClr val="121A24"/>
          </a:solidFill>
          <a:ln w="12700">
            <a:solidFill>
              <a:srgbClr val="121A24"/>
            </a:solidFill>
            <a:prstDash val="solid"/>
          </a:ln>
        </p:spPr>
      </p:sp>
      <p:sp>
        <p:nvSpPr>
          <p:cNvPr id="20" name="Text 18"/>
          <p:cNvSpPr txBox="1"/>
          <p:nvPr/>
        </p:nvSpPr>
        <p:spPr>
          <a:xfrm>
            <a:off x="822960" y="3703320"/>
            <a:ext cx="10543032" cy="548640"/>
          </a:xfrm>
          <a:prstGeom prst="rect">
            <a:avLst/>
          </a:prstGeom>
          <a:noFill/>
          <a:ln/>
        </p:spPr>
        <p:txBody>
          <a:bodyPr wrap="square" lIns="0" tIns="0" rIns="0" bIns="0" rtlCol="0" anchor="t"/>
          <a:lstStyle/>
          <a:p>
            <a:pPr indent="0" marL="0">
              <a:buNone/>
            </a:pPr>
            <a:r>
              <a:rPr lang="en-US" sz="1400" dirty="0">
                <a:solidFill>
                  <a:srgbClr val="F7F7F3"/>
                </a:solidFill>
                <a:latin typeface="Calibri" pitchFamily="34" charset="0"/>
                <a:ea typeface="Calibri" pitchFamily="34" charset="-122"/>
                <a:cs typeface="Calibri" pitchFamily="34" charset="-120"/>
              </a:rPr>
              <a:t>Nothing publishes itself. An optimization lands in the draft; a person publishes the next version through the same check and publish path as the first.</a:t>
            </a:r>
            <a:endParaRPr lang="en-US" sz="1400" dirty="0"/>
          </a:p>
        </p:txBody>
      </p:sp>
      <p:sp>
        <p:nvSpPr>
          <p:cNvPr id="21" name="Text 19"/>
          <p:cNvSpPr txBox="1"/>
          <p:nvPr/>
        </p:nvSpPr>
        <p:spPr>
          <a:xfrm>
            <a:off x="548640" y="4617720"/>
            <a:ext cx="11091672" cy="640080"/>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This is the platform's side of the learning loop. It feeds the Curator and Evaluator modes and the outcome linkage the Fabric roadmap named, and it is where the learning framework in the next session picks up.</a:t>
            </a:r>
            <a:endParaRPr lang="en-US" sz="1150" dirty="0"/>
          </a:p>
        </p:txBody>
      </p:sp>
      <p:sp>
        <p:nvSpPr>
          <p:cNvPr id="22" name="Text 20"/>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plato/api/{feedback,eval}.py · migrations 0007 to 0010 · jazzx_sdk/evaluation</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C2703A"/>
                </a:solidFill>
                <a:latin typeface="Courier New" pitchFamily="34" charset="0"/>
                <a:ea typeface="Courier New" pitchFamily="34" charset="-122"/>
                <a:cs typeface="Courier New" pitchFamily="34" charset="-120"/>
              </a:rPr>
              <a:t>A NEW USE CASE, END TO END</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Acra DSCR: stage by stage on the platform</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743200"/>
                <a:gridCol w="5120640"/>
                <a:gridCol w="3227832"/>
              </a:tblGrid>
              <a:tr h="0">
                <a:tc>
                  <a:txBody>
                    <a:bodyPr/>
                    <a:lstStyle/>
                    <a:p>
                      <a:pPr indent="0" marL="0">
                        <a:buNone/>
                      </a:pPr>
                      <a:r>
                        <a:rPr lang="en-US" sz="1050" b="1" dirty="0">
                          <a:solidFill>
                            <a:srgbClr val="F7F7F3"/>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050" b="1" dirty="0">
                          <a:solidFill>
                            <a:srgbClr val="F7F7F3"/>
                          </a:solidFill>
                          <a:latin typeface="Calibri" pitchFamily="34" charset="0"/>
                          <a:ea typeface="Calibri" pitchFamily="34" charset="-122"/>
                          <a:cs typeface="Calibri" pitchFamily="34" charset="-120"/>
                        </a:rPr>
                        <a:t>What serves it</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050" b="1" dirty="0">
                          <a:solidFill>
                            <a:srgbClr val="F7F7F3"/>
                          </a:solidFill>
                          <a:latin typeface="Calibri" pitchFamily="34" charset="0"/>
                          <a:ea typeface="Calibri" pitchFamily="34" charset="-122"/>
                          <a:cs typeface="Calibri" pitchFamily="34" charset="-120"/>
                        </a:rPr>
                        <a:t>Where it comes from</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r>
              <a:tr h="0">
                <a:tc>
                  <a:txBody>
                    <a:bodyPr/>
                    <a:lstStyle/>
                    <a:p>
                      <a:pPr indent="0" marL="0">
                        <a:buNone/>
                      </a:pPr>
                      <a:r>
                        <a:rPr lang="en-US" sz="1050" b="1" dirty="0">
                          <a:solidFill>
                            <a:srgbClr val="121A24"/>
                          </a:solidFill>
                          <a:latin typeface="Calibri" pitchFamily="34" charset="0"/>
                          <a:ea typeface="Calibri" pitchFamily="34" charset="-122"/>
                          <a:cs typeface="Calibri" pitchFamily="34" charset="-120"/>
                        </a:rPr>
                        <a:t>Split and index the package</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The document agent: outline-first split, source coordinate and confidence on every value, typed refusal below the floor</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1F6F6B"/>
                          </a:solidFill>
                          <a:latin typeface="Calibri" pitchFamily="34" charset="0"/>
                          <a:ea typeface="Calibri" pitchFamily="34" charset="-122"/>
                          <a:cs typeface="Calibri" pitchFamily="34" charset="-120"/>
                        </a:rPr>
                        <a:t>In the SDK</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21A24"/>
                          </a:solidFill>
                          <a:latin typeface="Calibri" pitchFamily="34" charset="0"/>
                          <a:ea typeface="Calibri" pitchFamily="34" charset="-122"/>
                          <a:cs typeface="Calibri" pitchFamily="34" charset="-120"/>
                        </a:rPr>
                        <a:t>Classify to Acra's taxonomy</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Tier-2 document templates: lease, rent roll, Form 1007, appraisal, title, Operating Agreement, HOA budget</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50" dirty="0">
                          <a:solidFill>
                            <a:srgbClr val="C2703A"/>
                          </a:solidFill>
                          <a:latin typeface="Calibri" pitchFamily="34" charset="0"/>
                          <a:ea typeface="Calibri" pitchFamily="34" charset="-122"/>
                          <a:cs typeface="Calibri" pitchFamily="34" charset="-120"/>
                        </a:rPr>
                        <a:t>Pack content, authored</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050" b="1" dirty="0">
                          <a:solidFill>
                            <a:srgbClr val="121A24"/>
                          </a:solidFill>
                          <a:latin typeface="Calibri" pitchFamily="34" charset="0"/>
                          <a:ea typeface="Calibri" pitchFamily="34" charset="-122"/>
                          <a:cs typeface="Calibri" pitchFamily="34" charset="-120"/>
                        </a:rPr>
                        <a:t>Assess against the rate grid</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Policy IR plus the client overlay: 78 grid cells, roughly 15 overlay families, 14 prepay rules across 13 states</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1F6F6B"/>
                          </a:solidFill>
                          <a:latin typeface="Calibri" pitchFamily="34" charset="0"/>
                          <a:ea typeface="Calibri" pitchFamily="34" charset="-122"/>
                          <a:cs typeface="Calibri" pitchFamily="34" charset="-120"/>
                        </a:rPr>
                        <a:t>Encoded, in the dscr_core pack</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21A24"/>
                          </a:solidFill>
                          <a:latin typeface="Calibri" pitchFamily="34" charset="0"/>
                          <a:ea typeface="Calibri" pitchFamily="34" charset="-122"/>
                          <a:cs typeface="Calibri" pitchFamily="34" charset="-120"/>
                        </a:rPr>
                        <a:t>Raise conditions</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Typed LoanCondition on Byte's prior-to-closing and prior-to-funding buckets, each citing the directive it failed and the document that is missing</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50" dirty="0">
                          <a:solidFill>
                            <a:srgbClr val="1F6F6B"/>
                          </a:solidFill>
                          <a:latin typeface="Calibri" pitchFamily="34" charset="0"/>
                          <a:ea typeface="Calibri" pitchFamily="34" charset="-122"/>
                          <a:cs typeface="Calibri" pitchFamily="34" charset="-120"/>
                        </a:rPr>
                        <a:t>Schemas exist, wiring is pack work</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050" b="1" dirty="0">
                          <a:solidFill>
                            <a:srgbClr val="121A24"/>
                          </a:solidFill>
                          <a:latin typeface="Calibri" pitchFamily="34" charset="0"/>
                          <a:ea typeface="Calibri" pitchFamily="34" charset="-122"/>
                          <a:cs typeface="Calibri" pitchFamily="34" charset="-120"/>
                        </a:rPr>
                        <a:t>Hand off between six roles</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Six assistant profiles with a relay family between them; an incomplete payload bounces back instead of being reconstructed</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050" dirty="0">
                          <a:solidFill>
                            <a:srgbClr val="1F6F6B"/>
                          </a:solidFill>
                          <a:latin typeface="Calibri" pitchFamily="34" charset="0"/>
                          <a:ea typeface="Calibri" pitchFamily="34" charset="-122"/>
                          <a:cs typeface="Calibri" pitchFamily="34" charset="-120"/>
                        </a:rPr>
                        <a:t>Profiles and bindings</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21A24"/>
                          </a:solidFill>
                          <a:latin typeface="Calibri" pitchFamily="34" charset="0"/>
                          <a:ea typeface="Calibri" pitchFamily="34" charset="-122"/>
                          <a:cs typeface="Calibri" pitchFamily="34" charset="-120"/>
                        </a:rPr>
                        <a:t>Write back to the loan origination system</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50" dirty="0">
                          <a:solidFill>
                            <a:srgbClr val="47525E"/>
                          </a:solidFill>
                          <a:latin typeface="Calibri" pitchFamily="34" charset="0"/>
                          <a:ea typeface="Calibri" pitchFamily="34" charset="-122"/>
                          <a:cs typeface="Calibri" pitchFamily="34" charset="-120"/>
                        </a:rPr>
                        <a:t>A Byte adapter, reversible action class, mandatory trace event on every write</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050" dirty="0">
                          <a:solidFill>
                            <a:srgbClr val="C2703A"/>
                          </a:solidFill>
                          <a:latin typeface="Calibri" pitchFamily="34" charset="0"/>
                          <a:ea typeface="Calibri" pitchFamily="34" charset="-122"/>
                          <a:cs typeface="Calibri" pitchFamily="34" charset="-120"/>
                        </a:rPr>
                        <a:t>Does not exist yet</a:t>
                      </a:r>
                      <a:endParaRPr lang="en-US" sz="10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bl>
          </a:graphicData>
        </a:graphic>
      </p:graphicFrame>
      <p:sp>
        <p:nvSpPr>
          <p:cNvPr id="5" name="Text 2"/>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Acra is delivered pack-thin: a client overlay and six bindings over primitives hardened on the YETI commercial lending build. Same pack underneath, client overlay on top.</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1F6F6B"/>
                </a:solidFill>
                <a:latin typeface="Courier New" pitchFamily="34" charset="0"/>
                <a:ea typeface="Courier New" pitchFamily="34" charset="-122"/>
                <a:cs typeface="Courier New" pitchFamily="34" charset="-120"/>
              </a:rPr>
              <a:t>VERIFIED AGAINST THE TREE, 23 SEP</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Acra platform requirements: two done, two open</a:t>
            </a:r>
            <a:endParaRPr lang="en-US" sz="3000" dirty="0"/>
          </a:p>
        </p:txBody>
      </p:sp>
      <p:sp>
        <p:nvSpPr>
          <p:cNvPr id="4" name="Shape 2"/>
          <p:cNvSpPr/>
          <p:nvPr/>
        </p:nvSpPr>
        <p:spPr>
          <a:xfrm>
            <a:off x="548640" y="1737360"/>
            <a:ext cx="2622042" cy="2651760"/>
          </a:xfrm>
          <a:prstGeom prst="roundRect">
            <a:avLst>
              <a:gd name="adj" fmla="val 4185"/>
            </a:avLst>
          </a:prstGeom>
          <a:solidFill>
            <a:srgbClr val="1F6F6B"/>
          </a:solidFill>
          <a:ln w="12700">
            <a:solidFill>
              <a:srgbClr val="1F6F6B"/>
            </a:solidFill>
            <a:prstDash val="solid"/>
          </a:ln>
        </p:spPr>
      </p:sp>
      <p:sp>
        <p:nvSpPr>
          <p:cNvPr id="5" name="Text 3"/>
          <p:cNvSpPr txBox="1"/>
          <p:nvPr/>
        </p:nvSpPr>
        <p:spPr>
          <a:xfrm>
            <a:off x="777240" y="1938528"/>
            <a:ext cx="2164842" cy="256032"/>
          </a:xfrm>
          <a:prstGeom prst="rect">
            <a:avLst/>
          </a:prstGeom>
          <a:noFill/>
          <a:ln/>
        </p:spPr>
        <p:txBody>
          <a:bodyPr wrap="square" lIns="0" tIns="0" rIns="0" bIns="0" rtlCol="0" anchor="t"/>
          <a:lstStyle/>
          <a:p>
            <a:pPr indent="0" marL="0">
              <a:buNone/>
            </a:pPr>
            <a:r>
              <a:rPr lang="en-US" sz="1100" dirty="0">
                <a:solidFill>
                  <a:srgbClr val="9FE0D6"/>
                </a:solidFill>
                <a:latin typeface="Courier New" pitchFamily="34" charset="0"/>
                <a:ea typeface="Courier New" pitchFamily="34" charset="-122"/>
                <a:cs typeface="Courier New" pitchFamily="34" charset="-120"/>
              </a:rPr>
              <a:t>decision 2 · closed</a:t>
            </a:r>
            <a:endParaRPr lang="en-US" sz="1100" dirty="0"/>
          </a:p>
        </p:txBody>
      </p:sp>
      <p:sp>
        <p:nvSpPr>
          <p:cNvPr id="6" name="Text 4"/>
          <p:cNvSpPr txBox="1"/>
          <p:nvPr/>
        </p:nvSpPr>
        <p:spPr>
          <a:xfrm>
            <a:off x="777240" y="2249424"/>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Matrix condition kind</a:t>
            </a:r>
            <a:endParaRPr lang="en-US" sz="1500" dirty="0"/>
          </a:p>
        </p:txBody>
      </p:sp>
      <p:sp>
        <p:nvSpPr>
          <p:cNvPr id="7" name="Text 5"/>
          <p:cNvSpPr txBox="1"/>
          <p:nvPr/>
        </p:nvSpPr>
        <p:spPr>
          <a:xfrm>
            <a:off x="777240" y="2798064"/>
            <a:ext cx="2164842" cy="1408176"/>
          </a:xfrm>
          <a:prstGeom prst="rect">
            <a:avLst/>
          </a:prstGeom>
          <a:noFill/>
          <a:ln/>
        </p:spPr>
        <p:txBody>
          <a:bodyPr wrap="square" lIns="0" tIns="0" rIns="0" bIns="0" rtlCol="0" anchor="t"/>
          <a:lstStyle/>
          <a:p>
            <a:pPr indent="0" marL="0">
              <a:buNone/>
            </a:pPr>
            <a:r>
              <a:rPr lang="en-US" sz="1150" dirty="0">
                <a:solidFill>
                  <a:srgbClr val="D6EFEB"/>
                </a:solidFill>
                <a:latin typeface="Calibri" pitchFamily="34" charset="0"/>
                <a:ea typeface="Calibri" pitchFamily="34" charset="-122"/>
                <a:cs typeface="Calibri" pitchFamily="34" charset="-120"/>
              </a:rPr>
              <a:t>Numeric or categorical axes, cells resolved through profile_table: so the numbers stay reviewable data. AllOf and AnyOf came with it, and the operator set gained in and not_in.</a:t>
            </a:r>
            <a:endParaRPr lang="en-US" sz="1150" dirty="0"/>
          </a:p>
        </p:txBody>
      </p:sp>
      <p:sp>
        <p:nvSpPr>
          <p:cNvPr id="8" name="Shape 6"/>
          <p:cNvSpPr/>
          <p:nvPr/>
        </p:nvSpPr>
        <p:spPr>
          <a:xfrm>
            <a:off x="3371850" y="1737360"/>
            <a:ext cx="2622042" cy="2651760"/>
          </a:xfrm>
          <a:prstGeom prst="roundRect">
            <a:avLst>
              <a:gd name="adj" fmla="val 4185"/>
            </a:avLst>
          </a:prstGeom>
          <a:solidFill>
            <a:srgbClr val="1F6F6B"/>
          </a:solidFill>
          <a:ln w="12700">
            <a:solidFill>
              <a:srgbClr val="1F6F6B"/>
            </a:solidFill>
            <a:prstDash val="solid"/>
          </a:ln>
        </p:spPr>
      </p:sp>
      <p:sp>
        <p:nvSpPr>
          <p:cNvPr id="9" name="Text 7"/>
          <p:cNvSpPr txBox="1"/>
          <p:nvPr/>
        </p:nvSpPr>
        <p:spPr>
          <a:xfrm>
            <a:off x="3600450" y="1938528"/>
            <a:ext cx="2164842" cy="256032"/>
          </a:xfrm>
          <a:prstGeom prst="rect">
            <a:avLst/>
          </a:prstGeom>
          <a:noFill/>
          <a:ln/>
        </p:spPr>
        <p:txBody>
          <a:bodyPr wrap="square" lIns="0" tIns="0" rIns="0" bIns="0" rtlCol="0" anchor="t"/>
          <a:lstStyle/>
          <a:p>
            <a:pPr indent="0" marL="0">
              <a:buNone/>
            </a:pPr>
            <a:r>
              <a:rPr lang="en-US" sz="1100" dirty="0">
                <a:solidFill>
                  <a:srgbClr val="9FE0D6"/>
                </a:solidFill>
                <a:latin typeface="Courier New" pitchFamily="34" charset="0"/>
                <a:ea typeface="Courier New" pitchFamily="34" charset="-122"/>
                <a:cs typeface="Courier New" pitchFamily="34" charset="-120"/>
              </a:rPr>
              <a:t>decision 3 · closed</a:t>
            </a:r>
            <a:endParaRPr lang="en-US" sz="1100" dirty="0"/>
          </a:p>
        </p:txBody>
      </p:sp>
      <p:sp>
        <p:nvSpPr>
          <p:cNvPr id="10" name="Text 8"/>
          <p:cNvSpPr txBox="1"/>
          <p:nvPr/>
        </p:nvSpPr>
        <p:spPr>
          <a:xfrm>
            <a:off x="3600450" y="2249424"/>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Approval inside a loop</a:t>
            </a:r>
            <a:endParaRPr lang="en-US" sz="1500" dirty="0"/>
          </a:p>
        </p:txBody>
      </p:sp>
      <p:sp>
        <p:nvSpPr>
          <p:cNvPr id="11" name="Text 9"/>
          <p:cNvSpPr txBox="1"/>
          <p:nvPr/>
        </p:nvSpPr>
        <p:spPr>
          <a:xfrm>
            <a:off x="3600450" y="2798064"/>
            <a:ext cx="2164842" cy="1408176"/>
          </a:xfrm>
          <a:prstGeom prst="rect">
            <a:avLst/>
          </a:prstGeom>
          <a:noFill/>
          <a:ln/>
        </p:spPr>
        <p:txBody>
          <a:bodyPr wrap="square" lIns="0" tIns="0" rIns="0" bIns="0" rtlCol="0" anchor="t"/>
          <a:lstStyle/>
          <a:p>
            <a:pPr indent="0" marL="0">
              <a:buNone/>
            </a:pPr>
            <a:r>
              <a:rPr lang="en-US" sz="1150" dirty="0">
                <a:solidFill>
                  <a:srgbClr val="D6EFEB"/>
                </a:solidFill>
                <a:latin typeface="Calibri" pitchFamily="34" charset="0"/>
                <a:ea typeface="Calibri" pitchFamily="34" charset="-122"/>
                <a:cs typeface="Calibri" pitchFamily="34" charset="-120"/>
              </a:rPr>
              <a:t>The guard that raised is gone. A suspension now records the loop it happened in and which iteration, and the approver identity and authority basis ride on the same record.</a:t>
            </a:r>
            <a:endParaRPr lang="en-US" sz="1150" dirty="0"/>
          </a:p>
        </p:txBody>
      </p:sp>
      <p:sp>
        <p:nvSpPr>
          <p:cNvPr id="12" name="Shape 10"/>
          <p:cNvSpPr/>
          <p:nvPr/>
        </p:nvSpPr>
        <p:spPr>
          <a:xfrm>
            <a:off x="6195060" y="1737360"/>
            <a:ext cx="2622042" cy="2651760"/>
          </a:xfrm>
          <a:prstGeom prst="roundRect">
            <a:avLst>
              <a:gd name="adj" fmla="val 4185"/>
            </a:avLst>
          </a:prstGeom>
          <a:solidFill>
            <a:srgbClr val="FFFFFF"/>
          </a:solidFill>
          <a:ln w="9525">
            <a:solidFill>
              <a:srgbClr val="E8C9AC"/>
            </a:solidFill>
            <a:prstDash val="solid"/>
          </a:ln>
        </p:spPr>
      </p:sp>
      <p:sp>
        <p:nvSpPr>
          <p:cNvPr id="13" name="Text 11"/>
          <p:cNvSpPr txBox="1"/>
          <p:nvPr/>
        </p:nvSpPr>
        <p:spPr>
          <a:xfrm>
            <a:off x="6423660" y="1938528"/>
            <a:ext cx="2164842" cy="256032"/>
          </a:xfrm>
          <a:prstGeom prst="rect">
            <a:avLst/>
          </a:prstGeom>
          <a:noFill/>
          <a:ln/>
        </p:spPr>
        <p:txBody>
          <a:bodyPr wrap="square" lIns="0" tIns="0" rIns="0" bIns="0" rtlCol="0" anchor="t"/>
          <a:lstStyle/>
          <a:p>
            <a:pPr indent="0" marL="0">
              <a:buNone/>
            </a:pPr>
            <a:r>
              <a:rPr lang="en-US" sz="1100" dirty="0">
                <a:solidFill>
                  <a:srgbClr val="C2703A"/>
                </a:solidFill>
                <a:latin typeface="Courier New" pitchFamily="34" charset="0"/>
                <a:ea typeface="Courier New" pitchFamily="34" charset="-122"/>
                <a:cs typeface="Courier New" pitchFamily="34" charset="-120"/>
              </a:rPr>
              <a:t>gap 2 · open</a:t>
            </a:r>
            <a:endParaRPr lang="en-US" sz="1100" dirty="0"/>
          </a:p>
        </p:txBody>
      </p:sp>
      <p:sp>
        <p:nvSpPr>
          <p:cNvPr id="14" name="Text 12"/>
          <p:cNvSpPr txBox="1"/>
          <p:nvPr/>
        </p:nvSpPr>
        <p:spPr>
          <a:xfrm>
            <a:off x="642366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LTV from an appraisal</a:t>
            </a:r>
            <a:endParaRPr lang="en-US" sz="1500" dirty="0"/>
          </a:p>
        </p:txBody>
      </p:sp>
      <p:sp>
        <p:nvSpPr>
          <p:cNvPr id="15" name="Text 13"/>
          <p:cNvSpPr txBox="1"/>
          <p:nvPr/>
        </p:nvSpPr>
        <p:spPr>
          <a:xfrm>
            <a:off x="6423660" y="2798064"/>
            <a:ext cx="2164842" cy="14081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LTV is the primary axis of all 78 cells and there is still no calculator. What exists is a generic ratio evaluator with LTV as a docstring example.</a:t>
            </a:r>
            <a:endParaRPr lang="en-US" sz="1150" dirty="0"/>
          </a:p>
        </p:txBody>
      </p:sp>
      <p:sp>
        <p:nvSpPr>
          <p:cNvPr id="16" name="Shape 14"/>
          <p:cNvSpPr/>
          <p:nvPr/>
        </p:nvSpPr>
        <p:spPr>
          <a:xfrm>
            <a:off x="9018270" y="1737360"/>
            <a:ext cx="2622042" cy="2651760"/>
          </a:xfrm>
          <a:prstGeom prst="roundRect">
            <a:avLst>
              <a:gd name="adj" fmla="val 4185"/>
            </a:avLst>
          </a:prstGeom>
          <a:solidFill>
            <a:srgbClr val="FFFFFF"/>
          </a:solidFill>
          <a:ln w="9525">
            <a:solidFill>
              <a:srgbClr val="E8C9AC"/>
            </a:solidFill>
            <a:prstDash val="solid"/>
          </a:ln>
        </p:spPr>
      </p:sp>
      <p:sp>
        <p:nvSpPr>
          <p:cNvPr id="17" name="Text 15"/>
          <p:cNvSpPr txBox="1"/>
          <p:nvPr/>
        </p:nvSpPr>
        <p:spPr>
          <a:xfrm>
            <a:off x="9246870" y="1938528"/>
            <a:ext cx="2164842" cy="256032"/>
          </a:xfrm>
          <a:prstGeom prst="rect">
            <a:avLst/>
          </a:prstGeom>
          <a:noFill/>
          <a:ln/>
        </p:spPr>
        <p:txBody>
          <a:bodyPr wrap="square" lIns="0" tIns="0" rIns="0" bIns="0" rtlCol="0" anchor="t"/>
          <a:lstStyle/>
          <a:p>
            <a:pPr indent="0" marL="0">
              <a:buNone/>
            </a:pPr>
            <a:r>
              <a:rPr lang="en-US" sz="1100" dirty="0">
                <a:solidFill>
                  <a:srgbClr val="C2703A"/>
                </a:solidFill>
                <a:latin typeface="Courier New" pitchFamily="34" charset="0"/>
                <a:ea typeface="Courier New" pitchFamily="34" charset="-122"/>
                <a:cs typeface="Courier New" pitchFamily="34" charset="-120"/>
              </a:rPr>
              <a:t>open, and smaller</a:t>
            </a:r>
            <a:endParaRPr lang="en-US" sz="1100" dirty="0"/>
          </a:p>
        </p:txBody>
      </p:sp>
      <p:sp>
        <p:nvSpPr>
          <p:cNvPr id="18" name="Text 16"/>
          <p:cNvSpPr txBox="1"/>
          <p:nvPr/>
        </p:nvSpPr>
        <p:spPr>
          <a:xfrm>
            <a:off x="924687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Content search over guidelines</a:t>
            </a:r>
            <a:endParaRPr lang="en-US" sz="1500" dirty="0"/>
          </a:p>
        </p:txBody>
      </p:sp>
      <p:sp>
        <p:nvSpPr>
          <p:cNvPr id="19" name="Text 17"/>
          <p:cNvSpPr txBox="1"/>
          <p:nvPr/>
        </p:nvSpPr>
        <p:spPr>
          <a:xfrm>
            <a:off x="9246870" y="2798064"/>
            <a:ext cx="2164842" cy="140817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Search on a docs source is still metadata-only and says so in its own docstring. Pre-indexing the grid as structured rules was always the better answer, and dscr_core now does that.</a:t>
            </a:r>
            <a:endParaRPr lang="en-US" sz="1150" dirty="0"/>
          </a:p>
        </p:txBody>
      </p:sp>
      <p:sp>
        <p:nvSpPr>
          <p:cNvPr id="20" name="Shape 18"/>
          <p:cNvSpPr/>
          <p:nvPr/>
        </p:nvSpPr>
        <p:spPr>
          <a:xfrm>
            <a:off x="548640" y="4572000"/>
            <a:ext cx="11091672" cy="1097280"/>
          </a:xfrm>
          <a:prstGeom prst="roundRect">
            <a:avLst>
              <a:gd name="adj" fmla="val 10000"/>
            </a:avLst>
          </a:prstGeom>
          <a:solidFill>
            <a:srgbClr val="121A24"/>
          </a:solidFill>
          <a:ln w="12700">
            <a:solidFill>
              <a:srgbClr val="121A24"/>
            </a:solidFill>
            <a:prstDash val="solid"/>
          </a:ln>
        </p:spPr>
      </p:sp>
      <p:sp>
        <p:nvSpPr>
          <p:cNvPr id="21" name="Text 19"/>
          <p:cNvSpPr txBox="1"/>
          <p:nvPr/>
        </p:nvSpPr>
        <p:spPr>
          <a:xfrm>
            <a:off x="822960" y="4709160"/>
            <a:ext cx="10543032" cy="868680"/>
          </a:xfrm>
          <a:prstGeom prst="rect">
            <a:avLst/>
          </a:prstGeom>
          <a:noFill/>
          <a:ln/>
        </p:spPr>
        <p:txBody>
          <a:bodyPr wrap="square" lIns="0" tIns="0" rIns="0" bIns="0" rtlCol="0" anchor="t"/>
          <a:lstStyle/>
          <a:p>
            <a:pPr indent="0" marL="0">
              <a:buNone/>
            </a:pPr>
            <a:r>
              <a:rPr lang="en-US" sz="1200" dirty="0">
                <a:solidFill>
                  <a:srgbClr val="BFD8D5"/>
                </a:solidFill>
                <a:latin typeface="Calibri" pitchFamily="34" charset="0"/>
                <a:ea typeface="Calibri" pitchFamily="34" charset="-122"/>
                <a:cs typeface="Calibri" pitchFamily="34" charset="-120"/>
              </a:rPr>
              <a:t>One thing to watch. Grid cells live in the profile's table bucket, which has no threshold record and no activation gate, so a cell skips the provenance and status discipline a scalar threshold gets. Seventy-eight numbers currently carry weaker governance than one.</a:t>
            </a:r>
            <a:endParaRPr lang="en-US" sz="1200" dirty="0"/>
          </a:p>
        </p:txBody>
      </p:sp>
      <p:sp>
        <p:nvSpPr>
          <p:cNvPr id="22" name="Text 20"/>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Checked against commit 5c59253 on 23 Sep. The audit these asks came from was written against 2.4.1.</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1672" cy="274320"/>
          </a:xfrm>
          <a:prstGeom prst="rect">
            <a:avLst/>
          </a:prstGeom>
          <a:noFill/>
          <a:ln/>
        </p:spPr>
        <p:txBody>
          <a:bodyPr wrap="square" lIns="0" tIns="0" rIns="0" bIns="0" rtlCol="0" anchor="t"/>
          <a:lstStyle/>
          <a:p>
            <a:pPr indent="0" marL="0">
              <a:buNone/>
            </a:pPr>
            <a:r>
              <a:rPr lang="en-US" sz="1100" spc="200" kern="0" dirty="0">
                <a:solidFill>
                  <a:srgbClr val="C2703A"/>
                </a:solidFill>
                <a:latin typeface="Courier New" pitchFamily="34" charset="0"/>
                <a:ea typeface="Courier New" pitchFamily="34" charset="-122"/>
                <a:cs typeface="Courier New" pitchFamily="34" charset="-120"/>
              </a:rPr>
              <a:t>DEMO</a:t>
            </a:r>
            <a:endParaRPr lang="en-US" sz="1100" dirty="0"/>
          </a:p>
        </p:txBody>
      </p:sp>
      <p:sp>
        <p:nvSpPr>
          <p:cNvPr id="3" name="Text 1"/>
          <p:cNvSpPr txBox="1"/>
          <p:nvPr/>
        </p:nvSpPr>
        <p:spPr>
          <a:xfrm>
            <a:off x="548640" y="7772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Demo: Acra program summary to assessment</a:t>
            </a:r>
            <a:endParaRPr lang="en-US" sz="3000" dirty="0"/>
          </a:p>
        </p:txBody>
      </p:sp>
      <p:sp>
        <p:nvSpPr>
          <p:cNvPr id="4" name="Shape 2"/>
          <p:cNvSpPr/>
          <p:nvPr/>
        </p:nvSpPr>
        <p:spPr>
          <a:xfrm>
            <a:off x="548640" y="1737360"/>
            <a:ext cx="2622042" cy="2377440"/>
          </a:xfrm>
          <a:prstGeom prst="roundRect">
            <a:avLst>
              <a:gd name="adj" fmla="val 4615"/>
            </a:avLst>
          </a:prstGeom>
          <a:solidFill>
            <a:srgbClr val="F7F7F3"/>
          </a:solidFill>
          <a:ln w="9525">
            <a:solidFill>
              <a:srgbClr val="DDDED6"/>
            </a:solidFill>
            <a:prstDash val="solid"/>
          </a:ln>
        </p:spPr>
      </p:sp>
      <p:sp>
        <p:nvSpPr>
          <p:cNvPr id="5" name="Text 3"/>
          <p:cNvSpPr txBox="1"/>
          <p:nvPr/>
        </p:nvSpPr>
        <p:spPr>
          <a:xfrm>
            <a:off x="777240" y="1938528"/>
            <a:ext cx="2164842"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01 · the source</a:t>
            </a:r>
            <a:endParaRPr lang="en-US" sz="1100" dirty="0"/>
          </a:p>
        </p:txBody>
      </p:sp>
      <p:sp>
        <p:nvSpPr>
          <p:cNvPr id="6" name="Text 4"/>
          <p:cNvSpPr txBox="1"/>
          <p:nvPr/>
        </p:nvSpPr>
        <p:spPr>
          <a:xfrm>
            <a:off x="77724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One PDF, version 6.15.2026</a:t>
            </a:r>
            <a:endParaRPr lang="en-US" sz="1500" dirty="0"/>
          </a:p>
        </p:txBody>
      </p:sp>
      <p:sp>
        <p:nvSpPr>
          <p:cNvPr id="7" name="Text 5"/>
          <p:cNvSpPr txBox="1"/>
          <p:nvPr/>
        </p:nvSpPr>
        <p:spPr>
          <a:xfrm>
            <a:off x="777240" y="2798064"/>
            <a:ext cx="2164842" cy="113385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The DSCR Program Summary. Already versioned, already numeric. The cheapest kind of policy corpus there is.</a:t>
            </a:r>
            <a:endParaRPr lang="en-US" sz="1150" dirty="0"/>
          </a:p>
        </p:txBody>
      </p:sp>
      <p:sp>
        <p:nvSpPr>
          <p:cNvPr id="8" name="Shape 6"/>
          <p:cNvSpPr/>
          <p:nvPr/>
        </p:nvSpPr>
        <p:spPr>
          <a:xfrm>
            <a:off x="3371850" y="1737360"/>
            <a:ext cx="2622042" cy="2377440"/>
          </a:xfrm>
          <a:prstGeom prst="roundRect">
            <a:avLst>
              <a:gd name="adj" fmla="val 4615"/>
            </a:avLst>
          </a:prstGeom>
          <a:solidFill>
            <a:srgbClr val="F7F7F3"/>
          </a:solidFill>
          <a:ln w="9525">
            <a:solidFill>
              <a:srgbClr val="DDDED6"/>
            </a:solidFill>
            <a:prstDash val="solid"/>
          </a:ln>
        </p:spPr>
      </p:sp>
      <p:sp>
        <p:nvSpPr>
          <p:cNvPr id="9" name="Text 7"/>
          <p:cNvSpPr txBox="1"/>
          <p:nvPr/>
        </p:nvSpPr>
        <p:spPr>
          <a:xfrm>
            <a:off x="3600450" y="1938528"/>
            <a:ext cx="2164842"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02 · the pack</a:t>
            </a:r>
            <a:endParaRPr lang="en-US" sz="1100" dirty="0"/>
          </a:p>
        </p:txBody>
      </p:sp>
      <p:sp>
        <p:nvSpPr>
          <p:cNvPr id="10" name="Text 8"/>
          <p:cNvSpPr txBox="1"/>
          <p:nvPr/>
        </p:nvSpPr>
        <p:spPr>
          <a:xfrm>
            <a:off x="360045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Three policy files, one profile</a:t>
            </a:r>
            <a:endParaRPr lang="en-US" sz="1500" dirty="0"/>
          </a:p>
        </p:txBody>
      </p:sp>
      <p:sp>
        <p:nvSpPr>
          <p:cNvPr id="11" name="Text 9"/>
          <p:cNvSpPr txBox="1"/>
          <p:nvPr/>
        </p:nvSpPr>
        <p:spPr>
          <a:xfrm>
            <a:off x="3600450" y="2798064"/>
            <a:ext cx="2164842" cy="113385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Standard, Platinum Select, process gates. Rules cite the source; numbers sit in the profile's tables. Open it on the Packs page of the running replica.</a:t>
            </a:r>
            <a:endParaRPr lang="en-US" sz="1150" dirty="0"/>
          </a:p>
        </p:txBody>
      </p:sp>
      <p:sp>
        <p:nvSpPr>
          <p:cNvPr id="12" name="Shape 10"/>
          <p:cNvSpPr/>
          <p:nvPr/>
        </p:nvSpPr>
        <p:spPr>
          <a:xfrm>
            <a:off x="6195060" y="1737360"/>
            <a:ext cx="2622042" cy="2377440"/>
          </a:xfrm>
          <a:prstGeom prst="roundRect">
            <a:avLst>
              <a:gd name="adj" fmla="val 4615"/>
            </a:avLst>
          </a:prstGeom>
          <a:solidFill>
            <a:srgbClr val="F7F7F3"/>
          </a:solidFill>
          <a:ln w="9525">
            <a:solidFill>
              <a:srgbClr val="DDDED6"/>
            </a:solidFill>
            <a:prstDash val="solid"/>
          </a:ln>
        </p:spPr>
      </p:sp>
      <p:sp>
        <p:nvSpPr>
          <p:cNvPr id="13" name="Text 11"/>
          <p:cNvSpPr txBox="1"/>
          <p:nvPr/>
        </p:nvSpPr>
        <p:spPr>
          <a:xfrm>
            <a:off x="6423660" y="1938528"/>
            <a:ext cx="2164842" cy="256032"/>
          </a:xfrm>
          <a:prstGeom prst="rect">
            <a:avLst/>
          </a:prstGeom>
          <a:noFill/>
          <a:ln/>
        </p:spPr>
        <p:txBody>
          <a:bodyPr wrap="square" lIns="0" tIns="0" rIns="0" bIns="0" rtlCol="0" anchor="t"/>
          <a:lstStyle/>
          <a:p>
            <a:pPr indent="0" marL="0">
              <a:buNone/>
            </a:pPr>
            <a:r>
              <a:rPr lang="en-US" sz="1100" dirty="0">
                <a:solidFill>
                  <a:srgbClr val="1F6F6B"/>
                </a:solidFill>
                <a:latin typeface="Courier New" pitchFamily="34" charset="0"/>
                <a:ea typeface="Courier New" pitchFamily="34" charset="-122"/>
                <a:cs typeface="Courier New" pitchFamily="34" charset="-120"/>
              </a:rPr>
              <a:t>03 · a loan</a:t>
            </a:r>
            <a:endParaRPr lang="en-US" sz="1100" dirty="0"/>
          </a:p>
        </p:txBody>
      </p:sp>
      <p:sp>
        <p:nvSpPr>
          <p:cNvPr id="14" name="Text 12"/>
          <p:cNvSpPr txBox="1"/>
          <p:nvPr/>
        </p:nvSpPr>
        <p:spPr>
          <a:xfrm>
            <a:off x="6423660" y="2249424"/>
            <a:ext cx="2164842" cy="50292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Five gold cases from jaci</a:t>
            </a:r>
            <a:endParaRPr lang="en-US" sz="1500" dirty="0"/>
          </a:p>
        </p:txBody>
      </p:sp>
      <p:sp>
        <p:nvSpPr>
          <p:cNvPr id="15" name="Text 13"/>
          <p:cNvSpPr txBox="1"/>
          <p:nvPr/>
        </p:nvSpPr>
        <p:spPr>
          <a:xfrm>
            <a:off x="6423660" y="2798064"/>
            <a:ext cx="2164842" cy="1133856"/>
          </a:xfrm>
          <a:prstGeom prst="rect">
            <a:avLst/>
          </a:prstGeom>
          <a:noFill/>
          <a:ln/>
        </p:spPr>
        <p:txBody>
          <a:bodyPr wrap="square" lIns="0" tIns="0" rIns="0" bIns="0" rtlCol="0" anchor="t"/>
          <a:lstStyle/>
          <a:p>
            <a:pPr indent="0" marL="0">
              <a:buNone/>
            </a:pPr>
            <a:r>
              <a:rPr lang="en-US" sz="1150" dirty="0">
                <a:solidFill>
                  <a:srgbClr val="47525E"/>
                </a:solidFill>
                <a:latin typeface="Calibri" pitchFamily="34" charset="0"/>
                <a:ea typeface="Calibri" pitchFamily="34" charset="-122"/>
                <a:cs typeface="Calibri" pitchFamily="34" charset="-120"/>
              </a:rPr>
              <a:t>clean_pass, band_boundary, double_cap, na_cell, sub_1_dscr_cashout. Each names the cap that should bind and the rules that should fire.</a:t>
            </a:r>
            <a:endParaRPr lang="en-US" sz="1150" dirty="0"/>
          </a:p>
        </p:txBody>
      </p:sp>
      <p:sp>
        <p:nvSpPr>
          <p:cNvPr id="16" name="Shape 14"/>
          <p:cNvSpPr/>
          <p:nvPr/>
        </p:nvSpPr>
        <p:spPr>
          <a:xfrm>
            <a:off x="9018270" y="1737360"/>
            <a:ext cx="2622042" cy="2377440"/>
          </a:xfrm>
          <a:prstGeom prst="roundRect">
            <a:avLst>
              <a:gd name="adj" fmla="val 4615"/>
            </a:avLst>
          </a:prstGeom>
          <a:solidFill>
            <a:srgbClr val="121A24"/>
          </a:solidFill>
          <a:ln w="12700">
            <a:solidFill>
              <a:srgbClr val="121A24"/>
            </a:solidFill>
            <a:prstDash val="solid"/>
          </a:ln>
        </p:spPr>
      </p:sp>
      <p:sp>
        <p:nvSpPr>
          <p:cNvPr id="17" name="Text 15"/>
          <p:cNvSpPr txBox="1"/>
          <p:nvPr/>
        </p:nvSpPr>
        <p:spPr>
          <a:xfrm>
            <a:off x="9246870" y="1938528"/>
            <a:ext cx="2164842" cy="256032"/>
          </a:xfrm>
          <a:prstGeom prst="rect">
            <a:avLst/>
          </a:prstGeom>
          <a:noFill/>
          <a:ln/>
        </p:spPr>
        <p:txBody>
          <a:bodyPr wrap="square" lIns="0" tIns="0" rIns="0" bIns="0" rtlCol="0" anchor="t"/>
          <a:lstStyle/>
          <a:p>
            <a:pPr indent="0" marL="0">
              <a:buNone/>
            </a:pPr>
            <a:r>
              <a:rPr lang="en-US" sz="1100" dirty="0">
                <a:solidFill>
                  <a:srgbClr val="5FBFB3"/>
                </a:solidFill>
                <a:latin typeface="Courier New" pitchFamily="34" charset="0"/>
                <a:ea typeface="Courier New" pitchFamily="34" charset="-122"/>
                <a:cs typeface="Courier New" pitchFamily="34" charset="-120"/>
              </a:rPr>
              <a:t>04 · the verdict</a:t>
            </a:r>
            <a:endParaRPr lang="en-US" sz="1100" dirty="0"/>
          </a:p>
        </p:txBody>
      </p:sp>
      <p:sp>
        <p:nvSpPr>
          <p:cNvPr id="18" name="Text 16"/>
          <p:cNvSpPr txBox="1"/>
          <p:nvPr/>
        </p:nvSpPr>
        <p:spPr>
          <a:xfrm>
            <a:off x="9246870" y="2249424"/>
            <a:ext cx="216484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POST packs/dscr-core/assess</a:t>
            </a:r>
            <a:endParaRPr lang="en-US" sz="1500" dirty="0"/>
          </a:p>
        </p:txBody>
      </p:sp>
      <p:sp>
        <p:nvSpPr>
          <p:cNvPr id="19" name="Text 17"/>
          <p:cNvSpPr txBox="1"/>
          <p:nvPr/>
        </p:nvSpPr>
        <p:spPr>
          <a:xfrm>
            <a:off x="9246870" y="2798064"/>
            <a:ext cx="2164842" cy="1133856"/>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Over HTTP, against the tenant's active version. Allowed or not, derived CLTV, the binding cap and rule, every violation with its citation, and what could not be derived.</a:t>
            </a:r>
            <a:endParaRPr lang="en-US" sz="1150" dirty="0"/>
          </a:p>
        </p:txBody>
      </p:sp>
      <p:sp>
        <p:nvSpPr>
          <p:cNvPr id="20" name="Shape 18"/>
          <p:cNvSpPr/>
          <p:nvPr/>
        </p:nvSpPr>
        <p:spPr>
          <a:xfrm>
            <a:off x="548640" y="4297680"/>
            <a:ext cx="11091672" cy="960120"/>
          </a:xfrm>
          <a:prstGeom prst="roundRect">
            <a:avLst>
              <a:gd name="adj" fmla="val 11429"/>
            </a:avLst>
          </a:prstGeom>
          <a:solidFill>
            <a:srgbClr val="121A24"/>
          </a:solidFill>
          <a:ln w="12700">
            <a:solidFill>
              <a:srgbClr val="121A24"/>
            </a:solidFill>
            <a:prstDash val="solid"/>
          </a:ln>
        </p:spPr>
      </p:sp>
      <p:sp>
        <p:nvSpPr>
          <p:cNvPr id="21" name="Text 19"/>
          <p:cNvSpPr txBox="1"/>
          <p:nvPr/>
        </p:nvSpPr>
        <p:spPr>
          <a:xfrm>
            <a:off x="822960" y="4434840"/>
            <a:ext cx="10543032" cy="731520"/>
          </a:xfrm>
          <a:prstGeom prst="rect">
            <a:avLst/>
          </a:prstGeom>
          <a:noFill/>
          <a:ln/>
        </p:spPr>
        <p:txBody>
          <a:bodyPr wrap="square" lIns="0" tIns="0" rIns="0" bIns="0" rtlCol="0" anchor="t"/>
          <a:lstStyle/>
          <a:p>
            <a:pPr indent="0" marL="0">
              <a:buNone/>
            </a:pPr>
            <a:r>
              <a:rPr lang="en-US" sz="1050" dirty="0">
                <a:solidFill>
                  <a:srgbClr val="BFD8D5"/>
                </a:solidFill>
                <a:latin typeface="Courier New" pitchFamily="34" charset="0"/>
                <a:ea typeface="Courier New" pitchFamily="34" charset="-122"/>
                <a:cs typeface="Courier New" pitchFamily="34" charset="-120"/>
              </a:rPr>
              <a:t>curl -X POST -H "X-Tenant-Id: $T" -d @na_cell.json localhost:8000/api/v1/packs/dscr-core/assess</a:t>
            </a:r>
            <a:endParaRPr lang="en-US" sz="1050" dirty="0"/>
          </a:p>
          <a:p>
            <a:pPr indent="0" marL="0">
              <a:buNone/>
            </a:pPr>
            <a:r>
              <a:rPr lang="en-US" sz="1050" dirty="0">
                <a:solidFill>
                  <a:srgbClr val="BFD8D5"/>
                </a:solidFill>
                <a:latin typeface="Courier New" pitchFamily="34" charset="0"/>
                <a:ea typeface="Courier New" pitchFamily="34" charset="-122"/>
                <a:cs typeface="Courier New" pitchFamily="34" charset="-120"/>
              </a:rPr>
              <a:t>allowed → false    caps.binding_rule_id → "DSCR-ELIG-CLTV-GRID"    violations → [{rule_id, citations, inputs}, …]    underivable → {…}</a:t>
            </a:r>
            <a:endParaRPr lang="en-US" sz="1050" dirty="0"/>
          </a:p>
        </p:txBody>
      </p:sp>
      <p:sp>
        <p:nvSpPr>
          <p:cNvPr id="22" name="Text 20"/>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What it did not take: a scenario, a conductor subclass, a mode, a line of Python in the pack. What it still takes: the Byte adapter, the LTV calculator, and the six role bindings.</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Service boundary: guarantees and enforcement</a:t>
            </a:r>
            <a:endParaRPr lang="en-US" sz="3000" dirty="0"/>
          </a:p>
        </p:txBody>
      </p:sp>
      <p:sp>
        <p:nvSpPr>
          <p:cNvPr id="3" name="Shape 1"/>
          <p:cNvSpPr/>
          <p:nvPr/>
        </p:nvSpPr>
        <p:spPr>
          <a:xfrm>
            <a:off x="548640" y="1554480"/>
            <a:ext cx="5440680" cy="1325880"/>
          </a:xfrm>
          <a:prstGeom prst="roundRect">
            <a:avLst>
              <a:gd name="adj" fmla="val 8276"/>
            </a:avLst>
          </a:prstGeom>
          <a:solidFill>
            <a:srgbClr val="F7F7F3"/>
          </a:solidFill>
          <a:ln w="12700">
            <a:solidFill>
              <a:srgbClr val="F7F7F3"/>
            </a:solidFill>
            <a:prstDash val="solid"/>
          </a:ln>
        </p:spPr>
      </p:sp>
      <p:sp>
        <p:nvSpPr>
          <p:cNvPr id="4" name="Text 2"/>
          <p:cNvSpPr txBox="1"/>
          <p:nvPr/>
        </p:nvSpPr>
        <p:spPr>
          <a:xfrm>
            <a:off x="777240" y="1737360"/>
            <a:ext cx="4983480" cy="36576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Tenancy in every key</a:t>
            </a:r>
            <a:endParaRPr lang="en-US" sz="1500" dirty="0"/>
          </a:p>
        </p:txBody>
      </p:sp>
      <p:sp>
        <p:nvSpPr>
          <p:cNvPr id="5" name="Text 3"/>
          <p:cNvSpPr txBox="1"/>
          <p:nvPr/>
        </p:nvSpPr>
        <p:spPr>
          <a:xfrm>
            <a:off x="777240" y="2103120"/>
            <a:ext cx="4983480" cy="731520"/>
          </a:xfrm>
          <a:prstGeom prst="rect">
            <a:avLst/>
          </a:prstGeom>
          <a:noFill/>
          <a:ln/>
        </p:spPr>
        <p:txBody>
          <a:bodyPr wrap="square" lIns="0" tIns="0" rIns="0" bIns="0" rtlCol="0" anchor="t"/>
          <a:lstStyle/>
          <a:p>
            <a:pPr indent="0" marL="0">
              <a:buNone/>
            </a:pPr>
            <a:r>
              <a:rPr lang="en-US" sz="1100" dirty="0">
                <a:solidFill>
                  <a:srgbClr val="47525E"/>
                </a:solidFill>
                <a:latin typeface="Calibri" pitchFamily="34" charset="0"/>
                <a:ea typeface="Calibri" pitchFamily="34" charset="-122"/>
                <a:cs typeface="Calibri" pitchFamily="34" charset="-120"/>
              </a:rPr>
              <a:t>A deployed request with no X-Tenant-Id is refused outright. Serving it as an arbitrary tenant would be a cross-tenant read.</a:t>
            </a:r>
            <a:endParaRPr lang="en-US" sz="1100" dirty="0"/>
          </a:p>
        </p:txBody>
      </p:sp>
      <p:sp>
        <p:nvSpPr>
          <p:cNvPr id="6" name="Shape 4"/>
          <p:cNvSpPr/>
          <p:nvPr/>
        </p:nvSpPr>
        <p:spPr>
          <a:xfrm>
            <a:off x="548640" y="3291840"/>
            <a:ext cx="5440680" cy="1325880"/>
          </a:xfrm>
          <a:prstGeom prst="roundRect">
            <a:avLst>
              <a:gd name="adj" fmla="val 8276"/>
            </a:avLst>
          </a:prstGeom>
          <a:solidFill>
            <a:srgbClr val="F7F7F3"/>
          </a:solidFill>
          <a:ln w="12700">
            <a:solidFill>
              <a:srgbClr val="F7F7F3"/>
            </a:solidFill>
            <a:prstDash val="solid"/>
          </a:ln>
        </p:spPr>
      </p:sp>
      <p:sp>
        <p:nvSpPr>
          <p:cNvPr id="7" name="Text 5"/>
          <p:cNvSpPr txBox="1"/>
          <p:nvPr/>
        </p:nvSpPr>
        <p:spPr>
          <a:xfrm>
            <a:off x="777240" y="3474720"/>
            <a:ext cx="4983480" cy="36576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Identity required in strict posture</a:t>
            </a:r>
            <a:endParaRPr lang="en-US" sz="1500" dirty="0"/>
          </a:p>
        </p:txBody>
      </p:sp>
      <p:sp>
        <p:nvSpPr>
          <p:cNvPr id="8" name="Text 6"/>
          <p:cNvSpPr txBox="1"/>
          <p:nvPr/>
        </p:nvSpPr>
        <p:spPr>
          <a:xfrm>
            <a:off x="777240" y="3840480"/>
            <a:ext cx="4983480" cy="731520"/>
          </a:xfrm>
          <a:prstGeom prst="rect">
            <a:avLst/>
          </a:prstGeom>
          <a:noFill/>
          <a:ln/>
        </p:spPr>
        <p:txBody>
          <a:bodyPr wrap="square" lIns="0" tIns="0" rIns="0" bIns="0" rtlCol="0" anchor="t"/>
          <a:lstStyle/>
          <a:p>
            <a:pPr indent="0" marL="0">
              <a:buNone/>
            </a:pPr>
            <a:r>
              <a:rPr lang="en-US" sz="1100" dirty="0">
                <a:solidFill>
                  <a:srgbClr val="47525E"/>
                </a:solidFill>
                <a:latin typeface="Calibri" pitchFamily="34" charset="0"/>
                <a:ea typeface="Calibri" pitchFamily="34" charset="-122"/>
                <a:cs typeface="Calibri" pitchFamily="34" charset="-120"/>
              </a:rPr>
              <a:t>The SDK leaves it off by default because that is a per-deployment call. Plato refuses to boot in a strict posture with it off, which is a call a deployable gets to make.</a:t>
            </a:r>
            <a:endParaRPr lang="en-US" sz="1100" dirty="0"/>
          </a:p>
        </p:txBody>
      </p:sp>
      <p:sp>
        <p:nvSpPr>
          <p:cNvPr id="9" name="Shape 7"/>
          <p:cNvSpPr/>
          <p:nvPr/>
        </p:nvSpPr>
        <p:spPr>
          <a:xfrm>
            <a:off x="6199632" y="1554480"/>
            <a:ext cx="5440680" cy="1325880"/>
          </a:xfrm>
          <a:prstGeom prst="roundRect">
            <a:avLst>
              <a:gd name="adj" fmla="val 8276"/>
            </a:avLst>
          </a:prstGeom>
          <a:solidFill>
            <a:srgbClr val="F7F7F3"/>
          </a:solidFill>
          <a:ln w="12700">
            <a:solidFill>
              <a:srgbClr val="F7F7F3"/>
            </a:solidFill>
            <a:prstDash val="solid"/>
          </a:ln>
        </p:spPr>
      </p:sp>
      <p:sp>
        <p:nvSpPr>
          <p:cNvPr id="10" name="Text 8"/>
          <p:cNvSpPr txBox="1"/>
          <p:nvPr/>
        </p:nvSpPr>
        <p:spPr>
          <a:xfrm>
            <a:off x="6428232" y="1737360"/>
            <a:ext cx="4983480" cy="36576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Boot failures are refusals</a:t>
            </a:r>
            <a:endParaRPr lang="en-US" sz="1500" dirty="0"/>
          </a:p>
        </p:txBody>
      </p:sp>
      <p:sp>
        <p:nvSpPr>
          <p:cNvPr id="11" name="Text 9"/>
          <p:cNvSpPr txBox="1"/>
          <p:nvPr/>
        </p:nvSpPr>
        <p:spPr>
          <a:xfrm>
            <a:off x="6428232" y="2103120"/>
            <a:ext cx="4983480" cy="731520"/>
          </a:xfrm>
          <a:prstGeom prst="rect">
            <a:avLst/>
          </a:prstGeom>
          <a:noFill/>
          <a:ln/>
        </p:spPr>
        <p:txBody>
          <a:bodyPr wrap="square" lIns="0" tIns="0" rIns="0" bIns="0" rtlCol="0" anchor="t"/>
          <a:lstStyle/>
          <a:p>
            <a:pPr indent="0" marL="0">
              <a:buNone/>
            </a:pPr>
            <a:r>
              <a:rPr lang="en-US" sz="1100" dirty="0">
                <a:solidFill>
                  <a:srgbClr val="47525E"/>
                </a:solidFill>
                <a:latin typeface="Calibri" pitchFamily="34" charset="0"/>
                <a:ea typeface="Calibri" pitchFamily="34" charset="-122"/>
                <a:cs typeface="Calibri" pitchFamily="34" charset="-120"/>
              </a:rPr>
              <a:t>Wrong schema revision, missing wiring, unresolvable role: the container exits rather than taking traffic while looking healthy.</a:t>
            </a:r>
            <a:endParaRPr lang="en-US" sz="1100" dirty="0"/>
          </a:p>
        </p:txBody>
      </p:sp>
      <p:sp>
        <p:nvSpPr>
          <p:cNvPr id="12" name="Shape 10"/>
          <p:cNvSpPr/>
          <p:nvPr/>
        </p:nvSpPr>
        <p:spPr>
          <a:xfrm>
            <a:off x="6199632" y="3291840"/>
            <a:ext cx="5440680" cy="1325880"/>
          </a:xfrm>
          <a:prstGeom prst="roundRect">
            <a:avLst>
              <a:gd name="adj" fmla="val 8276"/>
            </a:avLst>
          </a:prstGeom>
          <a:solidFill>
            <a:srgbClr val="F7F7F3"/>
          </a:solidFill>
          <a:ln w="12700">
            <a:solidFill>
              <a:srgbClr val="F7F7F3"/>
            </a:solidFill>
            <a:prstDash val="solid"/>
          </a:ln>
        </p:spPr>
      </p:sp>
      <p:sp>
        <p:nvSpPr>
          <p:cNvPr id="13" name="Text 11"/>
          <p:cNvSpPr txBox="1"/>
          <p:nvPr/>
        </p:nvSpPr>
        <p:spPr>
          <a:xfrm>
            <a:off x="6428232" y="3474720"/>
            <a:ext cx="4983480" cy="365760"/>
          </a:xfrm>
          <a:prstGeom prst="rect">
            <a:avLst/>
          </a:prstGeom>
          <a:noFill/>
          <a:ln/>
        </p:spPr>
        <p:txBody>
          <a:bodyPr wrap="square" lIns="0" tIns="0" rIns="0" bIns="0" rtlCol="0" anchor="t"/>
          <a:lstStyle/>
          <a:p>
            <a:pPr indent="0" marL="0">
              <a:buNone/>
            </a:pPr>
            <a:r>
              <a:rPr lang="en-US" sz="1500" b="1" dirty="0">
                <a:solidFill>
                  <a:srgbClr val="121A24"/>
                </a:solidFill>
                <a:latin typeface="Calibri" pitchFamily="34" charset="0"/>
                <a:ea typeface="Calibri" pitchFamily="34" charset="-122"/>
                <a:cs typeface="Calibri" pitchFamily="34" charset="-120"/>
              </a:rPr>
              <a:t>Configuration from rows, not constants</a:t>
            </a:r>
            <a:endParaRPr lang="en-US" sz="1500" dirty="0"/>
          </a:p>
        </p:txBody>
      </p:sp>
      <p:sp>
        <p:nvSpPr>
          <p:cNvPr id="14" name="Text 12"/>
          <p:cNvSpPr txBox="1"/>
          <p:nvPr/>
        </p:nvSpPr>
        <p:spPr>
          <a:xfrm>
            <a:off x="6428232" y="3840480"/>
            <a:ext cx="4983480" cy="731520"/>
          </a:xfrm>
          <a:prstGeom prst="rect">
            <a:avLst/>
          </a:prstGeom>
          <a:noFill/>
          <a:ln/>
        </p:spPr>
        <p:txBody>
          <a:bodyPr wrap="square" lIns="0" tIns="0" rIns="0" bIns="0" rtlCol="0" anchor="t"/>
          <a:lstStyle/>
          <a:p>
            <a:pPr indent="0" marL="0">
              <a:buNone/>
            </a:pPr>
            <a:r>
              <a:rPr lang="en-US" sz="1100" dirty="0">
                <a:solidFill>
                  <a:srgbClr val="47525E"/>
                </a:solidFill>
                <a:latin typeface="Calibri" pitchFamily="34" charset="0"/>
                <a:ea typeface="Calibri" pitchFamily="34" charset="-122"/>
                <a:cs typeface="Calibri" pitchFamily="34" charset="-120"/>
              </a:rPr>
              <a:t>The review question for anything Plato serves is which row it came from. Nothing product-shaped is hard-coded inside the service.</a:t>
            </a:r>
            <a:endParaRPr lang="en-US" sz="1100" dirty="0"/>
          </a:p>
        </p:txBody>
      </p:sp>
      <p:sp>
        <p:nvSpPr>
          <p:cNvPr id="15" name="Shape 13"/>
          <p:cNvSpPr/>
          <p:nvPr/>
        </p:nvSpPr>
        <p:spPr>
          <a:xfrm>
            <a:off x="548640" y="4754880"/>
            <a:ext cx="3544824" cy="960120"/>
          </a:xfrm>
          <a:prstGeom prst="roundRect">
            <a:avLst>
              <a:gd name="adj" fmla="val 11429"/>
            </a:avLst>
          </a:prstGeom>
          <a:solidFill>
            <a:srgbClr val="121A24"/>
          </a:solidFill>
          <a:ln w="12700">
            <a:solidFill>
              <a:srgbClr val="121A24"/>
            </a:solidFill>
            <a:prstDash val="solid"/>
          </a:ln>
        </p:spPr>
      </p:sp>
      <p:sp>
        <p:nvSpPr>
          <p:cNvPr id="16" name="Text 14"/>
          <p:cNvSpPr txBox="1"/>
          <p:nvPr/>
        </p:nvSpPr>
        <p:spPr>
          <a:xfrm>
            <a:off x="731520" y="4864608"/>
            <a:ext cx="3179064" cy="731520"/>
          </a:xfrm>
          <a:prstGeom prst="rect">
            <a:avLst/>
          </a:prstGeom>
          <a:noFill/>
          <a:ln/>
        </p:spPr>
        <p:txBody>
          <a:bodyPr wrap="square" lIns="0" tIns="0" rIns="0" bIns="0" rtlCol="0" anchor="t"/>
          <a:lstStyle/>
          <a:p>
            <a:pPr indent="0" marL="0">
              <a:buNone/>
            </a:pPr>
            <a:r>
              <a:rPr lang="en-US" sz="1100" b="1" dirty="0">
                <a:solidFill>
                  <a:srgbClr val="F7F7F3"/>
                </a:solidFill>
                <a:latin typeface="Calibri" pitchFamily="34" charset="0"/>
                <a:ea typeface="Calibri" pitchFamily="34" charset="-122"/>
                <a:cs typeface="Calibri" pitchFamily="34" charset="-120"/>
              </a:rPr>
              <a:t>One direction. </a:t>
            </a:r>
            <a:pPr indent="0" marL="0">
              <a:buNone/>
            </a:pPr>
            <a:r>
              <a:rPr lang="en-US" sz="1100" dirty="0">
                <a:solidFill>
                  <a:srgbClr val="F7F7F3"/>
                </a:solidFill>
                <a:latin typeface="Calibri" pitchFamily="34" charset="0"/>
                <a:ea typeface="Calibri" pitchFamily="34" charset="-122"/>
                <a:cs typeface="Calibri" pitchFamily="34" charset="-120"/>
              </a:rPr>
              <a:t>Plato imports the SDK; the SDK never imports Plato. An import linter in CI fails the PR.</a:t>
            </a:r>
            <a:endParaRPr lang="en-US" sz="1100" dirty="0"/>
          </a:p>
        </p:txBody>
      </p:sp>
      <p:sp>
        <p:nvSpPr>
          <p:cNvPr id="17" name="Shape 15"/>
          <p:cNvSpPr/>
          <p:nvPr/>
        </p:nvSpPr>
        <p:spPr>
          <a:xfrm>
            <a:off x="4322064" y="4754880"/>
            <a:ext cx="3544824" cy="960120"/>
          </a:xfrm>
          <a:prstGeom prst="roundRect">
            <a:avLst>
              <a:gd name="adj" fmla="val 11429"/>
            </a:avLst>
          </a:prstGeom>
          <a:solidFill>
            <a:srgbClr val="121A24"/>
          </a:solidFill>
          <a:ln w="12700">
            <a:solidFill>
              <a:srgbClr val="121A24"/>
            </a:solidFill>
            <a:prstDash val="solid"/>
          </a:ln>
        </p:spPr>
      </p:sp>
      <p:sp>
        <p:nvSpPr>
          <p:cNvPr id="18" name="Text 16"/>
          <p:cNvSpPr txBox="1"/>
          <p:nvPr/>
        </p:nvSpPr>
        <p:spPr>
          <a:xfrm>
            <a:off x="4504944" y="4864608"/>
            <a:ext cx="3179064" cy="731520"/>
          </a:xfrm>
          <a:prstGeom prst="rect">
            <a:avLst/>
          </a:prstGeom>
          <a:noFill/>
          <a:ln/>
        </p:spPr>
        <p:txBody>
          <a:bodyPr wrap="square" lIns="0" tIns="0" rIns="0" bIns="0" rtlCol="0" anchor="t"/>
          <a:lstStyle/>
          <a:p>
            <a:pPr indent="0" marL="0">
              <a:buNone/>
            </a:pPr>
            <a:r>
              <a:rPr lang="en-US" sz="1100" b="1" dirty="0">
                <a:solidFill>
                  <a:srgbClr val="F7F7F3"/>
                </a:solidFill>
                <a:latin typeface="Calibri" pitchFamily="34" charset="0"/>
                <a:ea typeface="Calibri" pitchFamily="34" charset="-122"/>
                <a:cs typeface="Calibri" pitchFamily="34" charset="-120"/>
              </a:rPr>
              <a:t>Two clocks. </a:t>
            </a:r>
            <a:pPr indent="0" marL="0">
              <a:buNone/>
            </a:pPr>
            <a:r>
              <a:rPr lang="en-US" sz="1100" dirty="0">
                <a:solidFill>
                  <a:srgbClr val="F7F7F3"/>
                </a:solidFill>
                <a:latin typeface="Calibri" pitchFamily="34" charset="0"/>
                <a:ea typeface="Calibri" pitchFamily="34" charset="-122"/>
                <a:cs typeface="Calibri" pitchFamily="34" charset="-120"/>
              </a:rPr>
              <a:t>An SDK version names an API consumers pin. A Plato version names a deployed image.</a:t>
            </a:r>
            <a:endParaRPr lang="en-US" sz="1100" dirty="0"/>
          </a:p>
        </p:txBody>
      </p:sp>
      <p:sp>
        <p:nvSpPr>
          <p:cNvPr id="19" name="Shape 17"/>
          <p:cNvSpPr/>
          <p:nvPr/>
        </p:nvSpPr>
        <p:spPr>
          <a:xfrm>
            <a:off x="8095488" y="4754880"/>
            <a:ext cx="3544824" cy="960120"/>
          </a:xfrm>
          <a:prstGeom prst="roundRect">
            <a:avLst>
              <a:gd name="adj" fmla="val 11429"/>
            </a:avLst>
          </a:prstGeom>
          <a:solidFill>
            <a:srgbClr val="121A24"/>
          </a:solidFill>
          <a:ln w="12700">
            <a:solidFill>
              <a:srgbClr val="121A24"/>
            </a:solidFill>
            <a:prstDash val="solid"/>
          </a:ln>
        </p:spPr>
      </p:sp>
      <p:sp>
        <p:nvSpPr>
          <p:cNvPr id="20" name="Text 18"/>
          <p:cNvSpPr txBox="1"/>
          <p:nvPr/>
        </p:nvSpPr>
        <p:spPr>
          <a:xfrm>
            <a:off x="8278368" y="4864608"/>
            <a:ext cx="3179064" cy="731520"/>
          </a:xfrm>
          <a:prstGeom prst="rect">
            <a:avLst/>
          </a:prstGeom>
          <a:noFill/>
          <a:ln/>
        </p:spPr>
        <p:txBody>
          <a:bodyPr wrap="square" lIns="0" tIns="0" rIns="0" bIns="0" rtlCol="0" anchor="t"/>
          <a:lstStyle/>
          <a:p>
            <a:pPr indent="0" marL="0">
              <a:buNone/>
            </a:pPr>
            <a:r>
              <a:rPr lang="en-US" sz="1100" b="1" dirty="0">
                <a:solidFill>
                  <a:srgbClr val="F7F7F3"/>
                </a:solidFill>
                <a:latin typeface="Calibri" pitchFamily="34" charset="0"/>
                <a:ea typeface="Calibri" pitchFamily="34" charset="-122"/>
                <a:cs typeface="Calibri" pitchFamily="34" charset="-120"/>
              </a:rPr>
              <a:t>Separable. </a:t>
            </a:r>
            <a:pPr indent="0" marL="0">
              <a:buNone/>
            </a:pPr>
            <a:r>
              <a:rPr lang="en-US" sz="1100" dirty="0">
                <a:solidFill>
                  <a:srgbClr val="F7F7F3"/>
                </a:solidFill>
                <a:latin typeface="Calibri" pitchFamily="34" charset="0"/>
                <a:ea typeface="Calibri" pitchFamily="34" charset="-122"/>
                <a:cs typeface="Calibri" pitchFamily="34" charset="-120"/>
              </a:rPr>
              <a:t>Plato is a sibling package, so moving it to its own repository is a mechanical split.</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7F3"/>
        </a:solidFill>
      </p:bgPr>
    </p:bg>
    <p:spTree>
      <p:nvGrpSpPr>
        <p:cNvPr id="1" name=""/>
        <p:cNvGrpSpPr/>
        <p:nvPr/>
      </p:nvGrpSpPr>
      <p:grpSpPr>
        <a:xfrm>
          <a:off x="0" y="0"/>
          <a:ext cx="0" cy="0"/>
          <a:chOff x="0" y="0"/>
          <a:chExt cx="0" cy="0"/>
        </a:xfrm>
      </p:grpSpPr>
      <p:sp>
        <p:nvSpPr>
          <p:cNvPr id="2" name="Text 0"/>
          <p:cNvSpPr txBox="1"/>
          <p:nvPr/>
        </p:nvSpPr>
        <p:spPr>
          <a:xfrm>
            <a:off x="548640" y="548640"/>
            <a:ext cx="11091672" cy="822960"/>
          </a:xfrm>
          <a:prstGeom prst="rect">
            <a:avLst/>
          </a:prstGeom>
          <a:noFill/>
          <a:ln/>
        </p:spPr>
        <p:txBody>
          <a:bodyPr wrap="square" lIns="0" tIns="0" rIns="0" bIns="0" rtlCol="0" anchor="t"/>
          <a:lstStyle/>
          <a:p>
            <a:pPr indent="0" marL="0">
              <a:buNone/>
            </a:pPr>
            <a:r>
              <a:rPr lang="en-US" sz="3000" b="1" dirty="0">
                <a:solidFill>
                  <a:srgbClr val="121A24"/>
                </a:solidFill>
                <a:latin typeface="Calibri" pitchFamily="34" charset="0"/>
                <a:ea typeface="Calibri" pitchFamily="34" charset="-122"/>
                <a:cs typeface="Calibri" pitchFamily="34" charset="-120"/>
              </a:rPr>
              <a:t>Open decisions, numbered as in the build plan</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731520"/>
                <a:gridCol w="5029200"/>
                <a:gridCol w="3291840"/>
                <a:gridCol w="2039112"/>
              </a:tblGrid>
              <a:tr h="0">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Holds up</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c>
                  <a:txBody>
                    <a:bodyPr/>
                    <a:lstStyle/>
                    <a:p>
                      <a:pPr indent="0" marL="0">
                        <a:buNone/>
                      </a:pPr>
                      <a:r>
                        <a:rPr lang="en-US" sz="1150" b="1" dirty="0">
                          <a:solidFill>
                            <a:srgbClr val="F7F7F3"/>
                          </a:solidFill>
                          <a:latin typeface="Calibri" pitchFamily="34" charset="0"/>
                          <a:ea typeface="Calibri" pitchFamily="34" charset="-122"/>
                          <a:cs typeface="Calibri" pitchFamily="34" charset="-120"/>
                        </a:rPr>
                        <a:t>Decides</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121A24"/>
                    </a:solidFill>
                  </a:tcPr>
                </a:tc>
              </a:tr>
              <a:tr h="0">
                <a:tc>
                  <a:txBody>
                    <a:bodyPr/>
                    <a:lstStyle/>
                    <a:p>
                      <a:pPr indent="0" marL="0">
                        <a:buNone/>
                      </a:pPr>
                      <a:r>
                        <a:rPr lang="en-US" sz="1150" dirty="0">
                          <a:solidFill>
                            <a:srgbClr val="121A24"/>
                          </a:solidFill>
                          <a:latin typeface="Courier New" pitchFamily="34" charset="0"/>
                          <a:ea typeface="Courier New" pitchFamily="34" charset="-122"/>
                          <a:cs typeface="Courier New" pitchFamily="34" charset="-120"/>
                        </a:rPr>
                        <a:t>D1</a:t>
                      </a:r>
                      <a:endParaRPr lang="en-US" sz="11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Plato becomes the durable system of record for assistant config</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C2703A"/>
                          </a:solidFill>
                          <a:latin typeface="Calibri" pitchFamily="34" charset="0"/>
                          <a:ea typeface="Calibri" pitchFamily="34" charset="-122"/>
                          <a:cs typeface="Calibri" pitchFamily="34" charset="-120"/>
                        </a:rPr>
                        <a:t>Releases, aliases, rollback</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SDK + Studio</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21A24"/>
                          </a:solidFill>
                          <a:latin typeface="Courier New" pitchFamily="34" charset="0"/>
                          <a:ea typeface="Courier New" pitchFamily="34" charset="-122"/>
                          <a:cs typeface="Courier New" pitchFamily="34" charset="-120"/>
                        </a:rPr>
                        <a:t>D2</a:t>
                      </a:r>
                      <a:endParaRPr lang="en-US" sz="11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Studio writes through Plato's API instead of keeping its own store</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C2703A"/>
                          </a:solidFill>
                          <a:latin typeface="Calibri" pitchFamily="34" charset="0"/>
                          <a:ea typeface="Calibri" pitchFamily="34" charset="-122"/>
                          <a:cs typeface="Calibri" pitchFamily="34" charset="-120"/>
                        </a:rPr>
                        <a:t>Two writers from day one</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Studio</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150" dirty="0">
                          <a:solidFill>
                            <a:srgbClr val="121A24"/>
                          </a:solidFill>
                          <a:latin typeface="Courier New" pitchFamily="34" charset="0"/>
                          <a:ea typeface="Courier New" pitchFamily="34" charset="-122"/>
                          <a:cs typeface="Courier New" pitchFamily="34" charset="-120"/>
                        </a:rPr>
                        <a:t>D3</a:t>
                      </a:r>
                      <a:endParaRPr lang="en-US" sz="11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Plato owns starting a BPMN process instance</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C2703A"/>
                          </a:solidFill>
                          <a:latin typeface="Calibri" pitchFamily="34" charset="0"/>
                          <a:ea typeface="Calibri" pitchFamily="34" charset="-122"/>
                          <a:cs typeface="Calibri" pitchFamily="34" charset="-120"/>
                        </a:rPr>
                        <a:t>Two PRD acceptance criteria</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Architect + Kernel</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21A24"/>
                          </a:solidFill>
                          <a:latin typeface="Courier New" pitchFamily="34" charset="0"/>
                          <a:ea typeface="Courier New" pitchFamily="34" charset="-122"/>
                          <a:cs typeface="Courier New" pitchFamily="34" charset="-120"/>
                        </a:rPr>
                        <a:t>D4</a:t>
                      </a:r>
                      <a:endParaRPr lang="en-US" sz="11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How much of the eval-service absorption path we state publicly now</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C2703A"/>
                          </a:solidFill>
                          <a:latin typeface="Calibri" pitchFamily="34" charset="0"/>
                          <a:ea typeface="Calibri" pitchFamily="34" charset="-122"/>
                          <a:cs typeface="Calibri" pitchFamily="34" charset="-120"/>
                        </a:rPr>
                        <a:t>Nothing technical</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Platform lead</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7F7F3"/>
                    </a:solidFill>
                  </a:tcPr>
                </a:tc>
              </a:tr>
              <a:tr h="0">
                <a:tc>
                  <a:txBody>
                    <a:bodyPr/>
                    <a:lstStyle/>
                    <a:p>
                      <a:pPr indent="0" marL="0">
                        <a:buNone/>
                      </a:pPr>
                      <a:r>
                        <a:rPr lang="en-US" sz="1150" dirty="0">
                          <a:solidFill>
                            <a:srgbClr val="121A24"/>
                          </a:solidFill>
                          <a:latin typeface="Courier New" pitchFamily="34" charset="0"/>
                          <a:ea typeface="Courier New" pitchFamily="34" charset="-122"/>
                          <a:cs typeface="Courier New" pitchFamily="34" charset="-120"/>
                        </a:rPr>
                        <a:t>D5</a:t>
                      </a:r>
                      <a:endParaRPr lang="en-US" sz="1150" dirty="0">
                        <a:latin typeface="Courier New" charset="0"/>
                        <a:ea typeface="Courier New" charset="0"/>
                        <a:cs typeface="Courier New"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Per-skill IO on the execution path, derived rather than hand-authored</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C2703A"/>
                          </a:solidFill>
                          <a:latin typeface="Calibri" pitchFamily="34" charset="0"/>
                          <a:ea typeface="Calibri" pitchFamily="34" charset="-122"/>
                          <a:cs typeface="Calibri" pitchFamily="34" charset="-120"/>
                        </a:rPr>
                        <a:t>Generated action APIs and per-assistant OpenAPI</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c>
                  <a:txBody>
                    <a:bodyPr/>
                    <a:lstStyle/>
                    <a:p>
                      <a:pPr indent="0" marL="0">
                        <a:buNone/>
                      </a:pPr>
                      <a:r>
                        <a:rPr lang="en-US" sz="1150" dirty="0">
                          <a:solidFill>
                            <a:srgbClr val="47525E"/>
                          </a:solidFill>
                          <a:latin typeface="Calibri" pitchFamily="34" charset="0"/>
                          <a:ea typeface="Calibri" pitchFamily="34" charset="-122"/>
                          <a:cs typeface="Calibri" pitchFamily="34" charset="-120"/>
                        </a:rPr>
                        <a:t>SDK</a:t>
                      </a:r>
                      <a:endParaRPr lang="en-US" sz="1150" dirty="0">
                        <a:latin typeface="Calibri" charset="0"/>
                        <a:ea typeface="Calibri" charset="0"/>
                        <a:cs typeface="Calibri" charset="0"/>
                      </a:endParaRPr>
                    </a:p>
                  </a:txBody>
                  <a:tcPr marL="73152" marR="73152" marT="73152" marB="73152" anchor="ctr">
                    <a:lnL w="6350" cap="flat" cmpd="sng" algn="ctr">
                      <a:solidFill>
                        <a:srgbClr val="DDDED6"/>
                      </a:solidFill>
                      <a:prstDash val="solid"/>
                      <a:round/>
                      <a:headEnd type="none" w="med" len="med"/>
                      <a:tailEnd type="none" w="med" len="med"/>
                    </a:lnL>
                    <a:lnR w="6350" cap="flat" cmpd="sng" algn="ctr">
                      <a:solidFill>
                        <a:srgbClr val="DDDED6"/>
                      </a:solidFill>
                      <a:prstDash val="solid"/>
                      <a:round/>
                      <a:headEnd type="none" w="med" len="med"/>
                      <a:tailEnd type="none" w="med" len="med"/>
                    </a:lnR>
                    <a:lnT w="6350" cap="flat" cmpd="sng" algn="ctr">
                      <a:solidFill>
                        <a:srgbClr val="DDDED6"/>
                      </a:solidFill>
                      <a:prstDash val="solid"/>
                      <a:round/>
                      <a:headEnd type="none" w="med" len="med"/>
                      <a:tailEnd type="none" w="med" len="med"/>
                    </a:lnT>
                    <a:lnB w="6350" cap="flat" cmpd="sng" algn="ctr">
                      <a:solidFill>
                        <a:srgbClr val="DDDED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355080"/>
            <a:ext cx="11091672" cy="274320"/>
          </a:xfrm>
          <a:prstGeom prst="rect">
            <a:avLst/>
          </a:prstGeom>
          <a:noFill/>
          <a:ln/>
        </p:spPr>
        <p:txBody>
          <a:bodyPr wrap="square" lIns="0" tIns="0" rIns="0" bIns="0" rtlCol="0" anchor="t"/>
          <a:lstStyle/>
          <a:p>
            <a:pPr indent="0" marL="0">
              <a:buNone/>
            </a:pPr>
            <a:r>
              <a:rPr lang="en-US" sz="1000" dirty="0">
                <a:solidFill>
                  <a:srgbClr val="8A8F86"/>
                </a:solidFill>
                <a:latin typeface="Courier New" pitchFamily="34" charset="0"/>
                <a:ea typeface="Courier New" pitchFamily="34" charset="-122"/>
                <a:cs typeface="Courier New" pitchFamily="34" charset="-120"/>
              </a:rPr>
              <a:t>All five guard the same failure: Plato turning into a second source of truth while the systems it replaces are still live.</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1A24"/>
        </a:solidFill>
      </p:bgPr>
    </p:bg>
    <p:spTree>
      <p:nvGrpSpPr>
        <p:cNvPr id="1" name=""/>
        <p:cNvGrpSpPr/>
        <p:nvPr/>
      </p:nvGrpSpPr>
      <p:grpSpPr>
        <a:xfrm>
          <a:off x="0" y="0"/>
          <a:ext cx="0" cy="0"/>
          <a:chOff x="0" y="0"/>
          <a:chExt cx="0" cy="0"/>
        </a:xfrm>
      </p:grpSpPr>
      <p:sp>
        <p:nvSpPr>
          <p:cNvPr id="2" name="Text 0"/>
          <p:cNvSpPr txBox="1"/>
          <p:nvPr/>
        </p:nvSpPr>
        <p:spPr>
          <a:xfrm>
            <a:off x="548640" y="731520"/>
            <a:ext cx="11091672" cy="822960"/>
          </a:xfrm>
          <a:prstGeom prst="rect">
            <a:avLst/>
          </a:prstGeom>
          <a:noFill/>
          <a:ln/>
        </p:spPr>
        <p:txBody>
          <a:bodyPr wrap="square" lIns="0" tIns="0" rIns="0" bIns="0" rtlCol="0" anchor="t"/>
          <a:lstStyle/>
          <a:p>
            <a:pPr indent="0" marL="0">
              <a:buNone/>
            </a:pPr>
            <a:r>
              <a:rPr lang="en-US" sz="3600" b="1" dirty="0">
                <a:solidFill>
                  <a:srgbClr val="F7F7F3"/>
                </a:solidFill>
                <a:latin typeface="Calibri" pitchFamily="34" charset="0"/>
                <a:ea typeface="Calibri" pitchFamily="34" charset="-122"/>
                <a:cs typeface="Calibri" pitchFamily="34" charset="-120"/>
              </a:rPr>
              <a:t>Next work</a:t>
            </a:r>
            <a:endParaRPr lang="en-US" sz="3600" dirty="0"/>
          </a:p>
        </p:txBody>
      </p:sp>
      <p:sp>
        <p:nvSpPr>
          <p:cNvPr id="3" name="Shape 1"/>
          <p:cNvSpPr/>
          <p:nvPr/>
        </p:nvSpPr>
        <p:spPr>
          <a:xfrm>
            <a:off x="548640" y="1828800"/>
            <a:ext cx="3563112" cy="2743200"/>
          </a:xfrm>
          <a:prstGeom prst="roundRect">
            <a:avLst>
              <a:gd name="adj" fmla="val 4000"/>
            </a:avLst>
          </a:prstGeom>
          <a:solidFill>
            <a:srgbClr val="1B2632"/>
          </a:solidFill>
          <a:ln w="12700">
            <a:solidFill>
              <a:srgbClr val="1B2632"/>
            </a:solidFill>
            <a:prstDash val="solid"/>
          </a:ln>
        </p:spPr>
      </p:sp>
      <p:sp>
        <p:nvSpPr>
          <p:cNvPr id="4" name="Text 2"/>
          <p:cNvSpPr txBox="1"/>
          <p:nvPr/>
        </p:nvSpPr>
        <p:spPr>
          <a:xfrm>
            <a:off x="777240" y="2029968"/>
            <a:ext cx="3105912" cy="256032"/>
          </a:xfrm>
          <a:prstGeom prst="rect">
            <a:avLst/>
          </a:prstGeom>
          <a:noFill/>
          <a:ln/>
        </p:spPr>
        <p:txBody>
          <a:bodyPr wrap="square" lIns="0" tIns="0" rIns="0" bIns="0" rtlCol="0" anchor="t"/>
          <a:lstStyle/>
          <a:p>
            <a:pPr indent="0" marL="0">
              <a:buNone/>
            </a:pPr>
            <a:r>
              <a:rPr lang="en-US" sz="1100" dirty="0">
                <a:solidFill>
                  <a:srgbClr val="5FBFB3"/>
                </a:solidFill>
                <a:latin typeface="Courier New" pitchFamily="34" charset="0"/>
                <a:ea typeface="Courier New" pitchFamily="34" charset="-122"/>
                <a:cs typeface="Courier New" pitchFamily="34" charset="-120"/>
              </a:rPr>
              <a:t>Knowledge Fabric</a:t>
            </a:r>
            <a:endParaRPr lang="en-US" sz="1100" dirty="0"/>
          </a:p>
        </p:txBody>
      </p:sp>
      <p:sp>
        <p:nvSpPr>
          <p:cNvPr id="5" name="Text 3"/>
          <p:cNvSpPr txBox="1"/>
          <p:nvPr/>
        </p:nvSpPr>
        <p:spPr>
          <a:xfrm>
            <a:off x="777240" y="2340864"/>
            <a:ext cx="310591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Graph pushdown, then the trace of record</a:t>
            </a:r>
            <a:endParaRPr lang="en-US" sz="1500" dirty="0"/>
          </a:p>
        </p:txBody>
      </p:sp>
      <p:sp>
        <p:nvSpPr>
          <p:cNvPr id="6" name="Text 4"/>
          <p:cNvSpPr txBox="1"/>
          <p:nvPr/>
        </p:nvSpPr>
        <p:spPr>
          <a:xfrm>
            <a:off x="777240" y="3072384"/>
            <a:ext cx="3105912" cy="1316736"/>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Server-side filter and traverse on the graph store, driven by the AML entity graph. Then CanonicalTrace persisted and served, so an auditor reads the record rather than the logs.</a:t>
            </a:r>
            <a:endParaRPr lang="en-US" sz="1150" dirty="0"/>
          </a:p>
        </p:txBody>
      </p:sp>
      <p:sp>
        <p:nvSpPr>
          <p:cNvPr id="7" name="Shape 5"/>
          <p:cNvSpPr/>
          <p:nvPr/>
        </p:nvSpPr>
        <p:spPr>
          <a:xfrm>
            <a:off x="4312920" y="1828800"/>
            <a:ext cx="3563112" cy="2743200"/>
          </a:xfrm>
          <a:prstGeom prst="roundRect">
            <a:avLst>
              <a:gd name="adj" fmla="val 4000"/>
            </a:avLst>
          </a:prstGeom>
          <a:solidFill>
            <a:srgbClr val="1B2632"/>
          </a:solidFill>
          <a:ln w="12700">
            <a:solidFill>
              <a:srgbClr val="1B2632"/>
            </a:solidFill>
            <a:prstDash val="solid"/>
          </a:ln>
        </p:spPr>
      </p:sp>
      <p:sp>
        <p:nvSpPr>
          <p:cNvPr id="8" name="Text 6"/>
          <p:cNvSpPr txBox="1"/>
          <p:nvPr/>
        </p:nvSpPr>
        <p:spPr>
          <a:xfrm>
            <a:off x="4541520" y="2029968"/>
            <a:ext cx="3105912" cy="256032"/>
          </a:xfrm>
          <a:prstGeom prst="rect">
            <a:avLst/>
          </a:prstGeom>
          <a:noFill/>
          <a:ln/>
        </p:spPr>
        <p:txBody>
          <a:bodyPr wrap="square" lIns="0" tIns="0" rIns="0" bIns="0" rtlCol="0" anchor="t"/>
          <a:lstStyle/>
          <a:p>
            <a:pPr indent="0" marL="0">
              <a:buNone/>
            </a:pPr>
            <a:r>
              <a:rPr lang="en-US" sz="1100" dirty="0">
                <a:solidFill>
                  <a:srgbClr val="5FBFB3"/>
                </a:solidFill>
                <a:latin typeface="Courier New" pitchFamily="34" charset="0"/>
                <a:ea typeface="Courier New" pitchFamily="34" charset="-122"/>
                <a:cs typeface="Courier New" pitchFamily="34" charset="-120"/>
              </a:rPr>
              <a:t>Policy runtimes</a:t>
            </a:r>
            <a:endParaRPr lang="en-US" sz="1100" dirty="0"/>
          </a:p>
        </p:txBody>
      </p:sp>
      <p:sp>
        <p:nvSpPr>
          <p:cNvPr id="9" name="Text 7"/>
          <p:cNvSpPr txBox="1"/>
          <p:nvPr/>
        </p:nvSpPr>
        <p:spPr>
          <a:xfrm>
            <a:off x="4541520" y="2340864"/>
            <a:ext cx="310591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Rego and SPARQL beside the evaluator</a:t>
            </a:r>
            <a:endParaRPr lang="en-US" sz="1500" dirty="0"/>
          </a:p>
        </p:txBody>
      </p:sp>
      <p:sp>
        <p:nvSpPr>
          <p:cNvPr id="10" name="Text 8"/>
          <p:cNvSpPr txBox="1"/>
          <p:nvPr/>
        </p:nvSpPr>
        <p:spPr>
          <a:xfrm>
            <a:off x="4541520" y="3072384"/>
            <a:ext cx="3105912" cy="1316736"/>
          </a:xfrm>
          <a:prstGeom prst="rect">
            <a:avLst/>
          </a:prstGeom>
          <a:noFill/>
          <a:ln/>
        </p:spPr>
        <p:txBody>
          <a:bodyPr wrap="square" lIns="0" tIns="0" rIns="0" bIns="0" rtlCol="0" anchor="t"/>
          <a:lstStyle/>
          <a:p>
            <a:pPr indent="0" marL="0">
              <a:buNone/>
            </a:pPr>
            <a:r>
              <a:rPr lang="en-US" sz="1150" dirty="0">
                <a:solidFill>
                  <a:srgbClr val="BFD8D5"/>
                </a:solidFill>
                <a:latin typeface="Calibri" pitchFamily="34" charset="0"/>
                <a:ea typeface="Calibri" pitchFamily="34" charset="-122"/>
                <a:cs typeface="Calibri" pitchFamily="34" charset="-120"/>
              </a:rPr>
              <a:t>Wire the OPA surface and add a SPARQL runner, so a rule can land in whichever repeatable form suits it. Close the provenance gap on grid cells while doing so.</a:t>
            </a:r>
            <a:endParaRPr lang="en-US" sz="1150" dirty="0"/>
          </a:p>
        </p:txBody>
      </p:sp>
      <p:sp>
        <p:nvSpPr>
          <p:cNvPr id="11" name="Shape 9"/>
          <p:cNvSpPr/>
          <p:nvPr/>
        </p:nvSpPr>
        <p:spPr>
          <a:xfrm>
            <a:off x="8077200" y="1828800"/>
            <a:ext cx="3563112" cy="2743200"/>
          </a:xfrm>
          <a:prstGeom prst="roundRect">
            <a:avLst>
              <a:gd name="adj" fmla="val 4000"/>
            </a:avLst>
          </a:prstGeom>
          <a:solidFill>
            <a:srgbClr val="1F6F6B"/>
          </a:solidFill>
          <a:ln w="12700">
            <a:solidFill>
              <a:srgbClr val="1F6F6B"/>
            </a:solidFill>
            <a:prstDash val="solid"/>
          </a:ln>
        </p:spPr>
      </p:sp>
      <p:sp>
        <p:nvSpPr>
          <p:cNvPr id="12" name="Text 10"/>
          <p:cNvSpPr txBox="1"/>
          <p:nvPr/>
        </p:nvSpPr>
        <p:spPr>
          <a:xfrm>
            <a:off x="8305800" y="2029968"/>
            <a:ext cx="3105912" cy="256032"/>
          </a:xfrm>
          <a:prstGeom prst="rect">
            <a:avLst/>
          </a:prstGeom>
          <a:noFill/>
          <a:ln/>
        </p:spPr>
        <p:txBody>
          <a:bodyPr wrap="square" lIns="0" tIns="0" rIns="0" bIns="0" rtlCol="0" anchor="t"/>
          <a:lstStyle/>
          <a:p>
            <a:pPr indent="0" marL="0">
              <a:buNone/>
            </a:pPr>
            <a:r>
              <a:rPr lang="en-US" sz="1100" dirty="0">
                <a:solidFill>
                  <a:srgbClr val="9FE0D6"/>
                </a:solidFill>
                <a:latin typeface="Courier New" pitchFamily="34" charset="0"/>
                <a:ea typeface="Courier New" pitchFamily="34" charset="-122"/>
                <a:cs typeface="Courier New" pitchFamily="34" charset="-120"/>
              </a:rPr>
              <a:t>Platform service</a:t>
            </a:r>
            <a:endParaRPr lang="en-US" sz="1100" dirty="0"/>
          </a:p>
        </p:txBody>
      </p:sp>
      <p:sp>
        <p:nvSpPr>
          <p:cNvPr id="13" name="Text 11"/>
          <p:cNvSpPr txBox="1"/>
          <p:nvPr/>
        </p:nvSpPr>
        <p:spPr>
          <a:xfrm>
            <a:off x="8305800" y="2340864"/>
            <a:ext cx="3105912" cy="502920"/>
          </a:xfrm>
          <a:prstGeom prst="rect">
            <a:avLst/>
          </a:prstGeom>
          <a:noFill/>
          <a:ln/>
        </p:spPr>
        <p:txBody>
          <a:bodyPr wrap="square" lIns="0" tIns="0" rIns="0" bIns="0" rtlCol="0" anchor="t"/>
          <a:lstStyle/>
          <a:p>
            <a:pPr indent="0" marL="0">
              <a:buNone/>
            </a:pPr>
            <a:r>
              <a:rPr lang="en-US" sz="1500" b="1" dirty="0">
                <a:solidFill>
                  <a:srgbClr val="F7F7F3"/>
                </a:solidFill>
                <a:latin typeface="Calibri" pitchFamily="34" charset="0"/>
                <a:ea typeface="Calibri" pitchFamily="34" charset="-122"/>
                <a:cs typeface="Calibri" pitchFamily="34" charset="-120"/>
              </a:rPr>
              <a:t>Skill IO, then generated APIs</a:t>
            </a:r>
            <a:endParaRPr lang="en-US" sz="1500" dirty="0"/>
          </a:p>
        </p:txBody>
      </p:sp>
      <p:sp>
        <p:nvSpPr>
          <p:cNvPr id="14" name="Text 12"/>
          <p:cNvSpPr txBox="1"/>
          <p:nvPr/>
        </p:nvSpPr>
        <p:spPr>
          <a:xfrm>
            <a:off x="8305800" y="3072384"/>
            <a:ext cx="3105912" cy="1316736"/>
          </a:xfrm>
          <a:prstGeom prst="rect">
            <a:avLst/>
          </a:prstGeom>
          <a:noFill/>
          <a:ln/>
        </p:spPr>
        <p:txBody>
          <a:bodyPr wrap="square" lIns="0" tIns="0" rIns="0" bIns="0" rtlCol="0" anchor="t"/>
          <a:lstStyle/>
          <a:p>
            <a:pPr indent="0" marL="0">
              <a:buNone/>
            </a:pPr>
            <a:r>
              <a:rPr lang="en-US" sz="1150" dirty="0">
                <a:solidFill>
                  <a:srgbClr val="E4F4F1"/>
                </a:solidFill>
                <a:latin typeface="Calibri" pitchFamily="34" charset="0"/>
                <a:ea typeface="Calibri" pitchFamily="34" charset="-122"/>
                <a:cs typeface="Calibri" pitchFamily="34" charset="-120"/>
              </a:rPr>
              <a:t>Settle per-skill inputs and outputs on the execution path, then generate action routes and per-assistant OpenAPI from a release. That is what lets a frontend team build with no core engineering involved.</a:t>
            </a:r>
            <a:endParaRPr lang="en-US" sz="1150" dirty="0"/>
          </a:p>
        </p:txBody>
      </p:sp>
      <p:sp>
        <p:nvSpPr>
          <p:cNvPr id="15" name="Text 13"/>
          <p:cNvSpPr txBox="1"/>
          <p:nvPr/>
        </p:nvSpPr>
        <p:spPr>
          <a:xfrm>
            <a:off x="548640" y="4937760"/>
            <a:ext cx="11091672" cy="640080"/>
          </a:xfrm>
          <a:prstGeom prst="rect">
            <a:avLst/>
          </a:prstGeom>
          <a:noFill/>
          <a:ln/>
        </p:spPr>
        <p:txBody>
          <a:bodyPr wrap="square" lIns="0" tIns="0" rIns="0" bIns="0" rtlCol="0" anchor="t"/>
          <a:lstStyle/>
          <a:p>
            <a:pPr indent="0" marL="0">
              <a:buNone/>
            </a:pPr>
            <a:r>
              <a:rPr lang="en-US" sz="1300" dirty="0">
                <a:solidFill>
                  <a:srgbClr val="9FB0BF"/>
                </a:solidFill>
                <a:latin typeface="Calibri" pitchFamily="34" charset="0"/>
                <a:ea typeface="Calibri" pitchFamily="34" charset="-122"/>
                <a:cs typeface="Calibri" pitchFamily="34" charset="-120"/>
              </a:rPr>
              <a:t>Alongside all three: the weekly count of kernel-agent rows with no v2 representation, which is how we will know the migration is moving.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Fabric &amp; Platform/SDK — Workshop</dc:title>
  <dc:subject>PptxGenJS Presentation</dc:subject>
  <dc:creator>PptxGenJS</dc:creator>
  <cp:lastModifiedBy>PptxGenJS</cp:lastModifiedBy>
  <cp:revision>1</cp:revision>
  <dcterms:created xsi:type="dcterms:W3CDTF">2026-09-30T00:58:58Z</dcterms:created>
  <dcterms:modified xsi:type="dcterms:W3CDTF">2026-09-30T00:58:58Z</dcterms:modified>
</cp:coreProperties>
</file>