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wdp" ContentType="image/vnd.ms-photo"/>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s/modernComment_7FFFD4E5_BE5382CA.xml" ContentType="application/vnd.ms-powerpoint.comments+xml"/>
  <Override PartName="/ppt/comments/modernComment_7FFFD4E6_55AC5F92.xml" ContentType="application/vnd.ms-powerpoint.comments+xml"/>
  <Override PartName="/ppt/comments/modernComment_7FFFD4EA_C6E305AA.xml" ContentType="application/vnd.ms-powerpoint.comments+xml"/>
  <Override PartName="/ppt/media/image17.svg" ContentType="image/svg+xml"/>
  <Override PartName="/ppt/media/image19.svg" ContentType="image/svg+xml"/>
  <Override PartName="/ppt/media/image21.svg" ContentType="image/svg+xml"/>
  <Override PartName="/ppt/media/image3.svg" ContentType="image/svg+xml"/>
  <Override PartName="/ppt/media/image6.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thumbnail" Target="docProps/thumbnail.jpeg"/><Relationship Id="rId4" Type="http://schemas.openxmlformats.org/package/2006/relationships/metadata/core-properties" Target="docProps/core.xml"/><Relationship Id="rId5" Type="http://schemas.openxmlformats.org/officeDocument/2006/relationships/extended-properties" Target="docProps/app.xml"/><Relationship Id="rId6" Type="http://schemas.openxmlformats.org/officeDocument/2006/relationships/custom-properties" Target="docProps/custom.xml"/><Relationship Id="rId7"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81" r:id="rId4"/>
    <p:sldMasterId id="2147483696" r:id="rId5"/>
    <p:sldMasterId id="2147483712" r:id="rId6"/>
    <p:sldMasterId id="2147483723" r:id="rId7"/>
  </p:sldMasterIdLst>
  <p:notesMasterIdLst>
    <p:notesMasterId r:id="rId46"/>
  </p:notesMasterIdLst>
  <p:sldIdLst>
    <p:sldId id="256" r:id="rId8"/>
    <p:sldId id="2147472500" r:id="rId9"/>
    <p:sldId id="2147472613" r:id="rId10"/>
    <p:sldId id="2147472653" r:id="rId53"/>
    <p:sldId id="2147472654" r:id="rId54"/>
    <p:sldId id="2147472655" r:id="rId55"/>
    <p:sldId id="2147472656" r:id="rId56"/>
    <p:sldId id="2147472657" r:id="rId57"/>
    <p:sldId id="2147472614" r:id="rId12"/>
    <p:sldId id="2147472618" r:id="rId13"/>
    <p:sldId id="2147472642" r:id="rId14"/>
    <p:sldId id="2147472643" r:id="rId15"/>
    <p:sldId id="2147472647" r:id="rId16"/>
    <p:sldId id="2147472646" r:id="rId17"/>
    <p:sldId id="2147472652" r:id="rId18"/>
    <p:sldId id="2147472616" r:id="rId19"/>
    <p:sldId id="2147472581" r:id="rId20"/>
    <p:sldId id="257" r:id="rId21"/>
    <p:sldId id="258" r:id="rId22"/>
    <p:sldId id="259" r:id="rId23"/>
    <p:sldId id="260" r:id="rId24"/>
    <p:sldId id="261" r:id="rId25"/>
    <p:sldId id="262" r:id="rId26"/>
    <p:sldId id="263" r:id="rId27"/>
    <p:sldId id="264" r:id="rId28"/>
    <p:sldId id="265" r:id="rId29"/>
    <p:sldId id="266" r:id="rId30"/>
    <p:sldId id="267" r:id="rId31"/>
    <p:sldId id="268" r:id="rId32"/>
    <p:sldId id="269" r:id="rId33"/>
    <p:sldId id="2147472610" r:id="rId34"/>
    <p:sldId id="2147472611" r:id="rId35"/>
    <p:sldId id="2147472612" r:id="rId36"/>
    <p:sldId id="2147472589" r:id="rId37"/>
    <p:sldId id="2147472590" r:id="rId38"/>
    <p:sldId id="2147472591" r:id="rId39"/>
    <p:sldId id="2147472600" r:id="rId40"/>
    <p:sldId id="2147472601" r:id="rId41"/>
    <p:sldId id="2147472602" r:id="rId42"/>
    <p:sldId id="2147472604" r:id="rId43"/>
    <p:sldId id="2147472603" r:id="rId44"/>
    <p:sldId id="2147472356" r:id="rId4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D3D3D5DE-9632-4DD5-9641-08FA1024B95B}">
          <p14:sldIdLst>
            <p14:sldId id="256"/>
            <p14:sldId id="2147472500"/>
            <p14:sldId id="2147472613"/>
            <p14:sldId id="2147472617"/>
            <p14:sldId id="2147472614"/>
            <p14:sldId id="2147472618"/>
            <p14:sldId id="2147472642"/>
            <p14:sldId id="2147472643"/>
            <p14:sldId id="2147472647"/>
            <p14:sldId id="2147472646"/>
            <p14:sldId id="2147472652"/>
            <p14:sldId id="2147472616"/>
          </p14:sldIdLst>
        </p14:section>
        <p14:section name="ICL" id="{C005D3A7-F7AB-4449-BB97-7632866A1ADC}">
          <p14:sldIdLst>
            <p14:sldId id="2147472581"/>
            <p14:sldId id="257"/>
            <p14:sldId id="258"/>
            <p14:sldId id="259"/>
            <p14:sldId id="260"/>
            <p14:sldId id="261"/>
            <p14:sldId id="262"/>
            <p14:sldId id="263"/>
          </p14:sldIdLst>
        </p14:section>
        <p14:section name="ROSI" id="{CCB79832-B3C3-4FB7-A090-1F07D415DDCD}">
          <p14:sldIdLst>
            <p14:sldId id="264"/>
            <p14:sldId id="265"/>
            <p14:sldId id="266"/>
            <p14:sldId id="267"/>
            <p14:sldId id="268"/>
            <p14:sldId id="269"/>
            <p14:sldId id="2147472610"/>
            <p14:sldId id="2147472611"/>
            <p14:sldId id="2147472612"/>
          </p14:sldIdLst>
        </p14:section>
        <p14:section name="DSCR For Acra" id="{64AD67EB-9459-4C0F-986E-CE3345B4EE66}">
          <p14:sldIdLst>
            <p14:sldId id="2147472589"/>
            <p14:sldId id="2147472590"/>
            <p14:sldId id="2147472591"/>
            <p14:sldId id="2147472600"/>
            <p14:sldId id="2147472601"/>
            <p14:sldId id="2147472602"/>
            <p14:sldId id="2147472604"/>
            <p14:sldId id="2147472603"/>
          </p14:sldIdLst>
        </p14:section>
        <p14:section name="Appendix" id="{C1054E2B-1457-4166-A296-A1DE9A4C5A16}">
          <p14:sldIdLst>
            <p14:sldId id="2147472356"/>
          </p14:sldIdLst>
        </p14:section>
      </p14:section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4BDFB240-F3C2-17AA-D3D6-DBFA52B76598}" name="Eshwar Belani" initials="EB" userId="S::eshwar@saigroup.ai::d1335035-1243-44a7-af81-85bf29af237d" providerId="AD"/>
  <p188:author id="{08C50667-531C-BBE5-02F7-09A19769DEC2}" name="Kunal Patel" initials="KP" userId="S::kunal.patel@jazzx.ai::eeb0e759-ff50-4713-987e-f86c85929e83" providerId="AD"/>
  <p188:author id="{601F8D6A-8853-A74E-D832-C2041338EC55}" name="Virendra Mehta" initials="" userId="S::virendra.mehta@jazzx.ai::53f47e6e-0a9d-4da6-b2dd-b57d3e8d2dcf" providerId="AD"/>
  <p188:author id="{2CEBC3AC-CE6B-4924-213B-EA5B02ADF98B}" name="Vijay Narayanan" initials="VN" userId="S::vijay.narayanan@saigroup.ai::1b2d5543-7f2b-4450-923d-a1d3bdf5cedd" providerId="AD"/>
  <p188:author id="{A969DAAE-A227-F506-1527-2D003B6C7283}" name="Sourav Chakraborty" initials="SC" userId="S::sourav.chakraborty@jazzx.ai::56a9bb12-a005-4931-ace3-90e1f7d304ca" providerId="AD"/>
  <p188:author id="{FCBF59E7-EBE9-B848-6C0F-603354413C6D}" name="Raghavendra Subbanna" initials="" userId="S::raghavendra.subbanna@jazzx.ai::e02efecc-8065-4bb7-aba3-122b63d7413c" providerId="AD"/>
  <p188:author id="{455F63E9-40D0-3DA4-7E13-9A012A15451E}" name="Nimar Arora" initials="" userId="S::nimar.arora@jazzx.ai::328619cb-4370-42ee-a864-bc909f905856"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1B6E7A"/>
    <a:srgbClr val="E4D3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8DC2AD3-F86A-7FB1-C43E-9537710540EA}" v="2219" dt="2026-10-12T18:03:19.911"/>
    <p1510:client id="{1913C305-969A-C948-8D8A-D36C660AB99C}" v="1" dt="2026-10-13T01:30:30.234"/>
    <p1510:client id="{2BFE9053-C539-2AC8-C19E-F2A7893B06DA}" v="183" dt="2026-10-12T05:14:51.905"/>
    <p1510:client id="{352C41F3-A221-B76F-D423-DF947BCDC554}" v="1" dt="2026-10-12T19:51:54.265"/>
    <p1510:client id="{5A22BB6B-915A-8A88-1812-4891BBE3452C}" v="19" dt="2026-10-12T23:52:29.397"/>
    <p1510:client id="{61451A74-D969-D74F-BAF1-37433CA69003}" v="144" dt="2026-10-13T01:27:37.209"/>
    <p1510:client id="{61F32B03-7550-4BA2-8610-4F9E5F1A23AF}" v="1" dt="2026-10-13T01:10:22.898"/>
    <p1510:client id="{FC767DE7-364C-CE2E-C402-B0E4DEEC4236}" v="1" dt="2026-10-12T20:35:10.766"/>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1"/>
    <p:restoredTop sz="94658"/>
  </p:normalViewPr>
  <p:slideViewPr>
    <p:cSldViewPr snapToGrid="0">
      <p:cViewPr varScale="1">
        <p:scale>
          <a:sx n="120" d="100"/>
          <a:sy n="120" d="100"/>
        </p:scale>
        <p:origin x="800"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 Id="rId51" Type="http://schemas.microsoft.com/office/2015/10/relationships/revisionInfo" Target="revisionInfo.xml"/><Relationship Id="rId52" Type="http://schemas.microsoft.com/office/2018/10/relationships/authors" Target="authors.xml"/><Relationship Id="rId53" Type="http://schemas.openxmlformats.org/officeDocument/2006/relationships/slide" Target="slides/slide39.xml"/><Relationship Id="rId54" Type="http://schemas.openxmlformats.org/officeDocument/2006/relationships/slide" Target="slides/slide40.xml"/><Relationship Id="rId55" Type="http://schemas.openxmlformats.org/officeDocument/2006/relationships/slide" Target="slides/slide41.xml"/><Relationship Id="rId56" Type="http://schemas.openxmlformats.org/officeDocument/2006/relationships/slide" Target="slides/slide42.xml"/><Relationship Id="rId57" Type="http://schemas.openxmlformats.org/officeDocument/2006/relationships/slide" Target="slides/slide43.xml"/></Relationships>
</file>

<file path=ppt/comments/modernComment_7FFFD4E5_BE5382CA.xml><?xml version="1.0" encoding="utf-8"?>
<p188:cmLst xmlns:a="http://schemas.openxmlformats.org/drawingml/2006/main" xmlns:r="http://schemas.openxmlformats.org/officeDocument/2006/relationships" xmlns:p188="http://schemas.microsoft.com/office/powerpoint/2018/8/main">
  <p188:cm id="{CD097FD0-1AC4-4F74-98E1-A093BF302783}" authorId="{2CEBC3AC-CE6B-4924-213B-EA5B02ADF98B}" created="2026-10-12T05:14:10.589" startDate="2026-10-12T05:14:10.589" dueDate="2026-10-12T05:14:10.589" assignedTo="{601F8D6A-8853-A74E-D832-C2041338EC55}" title="@Virendra Mehta @Kunal Patel">
    <ac:deMkLst xmlns:ac="http://schemas.microsoft.com/office/drawing/2013/main/command">
      <pc:docMk xmlns:pc="http://schemas.microsoft.com/office/powerpoint/2013/main/command"/>
      <pc:sldMk xmlns:pc="http://schemas.microsoft.com/office/powerpoint/2013/main/command" cId="3193144010" sldId="2147472613"/>
      <ac:spMk id="5" creationId="{150C4D55-88AC-9150-4F9B-670BD4A42325}"/>
    </ac:deMkLst>
    <p188:txBody>
      <a:bodyPr/>
      <a:lstStyle/>
      <a:p>
        <a:r>
          <a:rPr lang="en-US"/>
          <a:t>[@Virendra Mehta] [@Kunal Patel]</a:t>
        </a:r>
      </a:p>
    </p188:txBody>
    <p188:extLst>
      <p:ext xmlns:p="http://schemas.openxmlformats.org/presentationml/2006/main" uri="{5BB2D875-25FF-4072-B9AC-8F64D62656EB}">
        <p228:taskDetails xmlns:p228="http://schemas.microsoft.com/office/powerpoint/2022/08/main">
          <p228:history>
            <p228:event time="2026-10-12T05:14:10.589" id="{402B1054-B692-4FB6-99B8-043C1FF48E3C}">
              <p228:atrbtn authorId="{2CEBC3AC-CE6B-4924-213B-EA5B02ADF98B}"/>
              <p228:anchr>
                <p228:comment id="{CD097FD0-1AC4-4F74-98E1-A093BF302783}"/>
              </p228:anchr>
              <p228:add/>
            </p228:event>
            <p228:event time="2026-10-12T05:14:10.589" id="{4CBD0D6A-A140-40A0-BD93-B7A5ED204F7B}">
              <p228:atrbtn authorId="{2CEBC3AC-CE6B-4924-213B-EA5B02ADF98B}"/>
              <p228:anchr>
                <p228:comment id="{CD097FD0-1AC4-4F74-98E1-A093BF302783}"/>
              </p228:anchr>
              <p228:asgn authorId="{601F8D6A-8853-A74E-D832-C2041338EC55}"/>
            </p228:event>
            <p228:event time="2026-10-12T05:14:10.589" id="{0B4F4988-DE39-4CEF-BCBA-AF62E868C3C2}">
              <p228:atrbtn authorId="{2CEBC3AC-CE6B-4924-213B-EA5B02ADF98B}"/>
              <p228:anchr>
                <p228:comment id="{CD097FD0-1AC4-4F74-98E1-A093BF302783}"/>
              </p228:anchr>
              <p228:title val="@Virendra Mehta @Kunal Patel"/>
            </p228:event>
            <p228:event time="2026-10-12T05:14:10.589" id="{0CA60CAD-CAC7-41CA-871F-2C46E4AA1EB8}">
              <p228:atrbtn authorId="{2CEBC3AC-CE6B-4924-213B-EA5B02ADF98B}"/>
              <p228:anchr>
                <p228:comment id="{CD097FD0-1AC4-4F74-98E1-A093BF302783}"/>
              </p228:anchr>
              <p228:date stDt="2026-10-12T05:14:10.589" endDt="2026-10-12T05:14:10.589"/>
            </p228:event>
          </p228:history>
        </p228:taskDetails>
      </p:ext>
    </p188:extLst>
  </p188:cm>
</p188:cmLst>
</file>

<file path=ppt/comments/modernComment_7FFFD4E6_55AC5F92.xml><?xml version="1.0" encoding="utf-8"?>
<p188:cmLst xmlns:a="http://schemas.openxmlformats.org/drawingml/2006/main" xmlns:r="http://schemas.openxmlformats.org/officeDocument/2006/relationships" xmlns:p188="http://schemas.microsoft.com/office/powerpoint/2018/8/main">
  <p188:cm id="{39B8740F-D3CE-448D-A1C9-00CA07A8EF48}" authorId="{2CEBC3AC-CE6B-4924-213B-EA5B02ADF98B}" created="2026-10-12T05:14:25.449" startDate="2026-10-12T05:14:25.449" dueDate="2026-10-12T05:14:25.449" assignedTo="{455F63E9-40D0-3DA4-7E13-9A012A15451E}" title="@Nimar Arora Let's discuss this tomorrow.">
    <ac:txMkLst xmlns:ac="http://schemas.microsoft.com/office/drawing/2013/main/command">
      <pc:docMk xmlns:pc="http://schemas.microsoft.com/office/powerpoint/2013/main/command"/>
      <pc:sldMk xmlns:pc="http://schemas.microsoft.com/office/powerpoint/2013/main/command" cId="1437360018" sldId="2147472614"/>
      <ac:spMk id="5" creationId="{83A2B47D-E71B-03FC-23CB-9E49F72229AB}"/>
      <ac:txMk cp="0" len="22">
        <ac:context len="23" hash="471231182"/>
      </ac:txMk>
    </ac:txMkLst>
    <p188:pos x="4543777" y="385703"/>
    <p188:txBody>
      <a:bodyPr/>
      <a:lstStyle/>
      <a:p>
        <a:r>
          <a:rPr lang="en-US"/>
          <a:t>[@Nimar Arora] Let's discuss this tomorrow.</a:t>
        </a:r>
      </a:p>
    </p188:txBody>
    <p188:extLst>
      <p:ext xmlns:p="http://schemas.openxmlformats.org/presentationml/2006/main" uri="{5BB2D875-25FF-4072-B9AC-8F64D62656EB}">
        <p228:taskDetails xmlns:p228="http://schemas.microsoft.com/office/powerpoint/2022/08/main">
          <p228:history>
            <p228:event time="2026-10-12T05:14:25.449" id="{CDEB5930-7AF7-44F7-A566-639945F0E294}">
              <p228:atrbtn authorId="{2CEBC3AC-CE6B-4924-213B-EA5B02ADF98B}"/>
              <p228:anchr>
                <p228:comment id="{39B8740F-D3CE-448D-A1C9-00CA07A8EF48}"/>
              </p228:anchr>
              <p228:add/>
            </p228:event>
            <p228:event time="2026-10-12T05:14:25.449" id="{60C4E8DB-08CC-4FB9-8D15-E1A2BFE4DFE5}">
              <p228:atrbtn authorId="{2CEBC3AC-CE6B-4924-213B-EA5B02ADF98B}"/>
              <p228:anchr>
                <p228:comment id="{39B8740F-D3CE-448D-A1C9-00CA07A8EF48}"/>
              </p228:anchr>
              <p228:asgn authorId="{455F63E9-40D0-3DA4-7E13-9A012A15451E}"/>
            </p228:event>
            <p228:event time="2026-10-12T05:14:25.449" id="{AA7C786E-508E-44D1-A791-99DBF7A5858F}">
              <p228:atrbtn authorId="{2CEBC3AC-CE6B-4924-213B-EA5B02ADF98B}"/>
              <p228:anchr>
                <p228:comment id="{39B8740F-D3CE-448D-A1C9-00CA07A8EF48}"/>
              </p228:anchr>
              <p228:title val="@Nimar Arora Let's discuss this tomorrow."/>
            </p228:event>
            <p228:event time="2026-10-12T05:14:25.449" id="{2B3030C7-0EC1-4966-AAE1-19B0B1E580C8}">
              <p228:atrbtn authorId="{2CEBC3AC-CE6B-4924-213B-EA5B02ADF98B}"/>
              <p228:anchr>
                <p228:comment id="{39B8740F-D3CE-448D-A1C9-00CA07A8EF48}"/>
              </p228:anchr>
              <p228:date stDt="2026-10-12T05:14:25.449" endDt="2026-10-12T05:14:25.449"/>
            </p228:event>
          </p228:history>
        </p228:taskDetails>
      </p:ext>
    </p188:extLst>
  </p188:cm>
</p188:cmLst>
</file>

<file path=ppt/comments/modernComment_7FFFD4EA_C6E305AA.xml><?xml version="1.0" encoding="utf-8"?>
<p188:cmLst xmlns:a="http://schemas.openxmlformats.org/drawingml/2006/main" xmlns:r="http://schemas.openxmlformats.org/officeDocument/2006/relationships" xmlns:p188="http://schemas.microsoft.com/office/powerpoint/2018/8/main">
  <p188:cm id="{979C1114-7C8A-49AD-BEF3-B98F392D3EE5}" authorId="{2CEBC3AC-CE6B-4924-213B-EA5B02ADF98B}" created="2026-10-12T18:03:19.911" startDate="2026-10-12T18:03:19.911" dueDate="2026-10-12T18:03:19.911" assignedTo="{455F63E9-40D0-3DA4-7E13-9A012A15451E}" title="@Nimar Arora @Manas Ray">
    <ac:deMkLst xmlns:ac="http://schemas.microsoft.com/office/drawing/2013/main/command">
      <pc:docMk xmlns:pc="http://schemas.microsoft.com/office/powerpoint/2013/main/command"/>
      <pc:sldMk xmlns:pc="http://schemas.microsoft.com/office/powerpoint/2013/main/command" cId="3336766890" sldId="2147472618"/>
      <ac:spMk id="2" creationId="{20282772-2BBB-9BFC-8417-4A8CF48FF5A0}"/>
    </ac:deMkLst>
    <p188:txBody>
      <a:bodyPr/>
      <a:lstStyle/>
      <a:p>
        <a:r>
          <a:rPr lang="en-US"/>
          <a:t>[@Nimar Arora] [@Manas Ray]</a:t>
        </a:r>
      </a:p>
    </p188:txBody>
    <p188:extLst>
      <p:ext xmlns:p="http://schemas.openxmlformats.org/presentationml/2006/main" uri="{5BB2D875-25FF-4072-B9AC-8F64D62656EB}">
        <p228:taskDetails xmlns:p228="http://schemas.microsoft.com/office/powerpoint/2022/08/main">
          <p228:history>
            <p228:event time="2026-10-12T18:03:19.911" id="{4F665628-7BE5-4679-928D-69A29E296A38}">
              <p228:atrbtn authorId="{2CEBC3AC-CE6B-4924-213B-EA5B02ADF98B}"/>
              <p228:anchr>
                <p228:comment id="{979C1114-7C8A-49AD-BEF3-B98F392D3EE5}"/>
              </p228:anchr>
              <p228:add/>
            </p228:event>
            <p228:event time="2026-10-12T18:03:19.911" id="{E8E71AF2-9C93-44A2-BA20-4E8D1B04052E}">
              <p228:atrbtn authorId="{2CEBC3AC-CE6B-4924-213B-EA5B02ADF98B}"/>
              <p228:anchr>
                <p228:comment id="{979C1114-7C8A-49AD-BEF3-B98F392D3EE5}"/>
              </p228:anchr>
              <p228:asgn authorId="{455F63E9-40D0-3DA4-7E13-9A012A15451E}"/>
            </p228:event>
            <p228:event time="2026-10-12T18:03:19.911" id="{EFE44FD4-7BFA-4348-99A1-497A9D950106}">
              <p228:atrbtn authorId="{2CEBC3AC-CE6B-4924-213B-EA5B02ADF98B}"/>
              <p228:anchr>
                <p228:comment id="{979C1114-7C8A-49AD-BEF3-B98F392D3EE5}"/>
              </p228:anchr>
              <p228:title val="@Nimar Arora @Manas Ray"/>
            </p228:event>
            <p228:event time="2026-10-12T18:03:19.911" id="{6A40B114-CE66-4D0B-95E2-F841E30AD30E}">
              <p228:atrbtn authorId="{2CEBC3AC-CE6B-4924-213B-EA5B02ADF98B}"/>
              <p228:anchr>
                <p228:comment id="{979C1114-7C8A-49AD-BEF3-B98F392D3EE5}"/>
              </p228:anchr>
              <p228:date stDt="2026-10-12T18:03:19.911" endDt="2026-10-12T18:03:19.911"/>
            </p228:event>
          </p228:history>
        </p228:taskDetails>
      </p:ext>
    </p188:extLst>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6111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611188"/>
          </a:xfrm>
          <a:prstGeom prst="rect">
            <a:avLst/>
          </a:prstGeom>
        </p:spPr>
        <p:txBody>
          <a:bodyPr vert="horz" lIns="91440" tIns="45720" rIns="91440" bIns="45720" rtlCol="0"/>
          <a:lstStyle>
            <a:lvl1pPr algn="r">
              <a:defRPr sz="1200"/>
            </a:lvl1pPr>
          </a:lstStyle>
          <a:p>
            <a:fld id="{224E98C7-C9A0-4F40-9E92-C69557D422F9}" type="datetimeFigureOut">
              <a:t>10/12/26</a:t>
            </a:fld>
            <a:endParaRPr lang="en-US"/>
          </a:p>
        </p:txBody>
      </p:sp>
      <p:sp>
        <p:nvSpPr>
          <p:cNvPr id="4" name="Slide Image Placeholder 3"/>
          <p:cNvSpPr>
            <a:spLocks noGrp="1" noRot="1" noChangeAspect="1"/>
          </p:cNvSpPr>
          <p:nvPr>
            <p:ph type="sldImg" idx="2"/>
          </p:nvPr>
        </p:nvSpPr>
        <p:spPr>
          <a:xfrm>
            <a:off x="-228600" y="1524000"/>
            <a:ext cx="7315200" cy="41148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5867400"/>
            <a:ext cx="5486400" cy="48006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1580813"/>
            <a:ext cx="2971800" cy="6111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11580813"/>
            <a:ext cx="2971800" cy="611187"/>
          </a:xfrm>
          <a:prstGeom prst="rect">
            <a:avLst/>
          </a:prstGeom>
        </p:spPr>
        <p:txBody>
          <a:bodyPr vert="horz" lIns="91440" tIns="45720" rIns="91440" bIns="45720" rtlCol="0" anchor="b"/>
          <a:lstStyle>
            <a:lvl1pPr algn="r">
              <a:defRPr sz="1200"/>
            </a:lvl1pPr>
          </a:lstStyle>
          <a:p>
            <a:fld id="{5CD39648-2426-4A2A-8AB1-A778AA41ED3C}" type="slidenum">
              <a:t>‹#›</a:t>
            </a:fld>
            <a:endParaRPr lang="en-US"/>
          </a:p>
        </p:txBody>
      </p:sp>
    </p:spTree>
    <p:extLst>
      <p:ext uri="{BB962C8B-B14F-4D97-AF65-F5344CB8AC3E}">
        <p14:creationId xmlns:p14="http://schemas.microsoft.com/office/powerpoint/2010/main" val="5833732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a:xfrm>
            <a:off x="685800" y="5791200"/>
            <a:ext cx="5486400" cy="5486400"/>
          </a:xfrm>
          <a:prstGeom prst="rect">
            <a:avLst/>
          </a:prstGeom>
        </p:spPr>
        <p:txBody>
          <a:bodyPr/>
          <a:lstStyle/>
          <a:p>
            <a:endParaRPr sz="120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98C0A2-7081-7C2B-2EB6-5EC8364940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8E159D-1017-5BED-40EA-21E972334ED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A704847-986E-58C7-17E7-3D2A58BE7C18}"/>
              </a:ext>
            </a:extLst>
          </p:cNvPr>
          <p:cNvSpPr>
            <a:spLocks noGrp="1"/>
          </p:cNvSpPr>
          <p:nvPr>
            <p:ph type="body" idx="1"/>
          </p:nvPr>
        </p:nvSpPr>
        <p:spPr/>
        <p:txBody>
          <a:bodyPr/>
          <a:lstStyle/>
          <a:p>
            <a:r>
              <a:t>Section: the SDK (jazzx_sdk in the japes repo) and Plato, the SDK hosted as a service. Five slides: goal and audience; how it differs from Juno and jstack; current capabilities with in-work and planned; usage so far and experiments; SDK and runtimes going forward with the roadmap date.</a:t>
            </a:r>
          </a:p>
        </p:txBody>
      </p:sp>
      <p:sp>
        <p:nvSpPr>
          <p:cNvPr id="4" name="Slide Number Placeholder 3">
            <a:extLst>
              <a:ext uri="{FF2B5EF4-FFF2-40B4-BE49-F238E27FC236}">
                <a16:creationId xmlns:a16="http://schemas.microsoft.com/office/drawing/2014/main" id="{49C641DA-800E-08F7-5411-6E170F6DCAD9}"/>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31992723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18963-1D7C-A086-C6EE-90C9EE406F3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36011A-7A51-907C-BEEA-4FA407910A8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491FBE2-273B-DF00-D322-8FABECB04F3F}"/>
              </a:ext>
            </a:extLst>
          </p:cNvPr>
          <p:cNvSpPr>
            <a:spLocks noGrp="1"/>
          </p:cNvSpPr>
          <p:nvPr>
            <p:ph type="body" idx="1"/>
          </p:nvPr>
        </p:nvSpPr>
        <p:spPr/>
        <p:txBody>
          <a:bodyPr/>
          <a:lstStyle/>
          <a:p>
            <a:r>
              <a:rPr lang="en-US"/>
              <a:t>Section: in context learning, live in the Hawaii release. ROSI follows as its own section.</a:t>
            </a:r>
          </a:p>
        </p:txBody>
      </p:sp>
      <p:sp>
        <p:nvSpPr>
          <p:cNvPr id="4" name="Slide Number Placeholder 3">
            <a:extLst>
              <a:ext uri="{FF2B5EF4-FFF2-40B4-BE49-F238E27FC236}">
                <a16:creationId xmlns:a16="http://schemas.microsoft.com/office/drawing/2014/main" id="{184F75FC-A4FA-D999-EC21-8112C611EFC9}"/>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04275571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these are the problems in context learning cannot reach on its own, because nobody files a single correction for them. The symptom is spread across many files and the cause sits in an overlay, a template, a normalization rule or an integration. The outcome for the customer is fewer touches and lower cost per file, measured on numbers they already track.
Sources: 'Recursive Self Improvement on the Jazz Platform', Sep 2026: use case 01 residential mortgage (conditions the lender pays for twice), 02 loan setup and fulfillment (straight through processing that quietly slips; title company form change), 03 commercial lending (senior credit time spent redoing the same work), 04 software and assistants (failed tool calls and integration defects; fixes through engineering review and CI; 'for FDEs: an exact change target, its evidence and a reviewable next step'). Implicit signals such as a failed tool call: 'ROSI Learning System v2'.
Patterns are illustrative of what the analyzer would surface; they are not findings from a customer. Mortgage example: agency guidelines allow self employment of 12 to 24 months with prior same line experience, so a lender rule without that exception produces conditions underwriters clear. Commercial example: replacement reserves and market management fees are standard normalizations on multifamily operating statements.
None of these use cases is deployed. No metrics are quoted.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these are the problems in context learning cannot reach on its own, because nobody files a single correction for them. The symptom is spread across many files and the cause sits in an overlay, a template, a normalization rule or an integration. The outcome for the customer is fewer touches and lower cost per file, measured on numbers they already track.
Sources: 'Recursive Self Improvement on the Jazz Platform', Sep 2026: use case 01 residential mortgage (conditions the lender pays for twice), 02 loan setup and fulfillment (straight through processing that quietly slips; title company form change), 03 commercial lending (senior credit time spent redoing the same work), 04 software and assistants (failed tool calls and integration defects; fixes through engineering review and CI; 'for FDEs: an exact change target, its evidence and a reviewable next step'). Implicit signals such as a failed tool call: 'ROSI Learning System v2'.
Patterns are illustrative of what the analyzer would surface; they are not findings from a customer. Mortgage example: agency guidelines allow self employment of 12 to 24 months with prior same line experience, so a lender rule without that exception produces conditions underwriters clear. Commercial example: replacement reserves and market management fees are standard normalizations on multifamily operating statements.
None of these use cases is deployed. No metrics are quoted.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these are the problems in context learning cannot reach on its own, because nobody files a single correction for them. The symptom is spread across many files and the cause sits in an overlay, a template, a normalization rule or an integration. The outcome for the customer is fewer touches and lower cost per file, measured on numbers they already track.
Sources: 'Recursive Self Improvement on the Jazz Platform', Sep 2026: use case 01 residential mortgage (conditions the lender pays for twice), 02 loan setup and fulfillment (straight through processing that quietly slips; title company form change), 03 commercial lending (senior credit time spent redoing the same work), 04 software and assistants (failed tool calls and integration defects; fixes through engineering review and CI; 'for FDEs: an exact change target, its evidence and a reviewable next step'). Implicit signals such as a failed tool call: 'ROSI Learning System v2'.
Patterns are illustrative of what the analyzer would surface; they are not findings from a customer. Mortgage example: agency guidelines allow self employment of 12 to 24 months with prior same line experience, so a lender rule without that exception produces conditions underwriters clear. Commercial example: replacement reserves and market management fees are standard normalizations on multifamily operating statements.
None of these use cases is deployed. No metrics are quoted.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these are the problems in context learning cannot reach on its own, because nobody files a single correction for them. The symptom is spread across many files and the cause sits in an overlay, a template, a normalization rule or an integration. The outcome for the customer is fewer touches and lower cost per file, measured on numbers they already track.
Sources: 'Recursive Self Improvement on the Jazz Platform', Sep 2026: use case 01 residential mortgage (conditions the lender pays for twice), 02 loan setup and fulfillment (straight through processing that quietly slips; title company form change), 03 commercial lending (senior credit time spent redoing the same work), 04 software and assistants (failed tool calls and integration defects; fixes through engineering review and CI; 'for FDEs: an exact change target, its evidence and a reviewable next step'). Implicit signals such as a failed tool call: 'ROSI Learning System v2'.
Patterns are illustrative of what the analyzer would surface; they are not findings from a customer. Mortgage example: agency guidelines allow self employment of 12 to 24 months with prior same line experience, so a lender rule without that exception produces conditions underwriters clear. Commercial example: replacement reserves and market management fees are standard normalizations on multifamily operating statements.
None of these use cases is deployed. No metrics are quoted.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these are the problems in context learning cannot reach on its own, because nobody files a single correction for them. The symptom is spread across many files and the cause sits in an overlay, a template, a normalization rule or an integration. The outcome for the customer is fewer touches and lower cost per file, measured on numbers they already track.
Sources: 'Recursive Self Improvement on the Jazz Platform', Sep 2026: use case 01 residential mortgage (conditions the lender pays for twice), 02 loan setup and fulfillment (straight through processing that quietly slips; title company form change), 03 commercial lending (senior credit time spent redoing the same work), 04 software and assistants (failed tool calls and integration defects; fixes through engineering review and CI; 'for FDEs: an exact change target, its evidence and a reviewable next step'). Implicit signals such as a failed tool call: 'ROSI Learning System v2'.
Patterns are illustrative of what the analyzer would surface; they are not findings from a customer. Mortgage example: agency guidelines allow self employment of 12 to 24 months with prior same line experience, so a lender rule without that exception produces conditions underwriters clear. Commercial example: replacement reserves and market management fees are standard normalizations on multifamily operating statements.
None of these use cases is deployed. No metrics are quoted.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76C0A3-0EBD-9DA2-1ACE-82D0CE42C85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1459A1-272C-C83A-5695-1CF21FBE247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583845-1578-A1E8-CD47-77EB932D0C61}"/>
              </a:ext>
            </a:extLst>
          </p:cNvPr>
          <p:cNvSpPr>
            <a:spLocks noGrp="1"/>
          </p:cNvSpPr>
          <p:nvPr>
            <p:ph type="body" idx="1"/>
          </p:nvPr>
        </p:nvSpPr>
        <p:spPr/>
        <p:txBody>
          <a:bodyPr/>
          <a:lstStyle/>
          <a:p>
            <a:r>
              <a:rPr lang="en-US"/>
              <a:t>Section: in context learning, live in the Hawaii release. ROSI follows as its own section.</a:t>
            </a:r>
          </a:p>
        </p:txBody>
      </p:sp>
      <p:sp>
        <p:nvSpPr>
          <p:cNvPr id="4" name="Slide Number Placeholder 3">
            <a:extLst>
              <a:ext uri="{FF2B5EF4-FFF2-40B4-BE49-F238E27FC236}">
                <a16:creationId xmlns:a16="http://schemas.microsoft.com/office/drawing/2014/main" id="{B655F12E-7FCC-7F1E-68A3-3EAEBA248394}"/>
              </a:ext>
            </a:extLst>
          </p:cNvPr>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31955957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Section: in context learning, live in the Hawaii release. ROSI follows as its own section.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in context learning changes what the model sees, not the model. Medprompt showed that a general model reaches expert answers when each example carries its reasoning and the examples are chosen to match the question. We combine that with feedback: the examples come from our underwriters' and SMEs' corrections, and an SME approves each one before it is used.
Grounding: May 18 2026 deck, slide 10 ('Feedback infused MedPrompt style In Context Learning' recipe: definitions, hypothesis, benefits). Medprompt components per Nori et al. 2023: dynamic few shot selection, self generated chain of thought, choice shuffle ensemble.
By request, no data or metrics published before August 2026 are used in this section.</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lead with the problem. Every lender runs on overlays and judgment that no base model knows; today a correction fixes one loan and the next file repeats the mistake, and changing behavior means an engineering release. In context learning turns each approved correction into a lesson that applies from then on, for that lender only.
Available now (Hawaii release, Sep 2026): Jazz Assistant and platform agents apply SME approved lessons. 'Complete analysis' is the demo scenario (Jazz Assistant Governed Learning Demo Guide, 22 Sep 2026). 'The lender's own rules' was shown on a platform agent (signature verification). 'Answers within policy': out of scope questions can be restricted through thumbs down feedback. Format examples come from the Track 1 PRD (DTI components; strengths, weaknesses and red flags).
Next, V2 for reasoners: SME feedback on MACER conditions, captured at the condition and grouped by underwriting topic (DTI, self employed income, reserves, occupancy and others). Examples follow the Knowledge Studio Learning Loop PRD, 5 Oct 2026 ('DTI ceiling should allow compensating factors'; 'reserves threshold applied to the wrong occupancy type'; 'two year history not met'; 'declining income trend') and the reasoner error taxonomy in the ROSI deck (wrong threshold, overlay conflict, missing entity). The Learning Run tests the candidate before and after on the feedback loans and the golden dataset; one SME decision approves or rejects it.
Jazz Assistant applies approved lessons statically today; relevance based retrieval for the assistant is next (PAGI-2052).</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Play the recorded video (Indranil and Chanpreet; full path from the mortgage app to the platform to Studio and back). Introduce it with the problem on the left: an incomplete answer that every underwriter would otherwise work around by hand.
Scenario, per the Jazz Assistant Governed Learning Demo Guide (Notion, 22 Sep 2026): app-qa, Loans, Received Date All, Loan Stage Processing, loan 234001122333. Ask: 'Do the current earnings reconcile with the W-2 income history?' Feedback: Bad Response, Problem Type Incomplete, Severity Major, with what happened and what should have happened. In Feedback Viewer, filter Agent = luna_agent, open the item (Pending Review moves to In Review in about a minute), switch on 'Enable learning for agent' and 'Always use this feedback item', approve with a reason. Ask the same question again on the same loan. Conversation and Traces tabs keep the full record.
Arithmetic: 3,661.59 / 3,444.78 = 1.063, so 6.3% higher. Live fallback: the same run sheet in app-qa.</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this is the learning pipeline from the May 18 review, now running in the product. Feedback comes in from users, agents and evaluations; a recipe turns it into vetted lessons; at inference the right lessons reach the prompt, agent, reasoner, RAG step or process that serves the request; evaluation tells us whether the lesson helped. In context learning is the first recipe on this pipeline; ROSI adds harness learning on the same foundation.
Where it lives: Knowledge Studio is the tooling where people curate feedback, curate lessons and govern what is learned. The platform provides the services and frameworks underneath: the Learning Service in the kernel, the feedback and learning framework (Feedback Manager: capture, storage, retrieval) and the evaluation framework.
Sources: May 18 2026 deck, slides 6 to 8 (learning pipeline and how it works) and slide 4 (Learning Service in the kernel; learning and feedback and evaluation framework as horizontal services; Knowledge Studio for learning governance).</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feedback is processed once: structured, approved and embedded. After that, every similar request can use it. The model never changes; only the prompt does.
Sources: May 18 2026 deck, slide 11 (High Level Design: Learning Pipeline, initial request versus future requests, summary and embedding stores, k similar feedback above a configured threshold). Updated with the Feedback and Learning HLD, 4 Sep 2026 (SME review states, Juno assisted SBI rewrite, moderation and PII flags, static and dynamic fetch, non blocking injection) and ROSI Learning System v2, Sep 2026 (dynamic retrieval uses full text plus pgvector, merged and ranked, top K, similarity threshold).
Status: Jazz Assistant appends approved lessons to its system prompt (static). Dynamic retrieval for the assistant is PAGI-2052. Designed next: rank fusion and a reranker that judges relevance, because cosine similarity alone misses exact terms such as loan programs and policy codes.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learning is only useful if we can show it helped and broke nothing. Every learned change, whether a lesson for an agent, a policy edit for a reasoner or an update to a process, goes through the same pipeline: the cases it was meant to fix, the lender's golden dataset, before and after on the same inputs, then one SME decision.
Sources: May 18 2026 deck, slides 17 to 20 (evaluation lifecycle; structured evaluation framework with metric instructions and an LLM judge; evaluating agents workflow across local development, CI and CD, and production; sample metrics including groundedness, raw accuracy, reasoning transparency, coherence, relevance, retrieval score, harmful content, intent resolution, tool call accuracy, task adherence, response completeness, ungrounded attributes). Reasoner scoring and golden dataset reporting: Knowledge Studio Learning Loop PRD, 5 Oct 2026 (Resolved, Unchanged, Changed but not resolved; regressed, improved, unchanged with denominators; up to a configurable number of iterations). Process measures: ROSI deck, use cases (manual repair rate, processing completion, extraction accuracy). Cost and latency with accuracy: ROSI deck, Stage 03 Prove.
Status: post deployment evaluation exists today; the before approval test of a single lesson is in build with the Eval team; the reasoner Learning Run is specified. No lift figure is quoted: by request, no data or metrics published before August 2026 are used.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19</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the outcome is simple to state and to measure: an approved correction should improve every later result it applies to, and we should be able to show it. The initiatives fall into four groups: putting only the right lesson in front of the model, proving each lesson helps, extending learning from the assistant to the reasoners, and compounding what each lender teaches us. ROSI, in the next section, is the step after these.
Status sources: PAGI-2052, dynamic feedback for the luna agent, To Do (Jira, created 2 Sep 2026). Reranker and rank fusion: Feedback and Learning HLD, 4 Sep 2026. Lesson scope and review dates: Track 1 PRD (applicability scope, review date). Before and after test: in build with the Eval team. Feedback Hub and Learning Run: Knowledge Studio Learning Loop PRD, 5 Oct 2026. Implicit signals: later phase in the same PRD. Efficacy prediction, policy driven routing and feedback to fine tuning: May 18 2026 deck, slide 15 (future learning research). Outcome measures: resolution rate, regression rate and time from feedback to live are the later phase analytics in the Learning Loop PRD.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Section source decks, Sep 30 2026 workshop folder: 'Recursive Self Improvement on the Jazz Platform' (Sep 2026), 'ROSI Learning System v2' and 'ROSI Platform Learning System Design'. Owner: Sourav Chakraborty.
Transition: in context learning changes what the model sees when someone tells it what went wrong. ROSI is the next step: the platform finds what went wrong on its own, across many files, and fixes the component that caused it.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21</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in context learning is in production and learns from what people tell it. It is fast and governed, but it depends on someone noticing the problem, describing the fix and the fix belonging in the prompt. ROSI learns from what actually happens on the files, including the corrections nobody reports, works out which component caused the problem, and changes that component with proof. Both end in the same place: an SME approves before anything goes live, and the model is not retrained.
Sources: 'Recursive Self Improvement on the Jazz Platform', Sep 2026: 'Where learning happens' (model, harness and context layers; harness learning not built, this proposal would build it; context learning live; 'this proposal governs and ranks what enters it'), 'Existing foundations' (feedback, Juno reflection, context learning, evaluation), Stage 01 (explicit and implicit signals), Stage 02 (attribution with the test that would settle it), Stage 03 (replay, held out cases), Stage 04 (versioned approval, rollback point). 'ROSI Learning System v2': implicit signals from product analytics and runs. Example: reserves threshold applied to the wrong occupancy type is a feedback example in the Knowledge Studio Learning Loop PRD, 5 Oct 2026; the ROSI version assumes no feedback was filed and the pattern is found from outcomes.
Status: ROSI is a proposal with a working prototype (Sourav); harness learning is not built.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these are the problems in context learning cannot reach on its own, because nobody files a single correction for them. The symptom is spread across many files and the cause sits in an overlay, a template, a normalization rule or an integration. The outcome for the customer is fewer touches and lower cost per file, measured on numbers they already track.
Sources: 'Recursive Self Improvement on the Jazz Platform', Sep 2026: use case 01 residential mortgage (conditions the lender pays for twice), 02 loan setup and fulfillment (straight through processing that quietly slips; title company form change), 03 commercial lending (senior credit time spent redoing the same work), 04 software and assistants (failed tool calls and integration defects; fixes through engineering review and CI; 'for FDEs: an exact change target, its evidence and a reviewable next step'). Implicit signals such as a failed tool call: 'ROSI Learning System v2'.
Patterns are illustrative of what the analyzer would surface; they are not findings from a customer. Mortgage example: agency guidelines allow self employment of 12 to 24 months with prior same line experience, so a lender rule without that exception produces conditions underwriters clear. Commercial example: replacement reserves and market management fees are standard normalizations on multifamily operating statements.
None of these use cases is deployed. No metrics are quoted.</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in the lender's terms, the value is that they stop paying for the same mistake twice. Corrections their people make become rule changes for their configuration, each one tested on their own past loans and approved by their SME, with the record an examiner would ask for. That configuration, built from their own judgment, is also what a competitor cannot copy.
Source: 'Recursive Self Improvement on the Jazz Platform', Sep 2026, 'The case for it: what changes when the loop closes' (expertise, speed, cost of proof, governance, account value, measurement), restated in the lender's terms; 'Stage 04 Decide' (change ledger from signal to rollback point, queryable by a customer or a regulator); 'Stage 03 Prove' (replay on recorded episodes at close to no execution cost). 'Why now' reflects the Sep 29 review agenda: learning is a key differentiator as mortgage goes into production with a few customers.
These are expected outcomes of the proposal, not measured results.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four stages, each leaving a record. Signals are weighed before they count, because leaving a session can mean success or failure. Attribution names a likely component and the test that would settle it. A change is proven by replaying it next to the current version on cases we already recorded, then on cases the learner never saw. An SME approves the exact version. Everything, including failed attempts, is remembered with the dates and versions it applies to.
Sources: 'Recursive Self Improvement on the Jazz Platform', Sep 2026: ROSI architecture (learn from outcomes, investigate the cause, propose evaluate approve and act, remember and adapt; builds on SDK, feedback, reflection, in context learning, evaluation and release; ROSI adds periodic analyzer, shared evidence and temporal memory), existing foundations, Stage 01 Observe and interpret (explicit and implicit, positive and negative signals; polarity, confidence, weight), Stage 02 Attribute (wrong threshold, overlay conflict, missing entity, ambiguous answer, right policy unused, preference or format, the model itself), Stage 03 Prove (replay, baseline against candidate on the same episode, held out cases, frozen judge, cohort scoring, cost and latency with accuracy), Stage 04 Decide, Memory and recursive learning (episodes, lessons, attempts; temporal memory; learning how to learn). 'ROSI Learning System v2': 'no usable change is a valid result'.</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Talk track: every agentic service, the assistant, the reasoners, process agents and customer solutions, joins the loop the same way: through the JazzX SDK it submits feedback and traces, and it registers a handler so it can explain its own runs. The learning agents run on the same SDK harness, in a sandbox with no production writes. People are in the loop at the points that matter: they set the mandate, check the diagnosis, approve the exact release and can roll it back.
On owner versus SME: the approver is the lender's SME, the human domain expert the design calls for. A software or configuration change also goes through engineering review and CI. The mandate can be set by an SME or a product owner.
Sources: 'ROSI Learning System v2' and 'ROSI Platform Learning System Design', Sep 2026: summary (the JazzX SDK provides a shared harness for running agents, using memory and enforcing limits; all JazzX agentic services adopt the SDK; feedback intake and reflection are separate interfaces; a service submits feedback through the SDK and registers a reflection handler; Feedback Manager requests reflection; services do not build their own learning stack), shared learning system (attribution agent, analyzer run periodically, experiment learner, domain pack memory), common harness (Plato host, SDK harness, pinned release), human control (authorize scope and budget, pause or cancel, sandbox with no production writes, independent eval, learner cannot change acceptance policy, version bound approval, canary, rollback). 'Recursive Self Improvement on the Jazz Platform': Stage 02 (SME sampling protocol checks the diagnosis before any candidate is generated), Stage 04 (approve, reject, request more evidence, bounded production test with automatic revert), use case 04 (assistant fixes use skill review, software fixes use engineering review and CI).
Design controls to mention if asked: fresh evidence and adjudicated diagnoses so repeated guesses do not become facts; a protected acceptance set and regression cases against overfitting and noisy judges; budget reservations and one release authority against runaway cost or conflicting edits; instance scope, expiry and provenance for private data and stale lessons.</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a:p>
        </p:txBody>
      </p:sp>
      <p:sp>
        <p:nvSpPr>
          <p:cNvPr id="4" name="Slide Number Placeholder 3"/>
          <p:cNvSpPr>
            <a:spLocks noGrp="1"/>
          </p:cNvSpPr>
          <p:nvPr>
            <p:ph type="sldNum"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endParaRPr kumimoji="0"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Section: Acra Lending DSCR lighthouse, status since the September 8 platform review. Inputs: Kay Feng (Acra_Lighthouse_Deck.pptx and Acra Project 1.xlsx, Oct 5), Raghavendra Subbanna (engineering), Mike Romano (deal owner), Eshwar Belani (lighthouse proposal).</a:t>
            </a:r>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30</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Talk track: Acra sees and tests four things on its own loans. Everything is scored against Acra’s own decisions, conditions and worksheets, and the output is a recommendation to Acra’s underwriters, never an approval. Acra carries no financial obligation during the lighthouse. The production commitments apply only once live in Acra’s workflow. Two scoring bars are still open and get locked in Week 1.</a:t>
            </a:r>
          </a:p>
          <a:p>
            <a:endParaRPr/>
          </a:p>
          <a:p>
            <a:r>
              <a:t>Sources: JazzX_Acra_Lighthouse_Opportunity 09-18-26.pdf (sent to Acra Sep 20); Acra_Lighthouse_Project_Plan (Sep 22); Acra_Lighthouse_Deck (Kay Feng, Oct 5); consolidated Standard and Platinum Select guidelines v1.0 (Sep 18). Platinum minimum DSCR: 1.00 wholesale, 1.20 correspondent.</a:t>
            </a: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Talk track: this is the working plan from the project workbook, at task level, with owners. It replaces a separate next steps slide. The first week is the critical path and most of it sits with Acra: charter, guideline approval, BytePro confirmation, sample loans with Acra’s results, and the success criteria. Manual underwriting runs in parallel from Day 1 as independent ground truth and still needs a named owner. Reasoner testing starts once guidelines are approved. Underwriters do not see AI output before the first full scoring run on Day 12.</a:t>
            </a:r>
          </a:p>
          <a:p>
            <a:endParaRPr/>
          </a:p>
          <a:p>
            <a:r>
              <a:t>Dates if Day 1 is Oct 5: Week 1 Oct 5 to 9, Week 2 Oct 12 to 16, Week 3 Oct 19 to 23, Week 4 Oct 26 to 30. Milestone gates at D5 (M1), D10 (M2), D15 (M3), D20 (M4).</a:t>
            </a:r>
          </a:p>
          <a:p>
            <a:endParaRPr/>
          </a:p>
          <a:p>
            <a:r>
              <a:t>Source: Acra Project 1.xlsx, Workstream Gantt tab (Kay Feng, Oct 5). Task names lightly shortened; owners as written in the workbook.</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33</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34</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35</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36</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Aptos" panose="0211000402020202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37</a:t>
            </a:fld>
            <a:endParaRPr kumimoji="0" lang="en-US" sz="1800" b="0" i="0" u="none" strike="noStrike" kern="1200" cap="none" spc="0" normalizeH="0" baseline="0" noProof="0">
              <a:ln>
                <a:noFill/>
              </a:ln>
              <a:solidFill>
                <a:prstClr val="black"/>
              </a:solidFill>
              <a:effectLst/>
              <a:uLnTx/>
              <a:uFillTx/>
              <a:latin typeface="Aptos" panose="0211000402020202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a:extLst>
            <a:ext uri="{FF2B5EF4-FFF2-40B4-BE49-F238E27FC236}">
              <a16:creationId xmlns:a16="http://schemas.microsoft.com/office/drawing/2014/main" id="{82C41446-72FD-F248-9E1C-5FA24846E57E}"/>
            </a:ext>
          </a:extLst>
        </p:cNvPr>
        <p:cNvGrpSpPr/>
        <p:nvPr/>
      </p:nvGrpSpPr>
      <p:grpSpPr>
        <a:xfrm>
          <a:off x="0" y="0"/>
          <a:ext cx="0" cy="0"/>
          <a:chOff x="0" y="0"/>
          <a:chExt cx="0" cy="0"/>
        </a:xfrm>
      </p:grpSpPr>
      <p:sp>
        <p:nvSpPr>
          <p:cNvPr id="285" name="Google Shape;285;p5:notes">
            <a:extLst>
              <a:ext uri="{FF2B5EF4-FFF2-40B4-BE49-F238E27FC236}">
                <a16:creationId xmlns:a16="http://schemas.microsoft.com/office/drawing/2014/main" id="{D7F5D404-BBF3-2202-F0A3-917A28FF4ED6}"/>
              </a:ext>
            </a:extLst>
          </p:cNvPr>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6" name="Google Shape;286;p5:notes">
            <a:extLst>
              <a:ext uri="{FF2B5EF4-FFF2-40B4-BE49-F238E27FC236}">
                <a16:creationId xmlns:a16="http://schemas.microsoft.com/office/drawing/2014/main" id="{2B4AF39B-309D-F938-4BD3-D3386FF89CE5}"/>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679021441"/>
      </p:ext>
    </p:extLst>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the purpose in one breath: a flexible, extensible, architecturally consistent SDK that is feature rich for our domains, and that teams adopt at their own pace by picking individual features and keeping their own code for the rest, until they are ready to use more and to build their new work on the SDK so it feeds the SDK. Before it, the plumbing every service used to rebuild (LLM routing, tracing, knowledge access, policy checks, evaluation) is built once and shared, and so a team can work on its domain without learning how the platform is put together. Three audiences: product teams import it as a library and keep their service; solution engineers author a pack and publish it to Plato; platform, eval and SME teams get one governed record to prove and improve against.</a:t>
            </a:r>
          </a:p>
          <a:p/>
          <a:p>
            <a:r>
              <a:t>Sources: japes README and docs/ARCHITECTURE.md at 2.6.2 (library and service consumption, tiers, 'JAPES provides, the client owns'); 'Three Platform Terms, Explained' (Aug 2026): six-week assistant proof point with its two caveats (still in active development then; built on substantial earlier mortgage work); Platform/SDK demo runbook (Sep 29, for the workshop planned next month): Acra dscr-core pack, three policy files, one profile, no Python; the integration half (adapter, LTV calculator, role bindings) is where the money goes.</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hold the three apart by lifecycle stage. jstack makes it cheap to run the whole platform while developing; the SDK is what products are built from and is the layer designed to work across domains; Juno lets people who cannot open a repo author configurations. The useful question is not which wins but where the seams sit, and the seams are generational: Juno and jstack are v1 and mortgage-shaped, the SDK is v2.</a:t>
            </a:r>
          </a:p>
          <a:p/>
          <a:p>
            <a:r>
              <a:t>Sources: 'Three Platform Terms, Explained' (11 Aug 2026, side-by-side table) with scope updated to Oct 2026 from the japes repo (sample and seed packs: clinical intake, Acra DSCR, CRE spread, home mortgage, C&amp;I spread); architect assessment 'jstack, JAPES and Juno' R5 (generations table, Juno emits kernel agent rows, jstack runs about 30 services); Plato service architecture and build plan (Juno/Studio as an authoring UI over Plato's control plane; jstack gets one Plato service definition). The Notion copy of the three-terms page still says SDK v1.9.5; the figures here are from the repo.</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read the left column bottom up. The execution service wraps the OpenAI Agents SDK and makes it governed: one gateway for three providers, retries, tracing, cost. Platform agents are task agents defined as data. Pipelines are declared step sequences the Conductor runs. The middle column is what everything reads and writes: canonical objects, with Policy as the one that matters most because rules live as typed data and are checked deterministically and formally, over one fabric that fronts every store. The right column is the library built from those pieces: policy document to JTBDs, document to code, JTBD to code, documents to data, the unified assistant framework and the evaluation framework.</a:t>
            </a:r>
          </a:p>
          <a:p/>
          <a:p>
            <a:r>
              <a:t>Status: 2.6.0 (Plato 0.2.0) merged to main on Oct 5, 2026; 2.6.1 on dev; 2.6.2 on the plato branch, in review; consumers pin 2.5.7. Sources: japes README and docs/ARCHITECTURE.md; CHANGELOG 2.5.7 to 2.6.2 (JTBD ledger, python_jobs, rule trials and rules library, corrections to gold cases, silver reference, scanned documents); plan_sibling_ideas_oct.md; FORMAL_EVALUATION.md. Formal checks run locally today; deployed Plato refuses them until an isolated job service is configured. Numbers counted in the japes working tree on Oct 12, 2026 (find and wc over *.py; grep for def test_; git rev-list; CHANGELOG headings and line-count tags).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concrete first. Jazz Assistant is the home mortgage solution and the proof that the framework cost goes away: a few thousand lines of product code on the InteractiveAgent, and shrinking. Acra DSCR is a different thing, a new use case built on the SDK from the start. Three teams are moving onto SDK frameworks the SDK already provides: the assistant team onto the unified assistant framework, the eval team onto the evaluation framework, and policy workbench onto the policy library when the plan says so. The product manager owns the migration plan; a first group lands in Jamaica. Then the experiments, labelled as experiments, and the honest word on verticals: financial services is real, healthcare is a demo pack, retail has nothing yet.</a:t>
            </a:r>
          </a:p>
          <a:p/>
          <a:p>
            <a:r>
              <a:t>Sources: the user's own status (Oct 12): Jazz Assistant is the home mortgage solution; Acra Lending DSCR is a separate new use case entirely on the SDK; the assistant's code base is small because it relies on the InteractiveAgent and will shrink with the chat pipeline; its work makes the policy workbench assistant's switch quick. 'Jazz Chat Assistant on the Jazz SDK' deck from the assistant team (LOC by component: grounding 1,800, turn lifecycle 800, observability 500, safety gate 450, citations 250, topology 100; tests and prompts 1.6x product code; Hawaii capabilities; dedup removed about 25% of conditions; gate catches 65% of 115 attacks and refuses 98% of out-of-scope questions; latency 4 to 5 minutes today against a 45 to 60 second target, fixes are SDK runtime work); assistant team adopting the unified assistant framework; eval team on the eval framework; policy workbench as a migration candidate; the product manager's migration plan for Jamaica. 'Three Platform Terms, Explained' (six weeks, with caveats). Notion 'Jazzx-Assistant' pages (requirements on japes and plato 2.5.6 chat). japes seed and sample packs; Plato pilot findings (Sep 28, DSCR and clinical intake on a local Plato); jazzx_eval_contracts in the japes repo; FORMAL_EVALUATION.md; plan_sibling_ideas_oct.md (policy-workbench lint and guideline versioning ported into the SDK).</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Talk track: the SDK is one library with one handler contract, and the runtime is a deployment choice, not a code change. Today we run it as a distributed system: images built on the SDK, one per extension, triggered off storage queues as Azure Container Apps jobs. Plato is the SDK hosted: one container takes a pack definition and serves every capability from it, multi-tenant, scaling horizontally on load, with publish and activate instead of a deploy. A hybrid keeps Plato in front for interactive work and the control plane, and sends long batch work to SDK jobs through the same queue contract. The client package matters for customers and partners: they integrate against Plato's routes and never hold the SDK, so the policy IR, prompts and contracts stay inside the container.</a:t>
            </a:r>
          </a:p>
          <a:p/>
          <a:p>
            <a:r>
              <a:t>Convergence: Plato proxies Kernel and converts agents one at a time (metric: kernel agent rows with no v2 representation, weekly); Jazz Assistant becomes a manifest and a pack; Studio writes into Plato's control plane (decisions with the Studio owner); eval-service is consumed first, then scorer thresholds resolve from the pack's policy, absorption decided separately. Open: who owns process start. The roadmap date is a placeholder for this draft; confirm before presenting.</a:t>
            </a:r>
          </a:p>
          <a:p/>
          <a:p>
            <a:r>
              <a:t>Sources: docs/ARCHITECTURE.md and README at 2.6.2 (queue, server, dual, Plato; jazzx-plato-client install with no SDK); Plato service architecture and build plan (five planes, absorption path, decisions D1 to D5); demo runbook for next month's workshop, 'Why not ship the library?' (a wheel is source code with a different extension; outsiders get the hosted container); CHANGELOG 2.6.0 (Plato client package for clients working with Plato without jazzx_sdk).</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3.sv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7.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5.png"/><Relationship Id="rId3" Type="http://schemas.openxmlformats.org/officeDocument/2006/relationships/image" Target="../media/image6.sv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8.png"/><Relationship Id="rId3" Type="http://schemas.openxmlformats.org/officeDocument/2006/relationships/image" Target="../media/image9.svg"/><Relationship Id="rId4" Type="http://schemas.openxmlformats.org/officeDocument/2006/relationships/image" Target="../media/image10.png"/><Relationship Id="rId5" Type="http://schemas.microsoft.com/office/2007/relationships/hdphoto" Target="../media/hdphoto1.wdp"/></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1.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2.pn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13.pn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pn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14.pn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Right Photo Divider">
    <p:spTree>
      <p:nvGrpSpPr>
        <p:cNvPr id="1" name=""/>
        <p:cNvGrpSpPr/>
        <p:nvPr/>
      </p:nvGrpSpPr>
      <p:grpSpPr>
        <a:xfrm>
          <a:off x="0" y="0"/>
          <a:ext cx="0" cy="0"/>
          <a:chOff x="0" y="0"/>
          <a:chExt cx="0" cy="0"/>
        </a:xfrm>
      </p:grpSpPr>
      <p:sp>
        <p:nvSpPr>
          <p:cNvPr id="8" name="Snip Single Corner Rectangle 7">
            <a:extLst>
              <a:ext uri="{FF2B5EF4-FFF2-40B4-BE49-F238E27FC236}">
                <a16:creationId xmlns:a16="http://schemas.microsoft.com/office/drawing/2014/main" id="{C31C688F-B23D-2E03-7F9B-7EE8C871813E}"/>
              </a:ext>
            </a:extLst>
          </p:cNvPr>
          <p:cNvSpPr/>
          <p:nvPr userDrawn="1"/>
        </p:nvSpPr>
        <p:spPr>
          <a:xfrm>
            <a:off x="0" y="313442"/>
            <a:ext cx="7221891" cy="6544558"/>
          </a:xfrm>
          <a:prstGeom prst="snip1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Outfit" pitchFamily="2" charset="0"/>
            </a:endParaRPr>
          </a:p>
        </p:txBody>
      </p:sp>
      <p:sp>
        <p:nvSpPr>
          <p:cNvPr id="5" name="Title 1">
            <a:extLst>
              <a:ext uri="{FF2B5EF4-FFF2-40B4-BE49-F238E27FC236}">
                <a16:creationId xmlns:a16="http://schemas.microsoft.com/office/drawing/2014/main" id="{FD9DDF83-9035-1EEC-6EA7-5253EEF4B0C1}"/>
              </a:ext>
            </a:extLst>
          </p:cNvPr>
          <p:cNvSpPr>
            <a:spLocks noGrp="1"/>
          </p:cNvSpPr>
          <p:nvPr>
            <p:ph type="ctrTitle" hasCustomPrompt="1"/>
          </p:nvPr>
        </p:nvSpPr>
        <p:spPr>
          <a:xfrm>
            <a:off x="716639" y="644578"/>
            <a:ext cx="5296234" cy="2169825"/>
          </a:xfrm>
          <a:prstGeom prst="rect">
            <a:avLst/>
          </a:prstGeom>
          <a:noFill/>
        </p:spPr>
        <p:txBody>
          <a:bodyPr wrap="square" rtlCol="0" anchor="b">
            <a:spAutoFit/>
          </a:bodyPr>
          <a:lstStyle>
            <a:lvl1pPr>
              <a:defRPr lang="en-US" sz="5000" b="1" dirty="0">
                <a:solidFill>
                  <a:schemeClr val="bg1"/>
                </a:solidFill>
                <a:latin typeface="Outfit" pitchFamily="2" charset="0"/>
                <a:ea typeface="+mn-ea"/>
                <a:cs typeface="Archivo" pitchFamily="2" charset="0"/>
              </a:defRPr>
            </a:lvl1pPr>
          </a:lstStyle>
          <a:p>
            <a:pPr marL="0" lvl="0">
              <a:spcAft>
                <a:spcPts val="1800"/>
              </a:spcAft>
            </a:pPr>
            <a:r>
              <a:rPr lang="en-US"/>
              <a:t>Click to add Presentation Title</a:t>
            </a:r>
          </a:p>
        </p:txBody>
      </p:sp>
      <p:sp>
        <p:nvSpPr>
          <p:cNvPr id="10" name="Subtitle 2">
            <a:extLst>
              <a:ext uri="{FF2B5EF4-FFF2-40B4-BE49-F238E27FC236}">
                <a16:creationId xmlns:a16="http://schemas.microsoft.com/office/drawing/2014/main" id="{CCBC8692-9604-290A-498E-FF6BD92DA449}"/>
              </a:ext>
            </a:extLst>
          </p:cNvPr>
          <p:cNvSpPr>
            <a:spLocks noGrp="1"/>
          </p:cNvSpPr>
          <p:nvPr>
            <p:ph type="subTitle" idx="1" hasCustomPrompt="1"/>
          </p:nvPr>
        </p:nvSpPr>
        <p:spPr>
          <a:xfrm>
            <a:off x="716639" y="3114340"/>
            <a:ext cx="5296234" cy="1116203"/>
          </a:xfrm>
          <a:prstGeom prst="rect">
            <a:avLst/>
          </a:prstGeom>
          <a:noFill/>
        </p:spPr>
        <p:txBody>
          <a:bodyPr wrap="square" rtlCol="0">
            <a:spAutoFit/>
          </a:bodyPr>
          <a:lstStyle>
            <a:lvl1pPr marL="0" indent="0">
              <a:buNone/>
              <a:defRPr lang="en-US" sz="2400" b="0" i="0">
                <a:solidFill>
                  <a:schemeClr val="bg1"/>
                </a:solidFill>
                <a:latin typeface="Outfit" pitchFamily="2" charset="0"/>
                <a:cs typeface="Archivo Light" pitchFamily="2" charset="77"/>
              </a:defRPr>
            </a:lvl1pPr>
          </a:lstStyle>
          <a:p>
            <a:pPr marL="0" lvl="0">
              <a:spcAft>
                <a:spcPts val="1800"/>
              </a:spcAft>
            </a:pPr>
            <a:r>
              <a:rPr lang="en-US"/>
              <a:t>Click to add subtitle</a:t>
            </a:r>
          </a:p>
          <a:p>
            <a:pPr marL="0" lvl="0">
              <a:spcAft>
                <a:spcPts val="1800"/>
              </a:spcAft>
            </a:pPr>
            <a:endParaRPr lang="en-US"/>
          </a:p>
        </p:txBody>
      </p:sp>
      <p:sp>
        <p:nvSpPr>
          <p:cNvPr id="11" name="Text Placeholder 14">
            <a:extLst>
              <a:ext uri="{FF2B5EF4-FFF2-40B4-BE49-F238E27FC236}">
                <a16:creationId xmlns:a16="http://schemas.microsoft.com/office/drawing/2014/main" id="{53313EBE-08CE-CC4A-3B9A-075046819D6F}"/>
              </a:ext>
            </a:extLst>
          </p:cNvPr>
          <p:cNvSpPr>
            <a:spLocks noGrp="1"/>
          </p:cNvSpPr>
          <p:nvPr>
            <p:ph type="body" sz="quarter" idx="10" hasCustomPrompt="1"/>
          </p:nvPr>
        </p:nvSpPr>
        <p:spPr>
          <a:xfrm>
            <a:off x="716639" y="5467440"/>
            <a:ext cx="2212358" cy="341632"/>
          </a:xfrm>
          <a:prstGeom prst="rect">
            <a:avLst/>
          </a:prstGeom>
          <a:noFill/>
        </p:spPr>
        <p:txBody>
          <a:bodyPr wrap="square" rtlCol="0">
            <a:spAutoFit/>
          </a:bodyPr>
          <a:lstStyle>
            <a:lvl1pPr marL="0" indent="0">
              <a:buNone/>
              <a:defRPr lang="en-US" sz="1800" b="0" i="0" dirty="0">
                <a:solidFill>
                  <a:schemeClr val="bg1"/>
                </a:solidFill>
                <a:latin typeface="Outfit" pitchFamily="2" charset="0"/>
                <a:cs typeface="Archivo Light" pitchFamily="2" charset="77"/>
              </a:defRPr>
            </a:lvl1pPr>
          </a:lstStyle>
          <a:p>
            <a:pPr marL="0" lvl="0"/>
            <a:r>
              <a:rPr lang="en-US"/>
              <a:t>Date</a:t>
            </a:r>
          </a:p>
        </p:txBody>
      </p:sp>
      <p:sp>
        <p:nvSpPr>
          <p:cNvPr id="3" name="Text Placeholder 14">
            <a:extLst>
              <a:ext uri="{FF2B5EF4-FFF2-40B4-BE49-F238E27FC236}">
                <a16:creationId xmlns:a16="http://schemas.microsoft.com/office/drawing/2014/main" id="{43265BAC-335F-0BDF-2920-C80FFDE5692E}"/>
              </a:ext>
            </a:extLst>
          </p:cNvPr>
          <p:cNvSpPr>
            <a:spLocks noGrp="1"/>
          </p:cNvSpPr>
          <p:nvPr>
            <p:ph type="body" sz="quarter" idx="11" hasCustomPrompt="1"/>
          </p:nvPr>
        </p:nvSpPr>
        <p:spPr>
          <a:xfrm>
            <a:off x="716639" y="5942212"/>
            <a:ext cx="2212358" cy="341632"/>
          </a:xfrm>
          <a:prstGeom prst="rect">
            <a:avLst/>
          </a:prstGeom>
          <a:noFill/>
        </p:spPr>
        <p:txBody>
          <a:bodyPr wrap="square" rtlCol="0">
            <a:spAutoFit/>
          </a:bodyPr>
          <a:lstStyle>
            <a:lvl1pPr marL="0" indent="0">
              <a:buNone/>
              <a:defRPr lang="en-US" sz="1800" b="0" i="0" dirty="0">
                <a:solidFill>
                  <a:schemeClr val="bg1"/>
                </a:solidFill>
                <a:latin typeface="Outfit" pitchFamily="2" charset="0"/>
                <a:cs typeface="Archivo Light" pitchFamily="2" charset="77"/>
              </a:defRPr>
            </a:lvl1pPr>
          </a:lstStyle>
          <a:p>
            <a:pPr marL="0" lvl="0"/>
            <a:r>
              <a:rPr lang="en-US"/>
              <a:t>Presenter</a:t>
            </a:r>
          </a:p>
        </p:txBody>
      </p:sp>
      <p:pic>
        <p:nvPicPr>
          <p:cNvPr id="7" name="Graphic 6">
            <a:extLst>
              <a:ext uri="{FF2B5EF4-FFF2-40B4-BE49-F238E27FC236}">
                <a16:creationId xmlns:a16="http://schemas.microsoft.com/office/drawing/2014/main" id="{6D9B48DB-BD17-78C9-723C-FCFFA7F4A21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48643" y="4771309"/>
            <a:ext cx="2352368" cy="475686"/>
          </a:xfrm>
          <a:prstGeom prst="rect">
            <a:avLst/>
          </a:prstGeom>
        </p:spPr>
      </p:pic>
    </p:spTree>
    <p:extLst>
      <p:ext uri="{BB962C8B-B14F-4D97-AF65-F5344CB8AC3E}">
        <p14:creationId xmlns:p14="http://schemas.microsoft.com/office/powerpoint/2010/main" val="34534941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4" name="Title Placeholder 1">
            <a:extLst>
              <a:ext uri="{FF2B5EF4-FFF2-40B4-BE49-F238E27FC236}">
                <a16:creationId xmlns:a16="http://schemas.microsoft.com/office/drawing/2014/main" id="{534BF60E-56D7-E476-4354-77087FE84E7A}"/>
              </a:ext>
            </a:extLst>
          </p:cNvPr>
          <p:cNvSpPr>
            <a:spLocks noGrp="1"/>
          </p:cNvSpPr>
          <p:nvPr>
            <p:ph type="title"/>
          </p:nvPr>
        </p:nvSpPr>
        <p:spPr>
          <a:xfrm>
            <a:off x="403633" y="528608"/>
            <a:ext cx="11345023" cy="538417"/>
          </a:xfrm>
          <a:prstGeom prst="rect">
            <a:avLst/>
          </a:prstGeom>
          <a:noFill/>
        </p:spPr>
        <p:txBody>
          <a:bodyPr wrap="square" rtlCol="0">
            <a:spAutoFit/>
          </a:bodyPr>
          <a:lstStyle>
            <a:lvl1pPr>
              <a:defRPr sz="3200" b="1">
                <a:solidFill>
                  <a:schemeClr val="bg1"/>
                </a:solidFill>
                <a:latin typeface="Outfit" pitchFamily="2" charset="0"/>
              </a:defRPr>
            </a:lvl1pPr>
          </a:lstStyle>
          <a:p>
            <a:pPr marL="0" lvl="0"/>
            <a:r>
              <a:rPr lang="en-US"/>
              <a:t>Click to edit Master title style</a:t>
            </a:r>
          </a:p>
        </p:txBody>
      </p:sp>
      <p:sp>
        <p:nvSpPr>
          <p:cNvPr id="4" name="Text Placeholder 3">
            <a:extLst>
              <a:ext uri="{FF2B5EF4-FFF2-40B4-BE49-F238E27FC236}">
                <a16:creationId xmlns:a16="http://schemas.microsoft.com/office/drawing/2014/main" id="{77DA4A3B-8A26-00B6-9AD3-03B8B9E3BB58}"/>
              </a:ext>
            </a:extLst>
          </p:cNvPr>
          <p:cNvSpPr>
            <a:spLocks noGrp="1"/>
          </p:cNvSpPr>
          <p:nvPr>
            <p:ph type="body" sz="quarter" idx="10"/>
          </p:nvPr>
        </p:nvSpPr>
        <p:spPr>
          <a:xfrm>
            <a:off x="403633" y="1828800"/>
            <a:ext cx="11345022" cy="4500591"/>
          </a:xfrm>
          <a:prstGeom prst="rect">
            <a:avLst/>
          </a:prstGeom>
        </p:spPr>
        <p:txBody>
          <a:bodyPr vert="horz" lIns="91440" tIns="45720" rIns="91440" bIns="45720" rtlCol="0">
            <a:normAutofit/>
          </a:bodyPr>
          <a:lstStyle>
            <a:lvl1pPr>
              <a:buClr>
                <a:schemeClr val="accent1"/>
              </a:buClr>
              <a:defRPr lang="en-US" sz="1800" b="0" i="0" dirty="0" smtClean="0">
                <a:solidFill>
                  <a:schemeClr val="bg1"/>
                </a:solidFill>
                <a:latin typeface="Outfit" pitchFamily="2" charset="0"/>
              </a:defRPr>
            </a:lvl1pPr>
            <a:lvl2pPr>
              <a:buClr>
                <a:schemeClr val="accent1"/>
              </a:buClr>
              <a:defRPr lang="en-US" sz="1800" b="0" i="0" dirty="0" smtClean="0">
                <a:solidFill>
                  <a:schemeClr val="bg1"/>
                </a:solidFill>
                <a:latin typeface="Outfit" pitchFamily="2" charset="0"/>
              </a:defRPr>
            </a:lvl2pPr>
            <a:lvl3pPr>
              <a:buClr>
                <a:schemeClr val="accent1"/>
              </a:buClr>
              <a:defRPr lang="en-US" sz="1800" b="0" i="0" dirty="0" smtClean="0">
                <a:solidFill>
                  <a:schemeClr val="bg1"/>
                </a:solidFill>
                <a:latin typeface="Outfit" pitchFamily="2" charset="0"/>
              </a:defRPr>
            </a:lvl3pPr>
            <a:lvl4pPr>
              <a:buClr>
                <a:schemeClr val="accent1"/>
              </a:buClr>
              <a:defRPr lang="en-US" b="0" i="0" dirty="0" smtClean="0">
                <a:solidFill>
                  <a:schemeClr val="bg1"/>
                </a:solidFill>
                <a:latin typeface="Outfit" pitchFamily="2" charset="0"/>
              </a:defRPr>
            </a:lvl4pPr>
            <a:lvl5pPr>
              <a:buClr>
                <a:schemeClr val="accent1"/>
              </a:buClr>
              <a:defRPr lang="en-US" b="0" i="0" dirty="0">
                <a:solidFill>
                  <a:schemeClr val="bg1"/>
                </a:solidFill>
                <a:latin typeface="Outfit" pitchFamily="2" charset="0"/>
              </a:defRPr>
            </a:lvl5pPr>
          </a:lstStyle>
          <a:p>
            <a:pPr marL="285750" lvl="0" indent="-285750">
              <a:buClr>
                <a:schemeClr val="accent1"/>
              </a:buClr>
            </a:pPr>
            <a:r>
              <a:rPr lang="en-US"/>
              <a:t>Click to edit Master text styles</a:t>
            </a:r>
          </a:p>
          <a:p>
            <a:pPr marL="742950" lvl="1" indent="-285750">
              <a:buClr>
                <a:schemeClr val="accent1"/>
              </a:buClr>
            </a:pPr>
            <a:r>
              <a:rPr lang="en-US"/>
              <a:t>Second level</a:t>
            </a:r>
          </a:p>
          <a:p>
            <a:pPr marL="1200150" lvl="2" indent="-285750">
              <a:buClr>
                <a:schemeClr val="accent1"/>
              </a:buClr>
            </a:pPr>
            <a:r>
              <a:rPr lang="en-US"/>
              <a:t>Third level</a:t>
            </a:r>
          </a:p>
          <a:p>
            <a:pPr marL="1657350" lvl="3" indent="-285750">
              <a:buClr>
                <a:schemeClr val="accent1"/>
              </a:buClr>
            </a:pPr>
            <a:r>
              <a:rPr lang="en-US"/>
              <a:t>Fourth level</a:t>
            </a:r>
          </a:p>
          <a:p>
            <a:pPr marL="2114550" lvl="4" indent="-285750">
              <a:buClr>
                <a:schemeClr val="accent1"/>
              </a:buClr>
            </a:pPr>
            <a:r>
              <a:rPr lang="en-US"/>
              <a:t>Fifth level</a:t>
            </a:r>
          </a:p>
        </p:txBody>
      </p:sp>
      <p:sp>
        <p:nvSpPr>
          <p:cNvPr id="2" name="Text Placeholder 10">
            <a:extLst>
              <a:ext uri="{FF2B5EF4-FFF2-40B4-BE49-F238E27FC236}">
                <a16:creationId xmlns:a16="http://schemas.microsoft.com/office/drawing/2014/main" id="{1AF044B7-FB98-9D22-ECD8-5F027D959B8F}"/>
              </a:ext>
            </a:extLst>
          </p:cNvPr>
          <p:cNvSpPr>
            <a:spLocks noGrp="1"/>
          </p:cNvSpPr>
          <p:nvPr>
            <p:ph type="body" sz="quarter" idx="11"/>
          </p:nvPr>
        </p:nvSpPr>
        <p:spPr>
          <a:xfrm>
            <a:off x="415434" y="1090046"/>
            <a:ext cx="11391611" cy="411163"/>
          </a:xfrm>
          <a:prstGeom prst="rect">
            <a:avLst/>
          </a:prstGeom>
        </p:spPr>
        <p:txBody>
          <a:bodyPr>
            <a:noAutofit/>
          </a:bodyPr>
          <a:lstStyle>
            <a:lvl1pPr marL="0" indent="0">
              <a:buNone/>
              <a:defRPr sz="2000" b="0" i="0">
                <a:solidFill>
                  <a:schemeClr val="bg1"/>
                </a:solidFill>
                <a:latin typeface="Outfit" pitchFamily="2" charset="0"/>
              </a:defRPr>
            </a:lvl1pPr>
            <a:lvl2pPr>
              <a:defRPr sz="1600"/>
            </a:lvl2pPr>
            <a:lvl3pPr>
              <a:defRPr sz="1600"/>
            </a:lvl3pPr>
            <a:lvl4pPr>
              <a:defRPr sz="1600"/>
            </a:lvl4pPr>
            <a:lvl5pPr>
              <a:defRPr sz="1600"/>
            </a:lvl5pPr>
          </a:lstStyle>
          <a:p>
            <a:pPr lvl="0"/>
            <a:r>
              <a:rPr lang="en-US"/>
              <a:t>Click to edit Master text styles</a:t>
            </a:r>
          </a:p>
        </p:txBody>
      </p:sp>
    </p:spTree>
    <p:extLst>
      <p:ext uri="{BB962C8B-B14F-4D97-AF65-F5344CB8AC3E}">
        <p14:creationId xmlns:p14="http://schemas.microsoft.com/office/powerpoint/2010/main" val="29832789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6" name="Snip Single Corner Rectangle 5">
            <a:extLst>
              <a:ext uri="{FF2B5EF4-FFF2-40B4-BE49-F238E27FC236}">
                <a16:creationId xmlns:a16="http://schemas.microsoft.com/office/drawing/2014/main" id="{5B362CE7-DA10-7167-EF19-E06A319DFD82}"/>
              </a:ext>
            </a:extLst>
          </p:cNvPr>
          <p:cNvSpPr/>
          <p:nvPr userDrawn="1"/>
        </p:nvSpPr>
        <p:spPr>
          <a:xfrm>
            <a:off x="0" y="313442"/>
            <a:ext cx="7221891" cy="6544558"/>
          </a:xfrm>
          <a:prstGeom prst="snip1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Outfit" pitchFamily="2" charset="0"/>
            </a:endParaRPr>
          </a:p>
        </p:txBody>
      </p:sp>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740331" y="2231056"/>
            <a:ext cx="4662942" cy="1481752"/>
          </a:xfrm>
          <a:prstGeom prst="rect">
            <a:avLst/>
          </a:prstGeom>
          <a:noFill/>
        </p:spPr>
        <p:txBody>
          <a:bodyPr wrap="square">
            <a:spAutoFit/>
          </a:bodyPr>
          <a:lstStyle>
            <a:lvl1pPr>
              <a:defRPr lang="en-US" sz="5000" b="1" dirty="0">
                <a:solidFill>
                  <a:schemeClr val="bg1"/>
                </a:solidFill>
                <a:latin typeface="Outfit" pitchFamily="2" charset="0"/>
                <a:ea typeface="+mn-ea"/>
                <a:cs typeface="Archivo Light" pitchFamily="2" charset="77"/>
              </a:defRPr>
            </a:lvl1pPr>
          </a:lstStyle>
          <a:p>
            <a:pPr marL="0" lvl="0"/>
            <a:r>
              <a:rPr lang="en-US"/>
              <a:t>Click to add slide title</a:t>
            </a:r>
          </a:p>
        </p:txBody>
      </p:sp>
      <p:sp>
        <p:nvSpPr>
          <p:cNvPr id="9" name="Text Placeholder 9">
            <a:extLst>
              <a:ext uri="{FF2B5EF4-FFF2-40B4-BE49-F238E27FC236}">
                <a16:creationId xmlns:a16="http://schemas.microsoft.com/office/drawing/2014/main" id="{8C8D54D1-F04C-5AB1-69E3-2EA74D27FEE7}"/>
              </a:ext>
            </a:extLst>
          </p:cNvPr>
          <p:cNvSpPr>
            <a:spLocks noGrp="1"/>
          </p:cNvSpPr>
          <p:nvPr>
            <p:ph type="body" sz="quarter" idx="12"/>
          </p:nvPr>
        </p:nvSpPr>
        <p:spPr>
          <a:xfrm>
            <a:off x="740330" y="4196232"/>
            <a:ext cx="3838487" cy="371127"/>
          </a:xfrm>
          <a:prstGeom prst="rect">
            <a:avLst/>
          </a:prstGeom>
          <a:noFill/>
        </p:spPr>
        <p:txBody>
          <a:bodyPr wrap="square">
            <a:spAutoFit/>
          </a:bodyPr>
          <a:lstStyle>
            <a:lvl1pPr marL="0" indent="0">
              <a:buNone/>
              <a:defRPr lang="en-US" sz="2000" b="0" i="0" smtClean="0">
                <a:solidFill>
                  <a:schemeClr val="bg1"/>
                </a:solidFill>
                <a:latin typeface="Outfit" pitchFamily="2" charset="0"/>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4" name="Text Placeholder 9">
            <a:extLst>
              <a:ext uri="{FF2B5EF4-FFF2-40B4-BE49-F238E27FC236}">
                <a16:creationId xmlns:a16="http://schemas.microsoft.com/office/drawing/2014/main" id="{0F4FFE77-7A7C-59C2-9268-D35E21FA6314}"/>
              </a:ext>
            </a:extLst>
          </p:cNvPr>
          <p:cNvSpPr>
            <a:spLocks noGrp="1"/>
          </p:cNvSpPr>
          <p:nvPr>
            <p:ph type="body" sz="quarter" idx="13" hasCustomPrompt="1"/>
          </p:nvPr>
        </p:nvSpPr>
        <p:spPr>
          <a:xfrm>
            <a:off x="7613182" y="4196232"/>
            <a:ext cx="3838487" cy="1323439"/>
          </a:xfrm>
          <a:prstGeom prst="rect">
            <a:avLst/>
          </a:prstGeom>
          <a:noFill/>
        </p:spPr>
        <p:txBody>
          <a:bodyPr wrap="square">
            <a:spAutoFit/>
          </a:bodyPr>
          <a:lstStyle>
            <a:lvl1pPr marL="0" indent="0">
              <a:lnSpc>
                <a:spcPct val="100000"/>
              </a:lnSpc>
              <a:buNone/>
              <a:defRPr lang="en-US" sz="4000" b="0" i="0" smtClean="0">
                <a:solidFill>
                  <a:schemeClr val="bg1"/>
                </a:solidFill>
                <a:latin typeface="Outfit" pitchFamily="2" charset="0"/>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Add bold statement here</a:t>
            </a:r>
          </a:p>
        </p:txBody>
      </p:sp>
      <p:pic>
        <p:nvPicPr>
          <p:cNvPr id="5" name="Graphic 4">
            <a:extLst>
              <a:ext uri="{FF2B5EF4-FFF2-40B4-BE49-F238E27FC236}">
                <a16:creationId xmlns:a16="http://schemas.microsoft.com/office/drawing/2014/main" id="{19931200-016E-34E8-35AE-432F1A9A035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9464" y="6523642"/>
            <a:ext cx="999086" cy="202031"/>
          </a:xfrm>
          <a:prstGeom prst="rect">
            <a:avLst/>
          </a:prstGeom>
        </p:spPr>
      </p:pic>
    </p:spTree>
    <p:extLst>
      <p:ext uri="{BB962C8B-B14F-4D97-AF65-F5344CB8AC3E}">
        <p14:creationId xmlns:p14="http://schemas.microsoft.com/office/powerpoint/2010/main" val="16177047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Snip Single Corner Rectangle 3">
            <a:extLst>
              <a:ext uri="{FF2B5EF4-FFF2-40B4-BE49-F238E27FC236}">
                <a16:creationId xmlns:a16="http://schemas.microsoft.com/office/drawing/2014/main" id="{933CF759-74C5-A617-BDB3-765A40D252FE}"/>
              </a:ext>
            </a:extLst>
          </p:cNvPr>
          <p:cNvSpPr/>
          <p:nvPr userDrawn="1"/>
        </p:nvSpPr>
        <p:spPr>
          <a:xfrm>
            <a:off x="0" y="424206"/>
            <a:ext cx="7221891" cy="5854046"/>
          </a:xfrm>
          <a:prstGeom prst="snip1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Outfit" pitchFamily="2" charset="0"/>
            </a:endParaRPr>
          </a:p>
        </p:txBody>
      </p:sp>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740331" y="2137848"/>
            <a:ext cx="4662942" cy="2174250"/>
          </a:xfrm>
          <a:prstGeom prst="rect">
            <a:avLst/>
          </a:prstGeom>
          <a:noFill/>
        </p:spPr>
        <p:txBody>
          <a:bodyPr wrap="square">
            <a:spAutoFit/>
          </a:bodyPr>
          <a:lstStyle>
            <a:lvl1pPr>
              <a:defRPr lang="en-US" sz="5000" b="1" dirty="0">
                <a:solidFill>
                  <a:schemeClr val="bg1"/>
                </a:solidFill>
                <a:latin typeface="Outfit" pitchFamily="2" charset="0"/>
                <a:ea typeface="+mn-ea"/>
                <a:cs typeface="Archivo Light" pitchFamily="2" charset="77"/>
              </a:defRPr>
            </a:lvl1pPr>
          </a:lstStyle>
          <a:p>
            <a:pPr marL="0" lvl="0"/>
            <a:r>
              <a:rPr lang="en-US"/>
              <a:t>Click to add divider slide title</a:t>
            </a:r>
          </a:p>
        </p:txBody>
      </p:sp>
      <p:sp>
        <p:nvSpPr>
          <p:cNvPr id="7" name="Text Placeholder 6">
            <a:extLst>
              <a:ext uri="{FF2B5EF4-FFF2-40B4-BE49-F238E27FC236}">
                <a16:creationId xmlns:a16="http://schemas.microsoft.com/office/drawing/2014/main" id="{81FE43B4-3B98-AAB2-FEF8-2D96DC1A26B1}"/>
              </a:ext>
            </a:extLst>
          </p:cNvPr>
          <p:cNvSpPr>
            <a:spLocks noGrp="1"/>
          </p:cNvSpPr>
          <p:nvPr>
            <p:ph type="body" sz="quarter" idx="10"/>
          </p:nvPr>
        </p:nvSpPr>
        <p:spPr>
          <a:xfrm>
            <a:off x="740331" y="1646858"/>
            <a:ext cx="4662942" cy="424732"/>
          </a:xfrm>
          <a:prstGeom prst="rect">
            <a:avLst/>
          </a:prstGeom>
          <a:noFill/>
        </p:spPr>
        <p:txBody>
          <a:bodyPr wrap="square" lIns="91440" tIns="45720" rIns="91440" bIns="45720" anchor="b">
            <a:spAutoFit/>
          </a:bodyPr>
          <a:lstStyle>
            <a:lvl1pPr marL="0" indent="0">
              <a:buNone/>
              <a:defRPr lang="en-US" sz="2400" b="0" i="0" smtClean="0">
                <a:solidFill>
                  <a:srgbClr val="FF592D"/>
                </a:solidFill>
                <a:latin typeface="Outfit" pitchFamily="2" charset="0"/>
                <a:ea typeface="+mn-lt"/>
                <a:cs typeface="+mn-lt"/>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9" name="Text Placeholder 9">
            <a:extLst>
              <a:ext uri="{FF2B5EF4-FFF2-40B4-BE49-F238E27FC236}">
                <a16:creationId xmlns:a16="http://schemas.microsoft.com/office/drawing/2014/main" id="{8C8D54D1-F04C-5AB1-69E3-2EA74D27FEE7}"/>
              </a:ext>
            </a:extLst>
          </p:cNvPr>
          <p:cNvSpPr>
            <a:spLocks noGrp="1"/>
          </p:cNvSpPr>
          <p:nvPr>
            <p:ph type="body" sz="quarter" idx="12"/>
          </p:nvPr>
        </p:nvSpPr>
        <p:spPr>
          <a:xfrm>
            <a:off x="740330" y="4977633"/>
            <a:ext cx="3838487" cy="371127"/>
          </a:xfrm>
          <a:prstGeom prst="rect">
            <a:avLst/>
          </a:prstGeom>
          <a:noFill/>
        </p:spPr>
        <p:txBody>
          <a:bodyPr wrap="square">
            <a:spAutoFit/>
          </a:bodyPr>
          <a:lstStyle>
            <a:lvl1pPr marL="0" indent="0">
              <a:buNone/>
              <a:defRPr lang="en-US" sz="2000" b="0" i="0" smtClean="0">
                <a:solidFill>
                  <a:schemeClr val="bg1"/>
                </a:solidFill>
                <a:latin typeface="Outfit" pitchFamily="2" charset="0"/>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Tree>
    <p:extLst>
      <p:ext uri="{BB962C8B-B14F-4D97-AF65-F5344CB8AC3E}">
        <p14:creationId xmlns:p14="http://schemas.microsoft.com/office/powerpoint/2010/main" val="7670953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6" name="Snip Single Corner Rectangle 5">
            <a:extLst>
              <a:ext uri="{FF2B5EF4-FFF2-40B4-BE49-F238E27FC236}">
                <a16:creationId xmlns:a16="http://schemas.microsoft.com/office/drawing/2014/main" id="{4E61F7B3-DF90-D2B6-64CB-9AD2CA42CE64}"/>
              </a:ext>
            </a:extLst>
          </p:cNvPr>
          <p:cNvSpPr/>
          <p:nvPr userDrawn="1"/>
        </p:nvSpPr>
        <p:spPr>
          <a:xfrm>
            <a:off x="0" y="1168026"/>
            <a:ext cx="5382705" cy="4131297"/>
          </a:xfrm>
          <a:prstGeom prst="snip1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Outfit" pitchFamily="2" charset="0"/>
            </a:endParaRPr>
          </a:p>
        </p:txBody>
      </p:sp>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541815" y="2061572"/>
            <a:ext cx="4292652" cy="1200329"/>
          </a:xfrm>
          <a:prstGeom prst="rect">
            <a:avLst/>
          </a:prstGeom>
          <a:noFill/>
        </p:spPr>
        <p:txBody>
          <a:bodyPr wrap="square" anchor="b">
            <a:spAutoFit/>
          </a:bodyPr>
          <a:lstStyle>
            <a:lvl1pPr>
              <a:defRPr lang="en-US" sz="4000" b="1" dirty="0">
                <a:solidFill>
                  <a:schemeClr val="bg1"/>
                </a:solidFill>
                <a:latin typeface="Outfit" pitchFamily="2" charset="0"/>
                <a:ea typeface="+mn-ea"/>
                <a:cs typeface="Archivo Light" pitchFamily="2" charset="77"/>
              </a:defRPr>
            </a:lvl1pPr>
          </a:lstStyle>
          <a:p>
            <a:pPr marL="0" lvl="0"/>
            <a:r>
              <a:rPr lang="en-US"/>
              <a:t>Click to add slide title</a:t>
            </a:r>
          </a:p>
        </p:txBody>
      </p:sp>
      <p:sp>
        <p:nvSpPr>
          <p:cNvPr id="4" name="TextBox 3">
            <a:extLst>
              <a:ext uri="{FF2B5EF4-FFF2-40B4-BE49-F238E27FC236}">
                <a16:creationId xmlns:a16="http://schemas.microsoft.com/office/drawing/2014/main" id="{B8F35DB2-90B3-B091-05FC-80D1F3959D24}"/>
              </a:ext>
            </a:extLst>
          </p:cNvPr>
          <p:cNvSpPr txBox="1"/>
          <p:nvPr userDrawn="1"/>
        </p:nvSpPr>
        <p:spPr>
          <a:xfrm>
            <a:off x="9036283" y="6526817"/>
            <a:ext cx="3096084"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bg1"/>
                </a:solidFill>
                <a:latin typeface="Outfit" pitchFamily="2" charset="0"/>
                <a:cs typeface="Archivo" pitchFamily="2" charset="0"/>
              </a:rPr>
              <a:t>Confidential &amp; Proprietary  |  © 2026 JazzX AI    </a:t>
            </a:r>
            <a:fld id="{9F90C545-CD09-0447-A167-744DB4FB2CC5}" type="slidenum">
              <a:rPr lang="en-US" sz="1000" b="0" i="0" smtClean="0">
                <a:solidFill>
                  <a:schemeClr val="bg1"/>
                </a:solidFill>
                <a:latin typeface="Outfit" pitchFamily="2" charset="0"/>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000" b="0" i="0">
                <a:solidFill>
                  <a:schemeClr val="bg1"/>
                </a:solidFill>
                <a:latin typeface="Outfit" pitchFamily="2" charset="0"/>
                <a:cs typeface="Archivo" pitchFamily="2" charset="0"/>
              </a:rPr>
              <a:t> </a:t>
            </a:r>
          </a:p>
        </p:txBody>
      </p:sp>
    </p:spTree>
    <p:extLst>
      <p:ext uri="{BB962C8B-B14F-4D97-AF65-F5344CB8AC3E}">
        <p14:creationId xmlns:p14="http://schemas.microsoft.com/office/powerpoint/2010/main" val="130444154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6" name="Snip Single Corner Rectangle 5">
            <a:extLst>
              <a:ext uri="{FF2B5EF4-FFF2-40B4-BE49-F238E27FC236}">
                <a16:creationId xmlns:a16="http://schemas.microsoft.com/office/drawing/2014/main" id="{FABC16FE-3935-56B3-E2EF-5F47EA1A1662}"/>
              </a:ext>
            </a:extLst>
          </p:cNvPr>
          <p:cNvSpPr/>
          <p:nvPr userDrawn="1"/>
        </p:nvSpPr>
        <p:spPr>
          <a:xfrm flipH="1">
            <a:off x="4675694" y="424206"/>
            <a:ext cx="7516305" cy="5854046"/>
          </a:xfrm>
          <a:prstGeom prst="snip1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Outfit" pitchFamily="2" charset="0"/>
            </a:endParaRPr>
          </a:p>
        </p:txBody>
      </p:sp>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5745187" y="2137848"/>
            <a:ext cx="5632760" cy="1477328"/>
          </a:xfrm>
          <a:prstGeom prst="rect">
            <a:avLst/>
          </a:prstGeom>
          <a:noFill/>
        </p:spPr>
        <p:txBody>
          <a:bodyPr wrap="square">
            <a:spAutoFit/>
          </a:bodyPr>
          <a:lstStyle>
            <a:lvl1pPr>
              <a:defRPr lang="en-US" sz="5000" b="1" dirty="0">
                <a:solidFill>
                  <a:schemeClr val="bg1"/>
                </a:solidFill>
                <a:latin typeface="Outfit" pitchFamily="2" charset="0"/>
                <a:ea typeface="+mn-ea"/>
                <a:cs typeface="Archivo Light" pitchFamily="2" charset="77"/>
              </a:defRPr>
            </a:lvl1pPr>
          </a:lstStyle>
          <a:p>
            <a:pPr marL="0" lvl="0"/>
            <a:r>
              <a:rPr lang="en-US"/>
              <a:t>Click to add divider slide title</a:t>
            </a:r>
          </a:p>
        </p:txBody>
      </p:sp>
      <p:sp>
        <p:nvSpPr>
          <p:cNvPr id="7" name="Text Placeholder 6">
            <a:extLst>
              <a:ext uri="{FF2B5EF4-FFF2-40B4-BE49-F238E27FC236}">
                <a16:creationId xmlns:a16="http://schemas.microsoft.com/office/drawing/2014/main" id="{81FE43B4-3B98-AAB2-FEF8-2D96DC1A26B1}"/>
              </a:ext>
            </a:extLst>
          </p:cNvPr>
          <p:cNvSpPr>
            <a:spLocks noGrp="1"/>
          </p:cNvSpPr>
          <p:nvPr>
            <p:ph type="body" sz="quarter" idx="10"/>
          </p:nvPr>
        </p:nvSpPr>
        <p:spPr>
          <a:xfrm>
            <a:off x="5745187" y="1646858"/>
            <a:ext cx="5632760" cy="424732"/>
          </a:xfrm>
          <a:prstGeom prst="rect">
            <a:avLst/>
          </a:prstGeom>
          <a:noFill/>
        </p:spPr>
        <p:txBody>
          <a:bodyPr wrap="square" lIns="91440" tIns="45720" rIns="91440" bIns="45720" anchor="t">
            <a:spAutoFit/>
          </a:bodyPr>
          <a:lstStyle>
            <a:lvl1pPr marL="0" indent="0">
              <a:buNone/>
              <a:defRPr lang="en-US" sz="2400" b="0" i="0" smtClean="0">
                <a:solidFill>
                  <a:srgbClr val="FF592D"/>
                </a:solidFill>
                <a:latin typeface="Outfit" pitchFamily="2" charset="0"/>
                <a:ea typeface="+mn-lt"/>
                <a:cs typeface="+mn-lt"/>
              </a:defRPr>
            </a:lvl1pPr>
            <a:lvl2pPr>
              <a:defRPr lang="en-US" sz="1800" smtClean="0"/>
            </a:lvl2pPr>
            <a:lvl3pPr>
              <a:defRPr lang="en-US" sz="1800" smtClean="0"/>
            </a:lvl3pPr>
            <a:lvl4pPr>
              <a:defRPr lang="en-US" smtClean="0"/>
            </a:lvl4pPr>
            <a:lvl5pPr>
              <a:defRPr lang="en-US"/>
            </a:lvl5pPr>
          </a:lstStyle>
          <a:p>
            <a:pPr marL="0" lvl="0"/>
            <a:r>
              <a:rPr lang="en-US"/>
              <a:t>Click to edit Master text</a:t>
            </a:r>
          </a:p>
        </p:txBody>
      </p:sp>
      <p:sp>
        <p:nvSpPr>
          <p:cNvPr id="10" name="Text Placeholder 9">
            <a:extLst>
              <a:ext uri="{FF2B5EF4-FFF2-40B4-BE49-F238E27FC236}">
                <a16:creationId xmlns:a16="http://schemas.microsoft.com/office/drawing/2014/main" id="{84EE8242-0EB7-FCB0-9D33-57A63A353490}"/>
              </a:ext>
            </a:extLst>
          </p:cNvPr>
          <p:cNvSpPr>
            <a:spLocks noGrp="1"/>
          </p:cNvSpPr>
          <p:nvPr>
            <p:ph type="body" sz="quarter" idx="11"/>
          </p:nvPr>
        </p:nvSpPr>
        <p:spPr>
          <a:xfrm>
            <a:off x="5745186" y="4472479"/>
            <a:ext cx="5703731" cy="313932"/>
          </a:xfrm>
          <a:prstGeom prst="rect">
            <a:avLst/>
          </a:prstGeom>
          <a:noFill/>
        </p:spPr>
        <p:txBody>
          <a:bodyPr wrap="square">
            <a:spAutoFit/>
          </a:bodyPr>
          <a:lstStyle>
            <a:lvl1pPr marL="0" indent="0">
              <a:buNone/>
              <a:defRPr lang="en-US" sz="1600" b="0" i="0" smtClean="0">
                <a:solidFill>
                  <a:schemeClr val="bg1"/>
                </a:solidFill>
                <a:latin typeface="Outfit" pitchFamily="2" charset="0"/>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4" name="TextBox 3">
            <a:extLst>
              <a:ext uri="{FF2B5EF4-FFF2-40B4-BE49-F238E27FC236}">
                <a16:creationId xmlns:a16="http://schemas.microsoft.com/office/drawing/2014/main" id="{9779D6FF-3AD2-A773-D8B2-BAD405B26BBE}"/>
              </a:ext>
            </a:extLst>
          </p:cNvPr>
          <p:cNvSpPr txBox="1"/>
          <p:nvPr userDrawn="1"/>
        </p:nvSpPr>
        <p:spPr>
          <a:xfrm>
            <a:off x="9036283" y="6526817"/>
            <a:ext cx="3096084"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bg1"/>
                </a:solidFill>
                <a:latin typeface="Outfit" pitchFamily="2" charset="0"/>
                <a:cs typeface="Archivo" pitchFamily="2" charset="0"/>
              </a:rPr>
              <a:t>Confidential &amp; Proprietary  |  © 2026 JazzX AI    </a:t>
            </a:r>
            <a:fld id="{9F90C545-CD09-0447-A167-744DB4FB2CC5}" type="slidenum">
              <a:rPr lang="en-US" sz="1000" b="0" i="0" smtClean="0">
                <a:solidFill>
                  <a:schemeClr val="bg1"/>
                </a:solidFill>
                <a:latin typeface="Outfit" pitchFamily="2" charset="0"/>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000" b="0" i="0">
                <a:solidFill>
                  <a:schemeClr val="bg1"/>
                </a:solidFill>
                <a:latin typeface="Outfit" pitchFamily="2" charset="0"/>
                <a:cs typeface="Archivo" pitchFamily="2" charset="0"/>
              </a:rPr>
              <a:t> </a:t>
            </a:r>
          </a:p>
        </p:txBody>
      </p:sp>
    </p:spTree>
    <p:extLst>
      <p:ext uri="{BB962C8B-B14F-4D97-AF65-F5344CB8AC3E}">
        <p14:creationId xmlns:p14="http://schemas.microsoft.com/office/powerpoint/2010/main" val="30089210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2927223" y="2296609"/>
            <a:ext cx="5840594" cy="1481752"/>
          </a:xfrm>
          <a:prstGeom prst="rect">
            <a:avLst/>
          </a:prstGeom>
          <a:noFill/>
        </p:spPr>
        <p:txBody>
          <a:bodyPr wrap="square">
            <a:spAutoFit/>
          </a:bodyPr>
          <a:lstStyle>
            <a:lvl1pPr algn="ctr">
              <a:defRPr lang="en-US" sz="5000" b="1" dirty="0">
                <a:solidFill>
                  <a:schemeClr val="bg1"/>
                </a:solidFill>
                <a:latin typeface="Outfit" pitchFamily="2" charset="0"/>
                <a:ea typeface="+mn-ea"/>
                <a:cs typeface="Archivo Light" pitchFamily="2" charset="77"/>
              </a:defRPr>
            </a:lvl1pPr>
          </a:lstStyle>
          <a:p>
            <a:pPr marL="0" lvl="0"/>
            <a:r>
              <a:rPr lang="en-US"/>
              <a:t>Click to add divider slide title</a:t>
            </a:r>
          </a:p>
        </p:txBody>
      </p:sp>
      <p:sp>
        <p:nvSpPr>
          <p:cNvPr id="7" name="Text Placeholder 6">
            <a:extLst>
              <a:ext uri="{FF2B5EF4-FFF2-40B4-BE49-F238E27FC236}">
                <a16:creationId xmlns:a16="http://schemas.microsoft.com/office/drawing/2014/main" id="{81FE43B4-3B98-AAB2-FEF8-2D96DC1A26B1}"/>
              </a:ext>
            </a:extLst>
          </p:cNvPr>
          <p:cNvSpPr>
            <a:spLocks noGrp="1"/>
          </p:cNvSpPr>
          <p:nvPr>
            <p:ph type="body" sz="quarter" idx="10"/>
          </p:nvPr>
        </p:nvSpPr>
        <p:spPr>
          <a:xfrm>
            <a:off x="2927223" y="1805619"/>
            <a:ext cx="5840594" cy="424732"/>
          </a:xfrm>
          <a:prstGeom prst="rect">
            <a:avLst/>
          </a:prstGeom>
          <a:noFill/>
        </p:spPr>
        <p:txBody>
          <a:bodyPr wrap="square" lIns="91440" tIns="45720" rIns="91440" bIns="45720" anchor="b">
            <a:spAutoFit/>
          </a:bodyPr>
          <a:lstStyle>
            <a:lvl1pPr marL="0" indent="0" algn="ctr">
              <a:buNone/>
              <a:defRPr lang="en-US" sz="2400" b="0" i="0" smtClean="0">
                <a:solidFill>
                  <a:srgbClr val="FF592D"/>
                </a:solidFill>
                <a:latin typeface="Outfit" pitchFamily="2" charset="0"/>
                <a:ea typeface="+mn-lt"/>
                <a:cs typeface="+mn-lt"/>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9" name="Text Placeholder 9">
            <a:extLst>
              <a:ext uri="{FF2B5EF4-FFF2-40B4-BE49-F238E27FC236}">
                <a16:creationId xmlns:a16="http://schemas.microsoft.com/office/drawing/2014/main" id="{8C8D54D1-F04C-5AB1-69E3-2EA74D27FEE7}"/>
              </a:ext>
            </a:extLst>
          </p:cNvPr>
          <p:cNvSpPr>
            <a:spLocks noGrp="1"/>
          </p:cNvSpPr>
          <p:nvPr>
            <p:ph type="body" sz="quarter" idx="12"/>
          </p:nvPr>
        </p:nvSpPr>
        <p:spPr>
          <a:xfrm>
            <a:off x="3851276" y="4472479"/>
            <a:ext cx="3838487" cy="371127"/>
          </a:xfrm>
          <a:prstGeom prst="rect">
            <a:avLst/>
          </a:prstGeom>
          <a:noFill/>
        </p:spPr>
        <p:txBody>
          <a:bodyPr wrap="square">
            <a:spAutoFit/>
          </a:bodyPr>
          <a:lstStyle>
            <a:lvl1pPr marL="0" indent="0" algn="ctr">
              <a:buNone/>
              <a:defRPr lang="en-US" sz="2000" b="0" i="0" smtClean="0">
                <a:solidFill>
                  <a:schemeClr val="bg1"/>
                </a:solidFill>
                <a:latin typeface="Outfit" pitchFamily="2" charset="0"/>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Tree>
    <p:extLst>
      <p:ext uri="{BB962C8B-B14F-4D97-AF65-F5344CB8AC3E}">
        <p14:creationId xmlns:p14="http://schemas.microsoft.com/office/powerpoint/2010/main" val="5006659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39203074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DE1D76D8-7834-92F0-2DD9-A1540A9A1DC2}"/>
              </a:ext>
            </a:extLst>
          </p:cNvPr>
          <p:cNvSpPr>
            <a:spLocks noGrp="1"/>
          </p:cNvSpPr>
          <p:nvPr>
            <p:ph type="title"/>
          </p:nvPr>
        </p:nvSpPr>
        <p:spPr>
          <a:xfrm>
            <a:off x="403633" y="391806"/>
            <a:ext cx="11391611" cy="535531"/>
          </a:xfrm>
          <a:prstGeom prst="rect">
            <a:avLst/>
          </a:prstGeom>
          <a:noFill/>
        </p:spPr>
        <p:txBody>
          <a:bodyPr wrap="square" rtlCol="0">
            <a:spAutoFit/>
          </a:bodyPr>
          <a:lstStyle>
            <a:lvl1pPr>
              <a:defRPr b="1">
                <a:solidFill>
                  <a:schemeClr val="tx1"/>
                </a:solidFill>
              </a:defRPr>
            </a:lvl1pPr>
          </a:lstStyle>
          <a:p>
            <a:pPr marL="0" lvl="0"/>
            <a:r>
              <a:rPr lang="en-US"/>
              <a:t>Click to edit Master title style</a:t>
            </a:r>
          </a:p>
        </p:txBody>
      </p:sp>
    </p:spTree>
    <p:extLst>
      <p:ext uri="{BB962C8B-B14F-4D97-AF65-F5344CB8AC3E}">
        <p14:creationId xmlns:p14="http://schemas.microsoft.com/office/powerpoint/2010/main" val="24535159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DE1D76D8-7834-92F0-2DD9-A1540A9A1DC2}"/>
              </a:ext>
            </a:extLst>
          </p:cNvPr>
          <p:cNvSpPr>
            <a:spLocks noGrp="1"/>
          </p:cNvSpPr>
          <p:nvPr>
            <p:ph type="title"/>
          </p:nvPr>
        </p:nvSpPr>
        <p:spPr>
          <a:xfrm>
            <a:off x="403633" y="391806"/>
            <a:ext cx="11391611" cy="646331"/>
          </a:xfrm>
          <a:prstGeom prst="rect">
            <a:avLst/>
          </a:prstGeom>
          <a:noFill/>
        </p:spPr>
        <p:txBody>
          <a:bodyPr wrap="square" rtlCol="0">
            <a:spAutoFit/>
          </a:bodyPr>
          <a:lstStyle>
            <a:lvl1pPr>
              <a:defRPr>
                <a:solidFill>
                  <a:schemeClr val="tx1"/>
                </a:solidFill>
              </a:defRPr>
            </a:lvl1pPr>
          </a:lstStyle>
          <a:p>
            <a:pPr marL="0" lvl="0"/>
            <a:r>
              <a:rPr lang="en-US"/>
              <a:t>Click to edit Master title style</a:t>
            </a:r>
          </a:p>
        </p:txBody>
      </p:sp>
      <p:sp>
        <p:nvSpPr>
          <p:cNvPr id="8" name="Text Placeholder 7">
            <a:extLst>
              <a:ext uri="{FF2B5EF4-FFF2-40B4-BE49-F238E27FC236}">
                <a16:creationId xmlns:a16="http://schemas.microsoft.com/office/drawing/2014/main" id="{BD816813-C165-8A0F-321C-5D02AA51A651}"/>
              </a:ext>
            </a:extLst>
          </p:cNvPr>
          <p:cNvSpPr>
            <a:spLocks noGrp="1"/>
          </p:cNvSpPr>
          <p:nvPr>
            <p:ph type="body" sz="quarter" idx="10"/>
          </p:nvPr>
        </p:nvSpPr>
        <p:spPr>
          <a:xfrm>
            <a:off x="403224" y="1921791"/>
            <a:ext cx="11391611" cy="439588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F3D69DD5-7036-0E36-7287-8F6A2026EF70}"/>
              </a:ext>
            </a:extLst>
          </p:cNvPr>
          <p:cNvSpPr>
            <a:spLocks noGrp="1"/>
          </p:cNvSpPr>
          <p:nvPr>
            <p:ph type="body" sz="quarter" idx="11"/>
          </p:nvPr>
        </p:nvSpPr>
        <p:spPr>
          <a:xfrm>
            <a:off x="415434" y="1059050"/>
            <a:ext cx="11391611" cy="411163"/>
          </a:xfrm>
        </p:spPr>
        <p:txBody>
          <a:bodyPr>
            <a:noAutofit/>
          </a:bodyPr>
          <a:lstStyle>
            <a:lvl1pPr marL="0" indent="0">
              <a:buNone/>
              <a:defRPr sz="2000"/>
            </a:lvl1pPr>
            <a:lvl2pPr>
              <a:defRPr sz="1600"/>
            </a:lvl2pPr>
            <a:lvl3pPr>
              <a:defRPr sz="1600"/>
            </a:lvl3pPr>
            <a:lvl4pPr>
              <a:defRPr sz="1600"/>
            </a:lvl4pPr>
            <a:lvl5pPr>
              <a:defRPr sz="1600"/>
            </a:lvl5pPr>
          </a:lstStyle>
          <a:p>
            <a:pPr lvl="0"/>
            <a:r>
              <a:rPr lang="en-US"/>
              <a:t>Click to edit Master text styles</a:t>
            </a:r>
          </a:p>
        </p:txBody>
      </p:sp>
    </p:spTree>
    <p:extLst>
      <p:ext uri="{BB962C8B-B14F-4D97-AF65-F5344CB8AC3E}">
        <p14:creationId xmlns:p14="http://schemas.microsoft.com/office/powerpoint/2010/main" val="1237026643"/>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White - H1 H2">
  <p:cSld name="White - H1 H2">
    <p:bg>
      <p:bgPr>
        <a:solidFill>
          <a:schemeClr val="lt1"/>
        </a:solidFill>
        <a:effectLst/>
      </p:bgPr>
    </p:bg>
    <p:spTree>
      <p:nvGrpSpPr>
        <p:cNvPr id="1" name="Shape 61"/>
        <p:cNvGrpSpPr/>
        <p:nvPr/>
      </p:nvGrpSpPr>
      <p:grpSpPr>
        <a:xfrm>
          <a:off x="0" y="0"/>
          <a:ext cx="0" cy="0"/>
          <a:chOff x="0" y="0"/>
          <a:chExt cx="0" cy="0"/>
        </a:xfrm>
      </p:grpSpPr>
      <p:sp>
        <p:nvSpPr>
          <p:cNvPr id="62" name="Google Shape;62;p16"/>
          <p:cNvSpPr txBox="1">
            <a:spLocks noGrp="1"/>
          </p:cNvSpPr>
          <p:nvPr>
            <p:ph type="title"/>
          </p:nvPr>
        </p:nvSpPr>
        <p:spPr>
          <a:xfrm>
            <a:off x="402336" y="231648"/>
            <a:ext cx="11411600" cy="991600"/>
          </a:xfrm>
          <a:prstGeom prst="rect">
            <a:avLst/>
          </a:prstGeom>
          <a:noFill/>
          <a:ln>
            <a:noFill/>
          </a:ln>
        </p:spPr>
        <p:txBody>
          <a:bodyPr spcFirstLastPara="1" wrap="square" lIns="0" tIns="68575" rIns="0" bIns="68575" anchor="t" anchorCtr="0">
            <a:noAutofit/>
          </a:bodyPr>
          <a:lstStyle>
            <a:lvl1pPr marR="0" lvl="0" algn="l">
              <a:lnSpc>
                <a:spcPct val="100000"/>
              </a:lnSpc>
              <a:spcBef>
                <a:spcPts val="0"/>
              </a:spcBef>
              <a:spcAft>
                <a:spcPts val="0"/>
              </a:spcAft>
              <a:buClr>
                <a:schemeClr val="dk1"/>
              </a:buClr>
              <a:buSzPts val="2100"/>
              <a:buFont typeface="Roboto Black"/>
              <a:buNone/>
              <a:defRPr sz="3733" b="0" i="0" u="none" strike="noStrike" cap="none">
                <a:solidFill>
                  <a:schemeClr val="dk1"/>
                </a:solidFill>
                <a:latin typeface="Roboto Black"/>
                <a:ea typeface="Roboto Black"/>
                <a:cs typeface="Roboto Black"/>
                <a:sym typeface="Roboto Black"/>
              </a:defRPr>
            </a:lvl1pPr>
            <a:lvl2pPr marR="0" lvl="1"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9pPr>
          </a:lstStyle>
          <a:p>
            <a:endParaRPr/>
          </a:p>
        </p:txBody>
      </p:sp>
      <p:sp>
        <p:nvSpPr>
          <p:cNvPr id="63" name="Google Shape;63;p16"/>
          <p:cNvSpPr txBox="1">
            <a:spLocks noGrp="1"/>
          </p:cNvSpPr>
          <p:nvPr>
            <p:ph type="subTitle" idx="1"/>
          </p:nvPr>
        </p:nvSpPr>
        <p:spPr>
          <a:xfrm>
            <a:off x="402336" y="1060704"/>
            <a:ext cx="11411600" cy="370000"/>
          </a:xfrm>
          <a:prstGeom prst="rect">
            <a:avLst/>
          </a:prstGeom>
          <a:noFill/>
          <a:ln>
            <a:noFill/>
          </a:ln>
        </p:spPr>
        <p:txBody>
          <a:bodyPr spcFirstLastPara="1" wrap="square" lIns="0" tIns="68575" rIns="0" bIns="68575" anchor="t" anchorCtr="0">
            <a:noAutofit/>
          </a:bodyPr>
          <a:lstStyle>
            <a:lvl1pPr marR="0" lvl="0" algn="l">
              <a:lnSpc>
                <a:spcPct val="100000"/>
              </a:lnSpc>
              <a:spcBef>
                <a:spcPts val="0"/>
              </a:spcBef>
              <a:spcAft>
                <a:spcPts val="0"/>
              </a:spcAft>
              <a:buClr>
                <a:schemeClr val="dk1"/>
              </a:buClr>
              <a:buSzPts val="1100"/>
              <a:buFont typeface="Roboto"/>
              <a:buNone/>
              <a:defRPr sz="1867" b="0" i="0" u="none" strike="noStrike" cap="none">
                <a:solidFill>
                  <a:schemeClr val="dk1"/>
                </a:solidFill>
                <a:latin typeface="Roboto"/>
                <a:ea typeface="Roboto"/>
                <a:cs typeface="Roboto"/>
                <a:sym typeface="Roboto"/>
              </a:defRPr>
            </a:lvl1pPr>
            <a:lvl2pPr marR="0" lvl="1"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2pPr>
            <a:lvl3pPr marR="0" lvl="2"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3pPr>
            <a:lvl4pPr marR="0" lvl="3"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4pPr>
            <a:lvl5pPr marR="0" lvl="4"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5pPr>
            <a:lvl6pPr marR="0" lvl="5"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6pPr>
            <a:lvl7pPr marR="0" lvl="6"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7pPr>
            <a:lvl8pPr marR="0" lvl="7"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8pPr>
            <a:lvl9pPr marR="0" lvl="8" algn="l">
              <a:lnSpc>
                <a:spcPct val="100000"/>
              </a:lnSpc>
              <a:spcBef>
                <a:spcPts val="0"/>
              </a:spcBef>
              <a:spcAft>
                <a:spcPts val="0"/>
              </a:spcAft>
              <a:buClr>
                <a:schemeClr val="dk1"/>
              </a:buClr>
              <a:buSzPts val="1100"/>
              <a:buFont typeface="Arial"/>
              <a:buNone/>
              <a:defRPr sz="1867"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17905775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Title + Content">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DE1D76D8-7834-92F0-2DD9-A1540A9A1DC2}"/>
              </a:ext>
            </a:extLst>
          </p:cNvPr>
          <p:cNvSpPr>
            <a:spLocks noGrp="1"/>
          </p:cNvSpPr>
          <p:nvPr>
            <p:ph type="title"/>
          </p:nvPr>
        </p:nvSpPr>
        <p:spPr>
          <a:xfrm>
            <a:off x="403633" y="391806"/>
            <a:ext cx="11391611" cy="646331"/>
          </a:xfrm>
          <a:prstGeom prst="rect">
            <a:avLst/>
          </a:prstGeom>
          <a:noFill/>
        </p:spPr>
        <p:txBody>
          <a:bodyPr wrap="square" rtlCol="0">
            <a:spAutoFit/>
          </a:bodyPr>
          <a:lstStyle>
            <a:lvl1pPr>
              <a:defRPr>
                <a:solidFill>
                  <a:schemeClr val="tx1"/>
                </a:solidFill>
              </a:defRPr>
            </a:lvl1pPr>
          </a:lstStyle>
          <a:p>
            <a:pPr marL="0" lvl="0"/>
            <a:r>
              <a:rPr lang="en-US"/>
              <a:t>Click to edit Master title style</a:t>
            </a:r>
          </a:p>
        </p:txBody>
      </p:sp>
      <p:sp>
        <p:nvSpPr>
          <p:cNvPr id="8" name="Text Placeholder 7">
            <a:extLst>
              <a:ext uri="{FF2B5EF4-FFF2-40B4-BE49-F238E27FC236}">
                <a16:creationId xmlns:a16="http://schemas.microsoft.com/office/drawing/2014/main" id="{BD816813-C165-8A0F-321C-5D02AA51A651}"/>
              </a:ext>
            </a:extLst>
          </p:cNvPr>
          <p:cNvSpPr>
            <a:spLocks noGrp="1"/>
          </p:cNvSpPr>
          <p:nvPr>
            <p:ph type="body" sz="quarter" idx="10"/>
          </p:nvPr>
        </p:nvSpPr>
        <p:spPr>
          <a:xfrm>
            <a:off x="403224" y="1921791"/>
            <a:ext cx="11391611" cy="439588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F3D69DD5-7036-0E36-7287-8F6A2026EF70}"/>
              </a:ext>
            </a:extLst>
          </p:cNvPr>
          <p:cNvSpPr>
            <a:spLocks noGrp="1"/>
          </p:cNvSpPr>
          <p:nvPr>
            <p:ph type="body" sz="quarter" idx="11"/>
          </p:nvPr>
        </p:nvSpPr>
        <p:spPr>
          <a:xfrm>
            <a:off x="403224" y="1059050"/>
            <a:ext cx="11403821" cy="411163"/>
          </a:xfrm>
        </p:spPr>
        <p:txBody>
          <a:bodyPr>
            <a:noAutofit/>
          </a:bodyPr>
          <a:lstStyle>
            <a:lvl1pPr marL="0" indent="0">
              <a:buNone/>
              <a:defRPr sz="2000"/>
            </a:lvl1pPr>
            <a:lvl2pPr>
              <a:defRPr sz="1600"/>
            </a:lvl2pPr>
            <a:lvl3pPr>
              <a:defRPr sz="1600"/>
            </a:lvl3pPr>
            <a:lvl4pPr>
              <a:defRPr sz="1600"/>
            </a:lvl4pPr>
            <a:lvl5pPr>
              <a:defRPr sz="1600"/>
            </a:lvl5pPr>
          </a:lstStyle>
          <a:p>
            <a:pPr lvl="0"/>
            <a:r>
              <a:rPr lang="en-US"/>
              <a:t>Click to edit Master text styles</a:t>
            </a:r>
          </a:p>
        </p:txBody>
      </p:sp>
    </p:spTree>
    <p:extLst>
      <p:ext uri="{BB962C8B-B14F-4D97-AF65-F5344CB8AC3E}">
        <p14:creationId xmlns:p14="http://schemas.microsoft.com/office/powerpoint/2010/main" val="8172397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DE1D76D8-7834-92F0-2DD9-A1540A9A1DC2}"/>
              </a:ext>
            </a:extLst>
          </p:cNvPr>
          <p:cNvSpPr>
            <a:spLocks noGrp="1"/>
          </p:cNvSpPr>
          <p:nvPr>
            <p:ph type="title"/>
          </p:nvPr>
        </p:nvSpPr>
        <p:spPr>
          <a:xfrm>
            <a:off x="403633" y="391806"/>
            <a:ext cx="11391611" cy="646331"/>
          </a:xfrm>
          <a:prstGeom prst="rect">
            <a:avLst/>
          </a:prstGeom>
          <a:noFill/>
        </p:spPr>
        <p:txBody>
          <a:bodyPr wrap="square" rtlCol="0">
            <a:spAutoFit/>
          </a:bodyPr>
          <a:lstStyle>
            <a:lvl1pPr>
              <a:defRPr>
                <a:solidFill>
                  <a:schemeClr val="tx1"/>
                </a:solidFill>
              </a:defRPr>
            </a:lvl1pPr>
          </a:lstStyle>
          <a:p>
            <a:pPr marL="0" lvl="0"/>
            <a:r>
              <a:rPr lang="en-US"/>
              <a:t>Click to edit Master title style</a:t>
            </a:r>
          </a:p>
        </p:txBody>
      </p:sp>
    </p:spTree>
    <p:extLst>
      <p:ext uri="{BB962C8B-B14F-4D97-AF65-F5344CB8AC3E}">
        <p14:creationId xmlns:p14="http://schemas.microsoft.com/office/powerpoint/2010/main" val="384483010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98798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ver">
    <p:bg>
      <p:bgPr>
        <a:gradFill>
          <a:gsLst>
            <a:gs pos="23000">
              <a:srgbClr val="E3E8FF"/>
            </a:gs>
            <a:gs pos="100000">
              <a:schemeClr val="bg1"/>
            </a:gs>
          </a:gsLst>
          <a:lin ang="4200000" scaled="0"/>
        </a:gradFill>
        <a:effectLst/>
      </p:bgPr>
    </p:bg>
    <p:spTree>
      <p:nvGrpSpPr>
        <p:cNvPr id="1" name=""/>
        <p:cNvGrpSpPr/>
        <p:nvPr/>
      </p:nvGrpSpPr>
      <p:grpSpPr>
        <a:xfrm>
          <a:off x="0" y="0"/>
          <a:ext cx="0" cy="0"/>
          <a:chOff x="0" y="0"/>
          <a:chExt cx="0" cy="0"/>
        </a:xfrm>
      </p:grpSpPr>
      <p:sp>
        <p:nvSpPr>
          <p:cNvPr id="6" name="Document 82">
            <a:extLst>
              <a:ext uri="{FF2B5EF4-FFF2-40B4-BE49-F238E27FC236}">
                <a16:creationId xmlns:a16="http://schemas.microsoft.com/office/drawing/2014/main" id="{59E3677C-A32A-F9C8-C993-DC292398ABD8}"/>
              </a:ext>
            </a:extLst>
          </p:cNvPr>
          <p:cNvSpPr/>
          <p:nvPr userDrawn="1"/>
        </p:nvSpPr>
        <p:spPr>
          <a:xfrm rot="16200000" flipH="1">
            <a:off x="212724" y="-209101"/>
            <a:ext cx="6869881" cy="7295317"/>
          </a:xfrm>
          <a:prstGeom prst="flowChartDocument">
            <a:avLst/>
          </a:prstGeom>
          <a:gradFill>
            <a:gsLst>
              <a:gs pos="0">
                <a:schemeClr val="accent6"/>
              </a:gs>
              <a:gs pos="100000">
                <a:schemeClr val="accent5"/>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a:extLst>
              <a:ext uri="{FF2B5EF4-FFF2-40B4-BE49-F238E27FC236}">
                <a16:creationId xmlns:a16="http://schemas.microsoft.com/office/drawing/2014/main" id="{CB3693A0-FE5B-75D6-8A3D-4A881ACC50C3}"/>
              </a:ext>
            </a:extLst>
          </p:cNvPr>
          <p:cNvPicPr>
            <a:picLocks noChangeAspect="1"/>
          </p:cNvPicPr>
          <p:nvPr userDrawn="1"/>
        </p:nvPicPr>
        <p:blipFill>
          <a:blip r:embed="rId2"/>
          <a:srcRect/>
          <a:stretch/>
        </p:blipFill>
        <p:spPr>
          <a:xfrm>
            <a:off x="808275" y="4859282"/>
            <a:ext cx="2332490" cy="387714"/>
          </a:xfrm>
          <a:prstGeom prst="rect">
            <a:avLst/>
          </a:prstGeom>
        </p:spPr>
      </p:pic>
      <p:sp>
        <p:nvSpPr>
          <p:cNvPr id="10" name="Title 1">
            <a:extLst>
              <a:ext uri="{FF2B5EF4-FFF2-40B4-BE49-F238E27FC236}">
                <a16:creationId xmlns:a16="http://schemas.microsoft.com/office/drawing/2014/main" id="{A09CEEF1-4022-35D2-C540-8397F419849B}"/>
              </a:ext>
            </a:extLst>
          </p:cNvPr>
          <p:cNvSpPr>
            <a:spLocks noGrp="1"/>
          </p:cNvSpPr>
          <p:nvPr>
            <p:ph type="ctrTitle" hasCustomPrompt="1"/>
          </p:nvPr>
        </p:nvSpPr>
        <p:spPr>
          <a:xfrm>
            <a:off x="716639" y="1332651"/>
            <a:ext cx="5296234" cy="1481752"/>
          </a:xfrm>
          <a:prstGeom prst="rect">
            <a:avLst/>
          </a:prstGeom>
          <a:noFill/>
        </p:spPr>
        <p:txBody>
          <a:bodyPr wrap="square" rtlCol="0" anchor="b">
            <a:spAutoFit/>
          </a:bodyPr>
          <a:lstStyle>
            <a:lvl1pPr>
              <a:defRPr lang="en-US" sz="5000" dirty="0">
                <a:solidFill>
                  <a:schemeClr val="tx1"/>
                </a:solidFill>
                <a:latin typeface="+mj-lt"/>
                <a:ea typeface="+mn-ea"/>
                <a:cs typeface="Archivo" pitchFamily="2" charset="0"/>
              </a:defRPr>
            </a:lvl1pPr>
          </a:lstStyle>
          <a:p>
            <a:pPr marL="0" lvl="0">
              <a:spcAft>
                <a:spcPts val="1800"/>
              </a:spcAft>
            </a:pPr>
            <a:r>
              <a:rPr lang="en-US"/>
              <a:t>Click to add Presentation Title</a:t>
            </a:r>
          </a:p>
        </p:txBody>
      </p:sp>
      <p:sp>
        <p:nvSpPr>
          <p:cNvPr id="11" name="Subtitle 2">
            <a:extLst>
              <a:ext uri="{FF2B5EF4-FFF2-40B4-BE49-F238E27FC236}">
                <a16:creationId xmlns:a16="http://schemas.microsoft.com/office/drawing/2014/main" id="{ABA90BEE-1469-0F44-87AD-D3E702CDA785}"/>
              </a:ext>
            </a:extLst>
          </p:cNvPr>
          <p:cNvSpPr>
            <a:spLocks noGrp="1"/>
          </p:cNvSpPr>
          <p:nvPr>
            <p:ph type="subTitle" idx="1" hasCustomPrompt="1"/>
          </p:nvPr>
        </p:nvSpPr>
        <p:spPr>
          <a:xfrm>
            <a:off x="716639" y="3069552"/>
            <a:ext cx="5296234" cy="1116203"/>
          </a:xfrm>
          <a:prstGeom prst="rect">
            <a:avLst/>
          </a:prstGeom>
          <a:noFill/>
        </p:spPr>
        <p:txBody>
          <a:bodyPr wrap="square" rtlCol="0">
            <a:spAutoFit/>
          </a:bodyPr>
          <a:lstStyle>
            <a:lvl1pPr marL="0" indent="0">
              <a:buNone/>
              <a:defRPr lang="en-US" sz="2400">
                <a:solidFill>
                  <a:schemeClr val="tx1"/>
                </a:solidFill>
                <a:latin typeface="+mn-lt"/>
                <a:cs typeface="Archivo Light" pitchFamily="2" charset="77"/>
              </a:defRPr>
            </a:lvl1pPr>
          </a:lstStyle>
          <a:p>
            <a:pPr marL="0" lvl="0">
              <a:spcAft>
                <a:spcPts val="1800"/>
              </a:spcAft>
            </a:pPr>
            <a:r>
              <a:rPr lang="en-US"/>
              <a:t>Click to add subtitle</a:t>
            </a:r>
          </a:p>
          <a:p>
            <a:pPr marL="0" lvl="0">
              <a:spcAft>
                <a:spcPts val="1800"/>
              </a:spcAft>
            </a:pPr>
            <a:endParaRPr lang="en-US"/>
          </a:p>
        </p:txBody>
      </p:sp>
      <p:sp>
        <p:nvSpPr>
          <p:cNvPr id="12" name="Text Placeholder 14">
            <a:extLst>
              <a:ext uri="{FF2B5EF4-FFF2-40B4-BE49-F238E27FC236}">
                <a16:creationId xmlns:a16="http://schemas.microsoft.com/office/drawing/2014/main" id="{49570129-F6F5-A246-FBB9-2A39F6285349}"/>
              </a:ext>
            </a:extLst>
          </p:cNvPr>
          <p:cNvSpPr>
            <a:spLocks noGrp="1"/>
          </p:cNvSpPr>
          <p:nvPr>
            <p:ph type="body" sz="quarter" idx="10" hasCustomPrompt="1"/>
          </p:nvPr>
        </p:nvSpPr>
        <p:spPr>
          <a:xfrm>
            <a:off x="716639" y="5467440"/>
            <a:ext cx="2212358" cy="341632"/>
          </a:xfrm>
          <a:prstGeom prst="rect">
            <a:avLst/>
          </a:prstGeom>
          <a:noFill/>
        </p:spPr>
        <p:txBody>
          <a:bodyPr wrap="square" rtlCol="0">
            <a:spAutoFit/>
          </a:bodyPr>
          <a:lstStyle>
            <a:lvl1pPr marL="0" indent="0">
              <a:buNone/>
              <a:defRPr lang="en-US" sz="1800" dirty="0">
                <a:solidFill>
                  <a:schemeClr val="tx1"/>
                </a:solidFill>
                <a:latin typeface="+mn-lt"/>
                <a:cs typeface="Archivo Light" pitchFamily="2" charset="77"/>
              </a:defRPr>
            </a:lvl1pPr>
          </a:lstStyle>
          <a:p>
            <a:pPr marL="0" lvl="0"/>
            <a:r>
              <a:rPr lang="en-US"/>
              <a:t>Date</a:t>
            </a:r>
          </a:p>
        </p:txBody>
      </p:sp>
      <p:sp>
        <p:nvSpPr>
          <p:cNvPr id="13" name="Text Placeholder 14">
            <a:extLst>
              <a:ext uri="{FF2B5EF4-FFF2-40B4-BE49-F238E27FC236}">
                <a16:creationId xmlns:a16="http://schemas.microsoft.com/office/drawing/2014/main" id="{974995CF-287B-06BC-73DE-53FA61002D4A}"/>
              </a:ext>
            </a:extLst>
          </p:cNvPr>
          <p:cNvSpPr>
            <a:spLocks noGrp="1"/>
          </p:cNvSpPr>
          <p:nvPr>
            <p:ph type="body" sz="quarter" idx="11" hasCustomPrompt="1"/>
          </p:nvPr>
        </p:nvSpPr>
        <p:spPr>
          <a:xfrm>
            <a:off x="716639" y="5942212"/>
            <a:ext cx="2212358" cy="341632"/>
          </a:xfrm>
          <a:prstGeom prst="rect">
            <a:avLst/>
          </a:prstGeom>
          <a:noFill/>
        </p:spPr>
        <p:txBody>
          <a:bodyPr wrap="square" rtlCol="0">
            <a:spAutoFit/>
          </a:bodyPr>
          <a:lstStyle>
            <a:lvl1pPr marL="0" indent="0">
              <a:buNone/>
              <a:defRPr lang="en-US" sz="1800" dirty="0">
                <a:solidFill>
                  <a:schemeClr val="tx1"/>
                </a:solidFill>
                <a:latin typeface="+mn-lt"/>
                <a:cs typeface="Archivo Light" pitchFamily="2" charset="77"/>
              </a:defRPr>
            </a:lvl1pPr>
          </a:lstStyle>
          <a:p>
            <a:pPr marL="0" lvl="0"/>
            <a:r>
              <a:rPr lang="en-US"/>
              <a:t>Presenter</a:t>
            </a:r>
          </a:p>
        </p:txBody>
      </p:sp>
    </p:spTree>
    <p:extLst>
      <p:ext uri="{BB962C8B-B14F-4D97-AF65-F5344CB8AC3E}">
        <p14:creationId xmlns:p14="http://schemas.microsoft.com/office/powerpoint/2010/main" val="149024037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Divider">
    <p:spTree>
      <p:nvGrpSpPr>
        <p:cNvPr id="1" name=""/>
        <p:cNvGrpSpPr/>
        <p:nvPr/>
      </p:nvGrpSpPr>
      <p:grpSpPr>
        <a:xfrm>
          <a:off x="0" y="0"/>
          <a:ext cx="0" cy="0"/>
          <a:chOff x="0" y="0"/>
          <a:chExt cx="0" cy="0"/>
        </a:xfrm>
      </p:grpSpPr>
      <p:sp>
        <p:nvSpPr>
          <p:cNvPr id="3" name="Document 82">
            <a:extLst>
              <a:ext uri="{FF2B5EF4-FFF2-40B4-BE49-F238E27FC236}">
                <a16:creationId xmlns:a16="http://schemas.microsoft.com/office/drawing/2014/main" id="{98634527-6230-C3A9-382A-EE1CF9783CAA}"/>
              </a:ext>
            </a:extLst>
          </p:cNvPr>
          <p:cNvSpPr/>
          <p:nvPr userDrawn="1"/>
        </p:nvSpPr>
        <p:spPr>
          <a:xfrm rot="16200000" flipH="1">
            <a:off x="-81903" y="70022"/>
            <a:ext cx="6863566" cy="6699760"/>
          </a:xfrm>
          <a:prstGeom prst="flowChartDocument">
            <a:avLst/>
          </a:prstGeom>
          <a:gradFill>
            <a:gsLst>
              <a:gs pos="0">
                <a:schemeClr val="accent6"/>
              </a:gs>
              <a:gs pos="100000">
                <a:schemeClr val="accent5"/>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6DCE05-ECDB-C3F2-D8B1-D09DDE37902C}"/>
              </a:ext>
            </a:extLst>
          </p:cNvPr>
          <p:cNvSpPr>
            <a:spLocks noGrp="1"/>
          </p:cNvSpPr>
          <p:nvPr>
            <p:ph type="title"/>
          </p:nvPr>
        </p:nvSpPr>
        <p:spPr>
          <a:xfrm>
            <a:off x="740331" y="2137848"/>
            <a:ext cx="4662942" cy="2174250"/>
          </a:xfrm>
          <a:prstGeom prst="rect">
            <a:avLst/>
          </a:prstGeom>
          <a:noFill/>
        </p:spPr>
        <p:txBody>
          <a:bodyPr wrap="square">
            <a:spAutoFit/>
          </a:bodyPr>
          <a:lstStyle>
            <a:lvl1pPr>
              <a:defRPr lang="en-US" sz="5000" dirty="0">
                <a:solidFill>
                  <a:schemeClr val="tx1"/>
                </a:solidFill>
                <a:latin typeface="+mj-lt"/>
                <a:ea typeface="+mn-ea"/>
                <a:cs typeface="Archivo Light" pitchFamily="2" charset="77"/>
              </a:defRPr>
            </a:lvl1pPr>
          </a:lstStyle>
          <a:p>
            <a:pPr marL="0" lvl="0"/>
            <a:r>
              <a:rPr lang="en-US"/>
              <a:t>Click to edit Master title style</a:t>
            </a:r>
          </a:p>
        </p:txBody>
      </p:sp>
      <p:sp>
        <p:nvSpPr>
          <p:cNvPr id="7" name="Text Placeholder 6">
            <a:extLst>
              <a:ext uri="{FF2B5EF4-FFF2-40B4-BE49-F238E27FC236}">
                <a16:creationId xmlns:a16="http://schemas.microsoft.com/office/drawing/2014/main" id="{81FE43B4-3B98-AAB2-FEF8-2D96DC1A26B1}"/>
              </a:ext>
            </a:extLst>
          </p:cNvPr>
          <p:cNvSpPr>
            <a:spLocks noGrp="1"/>
          </p:cNvSpPr>
          <p:nvPr>
            <p:ph type="body" sz="quarter" idx="10"/>
          </p:nvPr>
        </p:nvSpPr>
        <p:spPr>
          <a:xfrm>
            <a:off x="740331" y="1646858"/>
            <a:ext cx="4581380" cy="424732"/>
          </a:xfrm>
          <a:prstGeom prst="rect">
            <a:avLst/>
          </a:prstGeom>
          <a:noFill/>
        </p:spPr>
        <p:txBody>
          <a:bodyPr wrap="square" lIns="91440" tIns="45720" rIns="91440" bIns="45720" anchor="t">
            <a:spAutoFit/>
          </a:bodyPr>
          <a:lstStyle>
            <a:lvl1pPr marL="0" indent="0">
              <a:buNone/>
              <a:defRPr lang="en-US" sz="2400" b="1" smtClean="0">
                <a:solidFill>
                  <a:schemeClr val="accent1"/>
                </a:solidFill>
                <a:latin typeface="+mj-lt"/>
                <a:ea typeface="+mn-lt"/>
                <a:cs typeface="+mn-lt"/>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9" name="Text Placeholder 9">
            <a:extLst>
              <a:ext uri="{FF2B5EF4-FFF2-40B4-BE49-F238E27FC236}">
                <a16:creationId xmlns:a16="http://schemas.microsoft.com/office/drawing/2014/main" id="{8C8D54D1-F04C-5AB1-69E3-2EA74D27FEE7}"/>
              </a:ext>
            </a:extLst>
          </p:cNvPr>
          <p:cNvSpPr>
            <a:spLocks noGrp="1"/>
          </p:cNvSpPr>
          <p:nvPr>
            <p:ph type="body" sz="quarter" idx="12"/>
          </p:nvPr>
        </p:nvSpPr>
        <p:spPr>
          <a:xfrm>
            <a:off x="740330" y="4472479"/>
            <a:ext cx="3838487" cy="371127"/>
          </a:xfrm>
          <a:prstGeom prst="rect">
            <a:avLst/>
          </a:prstGeom>
          <a:noFill/>
        </p:spPr>
        <p:txBody>
          <a:bodyPr wrap="square">
            <a:spAutoFit/>
          </a:bodyPr>
          <a:lstStyle>
            <a:lvl1pPr marL="0" indent="0">
              <a:buNone/>
              <a:defRPr lang="en-US" sz="2000" smtClean="0">
                <a:solidFill>
                  <a:schemeClr val="tx2"/>
                </a:solidFill>
                <a:latin typeface="+mn-lt"/>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5" name="Text Placeholder 9">
            <a:extLst>
              <a:ext uri="{FF2B5EF4-FFF2-40B4-BE49-F238E27FC236}">
                <a16:creationId xmlns:a16="http://schemas.microsoft.com/office/drawing/2014/main" id="{C5E7DCFA-FEA4-F7F9-FF2F-16E0354D1A3D}"/>
              </a:ext>
            </a:extLst>
          </p:cNvPr>
          <p:cNvSpPr>
            <a:spLocks noGrp="1"/>
          </p:cNvSpPr>
          <p:nvPr>
            <p:ph type="body" sz="quarter" idx="13" hasCustomPrompt="1"/>
          </p:nvPr>
        </p:nvSpPr>
        <p:spPr>
          <a:xfrm>
            <a:off x="7255566" y="1409870"/>
            <a:ext cx="4196104" cy="1323439"/>
          </a:xfrm>
          <a:prstGeom prst="rect">
            <a:avLst/>
          </a:prstGeom>
          <a:noFill/>
        </p:spPr>
        <p:txBody>
          <a:bodyPr wrap="square">
            <a:spAutoFit/>
          </a:bodyPr>
          <a:lstStyle>
            <a:lvl1pPr marL="0" indent="0">
              <a:lnSpc>
                <a:spcPct val="100000"/>
              </a:lnSpc>
              <a:buNone/>
              <a:defRPr lang="en-US" sz="4000" smtClean="0">
                <a:solidFill>
                  <a:schemeClr val="tx2"/>
                </a:solidFill>
                <a:latin typeface="+mn-lt"/>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Add bold statement here</a:t>
            </a:r>
          </a:p>
        </p:txBody>
      </p:sp>
      <p:sp>
        <p:nvSpPr>
          <p:cNvPr id="6" name="TextBox 5">
            <a:extLst>
              <a:ext uri="{FF2B5EF4-FFF2-40B4-BE49-F238E27FC236}">
                <a16:creationId xmlns:a16="http://schemas.microsoft.com/office/drawing/2014/main" id="{AF3857B2-039E-AFF2-1E8A-E8ADA4B13CB4}"/>
              </a:ext>
            </a:extLst>
          </p:cNvPr>
          <p:cNvSpPr txBox="1"/>
          <p:nvPr userDrawn="1"/>
        </p:nvSpPr>
        <p:spPr>
          <a:xfrm>
            <a:off x="9036283" y="6526817"/>
            <a:ext cx="309608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srgbClr val="1A0E76"/>
                </a:solidFill>
                <a:latin typeface="+mn-lt"/>
                <a:cs typeface="Archivo" pitchFamily="2" charset="0"/>
              </a:rPr>
              <a:t>Confidential &amp; Proprietary  |  © 2026 JazzX AI    </a:t>
            </a:r>
            <a:fld id="{9F90C545-CD09-0447-A167-744DB4FB2CC5}" type="slidenum">
              <a:rPr lang="en-US" sz="1100" smtClean="0">
                <a:solidFill>
                  <a:srgbClr val="1A0E76"/>
                </a:solidFill>
                <a:latin typeface="+mn-lt"/>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100">
                <a:solidFill>
                  <a:srgbClr val="1A0E76"/>
                </a:solidFill>
                <a:latin typeface="+mn-lt"/>
                <a:cs typeface="Archivo" pitchFamily="2" charset="0"/>
              </a:rPr>
              <a:t> </a:t>
            </a:r>
          </a:p>
        </p:txBody>
      </p:sp>
      <p:sp>
        <p:nvSpPr>
          <p:cNvPr id="8" name="Oval 7">
            <a:extLst>
              <a:ext uri="{FF2B5EF4-FFF2-40B4-BE49-F238E27FC236}">
                <a16:creationId xmlns:a16="http://schemas.microsoft.com/office/drawing/2014/main" id="{A871836E-8539-7AD9-18DC-27EAF02805AB}"/>
              </a:ext>
            </a:extLst>
          </p:cNvPr>
          <p:cNvSpPr/>
          <p:nvPr userDrawn="1"/>
        </p:nvSpPr>
        <p:spPr>
          <a:xfrm>
            <a:off x="8869911" y="6577601"/>
            <a:ext cx="149064" cy="155863"/>
          </a:xfrm>
          <a:prstGeom prst="ellipse">
            <a:avLst/>
          </a:prstGeom>
          <a:solidFill>
            <a:srgbClr val="FF0000"/>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Picture Placeholder 7">
            <a:extLst>
              <a:ext uri="{FF2B5EF4-FFF2-40B4-BE49-F238E27FC236}">
                <a16:creationId xmlns:a16="http://schemas.microsoft.com/office/drawing/2014/main" id="{A9C85836-13C6-CE90-7299-A3434079114A}"/>
              </a:ext>
            </a:extLst>
          </p:cNvPr>
          <p:cNvSpPr>
            <a:spLocks noGrp="1"/>
          </p:cNvSpPr>
          <p:nvPr>
            <p:ph type="pic" sz="quarter" idx="14"/>
          </p:nvPr>
        </p:nvSpPr>
        <p:spPr>
          <a:xfrm>
            <a:off x="7255566" y="2941221"/>
            <a:ext cx="4196104" cy="2405343"/>
          </a:xfrm>
        </p:spPr>
        <p:txBody>
          <a:bodyPr/>
          <a:lstStyle/>
          <a:p>
            <a:r>
              <a:rPr lang="en-US"/>
              <a:t>Click icon to add picture</a:t>
            </a:r>
          </a:p>
        </p:txBody>
      </p:sp>
    </p:spTree>
    <p:extLst>
      <p:ext uri="{BB962C8B-B14F-4D97-AF65-F5344CB8AC3E}">
        <p14:creationId xmlns:p14="http://schemas.microsoft.com/office/powerpoint/2010/main" val="32081186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Blank Divider">
    <p:bg>
      <p:bgPr>
        <a:gradFill>
          <a:gsLst>
            <a:gs pos="1000">
              <a:srgbClr val="E0E8FF"/>
            </a:gs>
            <a:gs pos="100000">
              <a:schemeClr val="bg1"/>
            </a:gs>
          </a:gsLst>
          <a:lin ang="4800000" scaled="0"/>
        </a:gradFill>
        <a:effectLst/>
      </p:bgPr>
    </p:bg>
    <p:spTree>
      <p:nvGrpSpPr>
        <p:cNvPr id="1" name=""/>
        <p:cNvGrpSpPr/>
        <p:nvPr/>
      </p:nvGrpSpPr>
      <p:grpSpPr>
        <a:xfrm>
          <a:off x="0" y="0"/>
          <a:ext cx="0" cy="0"/>
          <a:chOff x="0" y="0"/>
          <a:chExt cx="0" cy="0"/>
        </a:xfrm>
      </p:grpSpPr>
      <p:sp>
        <p:nvSpPr>
          <p:cNvPr id="8" name="Document 7">
            <a:extLst>
              <a:ext uri="{FF2B5EF4-FFF2-40B4-BE49-F238E27FC236}">
                <a16:creationId xmlns:a16="http://schemas.microsoft.com/office/drawing/2014/main" id="{83796536-52DE-4D4C-AE91-0A4D836FDA7F}"/>
              </a:ext>
            </a:extLst>
          </p:cNvPr>
          <p:cNvSpPr/>
          <p:nvPr userDrawn="1"/>
        </p:nvSpPr>
        <p:spPr>
          <a:xfrm rot="16200000" flipH="1" flipV="1">
            <a:off x="4932527" y="-401467"/>
            <a:ext cx="6858001" cy="7660943"/>
          </a:xfrm>
          <a:prstGeom prst="flowChartDocument">
            <a:avLst/>
          </a:prstGeom>
          <a:gradFill>
            <a:gsLst>
              <a:gs pos="0">
                <a:schemeClr val="accent6"/>
              </a:gs>
              <a:gs pos="100000">
                <a:schemeClr val="accent5"/>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4811E38D-B922-7201-2AEC-2D6429902A55}"/>
              </a:ext>
            </a:extLst>
          </p:cNvPr>
          <p:cNvSpPr txBox="1"/>
          <p:nvPr userDrawn="1"/>
        </p:nvSpPr>
        <p:spPr>
          <a:xfrm>
            <a:off x="9036283" y="6526817"/>
            <a:ext cx="309608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srgbClr val="1A0E76"/>
                </a:solidFill>
                <a:latin typeface="+mn-lt"/>
                <a:cs typeface="Archivo" pitchFamily="2" charset="0"/>
              </a:rPr>
              <a:t>Confidential &amp; Proprietary  |  © 2026 JazzX AI    </a:t>
            </a:r>
            <a:fld id="{9F90C545-CD09-0447-A167-744DB4FB2CC5}" type="slidenum">
              <a:rPr lang="en-US" sz="1100" smtClean="0">
                <a:solidFill>
                  <a:srgbClr val="1A0E76"/>
                </a:solidFill>
                <a:latin typeface="+mn-lt"/>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100">
                <a:solidFill>
                  <a:srgbClr val="1A0E76"/>
                </a:solidFill>
                <a:latin typeface="+mn-lt"/>
                <a:cs typeface="Archivo" pitchFamily="2" charset="0"/>
              </a:rPr>
              <a:t> </a:t>
            </a:r>
          </a:p>
        </p:txBody>
      </p:sp>
      <p:sp>
        <p:nvSpPr>
          <p:cNvPr id="5" name="Oval 4">
            <a:extLst>
              <a:ext uri="{FF2B5EF4-FFF2-40B4-BE49-F238E27FC236}">
                <a16:creationId xmlns:a16="http://schemas.microsoft.com/office/drawing/2014/main" id="{756DCE74-D606-0661-CAE9-5F435C985B13}"/>
              </a:ext>
            </a:extLst>
          </p:cNvPr>
          <p:cNvSpPr/>
          <p:nvPr userDrawn="1"/>
        </p:nvSpPr>
        <p:spPr>
          <a:xfrm>
            <a:off x="8869911" y="6577601"/>
            <a:ext cx="149064" cy="155863"/>
          </a:xfrm>
          <a:prstGeom prst="ellipse">
            <a:avLst/>
          </a:prstGeom>
          <a:solidFill>
            <a:srgbClr val="FF0000"/>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8849591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81435082"/>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DE1D76D8-7834-92F0-2DD9-A1540A9A1DC2}"/>
              </a:ext>
            </a:extLst>
          </p:cNvPr>
          <p:cNvSpPr>
            <a:spLocks noGrp="1"/>
          </p:cNvSpPr>
          <p:nvPr>
            <p:ph type="title"/>
          </p:nvPr>
        </p:nvSpPr>
        <p:spPr>
          <a:xfrm>
            <a:off x="403633" y="391806"/>
            <a:ext cx="11391611" cy="646331"/>
          </a:xfrm>
          <a:prstGeom prst="rect">
            <a:avLst/>
          </a:prstGeom>
          <a:noFill/>
        </p:spPr>
        <p:txBody>
          <a:bodyPr wrap="square" rtlCol="0">
            <a:spAutoFit/>
          </a:bodyPr>
          <a:lstStyle>
            <a:lvl1pPr>
              <a:defRPr>
                <a:solidFill>
                  <a:schemeClr val="tx1"/>
                </a:solidFill>
              </a:defRPr>
            </a:lvl1pPr>
          </a:lstStyle>
          <a:p>
            <a:pPr marL="0" lvl="0"/>
            <a:r>
              <a:rPr lang="en-US"/>
              <a:t>Click to edit Master title style</a:t>
            </a:r>
          </a:p>
        </p:txBody>
      </p:sp>
    </p:spTree>
    <p:extLst>
      <p:ext uri="{BB962C8B-B14F-4D97-AF65-F5344CB8AC3E}">
        <p14:creationId xmlns:p14="http://schemas.microsoft.com/office/powerpoint/2010/main" val="16263375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 Content">
    <p:spTree>
      <p:nvGrpSpPr>
        <p:cNvPr id="1" name=""/>
        <p:cNvGrpSpPr/>
        <p:nvPr/>
      </p:nvGrpSpPr>
      <p:grpSpPr>
        <a:xfrm>
          <a:off x="0" y="0"/>
          <a:ext cx="0" cy="0"/>
          <a:chOff x="0" y="0"/>
          <a:chExt cx="0" cy="0"/>
        </a:xfrm>
      </p:grpSpPr>
      <p:sp>
        <p:nvSpPr>
          <p:cNvPr id="5" name="Title Placeholder 1">
            <a:extLst>
              <a:ext uri="{FF2B5EF4-FFF2-40B4-BE49-F238E27FC236}">
                <a16:creationId xmlns:a16="http://schemas.microsoft.com/office/drawing/2014/main" id="{DE1D76D8-7834-92F0-2DD9-A1540A9A1DC2}"/>
              </a:ext>
            </a:extLst>
          </p:cNvPr>
          <p:cNvSpPr>
            <a:spLocks noGrp="1"/>
          </p:cNvSpPr>
          <p:nvPr>
            <p:ph type="title"/>
          </p:nvPr>
        </p:nvSpPr>
        <p:spPr>
          <a:xfrm>
            <a:off x="403633" y="391806"/>
            <a:ext cx="11391611" cy="646331"/>
          </a:xfrm>
          <a:prstGeom prst="rect">
            <a:avLst/>
          </a:prstGeom>
          <a:noFill/>
        </p:spPr>
        <p:txBody>
          <a:bodyPr wrap="square" rtlCol="0">
            <a:spAutoFit/>
          </a:bodyPr>
          <a:lstStyle>
            <a:lvl1pPr>
              <a:defRPr>
                <a:solidFill>
                  <a:schemeClr val="tx1"/>
                </a:solidFill>
              </a:defRPr>
            </a:lvl1pPr>
          </a:lstStyle>
          <a:p>
            <a:pPr marL="0" lvl="0"/>
            <a:r>
              <a:rPr lang="en-US"/>
              <a:t>Click to edit Master title style</a:t>
            </a:r>
          </a:p>
        </p:txBody>
      </p:sp>
      <p:sp>
        <p:nvSpPr>
          <p:cNvPr id="8" name="Text Placeholder 7">
            <a:extLst>
              <a:ext uri="{FF2B5EF4-FFF2-40B4-BE49-F238E27FC236}">
                <a16:creationId xmlns:a16="http://schemas.microsoft.com/office/drawing/2014/main" id="{BD816813-C165-8A0F-321C-5D02AA51A651}"/>
              </a:ext>
            </a:extLst>
          </p:cNvPr>
          <p:cNvSpPr>
            <a:spLocks noGrp="1"/>
          </p:cNvSpPr>
          <p:nvPr>
            <p:ph type="body" sz="quarter" idx="10"/>
          </p:nvPr>
        </p:nvSpPr>
        <p:spPr>
          <a:xfrm>
            <a:off x="403224" y="1921791"/>
            <a:ext cx="11391611" cy="439588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0">
            <a:extLst>
              <a:ext uri="{FF2B5EF4-FFF2-40B4-BE49-F238E27FC236}">
                <a16:creationId xmlns:a16="http://schemas.microsoft.com/office/drawing/2014/main" id="{F3D69DD5-7036-0E36-7287-8F6A2026EF70}"/>
              </a:ext>
            </a:extLst>
          </p:cNvPr>
          <p:cNvSpPr>
            <a:spLocks noGrp="1"/>
          </p:cNvSpPr>
          <p:nvPr>
            <p:ph type="body" sz="quarter" idx="11"/>
          </p:nvPr>
        </p:nvSpPr>
        <p:spPr>
          <a:xfrm>
            <a:off x="403224" y="1059050"/>
            <a:ext cx="11403821" cy="411163"/>
          </a:xfrm>
        </p:spPr>
        <p:txBody>
          <a:bodyPr>
            <a:noAutofit/>
          </a:bodyPr>
          <a:lstStyle>
            <a:lvl1pPr marL="0" indent="0">
              <a:buNone/>
              <a:defRPr sz="2000"/>
            </a:lvl1pPr>
            <a:lvl2pPr>
              <a:defRPr sz="1600"/>
            </a:lvl2pPr>
            <a:lvl3pPr>
              <a:defRPr sz="1600"/>
            </a:lvl3pPr>
            <a:lvl4pPr>
              <a:defRPr sz="1600"/>
            </a:lvl4pPr>
            <a:lvl5pPr>
              <a:defRPr sz="1600"/>
            </a:lvl5pPr>
          </a:lstStyle>
          <a:p>
            <a:pPr lvl="0"/>
            <a:r>
              <a:rPr lang="en-US"/>
              <a:t>Click to edit Master text styles</a:t>
            </a:r>
          </a:p>
        </p:txBody>
      </p:sp>
    </p:spTree>
    <p:extLst>
      <p:ext uri="{BB962C8B-B14F-4D97-AF65-F5344CB8AC3E}">
        <p14:creationId xmlns:p14="http://schemas.microsoft.com/office/powerpoint/2010/main" val="24741968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Fancy Title + Content">
    <p:bg>
      <p:bgPr>
        <a:gradFill>
          <a:gsLst>
            <a:gs pos="0">
              <a:srgbClr val="DFE8FF"/>
            </a:gs>
            <a:gs pos="100000">
              <a:schemeClr val="accent6"/>
            </a:gs>
          </a:gsLst>
          <a:lin ang="5400000" scaled="0"/>
        </a:gradFill>
        <a:effectLst/>
      </p:bgPr>
    </p:bg>
    <p:spTree>
      <p:nvGrpSpPr>
        <p:cNvPr id="1" name=""/>
        <p:cNvGrpSpPr/>
        <p:nvPr/>
      </p:nvGrpSpPr>
      <p:grpSpPr>
        <a:xfrm>
          <a:off x="0" y="0"/>
          <a:ext cx="0" cy="0"/>
          <a:chOff x="0" y="0"/>
          <a:chExt cx="0" cy="0"/>
        </a:xfrm>
      </p:grpSpPr>
      <p:sp>
        <p:nvSpPr>
          <p:cNvPr id="3" name="Document 9">
            <a:extLst>
              <a:ext uri="{FF2B5EF4-FFF2-40B4-BE49-F238E27FC236}">
                <a16:creationId xmlns:a16="http://schemas.microsoft.com/office/drawing/2014/main" id="{779FC737-02B5-7DCC-72AF-95DE31B1BC2E}"/>
              </a:ext>
            </a:extLst>
          </p:cNvPr>
          <p:cNvSpPr/>
          <p:nvPr userDrawn="1"/>
        </p:nvSpPr>
        <p:spPr>
          <a:xfrm rot="10800000" flipH="1">
            <a:off x="0" y="1186868"/>
            <a:ext cx="12192000" cy="5676595"/>
          </a:xfrm>
          <a:prstGeom prst="flowChartDocument">
            <a:avLst/>
          </a:prstGeom>
          <a:gradFill>
            <a:gsLst>
              <a:gs pos="54000">
                <a:schemeClr val="bg1"/>
              </a:gs>
              <a:gs pos="0">
                <a:srgbClr val="E8EFFF"/>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6DCE05-ECDB-C3F2-D8B1-D09DDE37902C}"/>
              </a:ext>
            </a:extLst>
          </p:cNvPr>
          <p:cNvSpPr>
            <a:spLocks noGrp="1"/>
          </p:cNvSpPr>
          <p:nvPr>
            <p:ph type="title"/>
          </p:nvPr>
        </p:nvSpPr>
        <p:spPr>
          <a:xfrm>
            <a:off x="402401" y="392099"/>
            <a:ext cx="10629634" cy="649858"/>
          </a:xfrm>
          <a:prstGeom prst="rect">
            <a:avLst/>
          </a:prstGeom>
          <a:noFill/>
        </p:spPr>
        <p:txBody>
          <a:bodyPr wrap="square">
            <a:spAutoFit/>
          </a:bodyPr>
          <a:lstStyle>
            <a:lvl1pPr>
              <a:defRPr lang="en-US" sz="4000" dirty="0">
                <a:solidFill>
                  <a:schemeClr val="tx1"/>
                </a:solidFill>
                <a:latin typeface="+mj-lt"/>
                <a:ea typeface="+mn-ea"/>
                <a:cs typeface="Archivo Light" pitchFamily="2" charset="77"/>
              </a:defRPr>
            </a:lvl1pPr>
          </a:lstStyle>
          <a:p>
            <a:pPr marL="0" lvl="0"/>
            <a:r>
              <a:rPr lang="en-US"/>
              <a:t>Click to edit Master title style</a:t>
            </a:r>
          </a:p>
        </p:txBody>
      </p:sp>
      <p:sp>
        <p:nvSpPr>
          <p:cNvPr id="10" name="Text Placeholder 9">
            <a:extLst>
              <a:ext uri="{FF2B5EF4-FFF2-40B4-BE49-F238E27FC236}">
                <a16:creationId xmlns:a16="http://schemas.microsoft.com/office/drawing/2014/main" id="{84EE8242-0EB7-FCB0-9D33-57A63A353490}"/>
              </a:ext>
            </a:extLst>
          </p:cNvPr>
          <p:cNvSpPr>
            <a:spLocks noGrp="1"/>
          </p:cNvSpPr>
          <p:nvPr>
            <p:ph type="body" sz="quarter" idx="11"/>
          </p:nvPr>
        </p:nvSpPr>
        <p:spPr>
          <a:xfrm>
            <a:off x="412339" y="1902514"/>
            <a:ext cx="5429562" cy="426848"/>
          </a:xfrm>
          <a:prstGeom prst="rect">
            <a:avLst/>
          </a:prstGeom>
          <a:noFill/>
        </p:spPr>
        <p:txBody>
          <a:bodyPr wrap="square">
            <a:spAutoFit/>
          </a:bodyPr>
          <a:lstStyle>
            <a:lvl1pPr marL="0" indent="0">
              <a:buNone/>
              <a:defRPr lang="en-US" sz="2400" smtClean="0">
                <a:solidFill>
                  <a:schemeClr val="tx2"/>
                </a:solidFill>
                <a:latin typeface="+mn-lt"/>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5" name="Text Placeholder 7">
            <a:extLst>
              <a:ext uri="{FF2B5EF4-FFF2-40B4-BE49-F238E27FC236}">
                <a16:creationId xmlns:a16="http://schemas.microsoft.com/office/drawing/2014/main" id="{E98E7FB4-6263-16A9-98C2-3D089B941E84}"/>
              </a:ext>
            </a:extLst>
          </p:cNvPr>
          <p:cNvSpPr>
            <a:spLocks noGrp="1"/>
          </p:cNvSpPr>
          <p:nvPr>
            <p:ph type="body" sz="quarter" idx="10"/>
          </p:nvPr>
        </p:nvSpPr>
        <p:spPr>
          <a:xfrm>
            <a:off x="412340" y="2673625"/>
            <a:ext cx="10823598" cy="3604291"/>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a:extLst>
              <a:ext uri="{FF2B5EF4-FFF2-40B4-BE49-F238E27FC236}">
                <a16:creationId xmlns:a16="http://schemas.microsoft.com/office/drawing/2014/main" id="{B49F6AA8-8854-19C2-E691-736B237EF125}"/>
              </a:ext>
            </a:extLst>
          </p:cNvPr>
          <p:cNvSpPr txBox="1"/>
          <p:nvPr userDrawn="1"/>
        </p:nvSpPr>
        <p:spPr>
          <a:xfrm>
            <a:off x="9036283" y="6526817"/>
            <a:ext cx="309608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srgbClr val="1A0E76"/>
                </a:solidFill>
                <a:latin typeface="+mn-lt"/>
                <a:cs typeface="Archivo" pitchFamily="2" charset="0"/>
              </a:rPr>
              <a:t>Confidential &amp; Proprietary  |  © 2026 JazzX AI    </a:t>
            </a:r>
            <a:fld id="{9F90C545-CD09-0447-A167-744DB4FB2CC5}" type="slidenum">
              <a:rPr lang="en-US" sz="1100" smtClean="0">
                <a:solidFill>
                  <a:srgbClr val="1A0E76"/>
                </a:solidFill>
                <a:latin typeface="+mn-lt"/>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100">
                <a:solidFill>
                  <a:srgbClr val="1A0E76"/>
                </a:solidFill>
                <a:latin typeface="+mn-lt"/>
                <a:cs typeface="Archivo" pitchFamily="2" charset="0"/>
              </a:rPr>
              <a:t> </a:t>
            </a:r>
          </a:p>
        </p:txBody>
      </p:sp>
      <p:sp>
        <p:nvSpPr>
          <p:cNvPr id="6" name="Oval 5">
            <a:extLst>
              <a:ext uri="{FF2B5EF4-FFF2-40B4-BE49-F238E27FC236}">
                <a16:creationId xmlns:a16="http://schemas.microsoft.com/office/drawing/2014/main" id="{ABDF5DB1-8336-CEDB-8E43-4BEB172446FE}"/>
              </a:ext>
            </a:extLst>
          </p:cNvPr>
          <p:cNvSpPr/>
          <p:nvPr userDrawn="1"/>
        </p:nvSpPr>
        <p:spPr>
          <a:xfrm>
            <a:off x="8869911" y="6577601"/>
            <a:ext cx="149064" cy="155863"/>
          </a:xfrm>
          <a:prstGeom prst="ellipse">
            <a:avLst/>
          </a:prstGeom>
          <a:solidFill>
            <a:srgbClr val="FF0000"/>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Graphic 6">
            <a:extLst>
              <a:ext uri="{FF2B5EF4-FFF2-40B4-BE49-F238E27FC236}">
                <a16:creationId xmlns:a16="http://schemas.microsoft.com/office/drawing/2014/main" id="{B2EEE0F4-1210-98DC-EBD6-C81CC64DE91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9573" y="6494735"/>
            <a:ext cx="1061670" cy="315000"/>
          </a:xfrm>
          <a:prstGeom prst="rect">
            <a:avLst/>
          </a:prstGeom>
        </p:spPr>
      </p:pic>
    </p:spTree>
    <p:extLst>
      <p:ext uri="{BB962C8B-B14F-4D97-AF65-F5344CB8AC3E}">
        <p14:creationId xmlns:p14="http://schemas.microsoft.com/office/powerpoint/2010/main" val="35222734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Fancy Title + Content2">
    <p:bg>
      <p:bgPr>
        <a:gradFill>
          <a:gsLst>
            <a:gs pos="1000">
              <a:srgbClr val="E0E8FF"/>
            </a:gs>
            <a:gs pos="100000">
              <a:schemeClr val="bg1"/>
            </a:gs>
          </a:gsLst>
          <a:lin ang="4800000" scaled="0"/>
        </a:gra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DCE05-ECDB-C3F2-D8B1-D09DDE37902C}"/>
              </a:ext>
            </a:extLst>
          </p:cNvPr>
          <p:cNvSpPr>
            <a:spLocks noGrp="1"/>
          </p:cNvSpPr>
          <p:nvPr>
            <p:ph type="title"/>
          </p:nvPr>
        </p:nvSpPr>
        <p:spPr>
          <a:xfrm>
            <a:off x="740332" y="2137848"/>
            <a:ext cx="3453982" cy="2169825"/>
          </a:xfrm>
          <a:prstGeom prst="rect">
            <a:avLst/>
          </a:prstGeom>
          <a:noFill/>
        </p:spPr>
        <p:txBody>
          <a:bodyPr wrap="square">
            <a:spAutoFit/>
          </a:bodyPr>
          <a:lstStyle>
            <a:lvl1pPr>
              <a:defRPr lang="en-US" sz="5000" dirty="0">
                <a:solidFill>
                  <a:schemeClr val="tx1"/>
                </a:solidFill>
                <a:latin typeface="+mj-lt"/>
                <a:ea typeface="+mn-ea"/>
                <a:cs typeface="Archivo Light" pitchFamily="2" charset="77"/>
              </a:defRPr>
            </a:lvl1pPr>
          </a:lstStyle>
          <a:p>
            <a:pPr marL="0" lvl="0"/>
            <a:r>
              <a:rPr lang="en-US"/>
              <a:t>Click to edit Master title style</a:t>
            </a:r>
          </a:p>
        </p:txBody>
      </p:sp>
      <p:sp>
        <p:nvSpPr>
          <p:cNvPr id="8" name="Document 7">
            <a:extLst>
              <a:ext uri="{FF2B5EF4-FFF2-40B4-BE49-F238E27FC236}">
                <a16:creationId xmlns:a16="http://schemas.microsoft.com/office/drawing/2014/main" id="{83796536-52DE-4D4C-AE91-0A4D836FDA7F}"/>
              </a:ext>
            </a:extLst>
          </p:cNvPr>
          <p:cNvSpPr/>
          <p:nvPr userDrawn="1"/>
        </p:nvSpPr>
        <p:spPr>
          <a:xfrm rot="16200000" flipH="1" flipV="1">
            <a:off x="4932527" y="-401467"/>
            <a:ext cx="6858001" cy="7660943"/>
          </a:xfrm>
          <a:prstGeom prst="flowChartDocument">
            <a:avLst/>
          </a:prstGeom>
          <a:gradFill>
            <a:gsLst>
              <a:gs pos="0">
                <a:schemeClr val="accent6"/>
              </a:gs>
              <a:gs pos="100000">
                <a:schemeClr val="accent5"/>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 Placeholder 9">
            <a:extLst>
              <a:ext uri="{FF2B5EF4-FFF2-40B4-BE49-F238E27FC236}">
                <a16:creationId xmlns:a16="http://schemas.microsoft.com/office/drawing/2014/main" id="{84EE8242-0EB7-FCB0-9D33-57A63A353490}"/>
              </a:ext>
            </a:extLst>
          </p:cNvPr>
          <p:cNvSpPr>
            <a:spLocks noGrp="1"/>
          </p:cNvSpPr>
          <p:nvPr>
            <p:ph type="body" sz="quarter" idx="11"/>
          </p:nvPr>
        </p:nvSpPr>
        <p:spPr>
          <a:xfrm>
            <a:off x="740330" y="4472479"/>
            <a:ext cx="4388261" cy="371127"/>
          </a:xfrm>
          <a:prstGeom prst="rect">
            <a:avLst/>
          </a:prstGeom>
          <a:noFill/>
        </p:spPr>
        <p:txBody>
          <a:bodyPr wrap="square">
            <a:spAutoFit/>
          </a:bodyPr>
          <a:lstStyle>
            <a:lvl1pPr marL="0" indent="0">
              <a:buNone/>
              <a:defRPr lang="en-US" sz="2000" smtClean="0">
                <a:solidFill>
                  <a:schemeClr val="tx2"/>
                </a:solidFill>
                <a:latin typeface="+mn-lt"/>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12" name="Text Placeholder 9">
            <a:extLst>
              <a:ext uri="{FF2B5EF4-FFF2-40B4-BE49-F238E27FC236}">
                <a16:creationId xmlns:a16="http://schemas.microsoft.com/office/drawing/2014/main" id="{22E55160-AEBC-93A3-7AA5-EED259646B47}"/>
              </a:ext>
            </a:extLst>
          </p:cNvPr>
          <p:cNvSpPr>
            <a:spLocks noGrp="1"/>
          </p:cNvSpPr>
          <p:nvPr>
            <p:ph type="body" sz="quarter" idx="13"/>
          </p:nvPr>
        </p:nvSpPr>
        <p:spPr>
          <a:xfrm>
            <a:off x="5337313" y="1159522"/>
            <a:ext cx="6326006" cy="538417"/>
          </a:xfrm>
          <a:prstGeom prst="rect">
            <a:avLst/>
          </a:prstGeom>
          <a:noFill/>
        </p:spPr>
        <p:txBody>
          <a:bodyPr wrap="square" lIns="91440" tIns="45720" rIns="91440" bIns="45720" anchor="t">
            <a:spAutoFit/>
          </a:bodyPr>
          <a:lstStyle>
            <a:lvl1pPr marL="0" indent="0">
              <a:buNone/>
              <a:defRPr lang="en-US" sz="3200" b="1" dirty="0">
                <a:solidFill>
                  <a:schemeClr val="tx1"/>
                </a:solidFill>
                <a:latin typeface="+mj-lt"/>
                <a:cs typeface="Archivo" pitchFamily="2" charset="77"/>
              </a:defRPr>
            </a:lvl1pPr>
          </a:lstStyle>
          <a:p>
            <a:pPr marL="0" lvl="0">
              <a:spcAft>
                <a:spcPts val="1200"/>
              </a:spcAft>
            </a:pPr>
            <a:r>
              <a:rPr lang="en-US"/>
              <a:t>Click to edit Master text styles</a:t>
            </a:r>
          </a:p>
        </p:txBody>
      </p:sp>
      <p:sp>
        <p:nvSpPr>
          <p:cNvPr id="3" name="Text Placeholder 7">
            <a:extLst>
              <a:ext uri="{FF2B5EF4-FFF2-40B4-BE49-F238E27FC236}">
                <a16:creationId xmlns:a16="http://schemas.microsoft.com/office/drawing/2014/main" id="{DE1FBBBC-1460-AF96-D1DF-A898A87A2FE8}"/>
              </a:ext>
            </a:extLst>
          </p:cNvPr>
          <p:cNvSpPr>
            <a:spLocks noGrp="1"/>
          </p:cNvSpPr>
          <p:nvPr>
            <p:ph type="body" sz="quarter" idx="10"/>
          </p:nvPr>
        </p:nvSpPr>
        <p:spPr>
          <a:xfrm>
            <a:off x="5337314" y="1958093"/>
            <a:ext cx="6326005" cy="4699160"/>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Box 3">
            <a:extLst>
              <a:ext uri="{FF2B5EF4-FFF2-40B4-BE49-F238E27FC236}">
                <a16:creationId xmlns:a16="http://schemas.microsoft.com/office/drawing/2014/main" id="{4811E38D-B922-7201-2AEC-2D6429902A55}"/>
              </a:ext>
            </a:extLst>
          </p:cNvPr>
          <p:cNvSpPr txBox="1"/>
          <p:nvPr userDrawn="1"/>
        </p:nvSpPr>
        <p:spPr>
          <a:xfrm>
            <a:off x="9036283" y="6526817"/>
            <a:ext cx="309608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srgbClr val="1A0E76"/>
                </a:solidFill>
                <a:latin typeface="+mn-lt"/>
                <a:cs typeface="Archivo" pitchFamily="2" charset="0"/>
              </a:rPr>
              <a:t>Confidential &amp; Proprietary  |  © 2026 JazzX AI    </a:t>
            </a:r>
            <a:fld id="{9F90C545-CD09-0447-A167-744DB4FB2CC5}" type="slidenum">
              <a:rPr lang="en-US" sz="1100" smtClean="0">
                <a:solidFill>
                  <a:srgbClr val="1A0E76"/>
                </a:solidFill>
                <a:latin typeface="+mn-lt"/>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100">
                <a:solidFill>
                  <a:srgbClr val="1A0E76"/>
                </a:solidFill>
                <a:latin typeface="+mn-lt"/>
                <a:cs typeface="Archivo" pitchFamily="2" charset="0"/>
              </a:rPr>
              <a:t> </a:t>
            </a:r>
          </a:p>
        </p:txBody>
      </p:sp>
      <p:sp>
        <p:nvSpPr>
          <p:cNvPr id="5" name="Oval 4">
            <a:extLst>
              <a:ext uri="{FF2B5EF4-FFF2-40B4-BE49-F238E27FC236}">
                <a16:creationId xmlns:a16="http://schemas.microsoft.com/office/drawing/2014/main" id="{756DCE74-D606-0661-CAE9-5F435C985B13}"/>
              </a:ext>
            </a:extLst>
          </p:cNvPr>
          <p:cNvSpPr/>
          <p:nvPr userDrawn="1"/>
        </p:nvSpPr>
        <p:spPr>
          <a:xfrm>
            <a:off x="8869911" y="6577601"/>
            <a:ext cx="149064" cy="155863"/>
          </a:xfrm>
          <a:prstGeom prst="ellipse">
            <a:avLst/>
          </a:prstGeom>
          <a:solidFill>
            <a:srgbClr val="FF0000"/>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8101804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Fancy Title + Content3">
    <p:bg>
      <p:bgPr>
        <a:gradFill>
          <a:gsLst>
            <a:gs pos="5000">
              <a:srgbClr val="E8ECFF"/>
            </a:gs>
            <a:gs pos="85000">
              <a:schemeClr val="bg1"/>
            </a:gs>
          </a:gsLst>
          <a:lin ang="5400000" scaled="0"/>
        </a:gradFill>
        <a:effectLst/>
      </p:bgPr>
    </p:bg>
    <p:spTree>
      <p:nvGrpSpPr>
        <p:cNvPr id="1" name=""/>
        <p:cNvGrpSpPr/>
        <p:nvPr/>
      </p:nvGrpSpPr>
      <p:grpSpPr>
        <a:xfrm>
          <a:off x="0" y="0"/>
          <a:ext cx="0" cy="0"/>
          <a:chOff x="0" y="0"/>
          <a:chExt cx="0" cy="0"/>
        </a:xfrm>
      </p:grpSpPr>
      <p:sp>
        <p:nvSpPr>
          <p:cNvPr id="3" name="Document 35">
            <a:extLst>
              <a:ext uri="{FF2B5EF4-FFF2-40B4-BE49-F238E27FC236}">
                <a16:creationId xmlns:a16="http://schemas.microsoft.com/office/drawing/2014/main" id="{C2482607-8849-FB5C-7E3D-BAB86B6F1A66}"/>
              </a:ext>
            </a:extLst>
          </p:cNvPr>
          <p:cNvSpPr/>
          <p:nvPr userDrawn="1"/>
        </p:nvSpPr>
        <p:spPr>
          <a:xfrm rot="16200000" flipV="1">
            <a:off x="3709433" y="-1633426"/>
            <a:ext cx="6860348" cy="10104777"/>
          </a:xfrm>
          <a:prstGeom prst="flowChartDocument">
            <a:avLst/>
          </a:prstGeom>
          <a:gradFill>
            <a:gsLst>
              <a:gs pos="100000">
                <a:schemeClr val="accent5"/>
              </a:gs>
              <a:gs pos="0">
                <a:schemeClr val="accent6"/>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46DCE05-ECDB-C3F2-D8B1-D09DDE37902C}"/>
              </a:ext>
            </a:extLst>
          </p:cNvPr>
          <p:cNvSpPr>
            <a:spLocks noGrp="1"/>
          </p:cNvSpPr>
          <p:nvPr>
            <p:ph type="title"/>
          </p:nvPr>
        </p:nvSpPr>
        <p:spPr>
          <a:xfrm>
            <a:off x="4437570" y="400159"/>
            <a:ext cx="7141014" cy="1477328"/>
          </a:xfrm>
          <a:prstGeom prst="rect">
            <a:avLst/>
          </a:prstGeom>
          <a:noFill/>
        </p:spPr>
        <p:txBody>
          <a:bodyPr wrap="square">
            <a:spAutoFit/>
          </a:bodyPr>
          <a:lstStyle>
            <a:lvl1pPr>
              <a:defRPr lang="en-US" sz="5000" dirty="0">
                <a:solidFill>
                  <a:schemeClr val="tx1"/>
                </a:solidFill>
                <a:latin typeface="+mj-lt"/>
                <a:ea typeface="+mn-ea"/>
                <a:cs typeface="Archivo Light" pitchFamily="2" charset="77"/>
              </a:defRPr>
            </a:lvl1pPr>
          </a:lstStyle>
          <a:p>
            <a:pPr marL="0" lvl="0"/>
            <a:r>
              <a:rPr lang="en-US"/>
              <a:t>Click to edit Master title style</a:t>
            </a:r>
          </a:p>
        </p:txBody>
      </p:sp>
      <p:sp>
        <p:nvSpPr>
          <p:cNvPr id="10" name="Text Placeholder 9">
            <a:extLst>
              <a:ext uri="{FF2B5EF4-FFF2-40B4-BE49-F238E27FC236}">
                <a16:creationId xmlns:a16="http://schemas.microsoft.com/office/drawing/2014/main" id="{84EE8242-0EB7-FCB0-9D33-57A63A353490}"/>
              </a:ext>
            </a:extLst>
          </p:cNvPr>
          <p:cNvSpPr>
            <a:spLocks noGrp="1"/>
          </p:cNvSpPr>
          <p:nvPr>
            <p:ph type="body" sz="quarter" idx="11"/>
          </p:nvPr>
        </p:nvSpPr>
        <p:spPr>
          <a:xfrm>
            <a:off x="4422913" y="2049294"/>
            <a:ext cx="7141014" cy="594137"/>
          </a:xfrm>
          <a:prstGeom prst="rect">
            <a:avLst/>
          </a:prstGeom>
          <a:noFill/>
        </p:spPr>
        <p:txBody>
          <a:bodyPr wrap="square">
            <a:spAutoFit/>
          </a:bodyPr>
          <a:lstStyle>
            <a:lvl1pPr marL="0" indent="0">
              <a:buNone/>
              <a:defRPr lang="en-US" sz="3600" smtClean="0">
                <a:solidFill>
                  <a:schemeClr val="tx2"/>
                </a:solidFill>
                <a:latin typeface="+mn-lt"/>
                <a:cs typeface="Archivo Light" pitchFamily="2" charset="0"/>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4" name="Text Placeholder 7">
            <a:extLst>
              <a:ext uri="{FF2B5EF4-FFF2-40B4-BE49-F238E27FC236}">
                <a16:creationId xmlns:a16="http://schemas.microsoft.com/office/drawing/2014/main" id="{05F80F48-677C-1A6B-C927-C0427D7A52F4}"/>
              </a:ext>
            </a:extLst>
          </p:cNvPr>
          <p:cNvSpPr>
            <a:spLocks noGrp="1"/>
          </p:cNvSpPr>
          <p:nvPr>
            <p:ph type="body" sz="quarter" idx="10"/>
          </p:nvPr>
        </p:nvSpPr>
        <p:spPr>
          <a:xfrm>
            <a:off x="4422913" y="2925053"/>
            <a:ext cx="7141014" cy="3627742"/>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59356504"/>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old Statement">
    <p:bg>
      <p:bgPr>
        <a:solidFill>
          <a:schemeClr val="bg1"/>
        </a:solidFill>
        <a:effectLst/>
      </p:bgPr>
    </p:bg>
    <p:spTree>
      <p:nvGrpSpPr>
        <p:cNvPr id="1" name=""/>
        <p:cNvGrpSpPr/>
        <p:nvPr/>
      </p:nvGrpSpPr>
      <p:grpSpPr>
        <a:xfrm>
          <a:off x="0" y="0"/>
          <a:ext cx="0" cy="0"/>
          <a:chOff x="0" y="0"/>
          <a:chExt cx="0" cy="0"/>
        </a:xfrm>
      </p:grpSpPr>
      <p:sp>
        <p:nvSpPr>
          <p:cNvPr id="10" name="Document 82">
            <a:extLst>
              <a:ext uri="{FF2B5EF4-FFF2-40B4-BE49-F238E27FC236}">
                <a16:creationId xmlns:a16="http://schemas.microsoft.com/office/drawing/2014/main" id="{54C06756-8F48-8F71-C91B-9B4E626541F4}"/>
              </a:ext>
            </a:extLst>
          </p:cNvPr>
          <p:cNvSpPr/>
          <p:nvPr userDrawn="1"/>
        </p:nvSpPr>
        <p:spPr>
          <a:xfrm rot="16200000" flipH="1">
            <a:off x="-117080" y="105204"/>
            <a:ext cx="6863566" cy="6629395"/>
          </a:xfrm>
          <a:prstGeom prst="flowChartDocument">
            <a:avLst/>
          </a:prstGeom>
          <a:gradFill>
            <a:gsLst>
              <a:gs pos="0">
                <a:schemeClr val="accent6"/>
              </a:gs>
              <a:gs pos="100000">
                <a:schemeClr val="accent5"/>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itle Placeholder 1">
            <a:extLst>
              <a:ext uri="{FF2B5EF4-FFF2-40B4-BE49-F238E27FC236}">
                <a16:creationId xmlns:a16="http://schemas.microsoft.com/office/drawing/2014/main" id="{DE40738F-CBD4-FB1C-C7BE-C95DDB621BFE}"/>
              </a:ext>
            </a:extLst>
          </p:cNvPr>
          <p:cNvSpPr>
            <a:spLocks noGrp="1"/>
          </p:cNvSpPr>
          <p:nvPr>
            <p:ph type="title"/>
          </p:nvPr>
        </p:nvSpPr>
        <p:spPr>
          <a:xfrm>
            <a:off x="6855663" y="2882631"/>
            <a:ext cx="5018112" cy="1092735"/>
          </a:xfrm>
          <a:prstGeom prst="rect">
            <a:avLst/>
          </a:prstGeom>
          <a:noFill/>
        </p:spPr>
        <p:txBody>
          <a:bodyPr wrap="square" rtlCol="0">
            <a:spAutoFit/>
          </a:bodyPr>
          <a:lstStyle>
            <a:lvl1pPr>
              <a:defRPr sz="3600">
                <a:solidFill>
                  <a:schemeClr val="tx2"/>
                </a:solidFill>
              </a:defRPr>
            </a:lvl1pPr>
          </a:lstStyle>
          <a:p>
            <a:pPr marL="0" lvl="0"/>
            <a:r>
              <a:rPr lang="en-US"/>
              <a:t>Click to edit Master title style</a:t>
            </a:r>
          </a:p>
        </p:txBody>
      </p:sp>
      <p:sp>
        <p:nvSpPr>
          <p:cNvPr id="19" name="Text Placeholder 18">
            <a:extLst>
              <a:ext uri="{FF2B5EF4-FFF2-40B4-BE49-F238E27FC236}">
                <a16:creationId xmlns:a16="http://schemas.microsoft.com/office/drawing/2014/main" id="{B90884C7-363B-660D-78D4-AD5E733E198E}"/>
              </a:ext>
            </a:extLst>
          </p:cNvPr>
          <p:cNvSpPr>
            <a:spLocks noGrp="1"/>
          </p:cNvSpPr>
          <p:nvPr>
            <p:ph type="body" sz="quarter" idx="14"/>
          </p:nvPr>
        </p:nvSpPr>
        <p:spPr>
          <a:xfrm>
            <a:off x="6846427" y="4161810"/>
            <a:ext cx="5008562" cy="2070966"/>
          </a:xfrm>
        </p:spPr>
        <p:txBody>
          <a:bodyPr>
            <a:normAutofit/>
          </a:bodyPr>
          <a:lstStyle>
            <a:lvl1pPr marL="0" indent="0">
              <a:buFont typeface="Arial" panose="020B0604020202020204" pitchFamily="34" charset="0"/>
              <a:buNone/>
              <a:defRPr sz="2000">
                <a:solidFill>
                  <a:schemeClr val="tx2"/>
                </a:solidFill>
              </a:defRPr>
            </a:lvl1pPr>
            <a:lvl2pPr marL="742950" indent="-285750">
              <a:buFont typeface="Arial" panose="020B0604020202020204" pitchFamily="34" charset="0"/>
              <a:buChar char="•"/>
              <a:defRPr sz="1800"/>
            </a:lvl2pPr>
            <a:lvl3pPr marL="1200150" indent="-285750">
              <a:buFont typeface="Arial" panose="020B0604020202020204" pitchFamily="34" charset="0"/>
              <a:buChar char="•"/>
              <a:defRPr sz="1600"/>
            </a:lvl3pPr>
            <a:lvl4pPr marL="1657350" indent="-285750">
              <a:buFont typeface="Arial" panose="020B0604020202020204" pitchFamily="34" charset="0"/>
              <a:buChar char="•"/>
              <a:defRPr sz="1400"/>
            </a:lvl4pPr>
            <a:lvl5pPr marL="2114550" indent="-285750">
              <a:buFont typeface="Arial" panose="020B0604020202020204" pitchFamily="34" charset="0"/>
              <a:buChar char="•"/>
              <a:defRPr sz="1400"/>
            </a:lvl5pPr>
          </a:lstStyle>
          <a:p>
            <a:pPr lvl="0"/>
            <a:r>
              <a:rPr lang="en-US"/>
              <a:t>Click to edit Master text styles</a:t>
            </a:r>
          </a:p>
        </p:txBody>
      </p:sp>
      <p:sp>
        <p:nvSpPr>
          <p:cNvPr id="4" name="Text Placeholder 10">
            <a:extLst>
              <a:ext uri="{FF2B5EF4-FFF2-40B4-BE49-F238E27FC236}">
                <a16:creationId xmlns:a16="http://schemas.microsoft.com/office/drawing/2014/main" id="{FA61409B-67FD-6ED7-6930-97C568D5C100}"/>
              </a:ext>
            </a:extLst>
          </p:cNvPr>
          <p:cNvSpPr>
            <a:spLocks noGrp="1"/>
          </p:cNvSpPr>
          <p:nvPr>
            <p:ph type="body" sz="quarter" idx="11"/>
          </p:nvPr>
        </p:nvSpPr>
        <p:spPr>
          <a:xfrm>
            <a:off x="440871" y="2307467"/>
            <a:ext cx="5105164" cy="2185020"/>
          </a:xfrm>
        </p:spPr>
        <p:txBody>
          <a:bodyPr>
            <a:noAutofit/>
          </a:bodyPr>
          <a:lstStyle>
            <a:lvl1pPr marL="0" indent="0">
              <a:buNone/>
              <a:defRPr sz="5000">
                <a:solidFill>
                  <a:schemeClr val="tx1"/>
                </a:solidFill>
                <a:latin typeface="+mj-lt"/>
              </a:defRPr>
            </a:lvl1pPr>
            <a:lvl2pPr>
              <a:defRPr sz="1600"/>
            </a:lvl2pPr>
            <a:lvl3pPr>
              <a:defRPr sz="1600"/>
            </a:lvl3pPr>
            <a:lvl4pPr>
              <a:defRPr sz="1600"/>
            </a:lvl4pPr>
            <a:lvl5pPr>
              <a:defRPr sz="1600"/>
            </a:lvl5pPr>
          </a:lstStyle>
          <a:p>
            <a:pPr lvl="0"/>
            <a:r>
              <a:rPr lang="en-US"/>
              <a:t>Click to edit Master text styles</a:t>
            </a:r>
          </a:p>
        </p:txBody>
      </p:sp>
      <p:sp>
        <p:nvSpPr>
          <p:cNvPr id="6" name="Picture Placeholder 7">
            <a:extLst>
              <a:ext uri="{FF2B5EF4-FFF2-40B4-BE49-F238E27FC236}">
                <a16:creationId xmlns:a16="http://schemas.microsoft.com/office/drawing/2014/main" id="{7DD87614-69F6-145F-DE48-DA274092E5C4}"/>
              </a:ext>
            </a:extLst>
          </p:cNvPr>
          <p:cNvSpPr>
            <a:spLocks noGrp="1"/>
          </p:cNvSpPr>
          <p:nvPr>
            <p:ph type="pic" sz="quarter" idx="10"/>
          </p:nvPr>
        </p:nvSpPr>
        <p:spPr>
          <a:xfrm>
            <a:off x="6855663" y="290845"/>
            <a:ext cx="5008562" cy="2405343"/>
          </a:xfrm>
        </p:spPr>
        <p:txBody>
          <a:bodyPr/>
          <a:lstStyle/>
          <a:p>
            <a:r>
              <a:rPr lang="en-US"/>
              <a:t>Click icon to add picture</a:t>
            </a:r>
          </a:p>
        </p:txBody>
      </p:sp>
      <p:pic>
        <p:nvPicPr>
          <p:cNvPr id="8" name="Graphic 7">
            <a:extLst>
              <a:ext uri="{FF2B5EF4-FFF2-40B4-BE49-F238E27FC236}">
                <a16:creationId xmlns:a16="http://schemas.microsoft.com/office/drawing/2014/main" id="{668827EF-1335-9B80-105E-84B07CDF971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9573" y="6494735"/>
            <a:ext cx="1061670" cy="315000"/>
          </a:xfrm>
          <a:prstGeom prst="rect">
            <a:avLst/>
          </a:prstGeom>
        </p:spPr>
      </p:pic>
    </p:spTree>
    <p:extLst>
      <p:ext uri="{BB962C8B-B14F-4D97-AF65-F5344CB8AC3E}">
        <p14:creationId xmlns:p14="http://schemas.microsoft.com/office/powerpoint/2010/main" val="167004398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Bold Statement Thin">
    <p:spTree>
      <p:nvGrpSpPr>
        <p:cNvPr id="1" name=""/>
        <p:cNvGrpSpPr/>
        <p:nvPr/>
      </p:nvGrpSpPr>
      <p:grpSpPr>
        <a:xfrm>
          <a:off x="0" y="0"/>
          <a:ext cx="0" cy="0"/>
          <a:chOff x="0" y="0"/>
          <a:chExt cx="0" cy="0"/>
        </a:xfrm>
      </p:grpSpPr>
      <p:sp>
        <p:nvSpPr>
          <p:cNvPr id="6" name="Document 32">
            <a:extLst>
              <a:ext uri="{FF2B5EF4-FFF2-40B4-BE49-F238E27FC236}">
                <a16:creationId xmlns:a16="http://schemas.microsoft.com/office/drawing/2014/main" id="{465EC87E-8866-0FC1-F00E-231903B1D14B}"/>
              </a:ext>
            </a:extLst>
          </p:cNvPr>
          <p:cNvSpPr/>
          <p:nvPr userDrawn="1"/>
        </p:nvSpPr>
        <p:spPr>
          <a:xfrm rot="16200000" flipH="1">
            <a:off x="-1172948" y="1182623"/>
            <a:ext cx="6848326" cy="4502430"/>
          </a:xfrm>
          <a:prstGeom prst="flowChartDocument">
            <a:avLst/>
          </a:prstGeom>
          <a:gradFill>
            <a:gsLst>
              <a:gs pos="0">
                <a:schemeClr val="accent6"/>
              </a:gs>
              <a:gs pos="100000">
                <a:schemeClr val="accent5"/>
              </a:gs>
            </a:gsLst>
            <a:lin ang="90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0" algn="ctr"/>
            <a:endParaRPr lang="en-US"/>
          </a:p>
        </p:txBody>
      </p:sp>
      <p:sp>
        <p:nvSpPr>
          <p:cNvPr id="2" name="Title 1">
            <a:extLst>
              <a:ext uri="{FF2B5EF4-FFF2-40B4-BE49-F238E27FC236}">
                <a16:creationId xmlns:a16="http://schemas.microsoft.com/office/drawing/2014/main" id="{646DCE05-ECDB-C3F2-D8B1-D09DDE37902C}"/>
              </a:ext>
            </a:extLst>
          </p:cNvPr>
          <p:cNvSpPr>
            <a:spLocks noGrp="1"/>
          </p:cNvSpPr>
          <p:nvPr>
            <p:ph type="title"/>
          </p:nvPr>
        </p:nvSpPr>
        <p:spPr>
          <a:xfrm>
            <a:off x="412773" y="1782338"/>
            <a:ext cx="3185192" cy="1757854"/>
          </a:xfrm>
          <a:prstGeom prst="rect">
            <a:avLst/>
          </a:prstGeom>
          <a:noFill/>
        </p:spPr>
        <p:txBody>
          <a:bodyPr wrap="square">
            <a:spAutoFit/>
          </a:bodyPr>
          <a:lstStyle>
            <a:lvl1pPr>
              <a:defRPr lang="en-US" sz="4000" dirty="0">
                <a:solidFill>
                  <a:schemeClr val="tx1"/>
                </a:solidFill>
                <a:latin typeface="+mj-lt"/>
                <a:ea typeface="+mn-ea"/>
                <a:cs typeface="Archivo Light" pitchFamily="2" charset="77"/>
              </a:defRPr>
            </a:lvl1pPr>
          </a:lstStyle>
          <a:p>
            <a:pPr marL="0" lvl="0"/>
            <a:r>
              <a:rPr lang="en-US"/>
              <a:t>Click to edit Master title style</a:t>
            </a:r>
          </a:p>
        </p:txBody>
      </p:sp>
      <p:sp>
        <p:nvSpPr>
          <p:cNvPr id="9" name="Text Placeholder 9">
            <a:extLst>
              <a:ext uri="{FF2B5EF4-FFF2-40B4-BE49-F238E27FC236}">
                <a16:creationId xmlns:a16="http://schemas.microsoft.com/office/drawing/2014/main" id="{8C8D54D1-F04C-5AB1-69E3-2EA74D27FEE7}"/>
              </a:ext>
            </a:extLst>
          </p:cNvPr>
          <p:cNvSpPr>
            <a:spLocks noGrp="1"/>
          </p:cNvSpPr>
          <p:nvPr>
            <p:ph type="body" sz="quarter" idx="12" hasCustomPrompt="1"/>
          </p:nvPr>
        </p:nvSpPr>
        <p:spPr>
          <a:xfrm>
            <a:off x="5059017" y="4094165"/>
            <a:ext cx="3528391" cy="371064"/>
          </a:xfrm>
          <a:prstGeom prst="rect">
            <a:avLst/>
          </a:prstGeom>
          <a:noFill/>
        </p:spPr>
        <p:txBody>
          <a:bodyPr wrap="square">
            <a:spAutoFit/>
          </a:bodyPr>
          <a:lstStyle>
            <a:lvl1pPr marL="0" indent="0">
              <a:buNone/>
              <a:defRPr lang="en-US" sz="2000" smtClean="0">
                <a:solidFill>
                  <a:schemeClr val="tx2"/>
                </a:solidFill>
                <a:latin typeface="+mn-lt"/>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add subtitle</a:t>
            </a:r>
          </a:p>
        </p:txBody>
      </p:sp>
      <p:sp>
        <p:nvSpPr>
          <p:cNvPr id="5" name="Text Placeholder 9">
            <a:extLst>
              <a:ext uri="{FF2B5EF4-FFF2-40B4-BE49-F238E27FC236}">
                <a16:creationId xmlns:a16="http://schemas.microsoft.com/office/drawing/2014/main" id="{C5E7DCFA-FEA4-F7F9-FF2F-16E0354D1A3D}"/>
              </a:ext>
            </a:extLst>
          </p:cNvPr>
          <p:cNvSpPr>
            <a:spLocks noGrp="1"/>
          </p:cNvSpPr>
          <p:nvPr>
            <p:ph type="body" sz="quarter" idx="13" hasCustomPrompt="1"/>
          </p:nvPr>
        </p:nvSpPr>
        <p:spPr>
          <a:xfrm>
            <a:off x="5059017" y="1870418"/>
            <a:ext cx="6392652" cy="707886"/>
          </a:xfrm>
          <a:prstGeom prst="rect">
            <a:avLst/>
          </a:prstGeom>
          <a:noFill/>
        </p:spPr>
        <p:txBody>
          <a:bodyPr wrap="square">
            <a:spAutoFit/>
          </a:bodyPr>
          <a:lstStyle>
            <a:lvl1pPr marL="0" indent="0">
              <a:lnSpc>
                <a:spcPct val="100000"/>
              </a:lnSpc>
              <a:buNone/>
              <a:defRPr lang="en-US" sz="4000" smtClean="0">
                <a:solidFill>
                  <a:schemeClr val="tx2"/>
                </a:solidFill>
                <a:latin typeface="+mn-lt"/>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Add bold statement here</a:t>
            </a:r>
          </a:p>
        </p:txBody>
      </p:sp>
    </p:spTree>
    <p:extLst>
      <p:ext uri="{BB962C8B-B14F-4D97-AF65-F5344CB8AC3E}">
        <p14:creationId xmlns:p14="http://schemas.microsoft.com/office/powerpoint/2010/main" val="419014762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3-Block Content">
    <p:spTree>
      <p:nvGrpSpPr>
        <p:cNvPr id="1" name=""/>
        <p:cNvGrpSpPr/>
        <p:nvPr/>
      </p:nvGrpSpPr>
      <p:grpSpPr>
        <a:xfrm>
          <a:off x="0" y="0"/>
          <a:ext cx="0" cy="0"/>
          <a:chOff x="0" y="0"/>
          <a:chExt cx="0" cy="0"/>
        </a:xfrm>
      </p:grpSpPr>
      <p:sp>
        <p:nvSpPr>
          <p:cNvPr id="3" name="Title Placeholder 1">
            <a:extLst>
              <a:ext uri="{FF2B5EF4-FFF2-40B4-BE49-F238E27FC236}">
                <a16:creationId xmlns:a16="http://schemas.microsoft.com/office/drawing/2014/main" id="{DE40738F-CBD4-FB1C-C7BE-C95DDB621BFE}"/>
              </a:ext>
            </a:extLst>
          </p:cNvPr>
          <p:cNvSpPr>
            <a:spLocks noGrp="1"/>
          </p:cNvSpPr>
          <p:nvPr>
            <p:ph type="title"/>
          </p:nvPr>
        </p:nvSpPr>
        <p:spPr>
          <a:xfrm>
            <a:off x="403633" y="391806"/>
            <a:ext cx="11336193" cy="646331"/>
          </a:xfrm>
          <a:prstGeom prst="rect">
            <a:avLst/>
          </a:prstGeom>
          <a:noFill/>
        </p:spPr>
        <p:txBody>
          <a:bodyPr wrap="square" rtlCol="0">
            <a:spAutoFit/>
          </a:bodyPr>
          <a:lstStyle/>
          <a:p>
            <a:pPr marL="0" lvl="0"/>
            <a:r>
              <a:rPr lang="en-US"/>
              <a:t>Click to edit Master title style</a:t>
            </a:r>
          </a:p>
        </p:txBody>
      </p:sp>
      <p:sp>
        <p:nvSpPr>
          <p:cNvPr id="8" name="Picture Placeholder 7">
            <a:extLst>
              <a:ext uri="{FF2B5EF4-FFF2-40B4-BE49-F238E27FC236}">
                <a16:creationId xmlns:a16="http://schemas.microsoft.com/office/drawing/2014/main" id="{AF2FA83E-03E4-C6E6-C2D5-96F0C96BFC61}"/>
              </a:ext>
            </a:extLst>
          </p:cNvPr>
          <p:cNvSpPr>
            <a:spLocks noGrp="1"/>
          </p:cNvSpPr>
          <p:nvPr>
            <p:ph type="pic" sz="quarter" idx="10"/>
          </p:nvPr>
        </p:nvSpPr>
        <p:spPr>
          <a:xfrm>
            <a:off x="380639" y="1579418"/>
            <a:ext cx="5527460" cy="2761384"/>
          </a:xfrm>
        </p:spPr>
        <p:txBody>
          <a:bodyPr/>
          <a:lstStyle/>
          <a:p>
            <a:r>
              <a:rPr lang="en-US"/>
              <a:t>Click icon to add picture</a:t>
            </a:r>
          </a:p>
        </p:txBody>
      </p:sp>
      <p:sp>
        <p:nvSpPr>
          <p:cNvPr id="10" name="Text Placeholder 7">
            <a:extLst>
              <a:ext uri="{FF2B5EF4-FFF2-40B4-BE49-F238E27FC236}">
                <a16:creationId xmlns:a16="http://schemas.microsoft.com/office/drawing/2014/main" id="{588A1CEC-E40B-A000-8069-00B296F131DD}"/>
              </a:ext>
            </a:extLst>
          </p:cNvPr>
          <p:cNvSpPr>
            <a:spLocks noGrp="1"/>
          </p:cNvSpPr>
          <p:nvPr>
            <p:ph type="body" sz="quarter" idx="12"/>
          </p:nvPr>
        </p:nvSpPr>
        <p:spPr>
          <a:xfrm>
            <a:off x="403224" y="4655127"/>
            <a:ext cx="11336193" cy="1662545"/>
          </a:xfrm>
        </p:spPr>
        <p:txBody>
          <a:bodyPr/>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8">
            <a:extLst>
              <a:ext uri="{FF2B5EF4-FFF2-40B4-BE49-F238E27FC236}">
                <a16:creationId xmlns:a16="http://schemas.microsoft.com/office/drawing/2014/main" id="{B90884C7-363B-660D-78D4-AD5E733E198E}"/>
              </a:ext>
            </a:extLst>
          </p:cNvPr>
          <p:cNvSpPr>
            <a:spLocks noGrp="1"/>
          </p:cNvSpPr>
          <p:nvPr>
            <p:ph type="body" sz="quarter" idx="14"/>
          </p:nvPr>
        </p:nvSpPr>
        <p:spPr>
          <a:xfrm>
            <a:off x="6211957" y="1579418"/>
            <a:ext cx="5527460" cy="2761383"/>
          </a:xfrm>
        </p:spPr>
        <p:txBody>
          <a:bodyPr>
            <a:normAutofit/>
          </a:bodyPr>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64143560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Column Bullet Slide">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4FD037F5-A501-D7B7-0D56-00D5D58BD0E5}"/>
              </a:ext>
            </a:extLst>
          </p:cNvPr>
          <p:cNvSpPr>
            <a:spLocks noGrp="1"/>
          </p:cNvSpPr>
          <p:nvPr>
            <p:ph type="pic" sz="quarter" idx="10"/>
          </p:nvPr>
        </p:nvSpPr>
        <p:spPr>
          <a:xfrm>
            <a:off x="0" y="2035175"/>
            <a:ext cx="3659188" cy="4822825"/>
          </a:xfrm>
          <a:prstGeom prst="rect">
            <a:avLst/>
          </a:prstGeom>
        </p:spPr>
        <p:txBody>
          <a:bodyPr/>
          <a:lstStyle/>
          <a:p>
            <a:r>
              <a:rPr lang="en-US"/>
              <a:t>Click icon to add picture</a:t>
            </a:r>
          </a:p>
        </p:txBody>
      </p:sp>
      <p:sp>
        <p:nvSpPr>
          <p:cNvPr id="24" name="Title Placeholder 1">
            <a:extLst>
              <a:ext uri="{FF2B5EF4-FFF2-40B4-BE49-F238E27FC236}">
                <a16:creationId xmlns:a16="http://schemas.microsoft.com/office/drawing/2014/main" id="{534BF60E-56D7-E476-4354-77087FE84E7A}"/>
              </a:ext>
            </a:extLst>
          </p:cNvPr>
          <p:cNvSpPr>
            <a:spLocks noGrp="1"/>
          </p:cNvSpPr>
          <p:nvPr>
            <p:ph type="title"/>
          </p:nvPr>
        </p:nvSpPr>
        <p:spPr>
          <a:xfrm>
            <a:off x="403634" y="528608"/>
            <a:ext cx="10515600" cy="538417"/>
          </a:xfrm>
          <a:prstGeom prst="rect">
            <a:avLst/>
          </a:prstGeom>
          <a:noFill/>
        </p:spPr>
        <p:txBody>
          <a:bodyPr wrap="square" rtlCol="0">
            <a:spAutoFit/>
          </a:bodyPr>
          <a:lstStyle>
            <a:lvl1pPr>
              <a:defRPr sz="3200">
                <a:solidFill>
                  <a:schemeClr val="tx1"/>
                </a:solidFill>
              </a:defRPr>
            </a:lvl1pPr>
          </a:lstStyle>
          <a:p>
            <a:pPr marL="0" lvl="0"/>
            <a:r>
              <a:rPr lang="en-US"/>
              <a:t>Click to edit Master title style</a:t>
            </a:r>
          </a:p>
        </p:txBody>
      </p:sp>
      <p:sp>
        <p:nvSpPr>
          <p:cNvPr id="26" name="Text Placeholder 25">
            <a:extLst>
              <a:ext uri="{FF2B5EF4-FFF2-40B4-BE49-F238E27FC236}">
                <a16:creationId xmlns:a16="http://schemas.microsoft.com/office/drawing/2014/main" id="{5019F7DD-5A14-9457-0998-3D1E13E7933A}"/>
              </a:ext>
            </a:extLst>
          </p:cNvPr>
          <p:cNvSpPr>
            <a:spLocks noGrp="1"/>
          </p:cNvSpPr>
          <p:nvPr>
            <p:ph type="body" sz="quarter" idx="11"/>
          </p:nvPr>
        </p:nvSpPr>
        <p:spPr>
          <a:xfrm>
            <a:off x="4397451" y="2046424"/>
            <a:ext cx="3528002" cy="313932"/>
          </a:xfrm>
          <a:prstGeom prst="rect">
            <a:avLst/>
          </a:prstGeom>
          <a:noFill/>
        </p:spPr>
        <p:txBody>
          <a:bodyPr wrap="square" lIns="91440" tIns="45720" rIns="91440" bIns="45720" rtlCol="0" anchor="t">
            <a:spAutoFit/>
          </a:bodyPr>
          <a:lstStyle>
            <a:lvl1pPr marL="0" indent="0">
              <a:buNone/>
              <a:defRPr lang="en-US" sz="1600" b="1" dirty="0">
                <a:solidFill>
                  <a:srgbClr val="FF5329"/>
                </a:solidFill>
                <a:effectLst/>
                <a:latin typeface="+mj-lt"/>
                <a:cs typeface="Archivo" pitchFamily="2" charset="77"/>
              </a:defRPr>
            </a:lvl1pPr>
          </a:lstStyle>
          <a:p>
            <a:pPr marL="0" lvl="0"/>
            <a:r>
              <a:rPr lang="en-US"/>
              <a:t>Click to edit Master text styles</a:t>
            </a:r>
          </a:p>
        </p:txBody>
      </p:sp>
      <p:sp>
        <p:nvSpPr>
          <p:cNvPr id="28" name="Text Placeholder 27">
            <a:extLst>
              <a:ext uri="{FF2B5EF4-FFF2-40B4-BE49-F238E27FC236}">
                <a16:creationId xmlns:a16="http://schemas.microsoft.com/office/drawing/2014/main" id="{E38213E4-4FE0-2469-A814-AD03F5A9ADDF}"/>
              </a:ext>
            </a:extLst>
          </p:cNvPr>
          <p:cNvSpPr>
            <a:spLocks noGrp="1"/>
          </p:cNvSpPr>
          <p:nvPr>
            <p:ph type="body" sz="quarter" idx="12"/>
          </p:nvPr>
        </p:nvSpPr>
        <p:spPr>
          <a:xfrm>
            <a:off x="4397231" y="2433638"/>
            <a:ext cx="2965450" cy="287515"/>
          </a:xfrm>
          <a:prstGeom prst="rect">
            <a:avLst/>
          </a:prstGeom>
          <a:noFill/>
        </p:spPr>
        <p:txBody>
          <a:bodyPr wrap="square">
            <a:spAutoFit/>
          </a:bodyPr>
          <a:lstStyle>
            <a:lvl1pPr marL="0" indent="0">
              <a:buNone/>
              <a:defRPr lang="en-US" sz="1400" dirty="0" smtClean="0">
                <a:solidFill>
                  <a:schemeClr val="tx2"/>
                </a:solidFill>
                <a:latin typeface="+mn-lt"/>
                <a:cs typeface="Archivo Light" pitchFamily="2" charset="0"/>
              </a:defRPr>
            </a:lvl1pPr>
            <a:lvl2pPr>
              <a:defRPr lang="en-US" sz="1800" dirty="0" smtClean="0"/>
            </a:lvl2pPr>
            <a:lvl3pPr>
              <a:defRPr lang="en-US" sz="1800" dirty="0" smtClean="0"/>
            </a:lvl3pPr>
            <a:lvl4pPr>
              <a:defRPr lang="en-US" dirty="0" smtClean="0"/>
            </a:lvl4pPr>
            <a:lvl5pPr>
              <a:defRPr lang="en-US" dirty="0"/>
            </a:lvl5pPr>
          </a:lstStyle>
          <a:p>
            <a:pPr marL="0" lvl="0"/>
            <a:r>
              <a:rPr lang="en-US"/>
              <a:t>Click to edit Master text styles</a:t>
            </a:r>
          </a:p>
        </p:txBody>
      </p:sp>
      <p:sp>
        <p:nvSpPr>
          <p:cNvPr id="29" name="Text Placeholder 25">
            <a:extLst>
              <a:ext uri="{FF2B5EF4-FFF2-40B4-BE49-F238E27FC236}">
                <a16:creationId xmlns:a16="http://schemas.microsoft.com/office/drawing/2014/main" id="{CC9822D3-4CF4-A4D7-65B9-6F2AD1DCB1D1}"/>
              </a:ext>
            </a:extLst>
          </p:cNvPr>
          <p:cNvSpPr>
            <a:spLocks noGrp="1"/>
          </p:cNvSpPr>
          <p:nvPr>
            <p:ph type="body" sz="quarter" idx="13"/>
          </p:nvPr>
        </p:nvSpPr>
        <p:spPr>
          <a:xfrm>
            <a:off x="4417549" y="3520085"/>
            <a:ext cx="3528002" cy="313932"/>
          </a:xfrm>
          <a:prstGeom prst="rect">
            <a:avLst/>
          </a:prstGeom>
          <a:noFill/>
        </p:spPr>
        <p:txBody>
          <a:bodyPr wrap="square" lIns="91440" tIns="45720" rIns="91440" bIns="45720" rtlCol="0" anchor="t">
            <a:spAutoFit/>
          </a:bodyPr>
          <a:lstStyle>
            <a:lvl1pPr marL="0" indent="0">
              <a:buNone/>
              <a:defRPr lang="en-US" sz="1600" b="1" dirty="0">
                <a:solidFill>
                  <a:srgbClr val="FF5329"/>
                </a:solidFill>
                <a:effectLst/>
                <a:latin typeface="+mj-lt"/>
                <a:cs typeface="Archivo" pitchFamily="2" charset="77"/>
              </a:defRPr>
            </a:lvl1pPr>
          </a:lstStyle>
          <a:p>
            <a:pPr marL="0" lvl="0"/>
            <a:r>
              <a:rPr lang="en-US"/>
              <a:t>Click to edit Master text styles</a:t>
            </a:r>
          </a:p>
        </p:txBody>
      </p:sp>
      <p:sp>
        <p:nvSpPr>
          <p:cNvPr id="30" name="Text Placeholder 27">
            <a:extLst>
              <a:ext uri="{FF2B5EF4-FFF2-40B4-BE49-F238E27FC236}">
                <a16:creationId xmlns:a16="http://schemas.microsoft.com/office/drawing/2014/main" id="{C27A56C3-FEC8-39A9-6122-9079537EE7C4}"/>
              </a:ext>
            </a:extLst>
          </p:cNvPr>
          <p:cNvSpPr>
            <a:spLocks noGrp="1"/>
          </p:cNvSpPr>
          <p:nvPr>
            <p:ph type="body" sz="quarter" idx="14"/>
          </p:nvPr>
        </p:nvSpPr>
        <p:spPr>
          <a:xfrm>
            <a:off x="4417329" y="3907299"/>
            <a:ext cx="2965450" cy="287515"/>
          </a:xfrm>
          <a:prstGeom prst="rect">
            <a:avLst/>
          </a:prstGeom>
          <a:noFill/>
        </p:spPr>
        <p:txBody>
          <a:bodyPr wrap="square">
            <a:spAutoFit/>
          </a:bodyPr>
          <a:lstStyle>
            <a:lvl1pPr marL="0" indent="0">
              <a:buNone/>
              <a:defRPr lang="en-US" sz="1400" dirty="0" smtClean="0">
                <a:solidFill>
                  <a:schemeClr val="tx2"/>
                </a:solidFill>
                <a:latin typeface="+mn-lt"/>
                <a:cs typeface="Archivo Light" pitchFamily="2" charset="0"/>
              </a:defRPr>
            </a:lvl1pPr>
            <a:lvl2pPr>
              <a:defRPr lang="en-US" sz="1800" dirty="0" smtClean="0"/>
            </a:lvl2pPr>
            <a:lvl3pPr>
              <a:defRPr lang="en-US" sz="1800" dirty="0" smtClean="0"/>
            </a:lvl3pPr>
            <a:lvl4pPr>
              <a:defRPr lang="en-US" dirty="0" smtClean="0"/>
            </a:lvl4pPr>
            <a:lvl5pPr>
              <a:defRPr lang="en-US" dirty="0"/>
            </a:lvl5pPr>
          </a:lstStyle>
          <a:p>
            <a:pPr marL="0" lvl="0"/>
            <a:r>
              <a:rPr lang="en-US"/>
              <a:t>Click to edit Master text styles</a:t>
            </a:r>
          </a:p>
        </p:txBody>
      </p:sp>
      <p:sp>
        <p:nvSpPr>
          <p:cNvPr id="31" name="Text Placeholder 25">
            <a:extLst>
              <a:ext uri="{FF2B5EF4-FFF2-40B4-BE49-F238E27FC236}">
                <a16:creationId xmlns:a16="http://schemas.microsoft.com/office/drawing/2014/main" id="{2F283C09-6074-6C3E-FBAF-2D9EF2C566D9}"/>
              </a:ext>
            </a:extLst>
          </p:cNvPr>
          <p:cNvSpPr>
            <a:spLocks noGrp="1"/>
          </p:cNvSpPr>
          <p:nvPr>
            <p:ph type="body" sz="quarter" idx="15"/>
          </p:nvPr>
        </p:nvSpPr>
        <p:spPr>
          <a:xfrm>
            <a:off x="4397451" y="4993746"/>
            <a:ext cx="3528002" cy="313932"/>
          </a:xfrm>
          <a:prstGeom prst="rect">
            <a:avLst/>
          </a:prstGeom>
          <a:noFill/>
        </p:spPr>
        <p:txBody>
          <a:bodyPr wrap="square" lIns="91440" tIns="45720" rIns="91440" bIns="45720" rtlCol="0" anchor="t">
            <a:spAutoFit/>
          </a:bodyPr>
          <a:lstStyle>
            <a:lvl1pPr marL="0" indent="0">
              <a:buNone/>
              <a:defRPr lang="en-US" sz="1600" b="1" dirty="0">
                <a:solidFill>
                  <a:srgbClr val="FF5329"/>
                </a:solidFill>
                <a:effectLst/>
                <a:latin typeface="+mj-lt"/>
                <a:cs typeface="Archivo" pitchFamily="2" charset="77"/>
              </a:defRPr>
            </a:lvl1pPr>
          </a:lstStyle>
          <a:p>
            <a:pPr marL="0" lvl="0"/>
            <a:r>
              <a:rPr lang="en-US"/>
              <a:t>Click to edit Master text styles</a:t>
            </a:r>
          </a:p>
        </p:txBody>
      </p:sp>
      <p:sp>
        <p:nvSpPr>
          <p:cNvPr id="32" name="Text Placeholder 27">
            <a:extLst>
              <a:ext uri="{FF2B5EF4-FFF2-40B4-BE49-F238E27FC236}">
                <a16:creationId xmlns:a16="http://schemas.microsoft.com/office/drawing/2014/main" id="{B0BDC122-75CC-CB89-A29E-5703374B9E1D}"/>
              </a:ext>
            </a:extLst>
          </p:cNvPr>
          <p:cNvSpPr>
            <a:spLocks noGrp="1"/>
          </p:cNvSpPr>
          <p:nvPr>
            <p:ph type="body" sz="quarter" idx="16"/>
          </p:nvPr>
        </p:nvSpPr>
        <p:spPr>
          <a:xfrm>
            <a:off x="4397231" y="5380960"/>
            <a:ext cx="2965450" cy="287515"/>
          </a:xfrm>
          <a:prstGeom prst="rect">
            <a:avLst/>
          </a:prstGeom>
          <a:noFill/>
        </p:spPr>
        <p:txBody>
          <a:bodyPr wrap="square">
            <a:spAutoFit/>
          </a:bodyPr>
          <a:lstStyle>
            <a:lvl1pPr marL="0" indent="0">
              <a:buNone/>
              <a:defRPr lang="en-US" sz="1400" dirty="0" smtClean="0">
                <a:solidFill>
                  <a:schemeClr val="tx2"/>
                </a:solidFill>
                <a:latin typeface="+mn-lt"/>
                <a:cs typeface="Archivo Light" pitchFamily="2" charset="0"/>
              </a:defRPr>
            </a:lvl1pPr>
            <a:lvl2pPr>
              <a:defRPr lang="en-US" sz="1800" dirty="0" smtClean="0"/>
            </a:lvl2pPr>
            <a:lvl3pPr>
              <a:defRPr lang="en-US" sz="1800" dirty="0" smtClean="0"/>
            </a:lvl3pPr>
            <a:lvl4pPr>
              <a:defRPr lang="en-US" dirty="0" smtClean="0"/>
            </a:lvl4pPr>
            <a:lvl5pPr>
              <a:defRPr lang="en-US" dirty="0"/>
            </a:lvl5pPr>
          </a:lstStyle>
          <a:p>
            <a:pPr marL="0" lvl="0"/>
            <a:r>
              <a:rPr lang="en-US"/>
              <a:t>Click to edit Master text styles</a:t>
            </a:r>
          </a:p>
        </p:txBody>
      </p:sp>
      <p:sp>
        <p:nvSpPr>
          <p:cNvPr id="33" name="Text Placeholder 25">
            <a:extLst>
              <a:ext uri="{FF2B5EF4-FFF2-40B4-BE49-F238E27FC236}">
                <a16:creationId xmlns:a16="http://schemas.microsoft.com/office/drawing/2014/main" id="{8F07E679-CB9F-B20B-B621-2DA564334261}"/>
              </a:ext>
            </a:extLst>
          </p:cNvPr>
          <p:cNvSpPr>
            <a:spLocks noGrp="1"/>
          </p:cNvSpPr>
          <p:nvPr>
            <p:ph type="body" sz="quarter" idx="17"/>
          </p:nvPr>
        </p:nvSpPr>
        <p:spPr>
          <a:xfrm>
            <a:off x="8171440" y="2035175"/>
            <a:ext cx="3528002" cy="313932"/>
          </a:xfrm>
          <a:prstGeom prst="rect">
            <a:avLst/>
          </a:prstGeom>
          <a:noFill/>
        </p:spPr>
        <p:txBody>
          <a:bodyPr wrap="square" lIns="91440" tIns="45720" rIns="91440" bIns="45720" rtlCol="0" anchor="t">
            <a:spAutoFit/>
          </a:bodyPr>
          <a:lstStyle>
            <a:lvl1pPr marL="0" indent="0">
              <a:buNone/>
              <a:defRPr lang="en-US" sz="1600" b="1" dirty="0">
                <a:solidFill>
                  <a:srgbClr val="FF5329"/>
                </a:solidFill>
                <a:effectLst/>
                <a:latin typeface="+mj-lt"/>
                <a:cs typeface="Archivo" pitchFamily="2" charset="77"/>
              </a:defRPr>
            </a:lvl1pPr>
          </a:lstStyle>
          <a:p>
            <a:pPr marL="0" lvl="0"/>
            <a:r>
              <a:rPr lang="en-US"/>
              <a:t>Click to edit Master text styles</a:t>
            </a:r>
          </a:p>
        </p:txBody>
      </p:sp>
      <p:sp>
        <p:nvSpPr>
          <p:cNvPr id="34" name="Text Placeholder 27">
            <a:extLst>
              <a:ext uri="{FF2B5EF4-FFF2-40B4-BE49-F238E27FC236}">
                <a16:creationId xmlns:a16="http://schemas.microsoft.com/office/drawing/2014/main" id="{CA907FD9-C51D-5512-5C1A-B38A49B32585}"/>
              </a:ext>
            </a:extLst>
          </p:cNvPr>
          <p:cNvSpPr>
            <a:spLocks noGrp="1"/>
          </p:cNvSpPr>
          <p:nvPr>
            <p:ph type="body" sz="quarter" idx="18"/>
          </p:nvPr>
        </p:nvSpPr>
        <p:spPr>
          <a:xfrm>
            <a:off x="8171220" y="2422389"/>
            <a:ext cx="2965450" cy="287515"/>
          </a:xfrm>
          <a:prstGeom prst="rect">
            <a:avLst/>
          </a:prstGeom>
          <a:noFill/>
        </p:spPr>
        <p:txBody>
          <a:bodyPr wrap="square">
            <a:spAutoFit/>
          </a:bodyPr>
          <a:lstStyle>
            <a:lvl1pPr marL="0" indent="0">
              <a:buNone/>
              <a:defRPr lang="en-US" sz="1400" dirty="0" smtClean="0">
                <a:solidFill>
                  <a:schemeClr val="tx2"/>
                </a:solidFill>
                <a:latin typeface="+mn-lt"/>
                <a:cs typeface="Archivo Light" pitchFamily="2" charset="0"/>
              </a:defRPr>
            </a:lvl1pPr>
            <a:lvl2pPr>
              <a:defRPr lang="en-US" sz="1800" dirty="0" smtClean="0"/>
            </a:lvl2pPr>
            <a:lvl3pPr>
              <a:defRPr lang="en-US" sz="1800" dirty="0" smtClean="0"/>
            </a:lvl3pPr>
            <a:lvl4pPr>
              <a:defRPr lang="en-US" dirty="0" smtClean="0"/>
            </a:lvl4pPr>
            <a:lvl5pPr>
              <a:defRPr lang="en-US" dirty="0"/>
            </a:lvl5pPr>
          </a:lstStyle>
          <a:p>
            <a:pPr marL="0" lvl="0"/>
            <a:r>
              <a:rPr lang="en-US"/>
              <a:t>Click to edit Master text styles</a:t>
            </a:r>
          </a:p>
        </p:txBody>
      </p:sp>
      <p:sp>
        <p:nvSpPr>
          <p:cNvPr id="35" name="Text Placeholder 25">
            <a:extLst>
              <a:ext uri="{FF2B5EF4-FFF2-40B4-BE49-F238E27FC236}">
                <a16:creationId xmlns:a16="http://schemas.microsoft.com/office/drawing/2014/main" id="{2E9072C3-5311-47C6-FCB7-920B8205CC9F}"/>
              </a:ext>
            </a:extLst>
          </p:cNvPr>
          <p:cNvSpPr>
            <a:spLocks noGrp="1"/>
          </p:cNvSpPr>
          <p:nvPr>
            <p:ph type="body" sz="quarter" idx="19"/>
          </p:nvPr>
        </p:nvSpPr>
        <p:spPr>
          <a:xfrm>
            <a:off x="8191538" y="3508836"/>
            <a:ext cx="3528002" cy="313932"/>
          </a:xfrm>
          <a:prstGeom prst="rect">
            <a:avLst/>
          </a:prstGeom>
          <a:noFill/>
        </p:spPr>
        <p:txBody>
          <a:bodyPr wrap="square" lIns="91440" tIns="45720" rIns="91440" bIns="45720" rtlCol="0" anchor="t">
            <a:spAutoFit/>
          </a:bodyPr>
          <a:lstStyle>
            <a:lvl1pPr marL="0" indent="0">
              <a:buNone/>
              <a:defRPr lang="en-US" sz="1600" b="1" dirty="0">
                <a:solidFill>
                  <a:srgbClr val="FF5329"/>
                </a:solidFill>
                <a:effectLst/>
                <a:latin typeface="+mj-lt"/>
                <a:cs typeface="Archivo" pitchFamily="2" charset="77"/>
              </a:defRPr>
            </a:lvl1pPr>
          </a:lstStyle>
          <a:p>
            <a:pPr marL="0" lvl="0"/>
            <a:r>
              <a:rPr lang="en-US"/>
              <a:t>Click to edit Master text styles</a:t>
            </a:r>
          </a:p>
        </p:txBody>
      </p:sp>
      <p:sp>
        <p:nvSpPr>
          <p:cNvPr id="36" name="Text Placeholder 27">
            <a:extLst>
              <a:ext uri="{FF2B5EF4-FFF2-40B4-BE49-F238E27FC236}">
                <a16:creationId xmlns:a16="http://schemas.microsoft.com/office/drawing/2014/main" id="{DA5B75E9-2BD3-5CAB-81E2-2009593F5023}"/>
              </a:ext>
            </a:extLst>
          </p:cNvPr>
          <p:cNvSpPr>
            <a:spLocks noGrp="1"/>
          </p:cNvSpPr>
          <p:nvPr>
            <p:ph type="body" sz="quarter" idx="20"/>
          </p:nvPr>
        </p:nvSpPr>
        <p:spPr>
          <a:xfrm>
            <a:off x="8191318" y="3896050"/>
            <a:ext cx="2965450" cy="287515"/>
          </a:xfrm>
          <a:prstGeom prst="rect">
            <a:avLst/>
          </a:prstGeom>
          <a:noFill/>
        </p:spPr>
        <p:txBody>
          <a:bodyPr wrap="square">
            <a:spAutoFit/>
          </a:bodyPr>
          <a:lstStyle>
            <a:lvl1pPr marL="0" indent="0">
              <a:buNone/>
              <a:defRPr lang="en-US" sz="1400" dirty="0" smtClean="0">
                <a:solidFill>
                  <a:schemeClr val="tx2"/>
                </a:solidFill>
                <a:latin typeface="+mn-lt"/>
                <a:cs typeface="Archivo Light" pitchFamily="2" charset="0"/>
              </a:defRPr>
            </a:lvl1pPr>
            <a:lvl2pPr>
              <a:defRPr lang="en-US" sz="1800" dirty="0" smtClean="0"/>
            </a:lvl2pPr>
            <a:lvl3pPr>
              <a:defRPr lang="en-US" sz="1800" dirty="0" smtClean="0"/>
            </a:lvl3pPr>
            <a:lvl4pPr>
              <a:defRPr lang="en-US" dirty="0" smtClean="0"/>
            </a:lvl4pPr>
            <a:lvl5pPr>
              <a:defRPr lang="en-US" dirty="0"/>
            </a:lvl5pPr>
          </a:lstStyle>
          <a:p>
            <a:pPr marL="0" lvl="0"/>
            <a:r>
              <a:rPr lang="en-US"/>
              <a:t>Click to edit Master text styles</a:t>
            </a:r>
          </a:p>
        </p:txBody>
      </p:sp>
      <p:sp>
        <p:nvSpPr>
          <p:cNvPr id="37" name="Text Placeholder 25">
            <a:extLst>
              <a:ext uri="{FF2B5EF4-FFF2-40B4-BE49-F238E27FC236}">
                <a16:creationId xmlns:a16="http://schemas.microsoft.com/office/drawing/2014/main" id="{496B864B-F030-A472-7AA4-5E125A302F41}"/>
              </a:ext>
            </a:extLst>
          </p:cNvPr>
          <p:cNvSpPr>
            <a:spLocks noGrp="1"/>
          </p:cNvSpPr>
          <p:nvPr>
            <p:ph type="body" sz="quarter" idx="21"/>
          </p:nvPr>
        </p:nvSpPr>
        <p:spPr>
          <a:xfrm>
            <a:off x="8171440" y="4982497"/>
            <a:ext cx="3528002" cy="313932"/>
          </a:xfrm>
          <a:prstGeom prst="rect">
            <a:avLst/>
          </a:prstGeom>
          <a:noFill/>
        </p:spPr>
        <p:txBody>
          <a:bodyPr wrap="square" lIns="91440" tIns="45720" rIns="91440" bIns="45720" rtlCol="0" anchor="t">
            <a:spAutoFit/>
          </a:bodyPr>
          <a:lstStyle>
            <a:lvl1pPr marL="0" indent="0">
              <a:buNone/>
              <a:defRPr lang="en-US" sz="1600" b="1" dirty="0">
                <a:solidFill>
                  <a:srgbClr val="FF5329"/>
                </a:solidFill>
                <a:effectLst/>
                <a:latin typeface="+mj-lt"/>
                <a:cs typeface="Archivo" pitchFamily="2" charset="77"/>
              </a:defRPr>
            </a:lvl1pPr>
          </a:lstStyle>
          <a:p>
            <a:pPr marL="0" lvl="0"/>
            <a:r>
              <a:rPr lang="en-US"/>
              <a:t>Click to edit Master text styles</a:t>
            </a:r>
          </a:p>
        </p:txBody>
      </p:sp>
      <p:sp>
        <p:nvSpPr>
          <p:cNvPr id="38" name="Text Placeholder 27">
            <a:extLst>
              <a:ext uri="{FF2B5EF4-FFF2-40B4-BE49-F238E27FC236}">
                <a16:creationId xmlns:a16="http://schemas.microsoft.com/office/drawing/2014/main" id="{391D6780-CECA-6BBB-39E8-E05E8510C30D}"/>
              </a:ext>
            </a:extLst>
          </p:cNvPr>
          <p:cNvSpPr>
            <a:spLocks noGrp="1"/>
          </p:cNvSpPr>
          <p:nvPr>
            <p:ph type="body" sz="quarter" idx="22"/>
          </p:nvPr>
        </p:nvSpPr>
        <p:spPr>
          <a:xfrm>
            <a:off x="8171220" y="5369711"/>
            <a:ext cx="2965450" cy="287515"/>
          </a:xfrm>
          <a:prstGeom prst="rect">
            <a:avLst/>
          </a:prstGeom>
          <a:noFill/>
        </p:spPr>
        <p:txBody>
          <a:bodyPr wrap="square">
            <a:spAutoFit/>
          </a:bodyPr>
          <a:lstStyle>
            <a:lvl1pPr marL="0" indent="0">
              <a:buNone/>
              <a:defRPr lang="en-US" sz="1400" dirty="0" smtClean="0">
                <a:solidFill>
                  <a:schemeClr val="tx2"/>
                </a:solidFill>
                <a:latin typeface="+mn-lt"/>
                <a:cs typeface="Archivo Light" pitchFamily="2" charset="0"/>
              </a:defRPr>
            </a:lvl1pPr>
            <a:lvl2pPr>
              <a:defRPr lang="en-US" sz="1800" dirty="0" smtClean="0"/>
            </a:lvl2pPr>
            <a:lvl3pPr>
              <a:defRPr lang="en-US" sz="1800" dirty="0" smtClean="0"/>
            </a:lvl3pPr>
            <a:lvl4pPr>
              <a:defRPr lang="en-US" dirty="0" smtClean="0"/>
            </a:lvl4pPr>
            <a:lvl5pPr>
              <a:defRPr lang="en-US" dirty="0"/>
            </a:lvl5pPr>
          </a:lstStyle>
          <a:p>
            <a:pPr marL="0" lvl="0"/>
            <a:r>
              <a:rPr lang="en-US"/>
              <a:t>Click to edit Master text styles</a:t>
            </a:r>
          </a:p>
        </p:txBody>
      </p:sp>
    </p:spTree>
    <p:extLst>
      <p:ext uri="{BB962C8B-B14F-4D97-AF65-F5344CB8AC3E}">
        <p14:creationId xmlns:p14="http://schemas.microsoft.com/office/powerpoint/2010/main" val="361468095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Theme 6 - Light">
    <p:bg>
      <p:bgPr>
        <a:blipFill dpi="0" rotWithShape="1">
          <a:blip r:embed="rId2">
            <a:lum/>
            <a:extLst>
              <a:ext uri="{96DAC541-7B7A-43D3-8B79-37D633B846F1}">
                <asvg:svgBlip xmlns:asvg="http://schemas.microsoft.com/office/drawing/2016/SVG/main" r:embed="rId3"/>
              </a:ext>
            </a:extLst>
          </a:blip>
          <a:srcRect/>
          <a:stretch>
            <a:fillRect/>
          </a:stretch>
        </a:blipFill>
        <a:effectLst/>
      </p:bgPr>
    </p:bg>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3AE8FFB8-AD83-E95E-37C6-3D334A0B290F}"/>
              </a:ext>
            </a:extLst>
          </p:cNvPr>
          <p:cNvGrpSpPr>
            <a:grpSpLocks noChangeAspect="1"/>
          </p:cNvGrpSpPr>
          <p:nvPr userDrawn="1"/>
        </p:nvGrpSpPr>
        <p:grpSpPr>
          <a:xfrm>
            <a:off x="0" y="-1104105"/>
            <a:ext cx="1625600" cy="914400"/>
            <a:chOff x="0" y="0"/>
            <a:chExt cx="20574000" cy="6858000"/>
          </a:xfrm>
        </p:grpSpPr>
        <p:sp>
          <p:nvSpPr>
            <p:cNvPr id="3" name="Rectangle 2">
              <a:extLst>
                <a:ext uri="{FF2B5EF4-FFF2-40B4-BE49-F238E27FC236}">
                  <a16:creationId xmlns:a16="http://schemas.microsoft.com/office/drawing/2014/main" id="{8A417764-E64C-0FD3-4B50-B3AC779683DB}"/>
                </a:ext>
              </a:extLst>
            </p:cNvPr>
            <p:cNvSpPr>
              <a:spLocks noChangeAspect="1"/>
            </p:cNvSpPr>
            <p:nvPr userDrawn="1"/>
          </p:nvSpPr>
          <p:spPr bwMode="auto">
            <a:xfrm>
              <a:off x="0" y="0"/>
              <a:ext cx="20574000"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222028" fontAlgn="base">
                <a:spcBef>
                  <a:spcPct val="0"/>
                </a:spcBef>
                <a:spcAft>
                  <a:spcPct val="0"/>
                </a:spcAft>
              </a:pPr>
              <a:endParaRPr lang="en-US" sz="476">
                <a:solidFill>
                  <a:srgbClr val="FFFFFF"/>
                </a:solidFill>
                <a:ea typeface="Segoe UI" pitchFamily="34" charset="0"/>
                <a:cs typeface="Segoe UI" pitchFamily="34" charset="0"/>
              </a:endParaRPr>
            </a:p>
          </p:txBody>
        </p:sp>
        <p:pic>
          <p:nvPicPr>
            <p:cNvPr id="4" name="Picture 3">
              <a:extLst>
                <a:ext uri="{FF2B5EF4-FFF2-40B4-BE49-F238E27FC236}">
                  <a16:creationId xmlns:a16="http://schemas.microsoft.com/office/drawing/2014/main" id="{A0557B51-36CF-AE06-6DE8-82ACAB946553}"/>
                </a:ext>
              </a:extLst>
            </p:cNvPr>
            <p:cNvPicPr>
              <a:picLocks noChangeAspect="1"/>
            </p:cNvPicPr>
            <p:nvPr/>
          </p:nvPicPr>
          <p:blipFill>
            <a:blip r:embed="rId4" cstate="print">
              <a:alphaModFix/>
              <a:extLst>
                <a:ext uri="{BEBA8EAE-BF5A-486C-A8C5-ECC9F3942E4B}">
                  <a14:imgProps xmlns:a14="http://schemas.microsoft.com/office/drawing/2010/main">
                    <a14:imgLayer r:embed="rId5">
                      <a14:imgEffect>
                        <a14:brightnessContrast bright="10000"/>
                      </a14:imgEffect>
                    </a14:imgLayer>
                  </a14:imgProps>
                </a:ext>
                <a:ext uri="{28A0092B-C50C-407E-A947-70E740481C1C}">
                  <a14:useLocalDpi xmlns:a14="http://schemas.microsoft.com/office/drawing/2010/main" val="0"/>
                </a:ext>
              </a:extLst>
            </a:blip>
            <a:srcRect t="12007" b="40595"/>
            <a:stretch/>
          </p:blipFill>
          <p:spPr>
            <a:xfrm>
              <a:off x="0" y="0"/>
              <a:ext cx="20574000" cy="6858000"/>
            </a:xfrm>
            <a:prstGeom prst="rect">
              <a:avLst/>
            </a:prstGeom>
          </p:spPr>
        </p:pic>
        <p:sp>
          <p:nvSpPr>
            <p:cNvPr id="5" name="Rectangle 4">
              <a:hlinkClick r:id="" action="ppaction://noaction"/>
              <a:extLst>
                <a:ext uri="{FF2B5EF4-FFF2-40B4-BE49-F238E27FC236}">
                  <a16:creationId xmlns:a16="http://schemas.microsoft.com/office/drawing/2014/main" id="{F5EA9A8B-89D0-947D-C76B-555C20C9BC95}"/>
                </a:ext>
              </a:extLst>
            </p:cNvPr>
            <p:cNvSpPr>
              <a:spLocks noChangeAspect="1"/>
            </p:cNvSpPr>
            <p:nvPr userDrawn="1"/>
          </p:nvSpPr>
          <p:spPr bwMode="auto">
            <a:xfrm>
              <a:off x="0" y="0"/>
              <a:ext cx="20574000" cy="6858000"/>
            </a:xfrm>
            <a:prstGeom prst="rect">
              <a:avLst/>
            </a:prstGeom>
            <a:gradFill flip="none" rotWithShape="1">
              <a:gsLst>
                <a:gs pos="60000">
                  <a:srgbClr val="E2F1F9">
                    <a:alpha val="60000"/>
                  </a:srgbClr>
                </a:gs>
                <a:gs pos="0">
                  <a:srgbClr val="FFECEE">
                    <a:alpha val="60000"/>
                  </a:srgbClr>
                </a:gs>
              </a:gsLst>
              <a:path path="circle">
                <a:fillToRect l="100000" t="100000"/>
              </a:path>
              <a:tileRect r="-100000" b="-100000"/>
            </a:gra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marR="0" lvl="0" indent="0" defTabSz="222028" fontAlgn="base">
                <a:lnSpc>
                  <a:spcPct val="100000"/>
                </a:lnSpc>
                <a:spcBef>
                  <a:spcPct val="0"/>
                </a:spcBef>
                <a:spcAft>
                  <a:spcPct val="0"/>
                </a:spcAft>
                <a:buClrTx/>
                <a:buSzTx/>
                <a:buFontTx/>
                <a:buNone/>
                <a:tabLst/>
              </a:pPr>
              <a:endParaRPr kumimoji="0" lang="en-US" sz="476" b="0" i="0" u="none" strike="noStrike" cap="none" spc="0" normalizeH="0" baseline="0" noProof="0">
                <a:ln>
                  <a:noFill/>
                </a:ln>
                <a:solidFill>
                  <a:srgbClr val="091F2C"/>
                </a:solidFill>
                <a:effectLst/>
                <a:uLnTx/>
                <a:uFillTx/>
                <a:latin typeface="Segoe UI"/>
                <a:cs typeface="Segoe UI" pitchFamily="34" charset="0"/>
              </a:endParaRPr>
            </a:p>
          </p:txBody>
        </p:sp>
      </p:grpSp>
    </p:spTree>
    <p:extLst>
      <p:ext uri="{BB962C8B-B14F-4D97-AF65-F5344CB8AC3E}">
        <p14:creationId xmlns:p14="http://schemas.microsoft.com/office/powerpoint/2010/main" val="3054315667"/>
      </p:ext>
    </p:extLst>
  </p:cSld>
  <p:clrMapOvr>
    <a:masterClrMapping/>
  </p:clrMapOvr>
  <p:transition>
    <p:fade/>
  </p:transition>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1_Custom Layou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740331" y="2137848"/>
            <a:ext cx="4662942" cy="2174250"/>
          </a:xfrm>
          <a:prstGeom prst="rect">
            <a:avLst/>
          </a:prstGeom>
          <a:noFill/>
        </p:spPr>
        <p:txBody>
          <a:bodyPr wrap="square">
            <a:spAutoFit/>
          </a:bodyPr>
          <a:lstStyle>
            <a:lvl1pPr>
              <a:defRPr lang="en-US" sz="5000" b="1" dirty="0">
                <a:solidFill>
                  <a:schemeClr val="bg1"/>
                </a:solidFill>
                <a:latin typeface="Outfit" pitchFamily="2" charset="0"/>
                <a:ea typeface="+mn-ea"/>
                <a:cs typeface="Archivo Light" pitchFamily="2" charset="77"/>
              </a:defRPr>
            </a:lvl1pPr>
          </a:lstStyle>
          <a:p>
            <a:pPr marL="0" lvl="0"/>
            <a:r>
              <a:rPr lang="en-US"/>
              <a:t>Click to add divider slide title</a:t>
            </a:r>
          </a:p>
        </p:txBody>
      </p:sp>
      <p:sp>
        <p:nvSpPr>
          <p:cNvPr id="7" name="Text Placeholder 6">
            <a:extLst>
              <a:ext uri="{FF2B5EF4-FFF2-40B4-BE49-F238E27FC236}">
                <a16:creationId xmlns:a16="http://schemas.microsoft.com/office/drawing/2014/main" id="{81FE43B4-3B98-AAB2-FEF8-2D96DC1A26B1}"/>
              </a:ext>
            </a:extLst>
          </p:cNvPr>
          <p:cNvSpPr>
            <a:spLocks noGrp="1"/>
          </p:cNvSpPr>
          <p:nvPr>
            <p:ph type="body" sz="quarter" idx="10"/>
          </p:nvPr>
        </p:nvSpPr>
        <p:spPr>
          <a:xfrm>
            <a:off x="740331" y="1646858"/>
            <a:ext cx="4662942" cy="424732"/>
          </a:xfrm>
          <a:prstGeom prst="rect">
            <a:avLst/>
          </a:prstGeom>
          <a:noFill/>
        </p:spPr>
        <p:txBody>
          <a:bodyPr wrap="square" lIns="91440" tIns="45720" rIns="91440" bIns="45720" anchor="b">
            <a:spAutoFit/>
          </a:bodyPr>
          <a:lstStyle>
            <a:lvl1pPr marL="0" indent="0">
              <a:buNone/>
              <a:defRPr lang="en-US" sz="2400" b="0" i="0" smtClean="0">
                <a:solidFill>
                  <a:srgbClr val="FF592D"/>
                </a:solidFill>
                <a:latin typeface="Outfit" pitchFamily="2" charset="0"/>
                <a:ea typeface="+mn-lt"/>
                <a:cs typeface="+mn-lt"/>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
        <p:nvSpPr>
          <p:cNvPr id="9" name="Text Placeholder 9">
            <a:extLst>
              <a:ext uri="{FF2B5EF4-FFF2-40B4-BE49-F238E27FC236}">
                <a16:creationId xmlns:a16="http://schemas.microsoft.com/office/drawing/2014/main" id="{8C8D54D1-F04C-5AB1-69E3-2EA74D27FEE7}"/>
              </a:ext>
            </a:extLst>
          </p:cNvPr>
          <p:cNvSpPr>
            <a:spLocks noGrp="1"/>
          </p:cNvSpPr>
          <p:nvPr>
            <p:ph type="body" sz="quarter" idx="12"/>
          </p:nvPr>
        </p:nvSpPr>
        <p:spPr>
          <a:xfrm>
            <a:off x="740330" y="4525146"/>
            <a:ext cx="3838487" cy="371127"/>
          </a:xfrm>
          <a:prstGeom prst="rect">
            <a:avLst/>
          </a:prstGeom>
          <a:noFill/>
        </p:spPr>
        <p:txBody>
          <a:bodyPr wrap="square">
            <a:spAutoFit/>
          </a:bodyPr>
          <a:lstStyle>
            <a:lvl1pPr marL="0" indent="0">
              <a:buNone/>
              <a:defRPr lang="en-US" sz="2000" b="0" i="0" smtClean="0">
                <a:solidFill>
                  <a:schemeClr val="bg1"/>
                </a:solidFill>
                <a:latin typeface="Outfit" pitchFamily="2" charset="0"/>
                <a:cs typeface="Archivo Light" pitchFamily="2" charset="77"/>
              </a:defRPr>
            </a:lvl1pPr>
            <a:lvl2pPr>
              <a:defRPr lang="en-US" sz="1800" smtClean="0"/>
            </a:lvl2pPr>
            <a:lvl3pPr>
              <a:defRPr lang="en-US" sz="1800" smtClean="0"/>
            </a:lvl3pPr>
            <a:lvl4pPr>
              <a:defRPr lang="en-US" smtClean="0"/>
            </a:lvl4pPr>
            <a:lvl5pPr>
              <a:defRPr lang="en-US"/>
            </a:lvl5pPr>
          </a:lstStyle>
          <a:p>
            <a:pPr marL="0" lvl="0"/>
            <a:r>
              <a:rPr lang="en-US"/>
              <a:t>Click to edit Master text styles</a:t>
            </a:r>
          </a:p>
        </p:txBody>
      </p:sp>
    </p:spTree>
    <p:extLst>
      <p:ext uri="{BB962C8B-B14F-4D97-AF65-F5344CB8AC3E}">
        <p14:creationId xmlns:p14="http://schemas.microsoft.com/office/powerpoint/2010/main" val="18296757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4_Custom Layout">
  <p:cSld name="4_Custom Layout">
    <p:spTree>
      <p:nvGrpSpPr>
        <p:cNvPr id="1" name="Shape 92"/>
        <p:cNvGrpSpPr/>
        <p:nvPr/>
      </p:nvGrpSpPr>
      <p:grpSpPr>
        <a:xfrm>
          <a:off x="0" y="0"/>
          <a:ext cx="0" cy="0"/>
          <a:chOff x="0" y="0"/>
          <a:chExt cx="0" cy="0"/>
        </a:xfrm>
      </p:grpSpPr>
      <p:sp>
        <p:nvSpPr>
          <p:cNvPr id="93" name="Google Shape;93;p46"/>
          <p:cNvSpPr/>
          <p:nvPr/>
        </p:nvSpPr>
        <p:spPr>
          <a:xfrm>
            <a:off x="0" y="1168026"/>
            <a:ext cx="5382705" cy="4131297"/>
          </a:xfrm>
          <a:prstGeom prst="snip1Rect">
            <a:avLst>
              <a:gd name="adj" fmla="val 16667"/>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94" name="Google Shape;94;p46"/>
          <p:cNvSpPr txBox="1">
            <a:spLocks noGrp="1"/>
          </p:cNvSpPr>
          <p:nvPr>
            <p:ph type="title"/>
          </p:nvPr>
        </p:nvSpPr>
        <p:spPr>
          <a:xfrm>
            <a:off x="740331" y="2137848"/>
            <a:ext cx="3790725" cy="1481752"/>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5000"/>
              <a:buFont typeface="Outfit"/>
              <a:buNone/>
              <a:defRPr sz="50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95" name="Google Shape;95;p46"/>
          <p:cNvSpPr txBox="1">
            <a:spLocks noGrp="1"/>
          </p:cNvSpPr>
          <p:nvPr>
            <p:ph type="body" idx="1"/>
          </p:nvPr>
        </p:nvSpPr>
        <p:spPr>
          <a:xfrm>
            <a:off x="740330" y="4472479"/>
            <a:ext cx="3838487" cy="371127"/>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2000"/>
              <a:buFont typeface="Arial"/>
              <a:buNone/>
              <a:defRPr sz="20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96" name="Google Shape;96;p46"/>
          <p:cNvSpPr txBox="1">
            <a:spLocks noGrp="1"/>
          </p:cNvSpPr>
          <p:nvPr>
            <p:ph type="body" idx="2"/>
          </p:nvPr>
        </p:nvSpPr>
        <p:spPr>
          <a:xfrm>
            <a:off x="5693941" y="2137848"/>
            <a:ext cx="4696968" cy="424732"/>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2400"/>
              <a:buFont typeface="Arial"/>
              <a:buNone/>
              <a:defRPr sz="2400" b="1" i="0" u="none" strike="noStrike" cap="none">
                <a:solidFill>
                  <a:schemeClr val="lt1"/>
                </a:solidFill>
                <a:latin typeface="Outfit"/>
                <a:ea typeface="Outfit"/>
                <a:cs typeface="Outfit"/>
                <a:sym typeface="Outfi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97" name="Google Shape;97;p46"/>
          <p:cNvSpPr txBox="1">
            <a:spLocks noGrp="1"/>
          </p:cNvSpPr>
          <p:nvPr>
            <p:ph type="body" idx="3"/>
          </p:nvPr>
        </p:nvSpPr>
        <p:spPr>
          <a:xfrm>
            <a:off x="740330" y="1586958"/>
            <a:ext cx="3285018" cy="426848"/>
          </a:xfrm>
          <a:prstGeom prst="rect">
            <a:avLst/>
          </a:prstGeom>
          <a:noFill/>
          <a:ln>
            <a:noFill/>
          </a:ln>
        </p:spPr>
        <p:txBody>
          <a:bodyPr spcFirstLastPara="1" wrap="square" lIns="91425" tIns="45700" rIns="91425" bIns="45700" anchor="b" anchorCtr="0">
            <a:spAutoFit/>
          </a:bodyPr>
          <a:lstStyle>
            <a:lvl1pPr marL="457200" marR="0" lvl="0" indent="-228600" algn="l" rtl="0">
              <a:lnSpc>
                <a:spcPct val="90000"/>
              </a:lnSpc>
              <a:spcBef>
                <a:spcPts val="1000"/>
              </a:spcBef>
              <a:spcAft>
                <a:spcPts val="0"/>
              </a:spcAft>
              <a:buClr>
                <a:srgbClr val="FF592D"/>
              </a:buClr>
              <a:buSzPts val="2400"/>
              <a:buFont typeface="Arial"/>
              <a:buNone/>
              <a:defRPr sz="2400" b="0" i="0" u="none" strike="noStrike" cap="none">
                <a:solidFill>
                  <a:srgbClr val="FF592D"/>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98" name="Google Shape;98;p46"/>
          <p:cNvSpPr txBox="1"/>
          <p:nvPr/>
        </p:nvSpPr>
        <p:spPr>
          <a:xfrm>
            <a:off x="9036283" y="6526817"/>
            <a:ext cx="3096084" cy="246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000"/>
              <a:buFont typeface="Outfit"/>
              <a:buNone/>
            </a:pPr>
            <a:r>
              <a:rPr lang="en-US" sz="1000" b="0" i="0" u="none" strike="noStrike" cap="none">
                <a:solidFill>
                  <a:schemeClr val="lt1"/>
                </a:solidFill>
                <a:latin typeface="Outfit"/>
                <a:ea typeface="Outfit"/>
                <a:cs typeface="Outfit"/>
                <a:sym typeface="Outfit"/>
              </a:rPr>
              <a:t>Confidential &amp; Proprietary  |  © 2026 JazzX AI    </a:t>
            </a:r>
            <a:fld id="{00000000-1234-1234-1234-123412341234}" type="slidenum">
              <a:rPr lang="en-US" sz="1000" b="0" i="0" u="none" strike="noStrike" cap="none">
                <a:solidFill>
                  <a:schemeClr val="lt1"/>
                </a:solidFill>
                <a:latin typeface="Outfit"/>
                <a:ea typeface="Outfit"/>
                <a:cs typeface="Outfit"/>
                <a:sym typeface="Outfit"/>
              </a:rPr>
              <a:t>‹#›</a:t>
            </a:fld>
            <a:r>
              <a:rPr lang="en-US" sz="1000" b="0" i="0" u="none" strike="noStrike" cap="none">
                <a:solidFill>
                  <a:schemeClr val="lt1"/>
                </a:solidFill>
                <a:latin typeface="Outfit"/>
                <a:ea typeface="Outfit"/>
                <a:cs typeface="Outfit"/>
                <a:sym typeface="Outfit"/>
              </a:rPr>
              <a:t> </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435909524"/>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1_Right Photo Divider">
  <p:cSld name="1_Right Photo Divider">
    <p:spTree>
      <p:nvGrpSpPr>
        <p:cNvPr id="1" name="Shape 99"/>
        <p:cNvGrpSpPr/>
        <p:nvPr/>
      </p:nvGrpSpPr>
      <p:grpSpPr>
        <a:xfrm>
          <a:off x="0" y="0"/>
          <a:ext cx="0" cy="0"/>
          <a:chOff x="0" y="0"/>
          <a:chExt cx="0" cy="0"/>
        </a:xfrm>
      </p:grpSpPr>
      <p:sp>
        <p:nvSpPr>
          <p:cNvPr id="100" name="Google Shape;100;p64"/>
          <p:cNvSpPr/>
          <p:nvPr/>
        </p:nvSpPr>
        <p:spPr>
          <a:xfrm>
            <a:off x="0" y="313442"/>
            <a:ext cx="7221891" cy="6544558"/>
          </a:xfrm>
          <a:prstGeom prst="snip1Rect">
            <a:avLst>
              <a:gd name="adj" fmla="val 16667"/>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101" name="Google Shape;101;p64"/>
          <p:cNvSpPr txBox="1">
            <a:spLocks noGrp="1"/>
          </p:cNvSpPr>
          <p:nvPr>
            <p:ph type="ctrTitle"/>
          </p:nvPr>
        </p:nvSpPr>
        <p:spPr>
          <a:xfrm>
            <a:off x="716639" y="644578"/>
            <a:ext cx="5296234" cy="2169825"/>
          </a:xfrm>
          <a:prstGeom prst="rect">
            <a:avLst/>
          </a:prstGeom>
          <a:noFill/>
          <a:ln>
            <a:noFill/>
          </a:ln>
        </p:spPr>
        <p:txBody>
          <a:bodyPr spcFirstLastPara="1" wrap="square" lIns="91425" tIns="45700" rIns="91425" bIns="45700" anchor="b" anchorCtr="0">
            <a:spAutoFit/>
          </a:bodyPr>
          <a:lstStyle>
            <a:lvl1pPr marR="0" lvl="0" algn="l" rtl="0">
              <a:lnSpc>
                <a:spcPct val="90000"/>
              </a:lnSpc>
              <a:spcBef>
                <a:spcPts val="0"/>
              </a:spcBef>
              <a:spcAft>
                <a:spcPts val="0"/>
              </a:spcAft>
              <a:buClr>
                <a:schemeClr val="lt1"/>
              </a:buClr>
              <a:buSzPts val="5000"/>
              <a:buFont typeface="Outfit"/>
              <a:buNone/>
              <a:defRPr sz="50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2" name="Google Shape;102;p64"/>
          <p:cNvSpPr txBox="1">
            <a:spLocks noGrp="1"/>
          </p:cNvSpPr>
          <p:nvPr>
            <p:ph type="subTitle" idx="1"/>
          </p:nvPr>
        </p:nvSpPr>
        <p:spPr>
          <a:xfrm>
            <a:off x="716639" y="3114340"/>
            <a:ext cx="5296234" cy="1116203"/>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1000"/>
              </a:spcBef>
              <a:spcAft>
                <a:spcPts val="0"/>
              </a:spcAft>
              <a:buClr>
                <a:schemeClr val="lt1"/>
              </a:buClr>
              <a:buSzPts val="2400"/>
              <a:buFont typeface="Arial"/>
              <a:buNone/>
              <a:defRPr sz="2400" b="0" i="0" u="none" strike="noStrike" cap="none">
                <a:solidFill>
                  <a:schemeClr val="lt1"/>
                </a:solidFill>
                <a:latin typeface="Outfit"/>
                <a:ea typeface="Outfit"/>
                <a:cs typeface="Outfit"/>
                <a:sym typeface="Outfit"/>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03" name="Google Shape;103;p64"/>
          <p:cNvSpPr txBox="1">
            <a:spLocks noGrp="1"/>
          </p:cNvSpPr>
          <p:nvPr>
            <p:ph type="body" idx="2"/>
          </p:nvPr>
        </p:nvSpPr>
        <p:spPr>
          <a:xfrm>
            <a:off x="716639" y="5467440"/>
            <a:ext cx="2212358" cy="341632"/>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1800"/>
              <a:buFont typeface="Arial"/>
              <a:buNone/>
              <a:defRPr sz="1800" b="0" i="0" u="none" strike="noStrike" cap="none">
                <a:solidFill>
                  <a:schemeClr val="lt1"/>
                </a:solidFill>
                <a:latin typeface="Outfit"/>
                <a:ea typeface="Outfit"/>
                <a:cs typeface="Outfit"/>
                <a:sym typeface="Outfi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04" name="Google Shape;104;p64"/>
          <p:cNvSpPr txBox="1">
            <a:spLocks noGrp="1"/>
          </p:cNvSpPr>
          <p:nvPr>
            <p:ph type="body" idx="3"/>
          </p:nvPr>
        </p:nvSpPr>
        <p:spPr>
          <a:xfrm>
            <a:off x="716639" y="5942212"/>
            <a:ext cx="2212358" cy="341632"/>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1800"/>
              <a:buFont typeface="Arial"/>
              <a:buNone/>
              <a:defRPr sz="1800" b="0" i="0" u="none" strike="noStrike" cap="none">
                <a:solidFill>
                  <a:schemeClr val="lt1"/>
                </a:solidFill>
                <a:latin typeface="Outfit"/>
                <a:ea typeface="Outfit"/>
                <a:cs typeface="Outfit"/>
                <a:sym typeface="Outfit"/>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Arial"/>
                <a:ea typeface="Arial"/>
                <a:cs typeface="Arial"/>
                <a:sym typeface="Arial"/>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pic>
        <p:nvPicPr>
          <p:cNvPr id="105" name="Google Shape;105;p64"/>
          <p:cNvPicPr preferRelativeResize="0"/>
          <p:nvPr/>
        </p:nvPicPr>
        <p:blipFill rotWithShape="1">
          <a:blip r:embed="rId2">
            <a:alphaModFix/>
          </a:blip>
          <a:srcRect/>
          <a:stretch/>
        </p:blipFill>
        <p:spPr>
          <a:xfrm>
            <a:off x="748643" y="4771309"/>
            <a:ext cx="2352368" cy="475686"/>
          </a:xfrm>
          <a:prstGeom prst="rect">
            <a:avLst/>
          </a:prstGeom>
          <a:noFill/>
          <a:ln>
            <a:noFill/>
          </a:ln>
        </p:spPr>
      </p:pic>
    </p:spTree>
    <p:extLst>
      <p:ext uri="{BB962C8B-B14F-4D97-AF65-F5344CB8AC3E}">
        <p14:creationId xmlns:p14="http://schemas.microsoft.com/office/powerpoint/2010/main" val="1859074946"/>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2_Title Slide">
  <p:cSld name="2_Title Slide">
    <p:bg>
      <p:bgPr>
        <a:blipFill>
          <a:blip r:embed="rId2">
            <a:alphaModFix/>
          </a:blip>
          <a:stretch>
            <a:fillRect/>
          </a:stretch>
        </a:blipFill>
        <a:effectLst/>
      </p:bgPr>
    </p:bg>
    <p:spTree>
      <p:nvGrpSpPr>
        <p:cNvPr id="1" name="Shape 106"/>
        <p:cNvGrpSpPr/>
        <p:nvPr/>
      </p:nvGrpSpPr>
      <p:grpSpPr>
        <a:xfrm>
          <a:off x="0" y="0"/>
          <a:ext cx="0" cy="0"/>
          <a:chOff x="0" y="0"/>
          <a:chExt cx="0" cy="0"/>
        </a:xfrm>
      </p:grpSpPr>
      <p:sp>
        <p:nvSpPr>
          <p:cNvPr id="107" name="Google Shape;107;p65"/>
          <p:cNvSpPr txBox="1">
            <a:spLocks noGrp="1"/>
          </p:cNvSpPr>
          <p:nvPr>
            <p:ph type="title"/>
          </p:nvPr>
        </p:nvSpPr>
        <p:spPr>
          <a:xfrm>
            <a:off x="403633" y="528608"/>
            <a:ext cx="11345023" cy="538417"/>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3200"/>
              <a:buFont typeface="Outfit"/>
              <a:buNone/>
              <a:defRPr sz="32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08" name="Google Shape;108;p65"/>
          <p:cNvSpPr txBox="1">
            <a:spLocks noGrp="1"/>
          </p:cNvSpPr>
          <p:nvPr>
            <p:ph type="body" idx="1"/>
          </p:nvPr>
        </p:nvSpPr>
        <p:spPr>
          <a:xfrm>
            <a:off x="403633" y="1828800"/>
            <a:ext cx="11345022" cy="4500591"/>
          </a:xfrm>
          <a:prstGeom prst="rect">
            <a:avLst/>
          </a:prstGeom>
          <a:noFill/>
          <a:ln>
            <a:noFill/>
          </a:ln>
        </p:spPr>
        <p:txBody>
          <a:bodyPr spcFirstLastPara="1" wrap="square" lIns="91425" tIns="45700" rIns="91425" bIns="45700" anchor="t" anchorCtr="0">
            <a:normAutofit/>
          </a:bodyPr>
          <a:lstStyle>
            <a:lvl1pPr marL="457200" marR="0" lvl="0" indent="-342900" algn="l" rtl="0">
              <a:lnSpc>
                <a:spcPct val="90000"/>
              </a:lnSpc>
              <a:spcBef>
                <a:spcPts val="1000"/>
              </a:spcBef>
              <a:spcAft>
                <a:spcPts val="0"/>
              </a:spcAft>
              <a:buClr>
                <a:schemeClr val="accent1"/>
              </a:buClr>
              <a:buSzPts val="1800"/>
              <a:buFont typeface="Arial"/>
              <a:buChar char="•"/>
              <a:defRPr sz="18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accent1"/>
              </a:buClr>
              <a:buSzPts val="1800"/>
              <a:buFont typeface="Arial"/>
              <a:buChar char="•"/>
              <a:defRPr sz="1800" b="0" i="0" u="none" strike="noStrike" cap="none">
                <a:solidFill>
                  <a:schemeClr val="lt1"/>
                </a:solidFill>
                <a:latin typeface="Outfit"/>
                <a:ea typeface="Outfit"/>
                <a:cs typeface="Outfit"/>
                <a:sym typeface="Outfit"/>
              </a:defRPr>
            </a:lvl2pPr>
            <a:lvl3pPr marL="1371600" marR="0" lvl="2" indent="-342900" algn="l" rtl="0">
              <a:lnSpc>
                <a:spcPct val="90000"/>
              </a:lnSpc>
              <a:spcBef>
                <a:spcPts val="500"/>
              </a:spcBef>
              <a:spcAft>
                <a:spcPts val="0"/>
              </a:spcAft>
              <a:buClr>
                <a:schemeClr val="accent1"/>
              </a:buClr>
              <a:buSzPts val="1800"/>
              <a:buFont typeface="Arial"/>
              <a:buChar char="•"/>
              <a:defRPr sz="1800" b="0" i="0" u="none" strike="noStrike" cap="none">
                <a:solidFill>
                  <a:schemeClr val="lt1"/>
                </a:solidFill>
                <a:latin typeface="Outfit"/>
                <a:ea typeface="Outfit"/>
                <a:cs typeface="Outfit"/>
                <a:sym typeface="Outfit"/>
              </a:defRPr>
            </a:lvl3pPr>
            <a:lvl4pPr marL="1828800" marR="0" lvl="3" indent="-342900" algn="l" rtl="0">
              <a:lnSpc>
                <a:spcPct val="90000"/>
              </a:lnSpc>
              <a:spcBef>
                <a:spcPts val="500"/>
              </a:spcBef>
              <a:spcAft>
                <a:spcPts val="0"/>
              </a:spcAft>
              <a:buClr>
                <a:schemeClr val="accent1"/>
              </a:buClr>
              <a:buSzPts val="1800"/>
              <a:buFont typeface="Arial"/>
              <a:buChar char="•"/>
              <a:defRPr sz="1800" b="0" i="0" u="none" strike="noStrike" cap="none">
                <a:solidFill>
                  <a:schemeClr val="lt1"/>
                </a:solidFill>
                <a:latin typeface="Outfit"/>
                <a:ea typeface="Outfit"/>
                <a:cs typeface="Outfit"/>
                <a:sym typeface="Outfit"/>
              </a:defRPr>
            </a:lvl4pPr>
            <a:lvl5pPr marL="2286000" marR="0" lvl="4" indent="-342900" algn="l" rtl="0">
              <a:lnSpc>
                <a:spcPct val="90000"/>
              </a:lnSpc>
              <a:spcBef>
                <a:spcPts val="500"/>
              </a:spcBef>
              <a:spcAft>
                <a:spcPts val="0"/>
              </a:spcAft>
              <a:buClr>
                <a:schemeClr val="accent1"/>
              </a:buClr>
              <a:buSzPts val="1800"/>
              <a:buFont typeface="Arial"/>
              <a:buChar char="•"/>
              <a:defRPr sz="1800" b="0" i="0" u="none" strike="noStrike" cap="none">
                <a:solidFill>
                  <a:schemeClr val="lt1"/>
                </a:solidFill>
                <a:latin typeface="Outfit"/>
                <a:ea typeface="Outfit"/>
                <a:cs typeface="Outfit"/>
                <a:sym typeface="Outfit"/>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09" name="Google Shape;109;p65"/>
          <p:cNvSpPr txBox="1">
            <a:spLocks noGrp="1"/>
          </p:cNvSpPr>
          <p:nvPr>
            <p:ph type="body" idx="2"/>
          </p:nvPr>
        </p:nvSpPr>
        <p:spPr>
          <a:xfrm>
            <a:off x="415434" y="1090046"/>
            <a:ext cx="11391611" cy="411163"/>
          </a:xfrm>
          <a:prstGeom prst="rect">
            <a:avLst/>
          </a:prstGeom>
          <a:noFill/>
          <a:ln>
            <a:noFill/>
          </a:ln>
        </p:spPr>
        <p:txBody>
          <a:bodyPr spcFirstLastPara="1" wrap="square" lIns="91425" tIns="45700" rIns="91425" bIns="45700" anchor="t" anchorCtr="0">
            <a:noAutofit/>
          </a:bodyPr>
          <a:lstStyle>
            <a:lvl1pPr marL="457200" marR="0" lvl="0" indent="-228600" algn="l" rtl="0">
              <a:lnSpc>
                <a:spcPct val="90000"/>
              </a:lnSpc>
              <a:spcBef>
                <a:spcPts val="1000"/>
              </a:spcBef>
              <a:spcAft>
                <a:spcPts val="0"/>
              </a:spcAft>
              <a:buClr>
                <a:schemeClr val="lt1"/>
              </a:buClr>
              <a:buSzPts val="2000"/>
              <a:buFont typeface="Arial"/>
              <a:buNone/>
              <a:defRPr sz="2000" b="0" i="0" u="none" strike="noStrike" cap="none">
                <a:solidFill>
                  <a:schemeClr val="lt1"/>
                </a:solidFill>
                <a:latin typeface="Outfit"/>
                <a:ea typeface="Outfit"/>
                <a:cs typeface="Outfit"/>
                <a:sym typeface="Outfit"/>
              </a:defRPr>
            </a:lvl1pPr>
            <a:lvl2pPr marL="914400" marR="0" lvl="1"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2pPr>
            <a:lvl3pPr marL="1371600" marR="0" lvl="2"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3pPr>
            <a:lvl4pPr marL="1828800" marR="0" lvl="3"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4pPr>
            <a:lvl5pPr marL="2286000" marR="0" lvl="4" indent="-330200" algn="l" rtl="0">
              <a:lnSpc>
                <a:spcPct val="90000"/>
              </a:lnSpc>
              <a:spcBef>
                <a:spcPts val="500"/>
              </a:spcBef>
              <a:spcAft>
                <a:spcPts val="0"/>
              </a:spcAft>
              <a:buClr>
                <a:schemeClr val="dk1"/>
              </a:buClr>
              <a:buSzPts val="1600"/>
              <a:buFont typeface="Arial"/>
              <a:buChar char="•"/>
              <a:defRPr sz="16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346733322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3_Custom Layout">
  <p:cSld name="3_Custom Layout">
    <p:spTree>
      <p:nvGrpSpPr>
        <p:cNvPr id="1" name="Shape 110"/>
        <p:cNvGrpSpPr/>
        <p:nvPr/>
      </p:nvGrpSpPr>
      <p:grpSpPr>
        <a:xfrm>
          <a:off x="0" y="0"/>
          <a:ext cx="0" cy="0"/>
          <a:chOff x="0" y="0"/>
          <a:chExt cx="0" cy="0"/>
        </a:xfrm>
      </p:grpSpPr>
      <p:sp>
        <p:nvSpPr>
          <p:cNvPr id="111" name="Google Shape;111;p66"/>
          <p:cNvSpPr/>
          <p:nvPr/>
        </p:nvSpPr>
        <p:spPr>
          <a:xfrm>
            <a:off x="0" y="313442"/>
            <a:ext cx="7221891" cy="6544558"/>
          </a:xfrm>
          <a:prstGeom prst="snip1Rect">
            <a:avLst>
              <a:gd name="adj" fmla="val 16667"/>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112" name="Google Shape;112;p66"/>
          <p:cNvSpPr txBox="1">
            <a:spLocks noGrp="1"/>
          </p:cNvSpPr>
          <p:nvPr>
            <p:ph type="title"/>
          </p:nvPr>
        </p:nvSpPr>
        <p:spPr>
          <a:xfrm>
            <a:off x="740331" y="2231056"/>
            <a:ext cx="4662942" cy="1481752"/>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5000"/>
              <a:buFont typeface="Outfit"/>
              <a:buNone/>
              <a:defRPr sz="50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3" name="Google Shape;113;p66"/>
          <p:cNvSpPr txBox="1">
            <a:spLocks noGrp="1"/>
          </p:cNvSpPr>
          <p:nvPr>
            <p:ph type="body" idx="1"/>
          </p:nvPr>
        </p:nvSpPr>
        <p:spPr>
          <a:xfrm>
            <a:off x="740330" y="4196232"/>
            <a:ext cx="3838487" cy="371127"/>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2000"/>
              <a:buFont typeface="Arial"/>
              <a:buNone/>
              <a:defRPr sz="20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14" name="Google Shape;114;p66"/>
          <p:cNvSpPr txBox="1">
            <a:spLocks noGrp="1"/>
          </p:cNvSpPr>
          <p:nvPr>
            <p:ph type="body" idx="2"/>
          </p:nvPr>
        </p:nvSpPr>
        <p:spPr>
          <a:xfrm>
            <a:off x="7613182" y="4196232"/>
            <a:ext cx="3838487" cy="1323439"/>
          </a:xfrm>
          <a:prstGeom prst="rect">
            <a:avLst/>
          </a:prstGeom>
          <a:noFill/>
          <a:ln>
            <a:noFill/>
          </a:ln>
        </p:spPr>
        <p:txBody>
          <a:bodyPr spcFirstLastPara="1" wrap="square" lIns="91425" tIns="45700" rIns="91425" bIns="45700" anchor="t" anchorCtr="0">
            <a:spAutoFit/>
          </a:bodyPr>
          <a:lstStyle>
            <a:lvl1pPr marL="457200" marR="0" lvl="0" indent="-228600" algn="l" rtl="0">
              <a:lnSpc>
                <a:spcPct val="100000"/>
              </a:lnSpc>
              <a:spcBef>
                <a:spcPts val="1000"/>
              </a:spcBef>
              <a:spcAft>
                <a:spcPts val="0"/>
              </a:spcAft>
              <a:buClr>
                <a:schemeClr val="lt1"/>
              </a:buClr>
              <a:buSzPts val="4000"/>
              <a:buFont typeface="Arial"/>
              <a:buNone/>
              <a:defRPr sz="40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pic>
        <p:nvPicPr>
          <p:cNvPr id="115" name="Google Shape;115;p66"/>
          <p:cNvPicPr preferRelativeResize="0"/>
          <p:nvPr/>
        </p:nvPicPr>
        <p:blipFill rotWithShape="1">
          <a:blip r:embed="rId2">
            <a:alphaModFix/>
          </a:blip>
          <a:srcRect/>
          <a:stretch/>
        </p:blipFill>
        <p:spPr>
          <a:xfrm>
            <a:off x="149464" y="6523642"/>
            <a:ext cx="999086" cy="202031"/>
          </a:xfrm>
          <a:prstGeom prst="rect">
            <a:avLst/>
          </a:prstGeom>
          <a:noFill/>
          <a:ln>
            <a:noFill/>
          </a:ln>
        </p:spPr>
      </p:pic>
    </p:spTree>
    <p:extLst>
      <p:ext uri="{BB962C8B-B14F-4D97-AF65-F5344CB8AC3E}">
        <p14:creationId xmlns:p14="http://schemas.microsoft.com/office/powerpoint/2010/main" val="54754571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Custom Layout">
  <p:cSld name="Custom Layout">
    <p:spTree>
      <p:nvGrpSpPr>
        <p:cNvPr id="1" name="Shape 116"/>
        <p:cNvGrpSpPr/>
        <p:nvPr/>
      </p:nvGrpSpPr>
      <p:grpSpPr>
        <a:xfrm>
          <a:off x="0" y="0"/>
          <a:ext cx="0" cy="0"/>
          <a:chOff x="0" y="0"/>
          <a:chExt cx="0" cy="0"/>
        </a:xfrm>
      </p:grpSpPr>
      <p:sp>
        <p:nvSpPr>
          <p:cNvPr id="117" name="Google Shape;117;p67"/>
          <p:cNvSpPr/>
          <p:nvPr/>
        </p:nvSpPr>
        <p:spPr>
          <a:xfrm>
            <a:off x="0" y="424206"/>
            <a:ext cx="7221891" cy="5854046"/>
          </a:xfrm>
          <a:prstGeom prst="snip1Rect">
            <a:avLst>
              <a:gd name="adj" fmla="val 16667"/>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118" name="Google Shape;118;p67"/>
          <p:cNvSpPr txBox="1">
            <a:spLocks noGrp="1"/>
          </p:cNvSpPr>
          <p:nvPr>
            <p:ph type="title"/>
          </p:nvPr>
        </p:nvSpPr>
        <p:spPr>
          <a:xfrm>
            <a:off x="740331" y="2137848"/>
            <a:ext cx="4662942" cy="2174250"/>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5000"/>
              <a:buFont typeface="Outfit"/>
              <a:buNone/>
              <a:defRPr sz="50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9" name="Google Shape;119;p67"/>
          <p:cNvSpPr txBox="1">
            <a:spLocks noGrp="1"/>
          </p:cNvSpPr>
          <p:nvPr>
            <p:ph type="body" idx="1"/>
          </p:nvPr>
        </p:nvSpPr>
        <p:spPr>
          <a:xfrm>
            <a:off x="740331" y="1646858"/>
            <a:ext cx="4662942" cy="424732"/>
          </a:xfrm>
          <a:prstGeom prst="rect">
            <a:avLst/>
          </a:prstGeom>
          <a:noFill/>
          <a:ln>
            <a:noFill/>
          </a:ln>
        </p:spPr>
        <p:txBody>
          <a:bodyPr spcFirstLastPara="1" wrap="square" lIns="91425" tIns="45700" rIns="91425" bIns="45700" anchor="b" anchorCtr="0">
            <a:spAutoFit/>
          </a:bodyPr>
          <a:lstStyle>
            <a:lvl1pPr marL="457200" marR="0" lvl="0" indent="-228600" algn="l" rtl="0">
              <a:lnSpc>
                <a:spcPct val="90000"/>
              </a:lnSpc>
              <a:spcBef>
                <a:spcPts val="1000"/>
              </a:spcBef>
              <a:spcAft>
                <a:spcPts val="0"/>
              </a:spcAft>
              <a:buClr>
                <a:srgbClr val="FF592D"/>
              </a:buClr>
              <a:buSzPts val="2400"/>
              <a:buFont typeface="Arial"/>
              <a:buNone/>
              <a:defRPr sz="2400" b="0" i="0" u="none" strike="noStrike" cap="none">
                <a:solidFill>
                  <a:srgbClr val="FF592D"/>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0" name="Google Shape;120;p67"/>
          <p:cNvSpPr txBox="1">
            <a:spLocks noGrp="1"/>
          </p:cNvSpPr>
          <p:nvPr>
            <p:ph type="body" idx="2"/>
          </p:nvPr>
        </p:nvSpPr>
        <p:spPr>
          <a:xfrm>
            <a:off x="740330" y="4977633"/>
            <a:ext cx="3838487" cy="371127"/>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2000"/>
              <a:buFont typeface="Arial"/>
              <a:buNone/>
              <a:defRPr sz="20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49254183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2_Custom Layout">
  <p:cSld name="2_Custom Layout">
    <p:spTree>
      <p:nvGrpSpPr>
        <p:cNvPr id="1" name="Shape 121"/>
        <p:cNvGrpSpPr/>
        <p:nvPr/>
      </p:nvGrpSpPr>
      <p:grpSpPr>
        <a:xfrm>
          <a:off x="0" y="0"/>
          <a:ext cx="0" cy="0"/>
          <a:chOff x="0" y="0"/>
          <a:chExt cx="0" cy="0"/>
        </a:xfrm>
      </p:grpSpPr>
      <p:sp>
        <p:nvSpPr>
          <p:cNvPr id="122" name="Google Shape;122;p68"/>
          <p:cNvSpPr/>
          <p:nvPr/>
        </p:nvSpPr>
        <p:spPr>
          <a:xfrm flipH="1">
            <a:off x="4675694" y="424206"/>
            <a:ext cx="7516305" cy="5854046"/>
          </a:xfrm>
          <a:prstGeom prst="snip1Rect">
            <a:avLst>
              <a:gd name="adj" fmla="val 16667"/>
            </a:avLst>
          </a:prstGeom>
          <a:solidFill>
            <a:schemeClr val="accent3"/>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sp>
        <p:nvSpPr>
          <p:cNvPr id="123" name="Google Shape;123;p68"/>
          <p:cNvSpPr txBox="1">
            <a:spLocks noGrp="1"/>
          </p:cNvSpPr>
          <p:nvPr>
            <p:ph type="title"/>
          </p:nvPr>
        </p:nvSpPr>
        <p:spPr>
          <a:xfrm>
            <a:off x="5745187" y="2137848"/>
            <a:ext cx="5632760" cy="1477328"/>
          </a:xfrm>
          <a:prstGeom prst="rect">
            <a:avLst/>
          </a:prstGeom>
          <a:noFill/>
          <a:ln>
            <a:noFill/>
          </a:ln>
        </p:spPr>
        <p:txBody>
          <a:bodyPr spcFirstLastPara="1" wrap="square" lIns="91425" tIns="45700" rIns="91425" bIns="45700" anchor="t" anchorCtr="0">
            <a:spAutoFit/>
          </a:bodyPr>
          <a:lstStyle>
            <a:lvl1pPr marR="0" lvl="0" algn="l" rtl="0">
              <a:lnSpc>
                <a:spcPct val="90000"/>
              </a:lnSpc>
              <a:spcBef>
                <a:spcPts val="0"/>
              </a:spcBef>
              <a:spcAft>
                <a:spcPts val="0"/>
              </a:spcAft>
              <a:buClr>
                <a:schemeClr val="lt1"/>
              </a:buClr>
              <a:buSzPts val="5000"/>
              <a:buFont typeface="Outfit"/>
              <a:buNone/>
              <a:defRPr sz="50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4" name="Google Shape;124;p68"/>
          <p:cNvSpPr txBox="1">
            <a:spLocks noGrp="1"/>
          </p:cNvSpPr>
          <p:nvPr>
            <p:ph type="body" idx="1"/>
          </p:nvPr>
        </p:nvSpPr>
        <p:spPr>
          <a:xfrm>
            <a:off x="5745187" y="1646858"/>
            <a:ext cx="5632760" cy="424732"/>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rgbClr val="FF592D"/>
              </a:buClr>
              <a:buSzPts val="2400"/>
              <a:buFont typeface="Arial"/>
              <a:buNone/>
              <a:defRPr sz="2400" b="0" i="0" u="none" strike="noStrike" cap="none">
                <a:solidFill>
                  <a:srgbClr val="FF592D"/>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5" name="Google Shape;125;p68"/>
          <p:cNvSpPr txBox="1">
            <a:spLocks noGrp="1"/>
          </p:cNvSpPr>
          <p:nvPr>
            <p:ph type="body" idx="2"/>
          </p:nvPr>
        </p:nvSpPr>
        <p:spPr>
          <a:xfrm>
            <a:off x="5745186" y="4472479"/>
            <a:ext cx="5703731" cy="313932"/>
          </a:xfrm>
          <a:prstGeom prst="rect">
            <a:avLst/>
          </a:prstGeom>
          <a:noFill/>
          <a:ln>
            <a:noFill/>
          </a:ln>
        </p:spPr>
        <p:txBody>
          <a:bodyPr spcFirstLastPara="1" wrap="square" lIns="91425" tIns="45700" rIns="91425" bIns="45700" anchor="t" anchorCtr="0">
            <a:spAutoFit/>
          </a:bodyPr>
          <a:lstStyle>
            <a:lvl1pPr marL="457200" marR="0" lvl="0" indent="-228600" algn="l" rtl="0">
              <a:lnSpc>
                <a:spcPct val="90000"/>
              </a:lnSpc>
              <a:spcBef>
                <a:spcPts val="1000"/>
              </a:spcBef>
              <a:spcAft>
                <a:spcPts val="0"/>
              </a:spcAft>
              <a:buClr>
                <a:schemeClr val="lt1"/>
              </a:buClr>
              <a:buSzPts val="1600"/>
              <a:buFont typeface="Arial"/>
              <a:buNone/>
              <a:defRPr sz="16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26" name="Google Shape;126;p68"/>
          <p:cNvSpPr txBox="1"/>
          <p:nvPr/>
        </p:nvSpPr>
        <p:spPr>
          <a:xfrm>
            <a:off x="9036283" y="6526817"/>
            <a:ext cx="3096084" cy="246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000"/>
              <a:buFont typeface="Outfit"/>
              <a:buNone/>
            </a:pPr>
            <a:r>
              <a:rPr lang="en-US" sz="1000" b="0" i="0" u="none" strike="noStrike" cap="none">
                <a:solidFill>
                  <a:schemeClr val="lt1"/>
                </a:solidFill>
                <a:latin typeface="Outfit"/>
                <a:ea typeface="Outfit"/>
                <a:cs typeface="Outfit"/>
                <a:sym typeface="Outfit"/>
              </a:rPr>
              <a:t>Confidential &amp; Proprietary  |  © 2026 JazzX AI    </a:t>
            </a:r>
            <a:fld id="{00000000-1234-1234-1234-123412341234}" type="slidenum">
              <a:rPr lang="en-US" sz="1000" b="0" i="0" u="none" strike="noStrike" cap="none">
                <a:solidFill>
                  <a:schemeClr val="lt1"/>
                </a:solidFill>
                <a:latin typeface="Outfit"/>
                <a:ea typeface="Outfit"/>
                <a:cs typeface="Outfit"/>
                <a:sym typeface="Outfit"/>
              </a:rPr>
              <a:t>‹#›</a:t>
            </a:fld>
            <a:r>
              <a:rPr lang="en-US" sz="1000" b="0" i="0" u="none" strike="noStrike" cap="none">
                <a:solidFill>
                  <a:schemeClr val="lt1"/>
                </a:solidFill>
                <a:latin typeface="Outfit"/>
                <a:ea typeface="Outfit"/>
                <a:cs typeface="Outfit"/>
                <a:sym typeface="Outfit"/>
              </a:rPr>
              <a:t> </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01701505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5_Custom Layout">
  <p:cSld name="5_Custom Layout">
    <p:spTree>
      <p:nvGrpSpPr>
        <p:cNvPr id="1" name="Shape 127"/>
        <p:cNvGrpSpPr/>
        <p:nvPr/>
      </p:nvGrpSpPr>
      <p:grpSpPr>
        <a:xfrm>
          <a:off x="0" y="0"/>
          <a:ext cx="0" cy="0"/>
          <a:chOff x="0" y="0"/>
          <a:chExt cx="0" cy="0"/>
        </a:xfrm>
      </p:grpSpPr>
      <p:sp>
        <p:nvSpPr>
          <p:cNvPr id="128" name="Google Shape;128;p69"/>
          <p:cNvSpPr txBox="1">
            <a:spLocks noGrp="1"/>
          </p:cNvSpPr>
          <p:nvPr>
            <p:ph type="title"/>
          </p:nvPr>
        </p:nvSpPr>
        <p:spPr>
          <a:xfrm>
            <a:off x="2927223" y="2296609"/>
            <a:ext cx="5840594" cy="1481752"/>
          </a:xfrm>
          <a:prstGeom prst="rect">
            <a:avLst/>
          </a:prstGeom>
          <a:noFill/>
          <a:ln>
            <a:noFill/>
          </a:ln>
        </p:spPr>
        <p:txBody>
          <a:bodyPr spcFirstLastPara="1" wrap="square" lIns="91425" tIns="45700" rIns="91425" bIns="45700" anchor="t" anchorCtr="0">
            <a:spAutoFit/>
          </a:bodyPr>
          <a:lstStyle>
            <a:lvl1pPr marR="0" lvl="0" algn="ctr" rtl="0">
              <a:lnSpc>
                <a:spcPct val="90000"/>
              </a:lnSpc>
              <a:spcBef>
                <a:spcPts val="0"/>
              </a:spcBef>
              <a:spcAft>
                <a:spcPts val="0"/>
              </a:spcAft>
              <a:buClr>
                <a:schemeClr val="lt1"/>
              </a:buClr>
              <a:buSzPts val="5000"/>
              <a:buFont typeface="Outfit"/>
              <a:buNone/>
              <a:defRPr sz="5000" b="1" i="0" u="none" strike="noStrike" cap="none">
                <a:solidFill>
                  <a:schemeClr val="lt1"/>
                </a:solidFill>
                <a:latin typeface="Outfit"/>
                <a:ea typeface="Outfit"/>
                <a:cs typeface="Outfit"/>
                <a:sym typeface="Outfit"/>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9" name="Google Shape;129;p69"/>
          <p:cNvSpPr txBox="1">
            <a:spLocks noGrp="1"/>
          </p:cNvSpPr>
          <p:nvPr>
            <p:ph type="body" idx="1"/>
          </p:nvPr>
        </p:nvSpPr>
        <p:spPr>
          <a:xfrm>
            <a:off x="2927223" y="1805619"/>
            <a:ext cx="5840594" cy="424732"/>
          </a:xfrm>
          <a:prstGeom prst="rect">
            <a:avLst/>
          </a:prstGeom>
          <a:noFill/>
          <a:ln>
            <a:noFill/>
          </a:ln>
        </p:spPr>
        <p:txBody>
          <a:bodyPr spcFirstLastPara="1" wrap="square" lIns="91425" tIns="45700" rIns="91425" bIns="45700" anchor="b" anchorCtr="0">
            <a:spAutoFit/>
          </a:bodyPr>
          <a:lstStyle>
            <a:lvl1pPr marL="457200" marR="0" lvl="0" indent="-228600" algn="ctr" rtl="0">
              <a:lnSpc>
                <a:spcPct val="90000"/>
              </a:lnSpc>
              <a:spcBef>
                <a:spcPts val="1000"/>
              </a:spcBef>
              <a:spcAft>
                <a:spcPts val="0"/>
              </a:spcAft>
              <a:buClr>
                <a:srgbClr val="FF592D"/>
              </a:buClr>
              <a:buSzPts val="2400"/>
              <a:buFont typeface="Arial"/>
              <a:buNone/>
              <a:defRPr sz="2400" b="0" i="0" u="none" strike="noStrike" cap="none">
                <a:solidFill>
                  <a:srgbClr val="FF592D"/>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
        <p:nvSpPr>
          <p:cNvPr id="130" name="Google Shape;130;p69"/>
          <p:cNvSpPr txBox="1">
            <a:spLocks noGrp="1"/>
          </p:cNvSpPr>
          <p:nvPr>
            <p:ph type="body" idx="2"/>
          </p:nvPr>
        </p:nvSpPr>
        <p:spPr>
          <a:xfrm>
            <a:off x="3851276" y="4472479"/>
            <a:ext cx="3838487" cy="371127"/>
          </a:xfrm>
          <a:prstGeom prst="rect">
            <a:avLst/>
          </a:prstGeom>
          <a:noFill/>
          <a:ln>
            <a:noFill/>
          </a:ln>
        </p:spPr>
        <p:txBody>
          <a:bodyPr spcFirstLastPara="1" wrap="square" lIns="91425" tIns="45700" rIns="91425" bIns="45700" anchor="t" anchorCtr="0">
            <a:spAutoFit/>
          </a:bodyPr>
          <a:lstStyle>
            <a:lvl1pPr marL="457200" marR="0" lvl="0" indent="-228600" algn="ctr" rtl="0">
              <a:lnSpc>
                <a:spcPct val="90000"/>
              </a:lnSpc>
              <a:spcBef>
                <a:spcPts val="1000"/>
              </a:spcBef>
              <a:spcAft>
                <a:spcPts val="0"/>
              </a:spcAft>
              <a:buClr>
                <a:schemeClr val="lt1"/>
              </a:buClr>
              <a:buSzPts val="2000"/>
              <a:buFont typeface="Arial"/>
              <a:buNone/>
              <a:defRPr sz="2000" b="0" i="0" u="none" strike="noStrike" cap="none">
                <a:solidFill>
                  <a:schemeClr val="lt1"/>
                </a:solidFill>
                <a:latin typeface="Outfit"/>
                <a:ea typeface="Outfit"/>
                <a:cs typeface="Outfit"/>
                <a:sym typeface="Outfit"/>
              </a:defRPr>
            </a:lvl1pPr>
            <a:lvl2pPr marL="914400" marR="0" lvl="1"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9pPr>
          </a:lstStyle>
          <a:p>
            <a:endParaRPr/>
          </a:p>
        </p:txBody>
      </p:sp>
    </p:spTree>
    <p:extLst>
      <p:ext uri="{BB962C8B-B14F-4D97-AF65-F5344CB8AC3E}">
        <p14:creationId xmlns:p14="http://schemas.microsoft.com/office/powerpoint/2010/main" val="12802562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1_Two Content">
  <p:cSld name="1_Two Content">
    <p:spTree>
      <p:nvGrpSpPr>
        <p:cNvPr id="1" name="Shape 131"/>
        <p:cNvGrpSpPr/>
        <p:nvPr/>
      </p:nvGrpSpPr>
      <p:grpSpPr>
        <a:xfrm>
          <a:off x="0" y="0"/>
          <a:ext cx="0" cy="0"/>
          <a:chOff x="0" y="0"/>
          <a:chExt cx="0" cy="0"/>
        </a:xfrm>
      </p:grpSpPr>
    </p:spTree>
    <p:extLst>
      <p:ext uri="{BB962C8B-B14F-4D97-AF65-F5344CB8AC3E}">
        <p14:creationId xmlns:p14="http://schemas.microsoft.com/office/powerpoint/2010/main" val="1556486471"/>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userDrawn="1">
  <p:cSld name="6_Custom Layout">
    <p:spTree>
      <p:nvGrpSpPr>
        <p:cNvPr id="1" name=""/>
        <p:cNvGrpSpPr/>
        <p:nvPr/>
      </p:nvGrpSpPr>
      <p:grpSpPr>
        <a:xfrm>
          <a:off x="0" y="0"/>
          <a:ext cx="0" cy="0"/>
          <a:chOff x="0" y="0"/>
          <a:chExt cx="0" cy="0"/>
        </a:xfrm>
      </p:grpSpPr>
      <p:sp>
        <p:nvSpPr>
          <p:cNvPr id="6" name="Snip Single Corner Rectangle 5">
            <a:extLst>
              <a:ext uri="{FF2B5EF4-FFF2-40B4-BE49-F238E27FC236}">
                <a16:creationId xmlns:a16="http://schemas.microsoft.com/office/drawing/2014/main" id="{4E61F7B3-DF90-D2B6-64CB-9AD2CA42CE64}"/>
              </a:ext>
            </a:extLst>
          </p:cNvPr>
          <p:cNvSpPr/>
          <p:nvPr userDrawn="1"/>
        </p:nvSpPr>
        <p:spPr>
          <a:xfrm>
            <a:off x="0" y="1168026"/>
            <a:ext cx="5382705" cy="4131297"/>
          </a:xfrm>
          <a:prstGeom prst="snip1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b="0" i="0">
              <a:latin typeface="Outfit" pitchFamily="2" charset="0"/>
            </a:endParaRPr>
          </a:p>
        </p:txBody>
      </p:sp>
      <p:sp>
        <p:nvSpPr>
          <p:cNvPr id="2" name="Title 1">
            <a:extLst>
              <a:ext uri="{FF2B5EF4-FFF2-40B4-BE49-F238E27FC236}">
                <a16:creationId xmlns:a16="http://schemas.microsoft.com/office/drawing/2014/main" id="{646DCE05-ECDB-C3F2-D8B1-D09DDE37902C}"/>
              </a:ext>
            </a:extLst>
          </p:cNvPr>
          <p:cNvSpPr>
            <a:spLocks noGrp="1"/>
          </p:cNvSpPr>
          <p:nvPr>
            <p:ph type="title" hasCustomPrompt="1"/>
          </p:nvPr>
        </p:nvSpPr>
        <p:spPr>
          <a:xfrm>
            <a:off x="541815" y="2061572"/>
            <a:ext cx="4292652" cy="1200329"/>
          </a:xfrm>
          <a:prstGeom prst="rect">
            <a:avLst/>
          </a:prstGeom>
          <a:noFill/>
        </p:spPr>
        <p:txBody>
          <a:bodyPr wrap="square" anchor="b">
            <a:spAutoFit/>
          </a:bodyPr>
          <a:lstStyle>
            <a:lvl1pPr>
              <a:defRPr lang="en-US" sz="4000" b="1" dirty="0">
                <a:solidFill>
                  <a:schemeClr val="bg1"/>
                </a:solidFill>
                <a:latin typeface="Outfit" pitchFamily="2" charset="0"/>
                <a:ea typeface="+mn-ea"/>
                <a:cs typeface="Archivo Light" pitchFamily="2" charset="77"/>
              </a:defRPr>
            </a:lvl1pPr>
          </a:lstStyle>
          <a:p>
            <a:pPr marL="0" lvl="0"/>
            <a:r>
              <a:rPr lang="en-US"/>
              <a:t>Click to add slide title</a:t>
            </a:r>
          </a:p>
        </p:txBody>
      </p:sp>
      <p:sp>
        <p:nvSpPr>
          <p:cNvPr id="4" name="TextBox 3">
            <a:extLst>
              <a:ext uri="{FF2B5EF4-FFF2-40B4-BE49-F238E27FC236}">
                <a16:creationId xmlns:a16="http://schemas.microsoft.com/office/drawing/2014/main" id="{B8F35DB2-90B3-B091-05FC-80D1F3959D24}"/>
              </a:ext>
            </a:extLst>
          </p:cNvPr>
          <p:cNvSpPr txBox="1"/>
          <p:nvPr userDrawn="1"/>
        </p:nvSpPr>
        <p:spPr>
          <a:xfrm>
            <a:off x="9036283" y="6526817"/>
            <a:ext cx="3096084"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bg1"/>
                </a:solidFill>
                <a:latin typeface="Outfit" pitchFamily="2" charset="0"/>
                <a:cs typeface="Archivo" pitchFamily="2" charset="0"/>
              </a:rPr>
              <a:t>Confidential &amp; Proprietary  |  © 2026 JazzX AI    </a:t>
            </a:r>
            <a:fld id="{9F90C545-CD09-0447-A167-744DB4FB2CC5}" type="slidenum">
              <a:rPr lang="en-US" sz="1000" b="0" i="0" smtClean="0">
                <a:solidFill>
                  <a:schemeClr val="bg1"/>
                </a:solidFill>
                <a:latin typeface="Outfit" pitchFamily="2" charset="0"/>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000" b="0" i="0">
                <a:solidFill>
                  <a:schemeClr val="bg1"/>
                </a:solidFill>
                <a:latin typeface="Outfit" pitchFamily="2" charset="0"/>
                <a:cs typeface="Archivo" pitchFamily="2" charset="0"/>
              </a:rPr>
              <a:t> </a:t>
            </a:r>
          </a:p>
        </p:txBody>
      </p:sp>
    </p:spTree>
    <p:extLst>
      <p:ext uri="{BB962C8B-B14F-4D97-AF65-F5344CB8AC3E}">
        <p14:creationId xmlns:p14="http://schemas.microsoft.com/office/powerpoint/2010/main" val="741369718"/>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7886859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30885238"/>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JAZZX_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961120" y="6437376"/>
            <a:ext cx="2560320" cy="274320"/>
          </a:xfrm>
          <a:prstGeom prst="rect">
            <a:avLst/>
          </a:prstGeom>
          <a:noFill/>
          <a:ln/>
        </p:spPr>
        <p:txBody>
          <a:bodyPr wrap="square" lIns="0" tIns="0" rIns="0" bIns="0" rtlCol="0" anchor="ctr"/>
          <a:lstStyle/>
          <a:p>
            <a:pPr marL="0" indent="0" algn="l">
              <a:buNone/>
            </a:pPr>
            <a:r>
              <a:rPr lang="en-US" sz="900">
                <a:solidFill>
                  <a:srgbClr val="1B0065"/>
                </a:solidFill>
                <a:latin typeface="Calibri" pitchFamily="34" charset="0"/>
                <a:ea typeface="Calibri" pitchFamily="34" charset="-122"/>
                <a:cs typeface="Calibri" pitchFamily="34" charset="-120"/>
              </a:rPr>
              <a:t>Confidential &amp; Proprietary  |  © 2026 JazzX AI</a:t>
            </a:r>
            <a:endParaRPr lang="en-US" sz="900"/>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rtlCol="0"/>
          <a:lstStyle>
            <a:lvl1pPr marL="0" indent="0" algn="l">
              <a:buNone/>
              <a:defRPr lang="en-US" sz="2600" b="1" dirty="0">
                <a:solidFill>
                  <a:srgbClr val="3600AD"/>
                </a:solidFill>
                <a:latin typeface="Calibri" pitchFamily="34" charset="0"/>
                <a:ea typeface="Calibri" pitchFamily="34" charset="-122"/>
                <a:cs typeface="Calibri" pitchFamily="34" charset="-120"/>
              </a:defRPr>
            </a:lvl1pPr>
          </a:lstStyle>
          <a:p>
            <a:pPr marL="0" indent="0" algn="l">
              <a:buNone/>
            </a:pPr>
            <a:endParaRPr lang="en-US" sz="2600"/>
          </a:p>
        </p:txBody>
      </p:sp>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301420133"/>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JAZZX_DIVIDER">
    <p:bg>
      <p:bgPr>
        <a:solidFill>
          <a:srgbClr val="0D078E"/>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FFFFFF"/>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188824464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1_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598174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1_JAZZX_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8961120" y="6437376"/>
            <a:ext cx="2560320" cy="274320"/>
          </a:xfrm>
          <a:prstGeom prst="rect">
            <a:avLst/>
          </a:prstGeom>
          <a:noFill/>
          <a:ln/>
        </p:spPr>
        <p:txBody>
          <a:bodyPr wrap="square" lIns="0" tIns="0" rIns="0" bIns="0" rtlCol="0" anchor="ctr"/>
          <a:lstStyle/>
          <a:p>
            <a:pPr marL="0" indent="0" algn="l">
              <a:buNone/>
            </a:pPr>
            <a:r>
              <a:rPr lang="en-US" sz="900">
                <a:solidFill>
                  <a:srgbClr val="1B0065"/>
                </a:solidFill>
                <a:latin typeface="Calibri" pitchFamily="34" charset="0"/>
                <a:ea typeface="Calibri" pitchFamily="34" charset="-122"/>
                <a:cs typeface="Calibri" pitchFamily="34" charset="-120"/>
              </a:rPr>
              <a:t>Confidential &amp; Proprietary  |  © 2026 JazzX AI</a:t>
            </a:r>
            <a:endParaRPr lang="en-US" sz="900"/>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rtlCol="0"/>
          <a:lstStyle>
            <a:lvl1pPr marL="0" indent="0" algn="l">
              <a:buNone/>
              <a:defRPr lang="en-US" sz="2600" b="1" dirty="0">
                <a:solidFill>
                  <a:srgbClr val="3600AD"/>
                </a:solidFill>
                <a:latin typeface="Calibri" pitchFamily="34" charset="0"/>
                <a:ea typeface="Calibri" pitchFamily="34" charset="-122"/>
                <a:cs typeface="Calibri" pitchFamily="34" charset="-120"/>
              </a:defRPr>
            </a:lvl1pPr>
          </a:lstStyle>
          <a:p>
            <a:pPr marL="0" indent="0" algn="l">
              <a:buNone/>
            </a:pPr>
            <a:endParaRPr lang="en-US" sz="2600"/>
          </a:p>
        </p:txBody>
      </p:sp>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356714422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1_JAZZX_DIVIDER">
    <p:bg>
      <p:bgPr>
        <a:solidFill>
          <a:srgbClr val="0D078E"/>
        </a:solidFill>
        <a:effectLst/>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FFFFFF"/>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404390859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70000910"/>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 Id="rId16" Type="http://schemas.openxmlformats.org/officeDocument/2006/relationships/image" Target="../media/image1.png"/><Relationship Id="rId17" Type="http://schemas.openxmlformats.org/officeDocument/2006/relationships/image" Target="../media/image2.png"/><Relationship Id="rId18" Type="http://schemas.openxmlformats.org/officeDocument/2006/relationships/image" Target="../media/image3.sv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slideLayout" Target="../slideLayouts/slideLayout16.xml"/><Relationship Id="rId3" Type="http://schemas.openxmlformats.org/officeDocument/2006/relationships/slideLayout" Target="../slideLayouts/slideLayout17.xml"/><Relationship Id="rId4" Type="http://schemas.openxmlformats.org/officeDocument/2006/relationships/slideLayout" Target="../slideLayouts/slideLayout18.xml"/><Relationship Id="rId5" Type="http://schemas.openxmlformats.org/officeDocument/2006/relationships/slideLayout" Target="../slideLayouts/slideLayout19.xml"/><Relationship Id="rId6" Type="http://schemas.openxmlformats.org/officeDocument/2006/relationships/slideLayout" Target="../slideLayouts/slideLayout20.xml"/><Relationship Id="rId7" Type="http://schemas.openxmlformats.org/officeDocument/2006/relationships/slideLayout" Target="../slideLayouts/slideLayout21.xml"/><Relationship Id="rId8" Type="http://schemas.openxmlformats.org/officeDocument/2006/relationships/slideLayout" Target="../slideLayouts/slideLayout22.xml"/><Relationship Id="rId9" Type="http://schemas.openxmlformats.org/officeDocument/2006/relationships/slideLayout" Target="../slideLayouts/slideLayout23.xml"/><Relationship Id="rId10" Type="http://schemas.openxmlformats.org/officeDocument/2006/relationships/slideLayout" Target="../slideLayouts/slideLayout24.xml"/><Relationship Id="rId11" Type="http://schemas.openxmlformats.org/officeDocument/2006/relationships/slideLayout" Target="../slideLayouts/slideLayout25.xml"/><Relationship Id="rId12" Type="http://schemas.openxmlformats.org/officeDocument/2006/relationships/slideLayout" Target="../slideLayouts/slideLayout26.xml"/><Relationship Id="rId13" Type="http://schemas.openxmlformats.org/officeDocument/2006/relationships/slideLayout" Target="../slideLayouts/slideLayout27.xml"/><Relationship Id="rId14" Type="http://schemas.openxmlformats.org/officeDocument/2006/relationships/slideLayout" Target="../slideLayouts/slideLayout28.xml"/><Relationship Id="rId15" Type="http://schemas.openxmlformats.org/officeDocument/2006/relationships/slideLayout" Target="../slideLayouts/slideLayout29.xml"/><Relationship Id="rId16" Type="http://schemas.openxmlformats.org/officeDocument/2006/relationships/theme" Target="../theme/theme2.xml"/><Relationship Id="rId17" Type="http://schemas.openxmlformats.org/officeDocument/2006/relationships/image" Target="../media/image5.png"/><Relationship Id="rId18" Type="http://schemas.openxmlformats.org/officeDocument/2006/relationships/image" Target="../media/image6.svg"/></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slideLayout" Target="../slideLayouts/slideLayout31.xml"/><Relationship Id="rId3" Type="http://schemas.openxmlformats.org/officeDocument/2006/relationships/slideLayout" Target="../slideLayouts/slideLayout32.xml"/><Relationship Id="rId4" Type="http://schemas.openxmlformats.org/officeDocument/2006/relationships/slideLayout" Target="../slideLayouts/slideLayout33.xml"/><Relationship Id="rId5" Type="http://schemas.openxmlformats.org/officeDocument/2006/relationships/slideLayout" Target="../slideLayouts/slideLayout34.xml"/><Relationship Id="rId6" Type="http://schemas.openxmlformats.org/officeDocument/2006/relationships/slideLayout" Target="../slideLayouts/slideLayout35.xml"/><Relationship Id="rId7" Type="http://schemas.openxmlformats.org/officeDocument/2006/relationships/slideLayout" Target="../slideLayouts/slideLayout36.xml"/><Relationship Id="rId8" Type="http://schemas.openxmlformats.org/officeDocument/2006/relationships/slideLayout" Target="../slideLayouts/slideLayout37.xml"/><Relationship Id="rId9" Type="http://schemas.openxmlformats.org/officeDocument/2006/relationships/slideLayout" Target="../slideLayouts/slideLayout38.xml"/><Relationship Id="rId10" Type="http://schemas.openxmlformats.org/officeDocument/2006/relationships/slideLayout" Target="../slideLayouts/slideLayout39.xml"/><Relationship Id="rId11" Type="http://schemas.openxmlformats.org/officeDocument/2006/relationships/theme" Target="../theme/theme3.xml"/><Relationship Id="rId12" Type="http://schemas.openxmlformats.org/officeDocument/2006/relationships/image" Target="../media/image12.png"/><Relationship Id="rId13" Type="http://schemas.openxmlformats.org/officeDocument/2006/relationships/image" Target="../media/image13.png"/></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40.xml"/><Relationship Id="rId2" Type="http://schemas.openxmlformats.org/officeDocument/2006/relationships/slideLayout" Target="../slideLayouts/slideLayout41.xml"/><Relationship Id="rId3" Type="http://schemas.openxmlformats.org/officeDocument/2006/relationships/slideLayout" Target="../slideLayouts/slideLayout42.xml"/><Relationship Id="rId4" Type="http://schemas.openxmlformats.org/officeDocument/2006/relationships/slideLayout" Target="../slideLayouts/slideLayout43.xml"/><Relationship Id="rId5" Type="http://schemas.openxmlformats.org/officeDocument/2006/relationships/slideLayout" Target="../slideLayouts/slideLayout44.xml"/><Relationship Id="rId6" Type="http://schemas.openxmlformats.org/officeDocument/2006/relationships/slideLayout" Target="../slideLayouts/slideLayout45.xml"/><Relationship Id="rId7" Type="http://schemas.openxmlformats.org/officeDocument/2006/relationships/slideLayout" Target="../slideLayouts/slideLayout46.xml"/><Relationship Id="rId8"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6">
            <a:lum/>
          </a:blip>
          <a:srcRect/>
          <a:stretch>
            <a:fillRect/>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0AB64488-EE61-7FC8-AE51-CB6EC79AA062}"/>
              </a:ext>
            </a:extLst>
          </p:cNvPr>
          <p:cNvSpPr txBox="1"/>
          <p:nvPr userDrawn="1"/>
        </p:nvSpPr>
        <p:spPr>
          <a:xfrm>
            <a:off x="9036283" y="6526817"/>
            <a:ext cx="3096084" cy="24622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b="0" i="0">
                <a:solidFill>
                  <a:schemeClr val="bg1"/>
                </a:solidFill>
                <a:latin typeface="Outfit" pitchFamily="2" charset="0"/>
                <a:cs typeface="Archivo" pitchFamily="2" charset="0"/>
              </a:rPr>
              <a:t>Confidential &amp; Proprietary  |  © 2026 JazzX AI    </a:t>
            </a:r>
            <a:fld id="{9F90C545-CD09-0447-A167-744DB4FB2CC5}" type="slidenum">
              <a:rPr lang="en-US" sz="1000" b="0" i="0" smtClean="0">
                <a:solidFill>
                  <a:schemeClr val="bg1"/>
                </a:solidFill>
                <a:latin typeface="Outfit" pitchFamily="2" charset="0"/>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000" b="0" i="0">
                <a:solidFill>
                  <a:schemeClr val="bg1"/>
                </a:solidFill>
                <a:latin typeface="Outfit" pitchFamily="2" charset="0"/>
                <a:cs typeface="Archivo" pitchFamily="2" charset="0"/>
              </a:rPr>
              <a:t> </a:t>
            </a:r>
          </a:p>
        </p:txBody>
      </p:sp>
      <p:pic>
        <p:nvPicPr>
          <p:cNvPr id="6" name="Graphic 5">
            <a:extLst>
              <a:ext uri="{FF2B5EF4-FFF2-40B4-BE49-F238E27FC236}">
                <a16:creationId xmlns:a16="http://schemas.microsoft.com/office/drawing/2014/main" id="{243DF548-D85A-65ED-475A-AD2C7CA39313}"/>
              </a:ext>
            </a:extLst>
          </p:cNvPr>
          <p:cNvPicPr>
            <a:picLocks noChangeAspect="1"/>
          </p:cNvPicPr>
          <p:nvPr userDrawn="1"/>
        </p:nvPicPr>
        <p:blipFill>
          <a:blip r:embed="rId17">
            <a:extLst>
              <a:ext uri="{96DAC541-7B7A-43D3-8B79-37D633B846F1}">
                <asvg:svgBlip xmlns:asvg="http://schemas.microsoft.com/office/drawing/2016/SVG/main" r:embed="rId18"/>
              </a:ext>
            </a:extLst>
          </a:blip>
          <a:stretch>
            <a:fillRect/>
          </a:stretch>
        </p:blipFill>
        <p:spPr>
          <a:xfrm>
            <a:off x="149464" y="6523642"/>
            <a:ext cx="999086" cy="202031"/>
          </a:xfrm>
          <a:prstGeom prst="rect">
            <a:avLst/>
          </a:prstGeom>
        </p:spPr>
      </p:pic>
    </p:spTree>
    <p:extLst>
      <p:ext uri="{BB962C8B-B14F-4D97-AF65-F5344CB8AC3E}">
        <p14:creationId xmlns:p14="http://schemas.microsoft.com/office/powerpoint/2010/main" val="2478844016"/>
      </p:ext>
    </p:extLst>
  </p:cSld>
  <p:clrMap bg1="lt1" tx1="dk1" bg2="lt2" tx2="dk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 id="2147483692" r:id="rId11"/>
    <p:sldLayoutId id="2147483693" r:id="rId12"/>
    <p:sldLayoutId id="2147483694" r:id="rId13"/>
    <p:sldLayoutId id="2147483695"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a:gsLst>
            <a:gs pos="0">
              <a:srgbClr val="E8EFFF"/>
            </a:gs>
            <a:gs pos="46000">
              <a:schemeClr val="bg1"/>
            </a:gs>
          </a:gsLst>
          <a:lin ang="4800000" scaled="0"/>
        </a:gra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4108DB-42B7-8EBE-C9A7-99A308C5C5BD}"/>
              </a:ext>
            </a:extLst>
          </p:cNvPr>
          <p:cNvSpPr>
            <a:spLocks noGrp="1"/>
          </p:cNvSpPr>
          <p:nvPr>
            <p:ph type="title"/>
          </p:nvPr>
        </p:nvSpPr>
        <p:spPr>
          <a:xfrm>
            <a:off x="403634" y="314315"/>
            <a:ext cx="10515600" cy="538417"/>
          </a:xfrm>
          <a:prstGeom prst="rect">
            <a:avLst/>
          </a:prstGeom>
          <a:noFill/>
        </p:spPr>
        <p:txBody>
          <a:bodyPr wrap="square" rtlCol="0">
            <a:spAutoFit/>
          </a:bodyPr>
          <a:lstStyle/>
          <a:p>
            <a:pPr marL="0" lvl="0"/>
            <a:r>
              <a:rPr lang="en-US"/>
              <a:t>Click to edit Master title style</a:t>
            </a:r>
          </a:p>
        </p:txBody>
      </p:sp>
      <p:sp>
        <p:nvSpPr>
          <p:cNvPr id="3" name="Text Placeholder 2">
            <a:extLst>
              <a:ext uri="{FF2B5EF4-FFF2-40B4-BE49-F238E27FC236}">
                <a16:creationId xmlns:a16="http://schemas.microsoft.com/office/drawing/2014/main" id="{DD64F788-FBED-DE6D-11B2-5D6E4B264306}"/>
              </a:ext>
            </a:extLst>
          </p:cNvPr>
          <p:cNvSpPr>
            <a:spLocks noGrp="1"/>
          </p:cNvSpPr>
          <p:nvPr>
            <p:ph type="body" idx="1"/>
          </p:nvPr>
        </p:nvSpPr>
        <p:spPr>
          <a:xfrm>
            <a:off x="403634" y="1069384"/>
            <a:ext cx="10515600" cy="463679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Box 4">
            <a:extLst>
              <a:ext uri="{FF2B5EF4-FFF2-40B4-BE49-F238E27FC236}">
                <a16:creationId xmlns:a16="http://schemas.microsoft.com/office/drawing/2014/main" id="{EA275132-5D8C-A2B6-0488-7496C93BEA94}"/>
              </a:ext>
            </a:extLst>
          </p:cNvPr>
          <p:cNvSpPr txBox="1"/>
          <p:nvPr userDrawn="1"/>
        </p:nvSpPr>
        <p:spPr>
          <a:xfrm>
            <a:off x="9036283" y="6526817"/>
            <a:ext cx="3096084" cy="26161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100">
                <a:solidFill>
                  <a:srgbClr val="1A0E76"/>
                </a:solidFill>
                <a:latin typeface="+mn-lt"/>
                <a:cs typeface="Archivo" pitchFamily="2" charset="0"/>
              </a:rPr>
              <a:t>Confidential &amp; Proprietary  |  © 2026 JazzX AI    </a:t>
            </a:r>
            <a:fld id="{9F90C545-CD09-0447-A167-744DB4FB2CC5}" type="slidenum">
              <a:rPr lang="en-US" sz="1100" smtClean="0">
                <a:solidFill>
                  <a:srgbClr val="1A0E76"/>
                </a:solidFill>
                <a:latin typeface="+mn-lt"/>
                <a:cs typeface="Archivo" pitchFamily="2" charset="0"/>
              </a:rPr>
              <a:pPr marL="0" marR="0" lvl="0" indent="0" algn="l" defTabSz="914400" rtl="0" eaLnBrk="1" fontAlgn="auto" latinLnBrk="0" hangingPunct="1">
                <a:lnSpc>
                  <a:spcPct val="100000"/>
                </a:lnSpc>
                <a:spcBef>
                  <a:spcPts val="0"/>
                </a:spcBef>
                <a:spcAft>
                  <a:spcPts val="0"/>
                </a:spcAft>
                <a:buClrTx/>
                <a:buSzTx/>
                <a:buFontTx/>
                <a:buNone/>
                <a:tabLst/>
                <a:defRPr/>
              </a:pPr>
              <a:t>‹#›</a:t>
            </a:fld>
            <a:r>
              <a:rPr lang="en-US" sz="1100">
                <a:solidFill>
                  <a:srgbClr val="1A0E76"/>
                </a:solidFill>
                <a:latin typeface="+mn-lt"/>
                <a:cs typeface="Archivo" pitchFamily="2" charset="0"/>
              </a:rPr>
              <a:t> </a:t>
            </a:r>
          </a:p>
        </p:txBody>
      </p:sp>
      <p:sp>
        <p:nvSpPr>
          <p:cNvPr id="6" name="Oval 5">
            <a:extLst>
              <a:ext uri="{FF2B5EF4-FFF2-40B4-BE49-F238E27FC236}">
                <a16:creationId xmlns:a16="http://schemas.microsoft.com/office/drawing/2014/main" id="{9C1B7E23-AA0F-20A1-809E-EE33173A027A}"/>
              </a:ext>
            </a:extLst>
          </p:cNvPr>
          <p:cNvSpPr/>
          <p:nvPr userDrawn="1"/>
        </p:nvSpPr>
        <p:spPr>
          <a:xfrm>
            <a:off x="8869911" y="6577601"/>
            <a:ext cx="149064" cy="155863"/>
          </a:xfrm>
          <a:prstGeom prst="ellipse">
            <a:avLst/>
          </a:prstGeom>
          <a:solidFill>
            <a:srgbClr val="FF0000"/>
          </a:solidFill>
          <a:ln w="9525">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Graphic 3">
            <a:extLst>
              <a:ext uri="{FF2B5EF4-FFF2-40B4-BE49-F238E27FC236}">
                <a16:creationId xmlns:a16="http://schemas.microsoft.com/office/drawing/2014/main" id="{0F251858-BD51-E792-33CE-20EB4C48BDD4}"/>
              </a:ext>
            </a:extLst>
          </p:cNvPr>
          <p:cNvPicPr>
            <a:picLocks noChangeAspect="1"/>
          </p:cNvPicPr>
          <p:nvPr userDrawn="1"/>
        </p:nvPicPr>
        <p:blipFill>
          <a:blip r:embed="rId17">
            <a:extLst>
              <a:ext uri="{96DAC541-7B7A-43D3-8B79-37D633B846F1}">
                <asvg:svgBlip xmlns:asvg="http://schemas.microsoft.com/office/drawing/2016/SVG/main" r:embed="rId18"/>
              </a:ext>
            </a:extLst>
          </a:blip>
          <a:stretch>
            <a:fillRect/>
          </a:stretch>
        </p:blipFill>
        <p:spPr>
          <a:xfrm>
            <a:off x="69573" y="6494735"/>
            <a:ext cx="1061670" cy="315000"/>
          </a:xfrm>
          <a:prstGeom prst="rect">
            <a:avLst/>
          </a:prstGeom>
        </p:spPr>
      </p:pic>
    </p:spTree>
    <p:extLst>
      <p:ext uri="{BB962C8B-B14F-4D97-AF65-F5344CB8AC3E}">
        <p14:creationId xmlns:p14="http://schemas.microsoft.com/office/powerpoint/2010/main" val="1772016894"/>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Lst>
  <p:hf hdr="0" ftr="0" dt="0"/>
  <p:txStyles>
    <p:titleStyle>
      <a:lvl1pPr algn="l" defTabSz="914400" rtl="0" eaLnBrk="1" latinLnBrk="0" hangingPunct="1">
        <a:lnSpc>
          <a:spcPct val="90000"/>
        </a:lnSpc>
        <a:spcBef>
          <a:spcPct val="0"/>
        </a:spcBef>
        <a:buNone/>
        <a:defRPr lang="en-US" sz="3200" b="0" kern="1200" dirty="0">
          <a:solidFill>
            <a:schemeClr val="tx1"/>
          </a:solidFill>
          <a:latin typeface="+mj-lt"/>
          <a:ea typeface="+mn-ea"/>
          <a:cs typeface="Archivo Light" pitchFamily="2" charset="77"/>
        </a:defRPr>
      </a:lvl1pPr>
    </p:titleStyle>
    <p:bodyStyle>
      <a:lvl1pPr marL="228600" indent="-228600" algn="l" defTabSz="914400" rtl="0" eaLnBrk="1" latinLnBrk="0" hangingPunct="1">
        <a:lnSpc>
          <a:spcPct val="90000"/>
        </a:lnSpc>
        <a:spcBef>
          <a:spcPts val="1000"/>
        </a:spcBef>
        <a:buClr>
          <a:schemeClr val="accent1"/>
        </a:buClr>
        <a:buFont typeface="Arial" panose="020B0604020202020204" pitchFamily="34" charset="0"/>
        <a:buChar char="•"/>
        <a:defRPr sz="2400" kern="1200">
          <a:solidFill>
            <a:schemeClr val="tx2"/>
          </a:solidFill>
          <a:latin typeface="+mn-lt"/>
          <a:ea typeface="+mn-ea"/>
          <a:cs typeface="Archivo" pitchFamily="2" charset="0"/>
        </a:defRPr>
      </a:lvl1pPr>
      <a:lvl2pPr marL="685800" indent="-228600" algn="l" defTabSz="914400" rtl="0" eaLnBrk="1" latinLnBrk="0" hangingPunct="1">
        <a:lnSpc>
          <a:spcPct val="90000"/>
        </a:lnSpc>
        <a:spcBef>
          <a:spcPts val="500"/>
        </a:spcBef>
        <a:buClr>
          <a:schemeClr val="accent1"/>
        </a:buClr>
        <a:buFont typeface="Arial" panose="020B0604020202020204" pitchFamily="34" charset="0"/>
        <a:buChar char="•"/>
        <a:defRPr sz="2000" kern="1200">
          <a:solidFill>
            <a:schemeClr val="tx2"/>
          </a:solidFill>
          <a:latin typeface="+mn-lt"/>
          <a:ea typeface="+mn-ea"/>
          <a:cs typeface="Archivo" pitchFamily="2" charset="0"/>
        </a:defRPr>
      </a:lvl2pPr>
      <a:lvl3pPr marL="1143000"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2"/>
          </a:solidFill>
          <a:latin typeface="+mn-lt"/>
          <a:ea typeface="+mn-ea"/>
          <a:cs typeface="Archivo" pitchFamily="2" charset="0"/>
        </a:defRPr>
      </a:lvl3pPr>
      <a:lvl4pPr marL="16002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2"/>
          </a:solidFill>
          <a:latin typeface="+mn-lt"/>
          <a:ea typeface="+mn-ea"/>
          <a:cs typeface="Archivo" pitchFamily="2" charset="0"/>
        </a:defRPr>
      </a:lvl4pPr>
      <a:lvl5pPr marL="2057400" indent="-228600" algn="l" defTabSz="914400" rtl="0" eaLnBrk="1" latinLnBrk="0" hangingPunct="1">
        <a:lnSpc>
          <a:spcPct val="90000"/>
        </a:lnSpc>
        <a:spcBef>
          <a:spcPts val="500"/>
        </a:spcBef>
        <a:buClr>
          <a:schemeClr val="accent1"/>
        </a:buClr>
        <a:buFont typeface="Arial" panose="020B0604020202020204" pitchFamily="34" charset="0"/>
        <a:buChar char="•"/>
        <a:defRPr sz="1600" kern="1200">
          <a:solidFill>
            <a:schemeClr val="tx2"/>
          </a:solidFill>
          <a:latin typeface="+mn-lt"/>
          <a:ea typeface="+mn-ea"/>
          <a:cs typeface="Archivo" pitchFamily="2"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a:blip r:embed="rId12">
            <a:alphaModFix/>
          </a:blip>
          <a:stretch>
            <a:fillRect/>
          </a:stretch>
        </a:blipFill>
        <a:effectLst/>
      </p:bgPr>
    </p:bg>
    <p:spTree>
      <p:nvGrpSpPr>
        <p:cNvPr id="1" name="Shape 88"/>
        <p:cNvGrpSpPr/>
        <p:nvPr/>
      </p:nvGrpSpPr>
      <p:grpSpPr>
        <a:xfrm>
          <a:off x="0" y="0"/>
          <a:ext cx="0" cy="0"/>
          <a:chOff x="0" y="0"/>
          <a:chExt cx="0" cy="0"/>
        </a:xfrm>
      </p:grpSpPr>
      <p:sp>
        <p:nvSpPr>
          <p:cNvPr id="89" name="Google Shape;89;p45"/>
          <p:cNvSpPr txBox="1"/>
          <p:nvPr/>
        </p:nvSpPr>
        <p:spPr>
          <a:xfrm>
            <a:off x="9036283" y="6526817"/>
            <a:ext cx="3096084" cy="24622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chemeClr val="lt1"/>
              </a:buClr>
              <a:buSzPts val="1000"/>
              <a:buFont typeface="Outfit"/>
              <a:buNone/>
            </a:pPr>
            <a:r>
              <a:rPr lang="en-US" sz="1000" b="0" i="0" u="none" strike="noStrike" cap="none">
                <a:solidFill>
                  <a:schemeClr val="lt1"/>
                </a:solidFill>
                <a:latin typeface="Outfit"/>
                <a:ea typeface="Outfit"/>
                <a:cs typeface="Outfit"/>
                <a:sym typeface="Outfit"/>
              </a:rPr>
              <a:t>Confidential &amp; Proprietary  |  © 2026 JazzX AI    </a:t>
            </a:r>
            <a:fld id="{00000000-1234-1234-1234-123412341234}" type="slidenum">
              <a:rPr lang="en-US" sz="1000" b="0" i="0" u="none" strike="noStrike" cap="none">
                <a:solidFill>
                  <a:schemeClr val="lt1"/>
                </a:solidFill>
                <a:latin typeface="Outfit"/>
                <a:ea typeface="Outfit"/>
                <a:cs typeface="Outfit"/>
                <a:sym typeface="Outfit"/>
              </a:rPr>
              <a:t>‹#›</a:t>
            </a:fld>
            <a:r>
              <a:rPr lang="en-US" sz="1000" b="0" i="0" u="none" strike="noStrike" cap="none">
                <a:solidFill>
                  <a:schemeClr val="lt1"/>
                </a:solidFill>
                <a:latin typeface="Outfit"/>
                <a:ea typeface="Outfit"/>
                <a:cs typeface="Outfit"/>
                <a:sym typeface="Outfit"/>
              </a:rPr>
              <a:t> </a:t>
            </a:r>
            <a:endParaRPr sz="1400" b="0" i="0" u="none" strike="noStrike" cap="none">
              <a:solidFill>
                <a:srgbClr val="000000"/>
              </a:solidFill>
              <a:latin typeface="Arial"/>
              <a:ea typeface="Arial"/>
              <a:cs typeface="Arial"/>
              <a:sym typeface="Arial"/>
            </a:endParaRPr>
          </a:p>
        </p:txBody>
      </p:sp>
      <p:sp>
        <p:nvSpPr>
          <p:cNvPr id="90" name="Google Shape;90;p45"/>
          <p:cNvSpPr/>
          <p:nvPr/>
        </p:nvSpPr>
        <p:spPr>
          <a:xfrm>
            <a:off x="8869911" y="6576987"/>
            <a:ext cx="149064" cy="155863"/>
          </a:xfrm>
          <a:prstGeom prst="ellipse">
            <a:avLst/>
          </a:prstGeom>
          <a:solidFill>
            <a:schemeClr val="accent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Outfit"/>
              <a:ea typeface="Outfit"/>
              <a:cs typeface="Outfit"/>
              <a:sym typeface="Outfit"/>
            </a:endParaRPr>
          </a:p>
        </p:txBody>
      </p:sp>
      <p:pic>
        <p:nvPicPr>
          <p:cNvPr id="91" name="Google Shape;91;p45"/>
          <p:cNvPicPr preferRelativeResize="0"/>
          <p:nvPr/>
        </p:nvPicPr>
        <p:blipFill rotWithShape="1">
          <a:blip r:embed="rId13">
            <a:alphaModFix/>
          </a:blip>
          <a:srcRect/>
          <a:stretch/>
        </p:blipFill>
        <p:spPr>
          <a:xfrm>
            <a:off x="149464" y="6523642"/>
            <a:ext cx="999086" cy="202031"/>
          </a:xfrm>
          <a:prstGeom prst="rect">
            <a:avLst/>
          </a:prstGeom>
          <a:noFill/>
          <a:ln>
            <a:noFill/>
          </a:ln>
        </p:spPr>
      </p:pic>
    </p:spTree>
    <p:extLst>
      <p:ext uri="{BB962C8B-B14F-4D97-AF65-F5344CB8AC3E}">
        <p14:creationId xmlns:p14="http://schemas.microsoft.com/office/powerpoint/2010/main" val="3523973193"/>
      </p:ext>
    </p:extLst>
  </p:cSld>
  <p:clrMap bg1="lt1" tx1="dk1" bg2="dk2" tx2="lt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algn="r"/>
            <a:fld id="{F7021451-1387-4CA6-816F-3879F97B5CBC}" type="slidenum">
              <a:rPr lang="en-US" b="0"/>
              <a:t>‹#›</a:t>
            </a:fld>
            <a:endParaRPr lang="en-US"/>
          </a:p>
        </p:txBody>
      </p:sp>
    </p:spTree>
    <p:extLst>
      <p:ext uri="{BB962C8B-B14F-4D97-AF65-F5344CB8AC3E}">
        <p14:creationId xmlns:p14="http://schemas.microsoft.com/office/powerpoint/2010/main" val="3734716119"/>
      </p:ext>
    </p:extLst>
  </p:cSld>
  <p:clrMap bg1="lt1" tx1="dk1" bg2="lt2" tx2="dk2" accent1="accent1" accent2="accent2" accent3="accent3" accent4="accent4" accent5="accent5" accent6="accent6" hlink="hlink" folHlink="folHlink"/>
  <p:sldLayoutIdLst>
    <p:sldLayoutId id="2147483724" r:id="rId1"/>
    <p:sldLayoutId id="2147483725" r:id="rId2"/>
    <p:sldLayoutId id="2147483726" r:id="rId3"/>
    <p:sldLayoutId id="2147483732" r:id="rId4"/>
    <p:sldLayoutId id="2147483733" r:id="rId5"/>
    <p:sldLayoutId id="2147483734" r:id="rId6"/>
    <p:sldLayoutId id="2147483735" r:id="rId7"/>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hemeOverride" Target="../theme/themeOverride1.xml"/><Relationship Id="rId2" Type="http://schemas.openxmlformats.org/officeDocument/2006/relationships/slideLayout" Target="../slideLayouts/slideLayout14.xml"/><Relationship Id="rId3" Type="http://schemas.openxmlformats.org/officeDocument/2006/relationships/notesSlide" Target="../notesSlides/notesSlide1.xml"/><Relationship Id="rId4" Type="http://schemas.openxmlformats.org/officeDocument/2006/relationships/image" Target="../media/image1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3.xml"/><Relationship Id="rId3" Type="http://schemas.microsoft.com/office/2018/10/relationships/comments" Target="../comments/modernComment_7FFFD4E5_BE5382CA.xml"/><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4.xml"/><Relationship Id="rId3" Type="http://schemas.microsoft.com/office/2018/10/relationships/comments" Target="../comments/modernComment_7FFFD4E6_55AC5F92.xml"/><Relationship Id="rId4" Type="http://schemas.openxmlformats.org/officeDocument/2006/relationships/image" Target="../media/image1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4.xml"/><Relationship Id="rId2" Type="http://schemas.microsoft.com/office/2018/10/relationships/comments" Target="../comments/modernComment_7FFFD4EA_C6E305AA.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5.xml"/><Relationship Id="rId3" Type="http://schemas.openxmlformats.org/officeDocument/2006/relationships/image" Target="../media/image16.png"/><Relationship Id="rId4" Type="http://schemas.openxmlformats.org/officeDocument/2006/relationships/image" Target="../media/image17.svg"/><Relationship Id="rId5" Type="http://schemas.openxmlformats.org/officeDocument/2006/relationships/image" Target="../media/image18.png"/><Relationship Id="rId6" Type="http://schemas.openxmlformats.org/officeDocument/2006/relationships/image" Target="../media/image19.svg"/><Relationship Id="rId7" Type="http://schemas.openxmlformats.org/officeDocument/2006/relationships/image" Target="../media/image20.png"/><Relationship Id="rId8" Type="http://schemas.openxmlformats.org/officeDocument/2006/relationships/image" Target="../media/image21.sv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17.svg"/><Relationship Id="rId5" Type="http://schemas.openxmlformats.org/officeDocument/2006/relationships/image" Target="../media/image18.png"/><Relationship Id="rId6" Type="http://schemas.openxmlformats.org/officeDocument/2006/relationships/image" Target="../media/image19.svg"/><Relationship Id="rId7" Type="http://schemas.openxmlformats.org/officeDocument/2006/relationships/image" Target="../media/image20.png"/><Relationship Id="rId8" Type="http://schemas.openxmlformats.org/officeDocument/2006/relationships/image" Target="../media/image21.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0.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1.xml"/><Relationship Id="rId3"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3.xml"/><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image" Target="../media/image24.png"/><Relationship Id="rId6" Type="http://schemas.openxmlformats.org/officeDocument/2006/relationships/image" Target="../media/image25.png"/><Relationship Id="rId7" Type="http://schemas.openxmlformats.org/officeDocument/2006/relationships/image" Target="../media/image26.png"/><Relationship Id="rId8" Type="http://schemas.openxmlformats.org/officeDocument/2006/relationships/image" Target="../media/image27.png"/><Relationship Id="rId9" Type="http://schemas.openxmlformats.org/officeDocument/2006/relationships/image" Target="../media/image28.png"/><Relationship Id="rId10" Type="http://schemas.openxmlformats.org/officeDocument/2006/relationships/image" Target="../media/image2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4.xml"/><Relationship Id="rId3" Type="http://schemas.openxmlformats.org/officeDocument/2006/relationships/image" Target="../media/image30.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5.xml"/><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png"/><Relationship Id="rId7" Type="http://schemas.openxmlformats.org/officeDocument/2006/relationships/image" Target="../media/image35.png"/><Relationship Id="rId8" Type="http://schemas.openxmlformats.org/officeDocument/2006/relationships/image" Target="../media/image36.png"/><Relationship Id="rId9" Type="http://schemas.openxmlformats.org/officeDocument/2006/relationships/image" Target="../media/image37.png"/><Relationship Id="rId10" Type="http://schemas.openxmlformats.org/officeDocument/2006/relationships/image" Target="../media/image38.png"/><Relationship Id="rId11" Type="http://schemas.openxmlformats.org/officeDocument/2006/relationships/image" Target="../media/image39.png"/><Relationship Id="rId12" Type="http://schemas.openxmlformats.org/officeDocument/2006/relationships/image" Target="../media/image40.png"/><Relationship Id="rId13" Type="http://schemas.openxmlformats.org/officeDocument/2006/relationships/image" Target="../media/image41.png"/><Relationship Id="rId14" Type="http://schemas.openxmlformats.org/officeDocument/2006/relationships/image" Target="../media/image42.png"/><Relationship Id="rId15" Type="http://schemas.openxmlformats.org/officeDocument/2006/relationships/image" Target="../media/image4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7.xml"/><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image" Target="../media/image47.png"/><Relationship Id="rId7" Type="http://schemas.openxmlformats.org/officeDocument/2006/relationships/image" Target="../media/image48.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19.xml"/><Relationship Id="rId3"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1.xml"/><Relationship Id="rId3" Type="http://schemas.openxmlformats.org/officeDocument/2006/relationships/image" Target="../media/image49.png"/><Relationship Id="rId4" Type="http://schemas.openxmlformats.org/officeDocument/2006/relationships/image" Target="../media/image50.png"/><Relationship Id="rId5" Type="http://schemas.openxmlformats.org/officeDocument/2006/relationships/image" Target="../media/image51.png"/><Relationship Id="rId6" Type="http://schemas.openxmlformats.org/officeDocument/2006/relationships/image" Target="../media/image5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2.xml"/><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5.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microsoft.com/office/2007/relationships/media" Target="../media/media1.mp4"/><Relationship Id="rId2" Type="http://schemas.openxmlformats.org/officeDocument/2006/relationships/video" Target="../media/media1.mp4"/><Relationship Id="rId3" Type="http://schemas.openxmlformats.org/officeDocument/2006/relationships/slideLayout" Target="../slideLayouts/slideLayout41.xml"/><Relationship Id="rId4" Type="http://schemas.openxmlformats.org/officeDocument/2006/relationships/image" Target="../media/image5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2.xml"/><Relationship Id="rId2" Type="http://schemas.openxmlformats.org/officeDocument/2006/relationships/notesSlide" Target="../notesSlides/notesSlide27.xml"/><Relationship Id="rId3" Type="http://schemas.openxmlformats.org/officeDocument/2006/relationships/image" Target="../media/image1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8.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29.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0.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0.xml"/><Relationship Id="rId2" Type="http://schemas.openxmlformats.org/officeDocument/2006/relationships/notesSlide" Target="../notesSlides/notesSlide35.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8.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39.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40.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4">
            <a:lum/>
          </a:blip>
          <a:srcRect/>
          <a:stretch>
            <a:fillRect/>
          </a:stretch>
        </a:blipFill>
        <a:effectLst/>
      </p:bgPr>
    </p:bg>
    <p:spTree>
      <p:nvGrpSpPr>
        <p:cNvPr id="1" name=""/>
        <p:cNvGrpSpPr/>
        <p:nvPr/>
      </p:nvGrpSpPr>
      <p:grpSpPr>
        <a:xfrm>
          <a:off x="0" y="0"/>
          <a:ext cx="0" cy="0"/>
          <a:chOff x="0" y="0"/>
          <a:chExt cx="0" cy="0"/>
        </a:xfrm>
      </p:grpSpPr>
      <p:sp>
        <p:nvSpPr>
          <p:cNvPr id="3" name="Text 1"/>
          <p:cNvSpPr/>
          <p:nvPr/>
        </p:nvSpPr>
        <p:spPr>
          <a:xfrm>
            <a:off x="548640" y="1920240"/>
            <a:ext cx="10058400" cy="822960"/>
          </a:xfrm>
          <a:prstGeom prst="rect">
            <a:avLst/>
          </a:prstGeom>
          <a:noFill/>
          <a:ln/>
        </p:spPr>
        <p:txBody>
          <a:bodyPr wrap="square" lIns="91440" tIns="45720" rIns="91440" bIns="45720" rtlCol="0" anchor="ctr"/>
          <a:lstStyle/>
          <a:p>
            <a:pPr>
              <a:defRPr/>
            </a:pPr>
            <a:r>
              <a:rPr kumimoji="0" lang="en-US" sz="4400" b="1" i="0" u="none" strike="noStrike" kern="1200" cap="none" spc="0" normalizeH="0" baseline="0" noProof="0" err="1">
                <a:ln>
                  <a:noFill/>
                </a:ln>
                <a:solidFill>
                  <a:srgbClr val="FFFFFF"/>
                </a:solidFill>
                <a:effectLst/>
                <a:uLnTx/>
                <a:uFillTx/>
                <a:latin typeface="Calibri"/>
                <a:ea typeface="Calibri"/>
                <a:cs typeface="Calibri"/>
              </a:rPr>
              <a:t>JazzX</a:t>
            </a:r>
            <a:r>
              <a:rPr kumimoji="0" lang="en-US" sz="4400" b="1" i="0" u="none" strike="noStrike" kern="1200" cap="none" spc="0" normalizeH="0" baseline="0" noProof="0">
                <a:ln>
                  <a:noFill/>
                </a:ln>
                <a:solidFill>
                  <a:srgbClr val="FFFFFF"/>
                </a:solidFill>
                <a:effectLst/>
                <a:uLnTx/>
                <a:uFillTx/>
                <a:latin typeface="Calibri"/>
                <a:ea typeface="Calibri"/>
                <a:cs typeface="Calibri"/>
              </a:rPr>
              <a:t> Platform</a:t>
            </a:r>
            <a:r>
              <a:rPr lang="en-US" sz="4400" b="1">
                <a:solidFill>
                  <a:srgbClr val="FFFFFF"/>
                </a:solidFill>
                <a:latin typeface="Calibri"/>
                <a:ea typeface="Calibri"/>
                <a:cs typeface="Calibri"/>
              </a:rPr>
              <a:t> Update </a:t>
            </a:r>
            <a:endParaRPr kumimoji="0" lang="en-US" sz="4400" b="0" i="0" u="none" strike="noStrike" kern="1200" cap="none" spc="0" normalizeH="0" baseline="0" noProof="0">
              <a:ln>
                <a:noFill/>
              </a:ln>
              <a:solidFill>
                <a:prstClr val="black"/>
              </a:solidFill>
              <a:effectLst/>
              <a:uLnTx/>
              <a:uFillTx/>
              <a:latin typeface="Calibri"/>
              <a:ea typeface="Calibri"/>
              <a:cs typeface="Calibri"/>
            </a:endParaRPr>
          </a:p>
        </p:txBody>
      </p:sp>
      <p:sp>
        <p:nvSpPr>
          <p:cNvPr id="4" name="Text 2"/>
          <p:cNvSpPr/>
          <p:nvPr/>
        </p:nvSpPr>
        <p:spPr>
          <a:xfrm>
            <a:off x="548640" y="2788920"/>
            <a:ext cx="10058400" cy="502920"/>
          </a:xfrm>
          <a:prstGeom prst="rect">
            <a:avLst/>
          </a:prstGeom>
          <a:noFill/>
          <a:ln/>
        </p:spPr>
        <p:txBody>
          <a:bodyPr wrap="square"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(For discussion purposes only)</a:t>
            </a:r>
            <a:endParaRPr kumimoji="0" lang="en-US" sz="24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5" name="Shape 3"/>
          <p:cNvSpPr/>
          <p:nvPr/>
        </p:nvSpPr>
        <p:spPr>
          <a:xfrm>
            <a:off x="548640" y="3383280"/>
            <a:ext cx="1097280" cy="36576"/>
          </a:xfrm>
          <a:prstGeom prst="rect">
            <a:avLst/>
          </a:prstGeom>
          <a:solidFill>
            <a:srgbClr val="FFC000"/>
          </a:solidFill>
          <a:ln w="12700">
            <a:solidFill>
              <a:srgbClr val="FFC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9" name="Text 7"/>
          <p:cNvSpPr/>
          <p:nvPr/>
        </p:nvSpPr>
        <p:spPr>
          <a:xfrm>
            <a:off x="524098" y="5860077"/>
            <a:ext cx="5486400" cy="365760"/>
          </a:xfrm>
          <a:prstGeom prst="rect">
            <a:avLst/>
          </a:prstGeom>
          <a:noFill/>
          <a:ln/>
        </p:spPr>
        <p:txBody>
          <a:bodyPr wrap="square" lIns="91440" tIns="45720" rIns="91440" bIns="45720" rtlCol="0" anchor="ctr"/>
          <a:lstStyle/>
          <a:p>
            <a:pPr>
              <a:defRPr/>
            </a:pPr>
            <a:r>
              <a:rPr lang="en-US" sz="1400">
                <a:solidFill>
                  <a:srgbClr val="FFC000"/>
                </a:solidFill>
                <a:latin typeface="Calibri"/>
                <a:ea typeface="Calibri"/>
                <a:cs typeface="Calibri"/>
              </a:rPr>
              <a:t>Oct 13, </a:t>
            </a:r>
            <a:r>
              <a:rPr kumimoji="0" lang="en-US" sz="1400" b="0" i="0" u="none" strike="noStrike" kern="1200" cap="none" spc="0" normalizeH="0" baseline="0" noProof="0">
                <a:ln>
                  <a:noFill/>
                </a:ln>
                <a:solidFill>
                  <a:srgbClr val="FFC000"/>
                </a:solidFill>
                <a:effectLst/>
                <a:uLnTx/>
                <a:uFillTx/>
                <a:latin typeface="Calibri"/>
                <a:ea typeface="Calibri"/>
                <a:cs typeface="Calibri"/>
              </a:rPr>
              <a:t>2026</a:t>
            </a:r>
            <a:endParaRPr kumimoji="0" lang="en-US" sz="1400" b="0" i="0" u="none" strike="noStrike" kern="1200" cap="none" spc="0" normalizeH="0" baseline="0" noProof="0">
              <a:ln>
                <a:noFill/>
              </a:ln>
              <a:solidFill>
                <a:prstClr val="black"/>
              </a:solidFill>
              <a:effectLst/>
              <a:uLnTx/>
              <a:uFillTx/>
              <a:latin typeface="Calibri"/>
              <a:ea typeface="Calibri"/>
              <a:cs typeface="Calibri"/>
            </a:endParaRPr>
          </a:p>
        </p:txBody>
      </p:sp>
    </p:spTree>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p:cNvSpPr txBox="1"/>
          <p:nvPr/>
        </p:nvSpPr>
        <p:spPr>
          <a:xfrm>
            <a:off x="635000" y="838200"/>
            <a:ext cx="11391611" cy="711200"/>
          </a:xfrm>
          <a:prstGeom prst="rect">
            <a:avLst/>
          </a:prstGeom>
          <a:noFill/>
        </p:spPr>
        <p:txBody>
          <a:bodyPr wrap="square" tIns="91440" bIns="9144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3600" b="1" i="0" u="none" strike="noStrike" kern="1200" cap="none" spc="0" normalizeH="0" baseline="0" noProof="0">
                <a:ln>
                  <a:noFill/>
                </a:ln>
                <a:solidFill>
                  <a:srgbClr val="13171D"/>
                </a:solidFill>
                <a:effectLst/>
                <a:uLnTx/>
                <a:uFillTx/>
                <a:latin typeface="Trebuchet MS"/>
                <a:ea typeface="+mn-ea"/>
                <a:cs typeface="+mn-cs"/>
              </a:rPr>
              <a:t>Agenda</a:t>
            </a:r>
          </a:p>
        </p:txBody>
      </p:sp>
      <p:sp>
        <p:nvSpPr>
          <p:cNvPr id="3" name="TextBox 2"/>
          <p:cNvSpPr txBox="1"/>
          <p:nvPr/>
        </p:nvSpPr>
        <p:spPr>
          <a:xfrm>
            <a:off x="664566" y="1851778"/>
            <a:ext cx="845103" cy="769441"/>
          </a:xfrm>
          <a:prstGeom prst="rect">
            <a:avLst/>
          </a:prstGeom>
          <a:noFill/>
        </p:spPr>
        <p:txBody>
          <a:bodyPr wrap="none" tIns="91440" bIns="9144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4400" b="1" i="0" u="none" strike="noStrike" kern="1200" cap="none" spc="0" normalizeH="0" baseline="0" noProof="0">
                <a:ln>
                  <a:noFill/>
                </a:ln>
                <a:solidFill>
                  <a:srgbClr val="5069EC"/>
                </a:solidFill>
                <a:effectLst/>
                <a:uLnTx/>
                <a:uFillTx/>
                <a:latin typeface="Trebuchet MS"/>
                <a:ea typeface="+mn-ea"/>
                <a:cs typeface="+mn-cs"/>
              </a:rPr>
              <a:t>01</a:t>
            </a:r>
          </a:p>
        </p:txBody>
      </p:sp>
      <p:sp>
        <p:nvSpPr>
          <p:cNvPr id="4" name="Rectangle 3"/>
          <p:cNvSpPr/>
          <p:nvPr/>
        </p:nvSpPr>
        <p:spPr>
          <a:xfrm>
            <a:off x="1560678" y="1961506"/>
            <a:ext cx="38100" cy="566928"/>
          </a:xfrm>
          <a:prstGeom prst="rect">
            <a:avLst/>
          </a:prstGeom>
          <a:solidFill>
            <a:srgbClr val="5069EC"/>
          </a:solidFill>
          <a:ln>
            <a:noFill/>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5069EC"/>
              </a:solidFill>
              <a:effectLst/>
              <a:uLnTx/>
              <a:uFillTx/>
              <a:latin typeface="Aptos"/>
              <a:ea typeface="+mn-ea"/>
              <a:cs typeface="+mn-cs"/>
            </a:endParaRPr>
          </a:p>
        </p:txBody>
      </p:sp>
      <p:sp>
        <p:nvSpPr>
          <p:cNvPr id="5" name="TextBox 4"/>
          <p:cNvSpPr txBox="1"/>
          <p:nvPr/>
        </p:nvSpPr>
        <p:spPr>
          <a:xfrm>
            <a:off x="1652118" y="1943218"/>
            <a:ext cx="4480560" cy="430887"/>
          </a:xfrm>
          <a:prstGeom prst="rect">
            <a:avLst/>
          </a:prstGeom>
          <a:noFill/>
        </p:spPr>
        <p:txBody>
          <a:bodyPr wrap="square" lIns="91440" tIns="91440" rIns="91440" bIns="91440" anchor="t">
            <a:spAutoFit/>
          </a:bodyPr>
          <a:lstStyle/>
          <a:p>
            <a:pPr marL="0" marR="0" lvl="0" indent="0" algn="l" defTabSz="914400" rtl="0" eaLnBrk="1" fontAlgn="auto" latinLnBrk="0" hangingPunct="1">
              <a:lnSpc>
                <a:spcPct val="100000"/>
              </a:lnSpc>
              <a:spcBef>
                <a:spcPts val="0"/>
              </a:spcBef>
              <a:spcAft>
                <a:spcPts val="300"/>
              </a:spcAft>
              <a:buClrTx/>
              <a:buSzTx/>
              <a:buFontTx/>
              <a:buNone/>
              <a:tabLst/>
              <a:defRPr/>
            </a:pPr>
            <a:r>
              <a:rPr lang="en-US" sz="1600" b="1">
                <a:solidFill>
                  <a:srgbClr val="13171D"/>
                </a:solidFill>
                <a:latin typeface="Trebuchet MS"/>
              </a:rPr>
              <a:t>SDK</a:t>
            </a:r>
            <a:endParaRPr lang="en-US" sz="1600" b="1" i="0" u="none" strike="noStrike" kern="1200" cap="none" spc="0" normalizeH="0" baseline="0" noProof="0">
              <a:ln>
                <a:noFill/>
              </a:ln>
              <a:solidFill>
                <a:srgbClr val="13171D"/>
              </a:solidFill>
              <a:effectLst/>
              <a:uLnTx/>
              <a:uFillTx/>
              <a:latin typeface="Trebuchet MS"/>
            </a:endParaRPr>
          </a:p>
        </p:txBody>
      </p:sp>
      <p:sp>
        <p:nvSpPr>
          <p:cNvPr id="6" name="TextBox 5"/>
          <p:cNvSpPr txBox="1"/>
          <p:nvPr/>
        </p:nvSpPr>
        <p:spPr>
          <a:xfrm>
            <a:off x="664566" y="2971778"/>
            <a:ext cx="845103" cy="769441"/>
          </a:xfrm>
          <a:prstGeom prst="rect">
            <a:avLst/>
          </a:prstGeom>
          <a:noFill/>
        </p:spPr>
        <p:txBody>
          <a:bodyPr wrap="none" tIns="91440" bIns="91440" anchor="t">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4400" b="1" i="0" u="none" strike="noStrike" kern="1200" cap="none" spc="0" normalizeH="0" baseline="0" noProof="0">
                <a:ln>
                  <a:noFill/>
                </a:ln>
                <a:solidFill>
                  <a:srgbClr val="5069EC"/>
                </a:solidFill>
                <a:effectLst/>
                <a:uLnTx/>
                <a:uFillTx/>
                <a:latin typeface="Trebuchet MS"/>
                <a:ea typeface="+mn-ea"/>
                <a:cs typeface="+mn-cs"/>
              </a:rPr>
              <a:t>02</a:t>
            </a:r>
          </a:p>
        </p:txBody>
      </p:sp>
      <p:sp>
        <p:nvSpPr>
          <p:cNvPr id="7" name="Rectangle 6"/>
          <p:cNvSpPr/>
          <p:nvPr/>
        </p:nvSpPr>
        <p:spPr>
          <a:xfrm>
            <a:off x="1560678" y="3081506"/>
            <a:ext cx="38100" cy="566928"/>
          </a:xfrm>
          <a:prstGeom prst="rect">
            <a:avLst/>
          </a:prstGeom>
          <a:solidFill>
            <a:srgbClr val="5069EC"/>
          </a:solidFill>
          <a:ln>
            <a:noFill/>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srgbClr val="5069EC"/>
              </a:solidFill>
              <a:effectLst/>
              <a:uLnTx/>
              <a:uFillTx/>
              <a:latin typeface="Aptos"/>
              <a:ea typeface="+mn-ea"/>
              <a:cs typeface="+mn-cs"/>
            </a:endParaRPr>
          </a:p>
        </p:txBody>
      </p:sp>
      <p:sp>
        <p:nvSpPr>
          <p:cNvPr id="8" name="TextBox 7"/>
          <p:cNvSpPr txBox="1"/>
          <p:nvPr/>
        </p:nvSpPr>
        <p:spPr>
          <a:xfrm>
            <a:off x="1652118" y="3063218"/>
            <a:ext cx="4480560" cy="430887"/>
          </a:xfrm>
          <a:prstGeom prst="rect">
            <a:avLst/>
          </a:prstGeom>
          <a:noFill/>
        </p:spPr>
        <p:txBody>
          <a:bodyPr wrap="square" lIns="91440" tIns="91440" rIns="91440" bIns="91440" anchor="t">
            <a:spAutoFit/>
          </a:bodyPr>
          <a:lstStyle/>
          <a:p>
            <a:pPr>
              <a:spcAft>
                <a:spcPts val="300"/>
              </a:spcAft>
              <a:defRPr/>
            </a:pPr>
            <a:r>
              <a:rPr lang="en-US" sz="1600" b="1">
                <a:solidFill>
                  <a:srgbClr val="13171D"/>
                </a:solidFill>
                <a:latin typeface="Trebuchet MS"/>
              </a:rPr>
              <a:t>Reinforcement Learning</a:t>
            </a:r>
            <a:endParaRPr lang="en-US" sz="1600" b="1" i="0" u="none" strike="noStrike" kern="1200" cap="none" spc="0" normalizeH="0" baseline="0" noProof="0">
              <a:ln>
                <a:noFill/>
              </a:ln>
              <a:solidFill>
                <a:srgbClr val="13171D"/>
              </a:solidFill>
              <a:effectLst/>
              <a:uLnTx/>
              <a:uFillTx/>
              <a:latin typeface="Trebuchet M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4ECBBC-4684-357C-9F93-66DED7BDD155}"/>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B7BB220D-995C-BC1A-FB85-E7A150A36CAE}"/>
              </a:ext>
            </a:extLst>
          </p:cNvPr>
          <p:cNvPicPr>
            <a:picLocks noChangeAspect="1"/>
          </p:cNvPicPr>
          <p:nvPr/>
        </p:nvPicPr>
        <p:blipFill>
          <a:blip r:embed="rId4"/>
          <a:stretch>
            <a:fillRect/>
          </a:stretch>
        </p:blipFill>
        <p:spPr>
          <a:xfrm>
            <a:off x="5074920" y="4526280"/>
            <a:ext cx="7132320" cy="1920240"/>
          </a:xfrm>
          <a:prstGeom prst="rect">
            <a:avLst/>
          </a:prstGeom>
        </p:spPr>
      </p:pic>
      <p:sp>
        <p:nvSpPr>
          <p:cNvPr id="3" name="Section panel">
            <a:extLst>
              <a:ext uri="{FF2B5EF4-FFF2-40B4-BE49-F238E27FC236}">
                <a16:creationId xmlns:a16="http://schemas.microsoft.com/office/drawing/2014/main" id="{65C79D61-432D-E7A0-4DBE-6A91ECE918D0}"/>
              </a:ext>
            </a:extLst>
          </p:cNvPr>
          <p:cNvSpPr/>
          <p:nvPr/>
        </p:nvSpPr>
        <p:spPr>
          <a:xfrm>
            <a:off x="0" y="1170432"/>
            <a:ext cx="5394960" cy="4114800"/>
          </a:xfrm>
          <a:prstGeom prst="snip1Rect">
            <a:avLst/>
          </a:prstGeom>
          <a:solidFill>
            <a:srgbClr val="5069EC"/>
          </a:solidFill>
          <a:ln w="1270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 1">
            <a:extLst>
              <a:ext uri="{FF2B5EF4-FFF2-40B4-BE49-F238E27FC236}">
                <a16:creationId xmlns:a16="http://schemas.microsoft.com/office/drawing/2014/main" id="{90DD1FF6-D261-402D-D4D2-D05100D1E58B}"/>
              </a:ext>
            </a:extLst>
          </p:cNvPr>
          <p:cNvSpPr txBox="1"/>
          <p:nvPr/>
        </p:nvSpPr>
        <p:spPr>
          <a:xfrm>
            <a:off x="411480" y="2240280"/>
            <a:ext cx="45720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100" normalizeH="0" baseline="0" noProof="0">
                <a:ln>
                  <a:noFill/>
                </a:ln>
                <a:solidFill>
                  <a:srgbClr val="FFFFFF"/>
                </a:solidFill>
                <a:effectLst/>
                <a:uLnTx/>
                <a:uFillTx/>
                <a:latin typeface="Calibri" pitchFamily="34" charset="0"/>
                <a:ea typeface="Calibri" pitchFamily="34" charset="-122"/>
                <a:cs typeface="Calibri" pitchFamily="34" charset="-120"/>
              </a:rPr>
              <a:t>01</a:t>
            </a:r>
            <a:endParaRPr kumimoji="0" lang="en-US" sz="1600" b="0" i="0" u="none" strike="noStrike" kern="1200" cap="none" spc="0" normalizeH="0" baseline="0" noProof="0">
              <a:ln>
                <a:noFill/>
              </a:ln>
              <a:solidFill>
                <a:prstClr val="black"/>
              </a:solidFill>
              <a:effectLst/>
              <a:uLnTx/>
              <a:uFillTx/>
              <a:latin typeface="Calibri"/>
              <a:ea typeface="+mn-ea"/>
              <a:cs typeface="+mn-cs"/>
            </a:endParaRPr>
          </a:p>
        </p:txBody>
      </p:sp>
      <p:sp>
        <p:nvSpPr>
          <p:cNvPr id="5" name="Section title">
            <a:extLst>
              <a:ext uri="{FF2B5EF4-FFF2-40B4-BE49-F238E27FC236}">
                <a16:creationId xmlns:a16="http://schemas.microsoft.com/office/drawing/2014/main" id="{150C4D55-88AC-9150-4F9B-670BD4A42325}"/>
              </a:ext>
            </a:extLst>
          </p:cNvPr>
          <p:cNvSpPr txBox="1"/>
          <p:nvPr/>
        </p:nvSpPr>
        <p:spPr>
          <a:xfrm>
            <a:off x="411480" y="2651760"/>
            <a:ext cx="475488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3600" b="1">
                <a:solidFill>
                  <a:srgbClr val="FFFFFF"/>
                </a:solidFill>
                <a:latin typeface="Calibri"/>
                <a:ea typeface="Calibri"/>
                <a:cs typeface="Calibri"/>
              </a:rPr>
              <a:t>SDK</a:t>
            </a:r>
            <a:endParaRPr lang="en-US" sz="3600" b="1" i="0" u="none" strike="noStrike" kern="1200" cap="none" spc="0" normalizeH="0" baseline="0" noProof="0">
              <a:ln>
                <a:noFill/>
              </a:ln>
              <a:solidFill>
                <a:srgbClr val="FFFFFF"/>
              </a:solidFill>
              <a:effectLst/>
              <a:uLnTx/>
              <a:uFillTx/>
              <a:latin typeface="Calibri"/>
              <a:ea typeface="Calibri"/>
              <a:cs typeface="Calibri"/>
            </a:endParaRPr>
          </a:p>
        </p:txBody>
      </p:sp>
      <p:sp>
        <p:nvSpPr>
          <p:cNvPr id="7" name="Text 4">
            <a:extLst>
              <a:ext uri="{FF2B5EF4-FFF2-40B4-BE49-F238E27FC236}">
                <a16:creationId xmlns:a16="http://schemas.microsoft.com/office/drawing/2014/main" id="{0245376F-4756-767A-604E-CB591481A0B1}"/>
              </a:ext>
            </a:extLst>
          </p:cNvPr>
          <p:cNvSpPr txBox="1"/>
          <p:nvPr/>
        </p:nvSpPr>
        <p:spPr>
          <a:xfrm>
            <a:off x="6035040" y="2331720"/>
            <a:ext cx="5669280" cy="1280160"/>
          </a:xfrm>
          <a:prstGeom prst="rect">
            <a:avLst/>
          </a:prstGeom>
          <a:noFill/>
          <a:ln/>
        </p:spPr>
        <p:txBody>
          <a:bodyPr wrap="square" lIns="0" tIns="0" rIns="0" bIns="0" rtlCol="0" anchor="ctr"/>
          <a:lstStyle/>
          <a:p>
            <a:pPr>
              <a:defRPr/>
            </a:pPr>
            <a:r>
              <a:rPr lang="en-US" sz="2000">
                <a:solidFill>
                  <a:srgbClr val="C9D3FA"/>
                </a:solidFill>
                <a:latin typeface="Calibri"/>
                <a:ea typeface="Calibri"/>
                <a:cs typeface="Calibri"/>
              </a:rPr>
              <a:t>Current Capabilities</a:t>
            </a:r>
          </a:p>
          <a:p>
            <a:pPr>
              <a:defRPr/>
            </a:pPr>
            <a:r>
              <a:rPr lang="en-US" sz="2000">
                <a:solidFill>
                  <a:srgbClr val="C9D3FA"/>
                </a:solidFill>
                <a:latin typeface="Calibri"/>
                <a:ea typeface="Calibri"/>
                <a:cs typeface="Calibri"/>
              </a:rPr>
              <a:t>Roadmap in Q4</a:t>
            </a:r>
          </a:p>
          <a:p>
            <a:pPr>
              <a:defRPr/>
            </a:pPr>
            <a:r>
              <a:rPr lang="en-US" sz="2000">
                <a:solidFill>
                  <a:srgbClr val="C9D3FA"/>
                </a:solidFill>
                <a:latin typeface="Calibri"/>
                <a:ea typeface="Calibri"/>
                <a:cs typeface="Calibri"/>
              </a:rPr>
              <a:t>Applicability in other verticals (Fin </a:t>
            </a:r>
            <a:r>
              <a:rPr lang="en-US" sz="2000" err="1">
                <a:solidFill>
                  <a:srgbClr val="C9D3FA"/>
                </a:solidFill>
                <a:latin typeface="Calibri"/>
                <a:ea typeface="Calibri"/>
                <a:cs typeface="Calibri"/>
              </a:rPr>
              <a:t>Svcs</a:t>
            </a:r>
            <a:r>
              <a:rPr lang="en-US" sz="2000">
                <a:solidFill>
                  <a:srgbClr val="C9D3FA"/>
                </a:solidFill>
                <a:latin typeface="Calibri"/>
                <a:ea typeface="Calibri"/>
                <a:cs typeface="Calibri"/>
              </a:rPr>
              <a:t>, Healthcare and Retail)</a:t>
            </a:r>
          </a:p>
        </p:txBody>
      </p:sp>
      <p:sp>
        <p:nvSpPr>
          <p:cNvPr id="8" name="Wordmark">
            <a:extLst>
              <a:ext uri="{FF2B5EF4-FFF2-40B4-BE49-F238E27FC236}">
                <a16:creationId xmlns:a16="http://schemas.microsoft.com/office/drawing/2014/main" id="{223743B4-1FD3-32B9-C89B-8C69D78F94A8}"/>
              </a:ext>
            </a:extLst>
          </p:cNvPr>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9" name="Footer dot">
            <a:extLst>
              <a:ext uri="{FF2B5EF4-FFF2-40B4-BE49-F238E27FC236}">
                <a16:creationId xmlns:a16="http://schemas.microsoft.com/office/drawing/2014/main" id="{326C9825-B119-5A19-C983-2D3A338F8694}"/>
              </a:ext>
            </a:extLst>
          </p:cNvPr>
          <p:cNvSpPr/>
          <p:nvPr/>
        </p:nvSpPr>
        <p:spPr>
          <a:xfrm>
            <a:off x="8814816" y="6533388"/>
            <a:ext cx="82296" cy="82296"/>
          </a:xfrm>
          <a:prstGeom prst="ellipse">
            <a:avLst/>
          </a:prstGeom>
          <a:solidFill>
            <a:srgbClr val="0D9595"/>
          </a:solidFill>
          <a:ln w="12700">
            <a:solidFill>
              <a:srgbClr val="0D959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 7">
            <a:extLst>
              <a:ext uri="{FF2B5EF4-FFF2-40B4-BE49-F238E27FC236}">
                <a16:creationId xmlns:a16="http://schemas.microsoft.com/office/drawing/2014/main" id="{79E242B5-A999-68ED-FF04-36542E09D4C5}"/>
              </a:ext>
            </a:extLst>
          </p:cNvPr>
          <p:cNvSpPr txBox="1"/>
          <p:nvPr/>
        </p:nvSpPr>
        <p:spPr>
          <a:xfrm>
            <a:off x="8961120" y="6437376"/>
            <a:ext cx="25603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Confidential &amp; Proprietary  |  © 2026 JazzX AI</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25" name="Slide Number Placeholder 0">
            <a:extLst>
              <a:ext uri="{FF2B5EF4-FFF2-40B4-BE49-F238E27FC236}">
                <a16:creationId xmlns:a16="http://schemas.microsoft.com/office/drawing/2014/main" id="{64E190B4-A26D-3FD4-FAC6-4D17C166C06D}"/>
              </a:ext>
            </a:extLst>
          </p:cNvPr>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FFFFFF"/>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FFFFFF"/>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US" sz="900" b="0" i="0" u="none" strike="noStrike" kern="1200" cap="none" spc="0" normalizeH="0" baseline="0" noProof="0">
              <a:ln>
                <a:noFill/>
              </a:ln>
              <a:solidFill>
                <a:srgbClr val="FFFFFF"/>
              </a:solidFill>
              <a:effectLst/>
              <a:uLnTx/>
              <a:uFillTx/>
              <a:latin typeface="Calibri"/>
              <a:ea typeface="Calibri"/>
              <a:cs typeface="Calibri"/>
            </a:endParaRPr>
          </a:p>
        </p:txBody>
      </p:sp>
    </p:spTree>
    <p:extLst>
      <p:ext uri="{BB962C8B-B14F-4D97-AF65-F5344CB8AC3E}">
        <p14:creationId xmlns:p14="http://schemas.microsoft.com/office/powerpoint/2010/main" val="3193144010"/>
      </p:ext>
    </p:extLst>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ED7CFD-BDD0-807A-BADB-A616273857B2}"/>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0CB8357B-6794-A1A5-4ACD-6AB5C670339E}"/>
              </a:ext>
            </a:extLst>
          </p:cNvPr>
          <p:cNvPicPr>
            <a:picLocks noChangeAspect="1"/>
          </p:cNvPicPr>
          <p:nvPr/>
        </p:nvPicPr>
        <p:blipFill>
          <a:blip r:embed="rId4"/>
          <a:stretch>
            <a:fillRect/>
          </a:stretch>
        </p:blipFill>
        <p:spPr>
          <a:xfrm>
            <a:off x="5074920" y="4526280"/>
            <a:ext cx="7132320" cy="1920240"/>
          </a:xfrm>
          <a:prstGeom prst="rect">
            <a:avLst/>
          </a:prstGeom>
        </p:spPr>
      </p:pic>
      <p:sp>
        <p:nvSpPr>
          <p:cNvPr id="3" name="Section panel">
            <a:extLst>
              <a:ext uri="{FF2B5EF4-FFF2-40B4-BE49-F238E27FC236}">
                <a16:creationId xmlns:a16="http://schemas.microsoft.com/office/drawing/2014/main" id="{DDB2ADE5-744D-55AD-D112-1056F0909C88}"/>
              </a:ext>
            </a:extLst>
          </p:cNvPr>
          <p:cNvSpPr/>
          <p:nvPr/>
        </p:nvSpPr>
        <p:spPr>
          <a:xfrm>
            <a:off x="0" y="1170432"/>
            <a:ext cx="5394960" cy="4114800"/>
          </a:xfrm>
          <a:prstGeom prst="snip1Rect">
            <a:avLst/>
          </a:prstGeom>
          <a:solidFill>
            <a:srgbClr val="5069EC"/>
          </a:solidFill>
          <a:ln w="1270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 1">
            <a:extLst>
              <a:ext uri="{FF2B5EF4-FFF2-40B4-BE49-F238E27FC236}">
                <a16:creationId xmlns:a16="http://schemas.microsoft.com/office/drawing/2014/main" id="{DAD79621-A747-881C-D100-90F74E5AA54A}"/>
              </a:ext>
            </a:extLst>
          </p:cNvPr>
          <p:cNvSpPr txBox="1"/>
          <p:nvPr/>
        </p:nvSpPr>
        <p:spPr>
          <a:xfrm>
            <a:off x="411480" y="2240280"/>
            <a:ext cx="45720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kern="0" spc="100">
                <a:solidFill>
                  <a:srgbClr val="FFFFFF"/>
                </a:solidFill>
                <a:latin typeface="Calibri"/>
                <a:ea typeface="Calibri"/>
                <a:cs typeface="Calibri"/>
              </a:rPr>
              <a:t>02</a:t>
            </a:r>
            <a:endParaRPr kumimoji="0" lang="en-US" sz="1600" b="0" i="0" u="none" strike="noStrike" kern="1200" cap="none" spc="0" normalizeH="0" baseline="0" noProof="0">
              <a:ln>
                <a:noFill/>
              </a:ln>
              <a:solidFill>
                <a:prstClr val="black"/>
              </a:solidFill>
              <a:effectLst/>
              <a:uLnTx/>
              <a:uFillTx/>
              <a:latin typeface="Calibri"/>
              <a:ea typeface="+mn-ea"/>
              <a:cs typeface="+mn-cs"/>
            </a:endParaRPr>
          </a:p>
        </p:txBody>
      </p:sp>
      <p:sp>
        <p:nvSpPr>
          <p:cNvPr id="5" name="Section title">
            <a:extLst>
              <a:ext uri="{FF2B5EF4-FFF2-40B4-BE49-F238E27FC236}">
                <a16:creationId xmlns:a16="http://schemas.microsoft.com/office/drawing/2014/main" id="{83A2B47D-E71B-03FC-23CB-9E49F72229AB}"/>
              </a:ext>
            </a:extLst>
          </p:cNvPr>
          <p:cNvSpPr txBox="1"/>
          <p:nvPr/>
        </p:nvSpPr>
        <p:spPr>
          <a:xfrm>
            <a:off x="411480" y="2651760"/>
            <a:ext cx="4754880" cy="777240"/>
          </a:xfrm>
          <a:prstGeom prst="rect">
            <a:avLst/>
          </a:prstGeom>
          <a:noFill/>
          <a:ln/>
        </p:spPr>
        <p:txBody>
          <a:bodyPr wrap="square" lIns="0" tIns="0" rIns="0" bIns="0" rtlCol="0" anchor="ctr"/>
          <a:lstStyle/>
          <a:p>
            <a:pPr>
              <a:defRPr/>
            </a:pPr>
            <a:r>
              <a:rPr lang="en-US" sz="3600" b="1">
                <a:solidFill>
                  <a:srgbClr val="FFFFFF"/>
                </a:solidFill>
                <a:latin typeface="Calibri"/>
                <a:ea typeface="Calibri"/>
                <a:cs typeface="Calibri"/>
              </a:rPr>
              <a:t>Reinforcement Learning</a:t>
            </a:r>
            <a:endParaRPr lang="en-US" sz="3600" b="1" i="0" u="none" strike="noStrike" kern="1200" cap="none" spc="0" normalizeH="0" baseline="0" noProof="0">
              <a:ln>
                <a:noFill/>
              </a:ln>
              <a:solidFill>
                <a:srgbClr val="FFFFFF"/>
              </a:solidFill>
              <a:effectLst/>
              <a:uLnTx/>
              <a:uFillTx/>
              <a:latin typeface="Calibri"/>
              <a:ea typeface="Calibri"/>
              <a:cs typeface="Calibri"/>
            </a:endParaRPr>
          </a:p>
        </p:txBody>
      </p:sp>
      <p:sp>
        <p:nvSpPr>
          <p:cNvPr id="8" name="Wordmark">
            <a:extLst>
              <a:ext uri="{FF2B5EF4-FFF2-40B4-BE49-F238E27FC236}">
                <a16:creationId xmlns:a16="http://schemas.microsoft.com/office/drawing/2014/main" id="{EF1EE0AD-4846-DA3E-54F4-52FAAF09DD76}"/>
              </a:ext>
            </a:extLst>
          </p:cNvPr>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9" name="Footer dot">
            <a:extLst>
              <a:ext uri="{FF2B5EF4-FFF2-40B4-BE49-F238E27FC236}">
                <a16:creationId xmlns:a16="http://schemas.microsoft.com/office/drawing/2014/main" id="{4592097B-F45B-9768-62EB-B2DD85E44EF2}"/>
              </a:ext>
            </a:extLst>
          </p:cNvPr>
          <p:cNvSpPr/>
          <p:nvPr/>
        </p:nvSpPr>
        <p:spPr>
          <a:xfrm>
            <a:off x="8814816" y="6533388"/>
            <a:ext cx="82296" cy="82296"/>
          </a:xfrm>
          <a:prstGeom prst="ellipse">
            <a:avLst/>
          </a:prstGeom>
          <a:solidFill>
            <a:srgbClr val="0D9595"/>
          </a:solidFill>
          <a:ln w="12700">
            <a:solidFill>
              <a:srgbClr val="0D959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 7">
            <a:extLst>
              <a:ext uri="{FF2B5EF4-FFF2-40B4-BE49-F238E27FC236}">
                <a16:creationId xmlns:a16="http://schemas.microsoft.com/office/drawing/2014/main" id="{92826B35-8694-7A4D-20A2-4992A5E9A9AE}"/>
              </a:ext>
            </a:extLst>
          </p:cNvPr>
          <p:cNvSpPr txBox="1"/>
          <p:nvPr/>
        </p:nvSpPr>
        <p:spPr>
          <a:xfrm>
            <a:off x="8961120" y="6437376"/>
            <a:ext cx="25603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Confidential &amp; Proprietary  |  © 2026 JazzX AI</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25" name="Slide Number Placeholder 0">
            <a:extLst>
              <a:ext uri="{FF2B5EF4-FFF2-40B4-BE49-F238E27FC236}">
                <a16:creationId xmlns:a16="http://schemas.microsoft.com/office/drawing/2014/main" id="{AFD5D7E1-AEF4-12D8-64ED-9668407AD771}"/>
              </a:ext>
            </a:extLst>
          </p:cNvPr>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FFFFFF"/>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FFFFFF"/>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US" sz="900" b="0" i="0" u="none" strike="noStrike" kern="1200" cap="none" spc="0" normalizeH="0" baseline="0" noProof="0">
              <a:ln>
                <a:noFill/>
              </a:ln>
              <a:solidFill>
                <a:srgbClr val="FFFFFF"/>
              </a:solidFill>
              <a:effectLst/>
              <a:uLnTx/>
              <a:uFillTx/>
              <a:latin typeface="Calibri"/>
              <a:ea typeface="Calibri"/>
              <a:cs typeface="Calibri"/>
            </a:endParaRPr>
          </a:p>
        </p:txBody>
      </p:sp>
    </p:spTree>
    <p:extLst>
      <p:ext uri="{BB962C8B-B14F-4D97-AF65-F5344CB8AC3E}">
        <p14:creationId xmlns:p14="http://schemas.microsoft.com/office/powerpoint/2010/main" val="1437360018"/>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8AB994-8753-1F40-E270-63D8FEDF59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0282772-2BBB-9BFC-8417-4A8CF48FF5A0}"/>
              </a:ext>
            </a:extLst>
          </p:cNvPr>
          <p:cNvSpPr>
            <a:spLocks noGrp="1"/>
          </p:cNvSpPr>
          <p:nvPr>
            <p:ph type="title" idx="101"/>
          </p:nvPr>
        </p:nvSpPr>
        <p:spPr/>
        <p:txBody>
          <a:bodyPr wrap="square" lIns="91440" tIns="45720" rIns="91440" bIns="45720" rtlCol="0" anchor="t"/>
          <a:lstStyle/>
          <a:p>
            <a:r>
              <a:rPr lang="en-US">
                <a:latin typeface="Calibri"/>
                <a:ea typeface="Calibri"/>
                <a:cs typeface="Calibri"/>
              </a:rPr>
              <a:t>Proposed Content </a:t>
            </a:r>
            <a:endParaRPr lang="en-US"/>
          </a:p>
        </p:txBody>
      </p:sp>
      <p:sp>
        <p:nvSpPr>
          <p:cNvPr id="3" name="TextBox 2">
            <a:extLst>
              <a:ext uri="{FF2B5EF4-FFF2-40B4-BE49-F238E27FC236}">
                <a16:creationId xmlns:a16="http://schemas.microsoft.com/office/drawing/2014/main" id="{B185BCFC-3137-69FC-9CC2-089CB4148151}"/>
              </a:ext>
            </a:extLst>
          </p:cNvPr>
          <p:cNvSpPr txBox="1"/>
          <p:nvPr/>
        </p:nvSpPr>
        <p:spPr>
          <a:xfrm>
            <a:off x="511460" y="1145217"/>
            <a:ext cx="10939200" cy="341632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Calibri"/>
                <a:cs typeface="Calibri"/>
              </a:rPr>
              <a:t>1. What are the potential use cases of having a JazzX SRM for mortgage lending (1-slide, with increasing order of complexity.)</a:t>
            </a:r>
          </a:p>
          <a:p>
            <a:endParaRPr lang="en-US">
              <a:ea typeface="Calibri"/>
              <a:cs typeface="Calibri"/>
            </a:endParaRPr>
          </a:p>
          <a:p>
            <a:r>
              <a:rPr lang="en-US">
                <a:ea typeface="Calibri"/>
                <a:cs typeface="Calibri"/>
              </a:rPr>
              <a:t>2. How to go about building it (potential pre-trained S(L|R)M models, approaches – e.g. fine tuning, distillation, full RL etc.) as well as some combination.  (1-slide)</a:t>
            </a:r>
          </a:p>
          <a:p>
            <a:endParaRPr lang="en-US">
              <a:ea typeface="Calibri"/>
              <a:cs typeface="Calibri"/>
            </a:endParaRPr>
          </a:p>
          <a:p>
            <a:r>
              <a:rPr lang="en-US">
                <a:ea typeface="Calibri"/>
                <a:cs typeface="Calibri"/>
              </a:rPr>
              <a:t>3. What infra will be used/needed (1-slide)</a:t>
            </a:r>
          </a:p>
          <a:p>
            <a:endParaRPr lang="en-US">
              <a:ea typeface="Calibri"/>
              <a:cs typeface="Calibri"/>
            </a:endParaRPr>
          </a:p>
          <a:p>
            <a:r>
              <a:rPr lang="en-US">
                <a:ea typeface="Calibri"/>
                <a:cs typeface="Calibri"/>
              </a:rPr>
              <a:t>4.  Data – what can be used in the short term, and what is needed for this program over time (1-slide)</a:t>
            </a:r>
          </a:p>
          <a:p>
            <a:endParaRPr lang="en-US">
              <a:ea typeface="Calibri"/>
              <a:cs typeface="Calibri"/>
            </a:endParaRPr>
          </a:p>
          <a:p>
            <a:r>
              <a:rPr lang="en-US">
                <a:ea typeface="Calibri"/>
                <a:cs typeface="Calibri"/>
              </a:rPr>
              <a:t>5. Team needed (along with Nim and Rahul) (1-slide)</a:t>
            </a:r>
          </a:p>
          <a:p>
            <a:endParaRPr lang="en-US">
              <a:ea typeface="Calibri"/>
              <a:cs typeface="Calibri"/>
            </a:endParaRPr>
          </a:p>
        </p:txBody>
      </p:sp>
    </p:spTree>
    <p:extLst>
      <p:ext uri="{BB962C8B-B14F-4D97-AF65-F5344CB8AC3E}">
        <p14:creationId xmlns:p14="http://schemas.microsoft.com/office/powerpoint/2010/main" val="3336766890"/>
      </p:ext>
    </p:extLst>
  </p:cSld>
  <p:clrMapOvr>
    <a:masterClrMapping/>
  </p:clrMapOvr>
  <p:extLst>
    <p:ext uri="{6950BFC3-D8DA-4A85-94F7-54DA5524770B}">
      <p188:commentRel xmlns:p188="http://schemas.microsoft.com/office/powerpoint/2018/8/main" r:id="rId2"/>
    </p:ext>
  </p:extLs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REINFORCEMENT LEARNING  ·  USE CASES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SRM use cases range from instant answers to 2–3x cheaper income calculation</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Ordered from easiest to hardest: the benefit shifts from speed, to accuracy, to cost</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100" name="Use case card 1"/>
          <p:cNvSpPr/>
          <p:nvPr/>
        </p:nvSpPr>
        <p:spPr>
          <a:xfrm>
            <a:off x="457200" y="1460500"/>
            <a:ext cx="3619500" cy="4826000"/>
          </a:xfrm>
          <a:prstGeom prst="roundRect">
            <a:avLst>
              <a:gd name="adj" fmla="val 2712"/>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endParaRPr lang="en-US"/>
          </a:p>
        </p:txBody>
      </p:sp>
      <p:sp>
        <p:nvSpPr>
          <p:cNvPr id="101" name="Icon circle"/>
          <p:cNvSpPr/>
          <p:nvPr/>
        </p:nvSpPr>
        <p:spPr>
          <a:xfrm>
            <a:off x="609600" y="1587500"/>
            <a:ext cx="342900" cy="342900"/>
          </a:xfrm>
          <a:prstGeom prst="ellipse">
            <a:avLst/>
          </a:prstGeom>
          <a:solidFill>
            <a:srgbClr val="E4E9FD"/>
          </a:solidFill>
          <a:ln w="9525">
            <a:solidFill>
              <a:srgbClr val="E4E9FD"/>
            </a:solidFill>
          </a:ln>
        </p:spPr>
        <p:txBody>
          <a:bodyPr/>
          <a:lstStyle/>
          <a:p>
            <a:endParaRPr lang="en-US"/>
          </a:p>
        </p:txBody>
      </p:sp>
      <p:sp>
        <p:nvSpPr>
          <p:cNvPr id="102" name="Tier"/>
          <p:cNvSpPr txBox="1"/>
          <p:nvPr/>
        </p:nvSpPr>
        <p:spPr>
          <a:xfrm>
            <a:off x="1028700" y="1587500"/>
            <a:ext cx="2895600" cy="3429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5069EC"/>
                </a:solidFill>
                <a:latin typeface="Calibri" pitchFamily="34" charset="0"/>
                <a:ea typeface="Calibri" pitchFamily="34" charset="-122"/>
                <a:cs typeface="Calibri" pitchFamily="34" charset="-120"/>
              </a:rPr>
              <a:t>EASY  ·  LOOKUP</a:t>
            </a:r>
          </a:p>
        </p:txBody>
      </p:sp>
      <p:sp>
        <p:nvSpPr>
          <p:cNvPr id="103" name="Heading"/>
          <p:cNvSpPr txBox="1"/>
          <p:nvPr/>
        </p:nvSpPr>
        <p:spPr>
          <a:xfrm>
            <a:off x="609600" y="2032000"/>
            <a:ext cx="3314700" cy="4826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400" b="1" i="0" kern="1200" spc="0" baseline="0">
                <a:solidFill>
                  <a:srgbClr val="1B0065"/>
                </a:solidFill>
                <a:latin typeface="Calibri" pitchFamily="34" charset="0"/>
                <a:ea typeface="Calibri" pitchFamily="34" charset="-122"/>
                <a:cs typeface="Calibri" pitchFamily="34" charset="-120"/>
              </a:rPr>
              <a:t>Answer underwriter questions about the loan and Reasoner findings</a:t>
            </a:r>
          </a:p>
        </p:txBody>
      </p:sp>
      <p:sp>
        <p:nvSpPr>
          <p:cNvPr id="104" name="Example"/>
          <p:cNvSpPr txBox="1"/>
          <p:nvPr/>
        </p:nvSpPr>
        <p:spPr>
          <a:xfrm>
            <a:off x="609600" y="2565400"/>
            <a:ext cx="3314700" cy="5588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1" kern="1200" spc="0" baseline="0">
                <a:solidFill>
                  <a:srgbClr val="5B6472"/>
                </a:solidFill>
                <a:latin typeface="Calibri" pitchFamily="34" charset="0"/>
                <a:ea typeface="Calibri" pitchFamily="34" charset="-122"/>
                <a:cs typeface="Calibri" pitchFamily="34" charset="-120"/>
              </a:rPr>
              <a:t>Example: explain the DTI calculation, with every debt and income item and a reference to its source document.</a:t>
            </a:r>
          </a:p>
        </p:txBody>
      </p:sp>
      <p:sp>
        <p:nvSpPr>
          <p:cNvPr id="105" name="Today box"/>
          <p:cNvSpPr/>
          <p:nvPr/>
        </p:nvSpPr>
        <p:spPr>
          <a:xfrm>
            <a:off x="533400" y="3175000"/>
            <a:ext cx="3467100" cy="1092200"/>
          </a:xfrm>
          <a:prstGeom prst="roundRect">
            <a:avLst>
              <a:gd name="adj" fmla="val 6000"/>
            </a:avLst>
          </a:prstGeom>
          <a:solidFill>
            <a:srgbClr val="F3F6FF"/>
          </a:solidFill>
          <a:ln w="9525">
            <a:solidFill>
              <a:srgbClr val="D6DDF3"/>
            </a:solidFill>
          </a:ln>
        </p:spPr>
        <p:txBody>
          <a:bodyPr/>
          <a:lstStyle/>
          <a:p>
            <a:endParaRPr lang="en-US"/>
          </a:p>
        </p:txBody>
      </p:sp>
      <p:sp>
        <p:nvSpPr>
          <p:cNvPr id="106" name="Today label"/>
          <p:cNvSpPr txBox="1"/>
          <p:nvPr/>
        </p:nvSpPr>
        <p:spPr>
          <a:xfrm>
            <a:off x="609600" y="32512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5069EC"/>
                </a:solidFill>
                <a:latin typeface="Calibri" pitchFamily="34" charset="0"/>
                <a:ea typeface="Calibri" pitchFamily="34" charset="-122"/>
                <a:cs typeface="Calibri" pitchFamily="34" charset="-120"/>
              </a:rPr>
              <a:t>WHERE WE ARE TODAY</a:t>
            </a:r>
          </a:p>
        </p:txBody>
      </p:sp>
      <p:sp>
        <p:nvSpPr>
          <p:cNvPr id="107" name="Today text"/>
          <p:cNvSpPr txBox="1"/>
          <p:nvPr/>
        </p:nvSpPr>
        <p:spPr>
          <a:xfrm>
            <a:off x="609600" y="3454400"/>
            <a:ext cx="3314700" cy="7620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An easy lookup over Reasoner findings and loan documents. Models such as Luna already answer it cheaply and accurately.</a:t>
            </a:r>
          </a:p>
        </p:txBody>
      </p:sp>
      <p:sp>
        <p:nvSpPr>
          <p:cNvPr id="108" name="SRM box"/>
          <p:cNvSpPr/>
          <p:nvPr/>
        </p:nvSpPr>
        <p:spPr>
          <a:xfrm>
            <a:off x="533400" y="4343400"/>
            <a:ext cx="3467100" cy="1193800"/>
          </a:xfrm>
          <a:prstGeom prst="roundRect">
            <a:avLst>
              <a:gd name="adj" fmla="val 4545"/>
            </a:avLst>
          </a:prstGeom>
          <a:solidFill>
            <a:srgbClr val="E6F8F4"/>
          </a:solidFill>
          <a:ln w="9525">
            <a:solidFill>
              <a:srgbClr val="9FE3D6"/>
            </a:solidFill>
          </a:ln>
        </p:spPr>
        <p:txBody>
          <a:bodyPr/>
          <a:lstStyle/>
          <a:p>
            <a:endParaRPr lang="en-US"/>
          </a:p>
        </p:txBody>
      </p:sp>
      <p:sp>
        <p:nvSpPr>
          <p:cNvPr id="109" name="SRM label"/>
          <p:cNvSpPr txBox="1"/>
          <p:nvPr/>
        </p:nvSpPr>
        <p:spPr>
          <a:xfrm>
            <a:off x="609600" y="44196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0D9488"/>
                </a:solidFill>
                <a:latin typeface="Calibri" pitchFamily="34" charset="0"/>
                <a:ea typeface="Calibri" pitchFamily="34" charset="-122"/>
                <a:cs typeface="Calibri" pitchFamily="34" charset="-120"/>
              </a:rPr>
              <a:t>WHAT AN SRM WOULD ADD</a:t>
            </a:r>
          </a:p>
        </p:txBody>
      </p:sp>
      <p:sp>
        <p:nvSpPr>
          <p:cNvPr id="110" name="SRM bullets"/>
          <p:cNvSpPr txBox="1"/>
          <p:nvPr/>
        </p:nvSpPr>
        <p:spPr>
          <a:xfrm>
            <a:off x="609600" y="4635500"/>
            <a:ext cx="3314700" cy="863600"/>
          </a:xfrm>
          <a:prstGeom prst="rect">
            <a:avLst/>
          </a:prstGeom>
          <a:noFill/>
        </p:spPr>
        <p:txBody>
          <a:bodyPr wrap="square" lIns="0" tIns="0" rIns="0" bIns="0" rtlCol="0" anchor="t">
            <a:noAutofit/>
          </a:bodyPr>
          <a:lstStyle/>
          <a:p>
            <a:pPr marL="152400" indent="-152400" algn="l">
              <a:lnSpc>
                <a:spcPct val="100000"/>
              </a:lnSpc>
              <a:spcBef>
                <a:spcPts val="0"/>
              </a:spcBef>
              <a:spcAft>
                <a:spcPts val="300"/>
              </a:spcAft>
              <a:buClrTx/>
              <a:buSzPct val="100000"/>
              <a:buFontTx/>
              <a:buChar char="•"/>
            </a:pPr>
            <a:r>
              <a:rPr lang="en-US" sz="1100" b="0" i="0" kern="1200" spc="0" baseline="0">
                <a:solidFill>
                  <a:srgbClr val="1B0065"/>
                </a:solidFill>
                <a:latin typeface="Calibri" pitchFamily="34" charset="0"/>
                <a:ea typeface="Calibri" pitchFamily="34" charset="-122"/>
                <a:cs typeface="Calibri" pitchFamily="34" charset="-120"/>
              </a:rPr>
              <a:t>Answers in </a:t>
            </a:r>
            <a:r>
              <a:rPr lang="en-US" sz="1100" b="1" i="0" kern="1200" spc="0" baseline="0">
                <a:solidFill>
                  <a:srgbClr val="1B0065"/>
                </a:solidFill>
                <a:latin typeface="Calibri" pitchFamily="34" charset="0"/>
                <a:ea typeface="Calibri" pitchFamily="34" charset="-122"/>
                <a:cs typeface="Calibri" pitchFamily="34" charset="-120"/>
              </a:rPr>
              <a:t>1–2 seconds</a:t>
            </a:r>
          </a:p>
          <a:p>
            <a:pPr marL="152400" indent="-152400" algn="l">
              <a:lnSpc>
                <a:spcPct val="100000"/>
              </a:lnSpc>
              <a:spcBef>
                <a:spcPts val="0"/>
              </a:spcBef>
              <a:spcAft>
                <a:spcPts val="300"/>
              </a:spcAft>
              <a:buClrTx/>
              <a:buSzPct val="100000"/>
              <a:buFontTx/>
              <a:buChar char="•"/>
            </a:pPr>
            <a:r>
              <a:rPr lang="en-US" sz="1100" b="0" i="0" kern="1200" spc="0" baseline="0">
                <a:solidFill>
                  <a:srgbClr val="1B0065"/>
                </a:solidFill>
                <a:latin typeface="Calibri" pitchFamily="34" charset="0"/>
                <a:ea typeface="Calibri" pitchFamily="34" charset="-122"/>
                <a:cs typeface="Calibri" pitchFamily="34" charset="-120"/>
              </a:rPr>
              <a:t>Underwriters ask </a:t>
            </a:r>
            <a:r>
              <a:rPr lang="en-US" sz="1100">
                <a:solidFill>
                  <a:srgbClr val="1B0065"/>
                </a:solidFill>
                <a:latin typeface="Calibri" pitchFamily="34" charset="0"/>
                <a:ea typeface="Calibri" pitchFamily="34" charset="-122"/>
                <a:cs typeface="Calibri" pitchFamily="34" charset="-120"/>
              </a:rPr>
              <a:t>similar questions</a:t>
            </a:r>
            <a:r>
              <a:rPr lang="en-US" sz="1100" b="0" i="0" kern="1200" spc="0" baseline="0">
                <a:solidFill>
                  <a:srgbClr val="1B0065"/>
                </a:solidFill>
                <a:latin typeface="Calibri" pitchFamily="34" charset="0"/>
                <a:ea typeface="Calibri" pitchFamily="34" charset="-122"/>
                <a:cs typeface="Calibri" pitchFamily="34" charset="-120"/>
              </a:rPr>
              <a:t> many times on a loan, so every second saved </a:t>
            </a:r>
            <a:r>
              <a:rPr lang="en-US" sz="1100">
                <a:solidFill>
                  <a:srgbClr val="1B0065"/>
                </a:solidFill>
                <a:latin typeface="Calibri" pitchFamily="34" charset="0"/>
                <a:ea typeface="Calibri" pitchFamily="34" charset="-122"/>
                <a:cs typeface="Calibri" pitchFamily="34" charset="-120"/>
              </a:rPr>
              <a:t>counts.</a:t>
            </a:r>
            <a:endParaRPr lang="en-US" sz="1100" b="0" i="0" kern="1200" spc="0" baseline="0">
              <a:solidFill>
                <a:srgbClr val="1B0065"/>
              </a:solidFill>
              <a:latin typeface="Calibri" pitchFamily="34" charset="0"/>
              <a:ea typeface="Calibri" pitchFamily="34" charset="-122"/>
              <a:cs typeface="Calibri" pitchFamily="34" charset="-120"/>
            </a:endParaRPr>
          </a:p>
        </p:txBody>
      </p:sp>
      <p:sp>
        <p:nvSpPr>
          <p:cNvPr id="111" name="Where label"/>
          <p:cNvSpPr txBox="1"/>
          <p:nvPr/>
        </p:nvSpPr>
        <p:spPr>
          <a:xfrm>
            <a:off x="609600" y="56261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5B2D8E"/>
                </a:solidFill>
                <a:latin typeface="Calibri" pitchFamily="34" charset="0"/>
                <a:ea typeface="Calibri" pitchFamily="34" charset="-122"/>
                <a:cs typeface="Calibri" pitchFamily="34" charset="-120"/>
              </a:rPr>
              <a:t>WHERE IT RUNS</a:t>
            </a:r>
          </a:p>
        </p:txBody>
      </p:sp>
      <p:sp>
        <p:nvSpPr>
          <p:cNvPr id="112" name="Where text"/>
          <p:cNvSpPr txBox="1"/>
          <p:nvPr/>
        </p:nvSpPr>
        <p:spPr>
          <a:xfrm>
            <a:off x="609600" y="58166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0" kern="1200" spc="0" baseline="0">
                <a:solidFill>
                  <a:srgbClr val="1E293B"/>
                </a:solidFill>
                <a:latin typeface="Calibri" pitchFamily="34" charset="0"/>
                <a:ea typeface="Calibri" pitchFamily="34" charset="-122"/>
                <a:cs typeface="Calibri" pitchFamily="34" charset="-120"/>
              </a:rPr>
              <a:t>Mortgage App chat (Jazz Assistant)</a:t>
            </a:r>
          </a:p>
        </p:txBody>
      </p:sp>
      <p:sp>
        <p:nvSpPr>
          <p:cNvPr id="113" name="Benefit"/>
          <p:cNvSpPr txBox="1"/>
          <p:nvPr/>
        </p:nvSpPr>
        <p:spPr>
          <a:xfrm>
            <a:off x="609600" y="60452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1" i="0" kern="1200" spc="0" baseline="0">
                <a:solidFill>
                  <a:srgbClr val="5B2D8E"/>
                </a:solidFill>
                <a:latin typeface="Calibri" pitchFamily="34" charset="0"/>
                <a:ea typeface="Calibri" pitchFamily="34" charset="-122"/>
                <a:cs typeface="Calibri" pitchFamily="34" charset="-120"/>
              </a:rPr>
              <a:t>Primary benefit: </a:t>
            </a:r>
            <a:r>
              <a:rPr lang="en-US" sz="1100" b="1" i="0" kern="1200" spc="0" baseline="0">
                <a:solidFill>
                  <a:srgbClr val="1B0065"/>
                </a:solidFill>
                <a:latin typeface="Calibri" pitchFamily="34" charset="0"/>
                <a:ea typeface="Calibri" pitchFamily="34" charset="-122"/>
                <a:cs typeface="Calibri" pitchFamily="34" charset="-120"/>
              </a:rPr>
              <a:t>Speed</a:t>
            </a:r>
          </a:p>
        </p:txBody>
      </p:sp>
      <p:sp>
        <p:nvSpPr>
          <p:cNvPr id="114" name="Use case card 2"/>
          <p:cNvSpPr/>
          <p:nvPr/>
        </p:nvSpPr>
        <p:spPr>
          <a:xfrm>
            <a:off x="4286250" y="1460500"/>
            <a:ext cx="3619500" cy="4826000"/>
          </a:xfrm>
          <a:prstGeom prst="roundRect">
            <a:avLst>
              <a:gd name="adj" fmla="val 2712"/>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endParaRPr lang="en-US"/>
          </a:p>
        </p:txBody>
      </p:sp>
      <p:sp>
        <p:nvSpPr>
          <p:cNvPr id="115" name="Icon circle"/>
          <p:cNvSpPr/>
          <p:nvPr/>
        </p:nvSpPr>
        <p:spPr>
          <a:xfrm>
            <a:off x="4438650" y="1587500"/>
            <a:ext cx="342900" cy="342900"/>
          </a:xfrm>
          <a:prstGeom prst="ellipse">
            <a:avLst/>
          </a:prstGeom>
          <a:solidFill>
            <a:srgbClr val="E4E9FD"/>
          </a:solidFill>
          <a:ln w="9525">
            <a:solidFill>
              <a:srgbClr val="E4E9FD"/>
            </a:solidFill>
          </a:ln>
        </p:spPr>
        <p:txBody>
          <a:bodyPr/>
          <a:lstStyle/>
          <a:p>
            <a:endParaRPr lang="en-US"/>
          </a:p>
        </p:txBody>
      </p:sp>
      <p:sp>
        <p:nvSpPr>
          <p:cNvPr id="116" name="Tier"/>
          <p:cNvSpPr txBox="1"/>
          <p:nvPr/>
        </p:nvSpPr>
        <p:spPr>
          <a:xfrm>
            <a:off x="4857750" y="1587500"/>
            <a:ext cx="2895600" cy="3429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5069EC"/>
                </a:solidFill>
                <a:latin typeface="Calibri" pitchFamily="34" charset="0"/>
                <a:ea typeface="Calibri" pitchFamily="34" charset="-122"/>
                <a:cs typeface="Calibri" pitchFamily="34" charset="-120"/>
              </a:rPr>
              <a:t>MEDIUM  ·  SELF-CHECK</a:t>
            </a:r>
          </a:p>
        </p:txBody>
      </p:sp>
      <p:sp>
        <p:nvSpPr>
          <p:cNvPr id="117" name="Heading"/>
          <p:cNvSpPr txBox="1"/>
          <p:nvPr/>
        </p:nvSpPr>
        <p:spPr>
          <a:xfrm>
            <a:off x="4438650" y="2032000"/>
            <a:ext cx="3314700" cy="4826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400" b="1" i="0" kern="1200" spc="0" baseline="0">
                <a:solidFill>
                  <a:srgbClr val="1B0065"/>
                </a:solidFill>
                <a:latin typeface="Calibri" pitchFamily="34" charset="0"/>
                <a:ea typeface="Calibri" pitchFamily="34" charset="-122"/>
                <a:cs typeface="Calibri" pitchFamily="34" charset="-120"/>
              </a:rPr>
              <a:t>Check whether the Reasoner's income calculation is correct</a:t>
            </a:r>
          </a:p>
        </p:txBody>
      </p:sp>
      <p:sp>
        <p:nvSpPr>
          <p:cNvPr id="118" name="Example"/>
          <p:cNvSpPr txBox="1"/>
          <p:nvPr/>
        </p:nvSpPr>
        <p:spPr>
          <a:xfrm>
            <a:off x="4438650" y="2565400"/>
            <a:ext cx="3314700" cy="5588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1" kern="1200" spc="0" baseline="0">
                <a:solidFill>
                  <a:srgbClr val="5B6472"/>
                </a:solidFill>
                <a:latin typeface="Calibri" pitchFamily="34" charset="0"/>
                <a:ea typeface="Calibri" pitchFamily="34" charset="-122"/>
                <a:cs typeface="Calibri" pitchFamily="34" charset="-120"/>
              </a:rPr>
              <a:t>Are the income calculation and its references correct, per the JTBDs and the loan documents?</a:t>
            </a:r>
          </a:p>
        </p:txBody>
      </p:sp>
      <p:sp>
        <p:nvSpPr>
          <p:cNvPr id="119" name="Today box"/>
          <p:cNvSpPr/>
          <p:nvPr/>
        </p:nvSpPr>
        <p:spPr>
          <a:xfrm>
            <a:off x="4362450" y="3175000"/>
            <a:ext cx="3467100" cy="1092200"/>
          </a:xfrm>
          <a:prstGeom prst="roundRect">
            <a:avLst>
              <a:gd name="adj" fmla="val 6000"/>
            </a:avLst>
          </a:prstGeom>
          <a:solidFill>
            <a:srgbClr val="F3F6FF"/>
          </a:solidFill>
          <a:ln w="9525">
            <a:solidFill>
              <a:srgbClr val="D6DDF3"/>
            </a:solidFill>
          </a:ln>
        </p:spPr>
        <p:txBody>
          <a:bodyPr/>
          <a:lstStyle/>
          <a:p>
            <a:endParaRPr lang="en-US"/>
          </a:p>
        </p:txBody>
      </p:sp>
      <p:sp>
        <p:nvSpPr>
          <p:cNvPr id="120" name="Today label"/>
          <p:cNvSpPr txBox="1"/>
          <p:nvPr/>
        </p:nvSpPr>
        <p:spPr>
          <a:xfrm>
            <a:off x="4438650" y="32512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5069EC"/>
                </a:solidFill>
                <a:latin typeface="Calibri" pitchFamily="34" charset="0"/>
                <a:ea typeface="Calibri" pitchFamily="34" charset="-122"/>
                <a:cs typeface="Calibri" pitchFamily="34" charset="-120"/>
              </a:rPr>
              <a:t>WHERE WE ARE TODAY</a:t>
            </a:r>
          </a:p>
        </p:txBody>
      </p:sp>
      <p:sp>
        <p:nvSpPr>
          <p:cNvPr id="121" name="Today text"/>
          <p:cNvSpPr txBox="1"/>
          <p:nvPr/>
        </p:nvSpPr>
        <p:spPr>
          <a:xfrm>
            <a:off x="4438650" y="3454400"/>
            <a:ext cx="3314700" cy="7620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Hard for frontier models. In similar settings, when the answer is not in the documents, they recognize it only </a:t>
            </a:r>
            <a:r>
              <a:rPr lang="en-US" sz="1100" b="1" i="0" kern="1200" spc="0" baseline="0">
                <a:solidFill>
                  <a:srgbClr val="5B2D8E"/>
                </a:solidFill>
                <a:latin typeface="Calibri" pitchFamily="34" charset="0"/>
                <a:ea typeface="Calibri" pitchFamily="34" charset="-122"/>
                <a:cs typeface="Calibri" pitchFamily="34" charset="-120"/>
              </a:rPr>
              <a:t>5% of the time</a:t>
            </a:r>
            <a:r>
              <a:rPr lang="en-US" sz="1100" b="0" i="0" kern="1200" spc="0" baseline="0">
                <a:solidFill>
                  <a:srgbClr val="1B0065"/>
                </a:solidFill>
                <a:latin typeface="Calibri" pitchFamily="34" charset="0"/>
                <a:ea typeface="Calibri" pitchFamily="34" charset="-122"/>
                <a:cs typeface="Calibri" pitchFamily="34" charset="-120"/>
              </a:rPr>
              <a:t>. Accuracy on answerable questions is still being researched.</a:t>
            </a:r>
          </a:p>
        </p:txBody>
      </p:sp>
      <p:sp>
        <p:nvSpPr>
          <p:cNvPr id="122" name="SRM box"/>
          <p:cNvSpPr/>
          <p:nvPr/>
        </p:nvSpPr>
        <p:spPr>
          <a:xfrm>
            <a:off x="4362450" y="4343400"/>
            <a:ext cx="3467100" cy="1193800"/>
          </a:xfrm>
          <a:prstGeom prst="roundRect">
            <a:avLst>
              <a:gd name="adj" fmla="val 4545"/>
            </a:avLst>
          </a:prstGeom>
          <a:solidFill>
            <a:srgbClr val="E6F8F4"/>
          </a:solidFill>
          <a:ln w="9525">
            <a:solidFill>
              <a:srgbClr val="9FE3D6"/>
            </a:solidFill>
          </a:ln>
        </p:spPr>
        <p:txBody>
          <a:bodyPr/>
          <a:lstStyle/>
          <a:p>
            <a:endParaRPr lang="en-US"/>
          </a:p>
        </p:txBody>
      </p:sp>
      <p:sp>
        <p:nvSpPr>
          <p:cNvPr id="123" name="SRM label"/>
          <p:cNvSpPr txBox="1"/>
          <p:nvPr/>
        </p:nvSpPr>
        <p:spPr>
          <a:xfrm>
            <a:off x="4438650" y="44196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0D9488"/>
                </a:solidFill>
                <a:latin typeface="Calibri" pitchFamily="34" charset="0"/>
                <a:ea typeface="Calibri" pitchFamily="34" charset="-122"/>
                <a:cs typeface="Calibri" pitchFamily="34" charset="-120"/>
              </a:rPr>
              <a:t>WHAT AN SRM WOULD ADD</a:t>
            </a:r>
          </a:p>
        </p:txBody>
      </p:sp>
      <p:sp>
        <p:nvSpPr>
          <p:cNvPr id="124" name="SRM bullets"/>
          <p:cNvSpPr txBox="1"/>
          <p:nvPr/>
        </p:nvSpPr>
        <p:spPr>
          <a:xfrm>
            <a:off x="4438650" y="4635500"/>
            <a:ext cx="3314700" cy="863600"/>
          </a:xfrm>
          <a:prstGeom prst="rect">
            <a:avLst/>
          </a:prstGeom>
          <a:noFill/>
        </p:spPr>
        <p:txBody>
          <a:bodyPr wrap="square" lIns="0" tIns="0" rIns="0" bIns="0" rtlCol="0" anchor="t">
            <a:noAutofit/>
          </a:bodyPr>
          <a:lstStyle/>
          <a:p>
            <a:pPr marL="152400" indent="-152400" algn="l">
              <a:lnSpc>
                <a:spcPct val="100000"/>
              </a:lnSpc>
              <a:spcBef>
                <a:spcPts val="0"/>
              </a:spcBef>
              <a:spcAft>
                <a:spcPts val="300"/>
              </a:spcAft>
              <a:buClrTx/>
              <a:buSzPct val="100000"/>
              <a:buFontTx/>
              <a:buChar char="•"/>
            </a:pPr>
            <a:r>
              <a:rPr lang="en-US" sz="1100" b="0" i="0" kern="1200" spc="0" baseline="0">
                <a:solidFill>
                  <a:srgbClr val="1B0065"/>
                </a:solidFill>
                <a:latin typeface="Calibri" pitchFamily="34" charset="0"/>
                <a:ea typeface="Calibri" pitchFamily="34" charset="-122"/>
                <a:cs typeface="Calibri" pitchFamily="34" charset="-120"/>
              </a:rPr>
              <a:t>The Reasoner checks its own work</a:t>
            </a:r>
          </a:p>
          <a:p>
            <a:pPr marL="152400" indent="-152400" algn="l">
              <a:lnSpc>
                <a:spcPct val="100000"/>
              </a:lnSpc>
              <a:spcBef>
                <a:spcPts val="0"/>
              </a:spcBef>
              <a:spcAft>
                <a:spcPts val="300"/>
              </a:spcAft>
              <a:buClrTx/>
              <a:buSzPct val="100000"/>
              <a:buFontTx/>
              <a:buChar char="•"/>
            </a:pPr>
            <a:r>
              <a:rPr lang="en-US" sz="1100" b="0" i="0" kern="1200" spc="0" baseline="0">
                <a:solidFill>
                  <a:srgbClr val="1B0065"/>
                </a:solidFill>
                <a:latin typeface="Calibri" pitchFamily="34" charset="0"/>
                <a:ea typeface="Calibri" pitchFamily="34" charset="-122"/>
                <a:cs typeface="Calibri" pitchFamily="34" charset="-120"/>
              </a:rPr>
              <a:t>Escalates to a more expensive model or to humans only when needed</a:t>
            </a:r>
          </a:p>
          <a:p>
            <a:pPr marL="152400" indent="-152400" algn="l">
              <a:lnSpc>
                <a:spcPct val="100000"/>
              </a:lnSpc>
              <a:spcBef>
                <a:spcPts val="0"/>
              </a:spcBef>
              <a:spcAft>
                <a:spcPts val="300"/>
              </a:spcAft>
              <a:buClrTx/>
              <a:buSzPct val="100000"/>
              <a:buFontTx/>
              <a:buChar char="•"/>
            </a:pPr>
            <a:r>
              <a:rPr lang="en-US" sz="1100" b="0" i="0" kern="1200" spc="0" baseline="0">
                <a:solidFill>
                  <a:srgbClr val="1B0065"/>
                </a:solidFill>
                <a:latin typeface="Calibri" pitchFamily="34" charset="0"/>
                <a:ea typeface="Calibri" pitchFamily="34" charset="-122"/>
                <a:cs typeface="Calibri" pitchFamily="34" charset="-120"/>
              </a:rPr>
              <a:t>Adds parallel inferences only when needed</a:t>
            </a:r>
          </a:p>
        </p:txBody>
      </p:sp>
      <p:sp>
        <p:nvSpPr>
          <p:cNvPr id="125" name="Where label"/>
          <p:cNvSpPr txBox="1"/>
          <p:nvPr/>
        </p:nvSpPr>
        <p:spPr>
          <a:xfrm>
            <a:off x="4438650" y="56261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5B2D8E"/>
                </a:solidFill>
                <a:latin typeface="Calibri" pitchFamily="34" charset="0"/>
                <a:ea typeface="Calibri" pitchFamily="34" charset="-122"/>
                <a:cs typeface="Calibri" pitchFamily="34" charset="-120"/>
              </a:rPr>
              <a:t>WHERE IT RUNS</a:t>
            </a:r>
          </a:p>
        </p:txBody>
      </p:sp>
      <p:sp>
        <p:nvSpPr>
          <p:cNvPr id="126" name="Where text"/>
          <p:cNvSpPr txBox="1"/>
          <p:nvPr/>
        </p:nvSpPr>
        <p:spPr>
          <a:xfrm>
            <a:off x="4438650" y="58166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0" kern="1200" spc="0" baseline="0">
                <a:solidFill>
                  <a:srgbClr val="1E293B"/>
                </a:solidFill>
                <a:latin typeface="Calibri" pitchFamily="34" charset="0"/>
                <a:ea typeface="Calibri" pitchFamily="34" charset="-122"/>
                <a:cs typeface="Calibri" pitchFamily="34" charset="-120"/>
              </a:rPr>
              <a:t>Inside the Reasoner, as a meta analysis of its own work</a:t>
            </a:r>
          </a:p>
        </p:txBody>
      </p:sp>
      <p:sp>
        <p:nvSpPr>
          <p:cNvPr id="127" name="Benefit"/>
          <p:cNvSpPr txBox="1"/>
          <p:nvPr/>
        </p:nvSpPr>
        <p:spPr>
          <a:xfrm>
            <a:off x="4438650" y="60452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1" i="0" kern="1200" spc="0" baseline="0">
                <a:solidFill>
                  <a:srgbClr val="5B2D8E"/>
                </a:solidFill>
                <a:latin typeface="Calibri" pitchFamily="34" charset="0"/>
                <a:ea typeface="Calibri" pitchFamily="34" charset="-122"/>
                <a:cs typeface="Calibri" pitchFamily="34" charset="-120"/>
              </a:rPr>
              <a:t>Primary benefit: </a:t>
            </a:r>
            <a:r>
              <a:rPr lang="en-US" sz="1100" b="1" i="0" kern="1200" spc="0" baseline="0">
                <a:solidFill>
                  <a:srgbClr val="1B0065"/>
                </a:solidFill>
                <a:latin typeface="Calibri" pitchFamily="34" charset="0"/>
                <a:ea typeface="Calibri" pitchFamily="34" charset="-122"/>
                <a:cs typeface="Calibri" pitchFamily="34" charset="-120"/>
              </a:rPr>
              <a:t>Accuracy</a:t>
            </a:r>
          </a:p>
        </p:txBody>
      </p:sp>
      <p:sp>
        <p:nvSpPr>
          <p:cNvPr id="128" name="Use case card 3"/>
          <p:cNvSpPr/>
          <p:nvPr/>
        </p:nvSpPr>
        <p:spPr>
          <a:xfrm>
            <a:off x="8115300" y="1460500"/>
            <a:ext cx="3619500" cy="4826000"/>
          </a:xfrm>
          <a:prstGeom prst="roundRect">
            <a:avLst>
              <a:gd name="adj" fmla="val 2712"/>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endParaRPr lang="en-US"/>
          </a:p>
        </p:txBody>
      </p:sp>
      <p:sp>
        <p:nvSpPr>
          <p:cNvPr id="129" name="Icon circle"/>
          <p:cNvSpPr/>
          <p:nvPr/>
        </p:nvSpPr>
        <p:spPr>
          <a:xfrm>
            <a:off x="8267700" y="1587500"/>
            <a:ext cx="342900" cy="342900"/>
          </a:xfrm>
          <a:prstGeom prst="ellipse">
            <a:avLst/>
          </a:prstGeom>
          <a:solidFill>
            <a:srgbClr val="E4E9FD"/>
          </a:solidFill>
          <a:ln w="9525">
            <a:solidFill>
              <a:srgbClr val="E4E9FD"/>
            </a:solidFill>
          </a:ln>
        </p:spPr>
        <p:txBody>
          <a:bodyPr/>
          <a:lstStyle/>
          <a:p>
            <a:endParaRPr lang="en-US"/>
          </a:p>
        </p:txBody>
      </p:sp>
      <p:sp>
        <p:nvSpPr>
          <p:cNvPr id="130" name="Tier"/>
          <p:cNvSpPr txBox="1"/>
          <p:nvPr/>
        </p:nvSpPr>
        <p:spPr>
          <a:xfrm>
            <a:off x="8686800" y="1587500"/>
            <a:ext cx="2895600" cy="3429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5069EC"/>
                </a:solidFill>
                <a:latin typeface="Calibri" pitchFamily="34" charset="0"/>
                <a:ea typeface="Calibri" pitchFamily="34" charset="-122"/>
                <a:cs typeface="Calibri" pitchFamily="34" charset="-120"/>
              </a:rPr>
              <a:t>HARD  ·  JTBD-GUIDED UNDERWRITING</a:t>
            </a:r>
          </a:p>
        </p:txBody>
      </p:sp>
      <p:sp>
        <p:nvSpPr>
          <p:cNvPr id="131" name="Heading"/>
          <p:cNvSpPr txBox="1"/>
          <p:nvPr/>
        </p:nvSpPr>
        <p:spPr>
          <a:xfrm>
            <a:off x="8267700" y="2032000"/>
            <a:ext cx="3314700" cy="4826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400" b="1" i="0" kern="1200" spc="0" baseline="0">
                <a:solidFill>
                  <a:srgbClr val="1B0065"/>
                </a:solidFill>
                <a:latin typeface="Calibri" pitchFamily="34" charset="0"/>
                <a:ea typeface="Calibri" pitchFamily="34" charset="-122"/>
                <a:cs typeface="Calibri" pitchFamily="34" charset="-120"/>
              </a:rPr>
              <a:t>Underwrite the loan with a JTBD as the basis for each finding</a:t>
            </a:r>
          </a:p>
        </p:txBody>
      </p:sp>
      <p:sp>
        <p:nvSpPr>
          <p:cNvPr id="132" name="Example"/>
          <p:cNvSpPr txBox="1"/>
          <p:nvPr/>
        </p:nvSpPr>
        <p:spPr>
          <a:xfrm>
            <a:off x="8267700" y="2565400"/>
            <a:ext cx="3314700" cy="5588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1" kern="1200" spc="0" baseline="0">
                <a:solidFill>
                  <a:srgbClr val="5B6472"/>
                </a:solidFill>
                <a:latin typeface="Calibri" pitchFamily="34" charset="0"/>
                <a:ea typeface="Calibri" pitchFamily="34" charset="-122"/>
                <a:cs typeface="Calibri" pitchFamily="34" charset="-120"/>
              </a:rPr>
              <a:t>Calculate income and confirm required documents, following the JTBD specification for each finding.</a:t>
            </a:r>
          </a:p>
        </p:txBody>
      </p:sp>
      <p:sp>
        <p:nvSpPr>
          <p:cNvPr id="133" name="Today box"/>
          <p:cNvSpPr/>
          <p:nvPr/>
        </p:nvSpPr>
        <p:spPr>
          <a:xfrm>
            <a:off x="8191500" y="3175000"/>
            <a:ext cx="3467100" cy="1092200"/>
          </a:xfrm>
          <a:prstGeom prst="roundRect">
            <a:avLst>
              <a:gd name="adj" fmla="val 6000"/>
            </a:avLst>
          </a:prstGeom>
          <a:solidFill>
            <a:srgbClr val="F3F6FF"/>
          </a:solidFill>
          <a:ln w="9525">
            <a:solidFill>
              <a:srgbClr val="D6DDF3"/>
            </a:solidFill>
          </a:ln>
        </p:spPr>
        <p:txBody>
          <a:bodyPr/>
          <a:lstStyle/>
          <a:p>
            <a:endParaRPr lang="en-US"/>
          </a:p>
        </p:txBody>
      </p:sp>
      <p:sp>
        <p:nvSpPr>
          <p:cNvPr id="134" name="Today label"/>
          <p:cNvSpPr txBox="1"/>
          <p:nvPr/>
        </p:nvSpPr>
        <p:spPr>
          <a:xfrm>
            <a:off x="8267700" y="32512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5069EC"/>
                </a:solidFill>
                <a:latin typeface="Calibri" pitchFamily="34" charset="0"/>
                <a:ea typeface="Calibri" pitchFamily="34" charset="-122"/>
                <a:cs typeface="Calibri" pitchFamily="34" charset="-120"/>
              </a:rPr>
              <a:t>WHERE WE ARE TODAY</a:t>
            </a:r>
          </a:p>
        </p:txBody>
      </p:sp>
      <p:sp>
        <p:nvSpPr>
          <p:cNvPr id="135" name="Today text"/>
          <p:cNvSpPr txBox="1"/>
          <p:nvPr/>
        </p:nvSpPr>
        <p:spPr>
          <a:xfrm>
            <a:off x="8267700" y="3454400"/>
            <a:ext cx="3314700" cy="7620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One of the hardest questions we answer, and where </a:t>
            </a:r>
            <a:r>
              <a:rPr lang="en-US" sz="1100" b="1" i="0" kern="1200" spc="0" baseline="0">
                <a:solidFill>
                  <a:srgbClr val="5B2D8E"/>
                </a:solidFill>
                <a:latin typeface="Calibri" pitchFamily="34" charset="0"/>
                <a:ea typeface="Calibri" pitchFamily="34" charset="-122"/>
                <a:cs typeface="Calibri" pitchFamily="34" charset="-120"/>
              </a:rPr>
              <a:t>most of our LLM cost</a:t>
            </a:r>
            <a:r>
              <a:rPr lang="en-US" sz="1100" b="0" i="0" kern="1200" spc="0" baseline="0">
                <a:solidFill>
                  <a:srgbClr val="1B0065"/>
                </a:solidFill>
                <a:latin typeface="Calibri" pitchFamily="34" charset="0"/>
                <a:ea typeface="Calibri" pitchFamily="34" charset="-122"/>
                <a:cs typeface="Calibri" pitchFamily="34" charset="-120"/>
              </a:rPr>
              <a:t> is spent.</a:t>
            </a:r>
          </a:p>
          <a:p>
            <a:pPr marL="0" indent="0" algn="l">
              <a:lnSpc>
                <a:spcPct val="100000"/>
              </a:lnSpc>
              <a:spcBef>
                <a:spcPts val="500"/>
              </a:spcBef>
              <a:spcAft>
                <a:spcPts val="0"/>
              </a:spcAft>
              <a:buNone/>
            </a:pPr>
            <a:r>
              <a:rPr lang="en-US" sz="1000" b="1" i="1" kern="1200" spc="0" baseline="0">
                <a:solidFill>
                  <a:srgbClr val="5B6472"/>
                </a:solidFill>
                <a:latin typeface="Calibri" pitchFamily="34" charset="0"/>
                <a:ea typeface="Calibri" pitchFamily="34" charset="-122"/>
                <a:cs typeface="Calibri" pitchFamily="34" charset="-120"/>
              </a:rPr>
              <a:t>Not considered: </a:t>
            </a:r>
            <a:r>
              <a:rPr lang="en-US" sz="1000" b="0" i="1" kern="1200" spc="0" baseline="0">
                <a:solidFill>
                  <a:srgbClr val="5B6472"/>
                </a:solidFill>
                <a:latin typeface="Calibri" pitchFamily="34" charset="0"/>
                <a:ea typeface="Calibri" pitchFamily="34" charset="-122"/>
                <a:cs typeface="Calibri" pitchFamily="34" charset="-120"/>
              </a:rPr>
              <a:t>underwriting from scratch, which needs retraining for every guideline change and lender overlay.</a:t>
            </a:r>
          </a:p>
        </p:txBody>
      </p:sp>
      <p:sp>
        <p:nvSpPr>
          <p:cNvPr id="136" name="SRM box"/>
          <p:cNvSpPr/>
          <p:nvPr/>
        </p:nvSpPr>
        <p:spPr>
          <a:xfrm>
            <a:off x="8191500" y="4343400"/>
            <a:ext cx="3467100" cy="1193800"/>
          </a:xfrm>
          <a:prstGeom prst="roundRect">
            <a:avLst>
              <a:gd name="adj" fmla="val 4545"/>
            </a:avLst>
          </a:prstGeom>
          <a:solidFill>
            <a:srgbClr val="E6F8F4"/>
          </a:solidFill>
          <a:ln w="9525">
            <a:solidFill>
              <a:srgbClr val="9FE3D6"/>
            </a:solidFill>
          </a:ln>
        </p:spPr>
        <p:txBody>
          <a:bodyPr/>
          <a:lstStyle/>
          <a:p>
            <a:endParaRPr lang="en-US"/>
          </a:p>
        </p:txBody>
      </p:sp>
      <p:sp>
        <p:nvSpPr>
          <p:cNvPr id="137" name="SRM label"/>
          <p:cNvSpPr txBox="1"/>
          <p:nvPr/>
        </p:nvSpPr>
        <p:spPr>
          <a:xfrm>
            <a:off x="8267700" y="44196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0D9488"/>
                </a:solidFill>
                <a:latin typeface="Calibri" pitchFamily="34" charset="0"/>
                <a:ea typeface="Calibri" pitchFamily="34" charset="-122"/>
                <a:cs typeface="Calibri" pitchFamily="34" charset="-120"/>
              </a:rPr>
              <a:t>WHAT AN SRM WOULD ADD</a:t>
            </a:r>
          </a:p>
        </p:txBody>
      </p:sp>
      <p:sp>
        <p:nvSpPr>
          <p:cNvPr id="138" name="SRM bullets"/>
          <p:cNvSpPr txBox="1"/>
          <p:nvPr/>
        </p:nvSpPr>
        <p:spPr>
          <a:xfrm>
            <a:off x="8267700" y="4635500"/>
            <a:ext cx="3314700" cy="863600"/>
          </a:xfrm>
          <a:prstGeom prst="rect">
            <a:avLst/>
          </a:prstGeom>
          <a:noFill/>
        </p:spPr>
        <p:txBody>
          <a:bodyPr wrap="square" lIns="0" tIns="0" rIns="0" bIns="0" rtlCol="0" anchor="t">
            <a:noAutofit/>
          </a:bodyPr>
          <a:lstStyle/>
          <a:p>
            <a:pPr marL="152400" indent="-152400" algn="l">
              <a:lnSpc>
                <a:spcPct val="100000"/>
              </a:lnSpc>
              <a:spcBef>
                <a:spcPts val="0"/>
              </a:spcBef>
              <a:spcAft>
                <a:spcPts val="300"/>
              </a:spcAft>
              <a:buClrTx/>
              <a:buSzPct val="100000"/>
              <a:buFontTx/>
              <a:buChar char="•"/>
            </a:pPr>
            <a:r>
              <a:rPr lang="en-US" sz="1100" b="0" i="0" kern="1200" spc="0" baseline="0">
                <a:solidFill>
                  <a:srgbClr val="1B0065"/>
                </a:solidFill>
                <a:latin typeface="Calibri" pitchFamily="34" charset="0"/>
                <a:ea typeface="Calibri" pitchFamily="34" charset="-122"/>
                <a:cs typeface="Calibri" pitchFamily="34" charset="-120"/>
              </a:rPr>
              <a:t>Target: </a:t>
            </a:r>
            <a:r>
              <a:rPr lang="en-US" sz="1100" b="1" i="0" kern="1200" spc="0" baseline="0">
                <a:solidFill>
                  <a:srgbClr val="1B0065"/>
                </a:solidFill>
                <a:latin typeface="Calibri" pitchFamily="34" charset="0"/>
                <a:ea typeface="Calibri" pitchFamily="34" charset="-122"/>
                <a:cs typeface="Calibri" pitchFamily="34" charset="-120"/>
              </a:rPr>
              <a:t>2–3x lower cost</a:t>
            </a:r>
            <a:r>
              <a:rPr lang="en-US" sz="1100" b="0" i="0" kern="1200" spc="0" baseline="0">
                <a:solidFill>
                  <a:srgbClr val="1B0065"/>
                </a:solidFill>
                <a:latin typeface="Calibri" pitchFamily="34" charset="0"/>
                <a:ea typeface="Calibri" pitchFamily="34" charset="-122"/>
                <a:cs typeface="Calibri" pitchFamily="34" charset="-120"/>
              </a:rPr>
              <a:t> with an SRM</a:t>
            </a:r>
          </a:p>
          <a:p>
            <a:pPr marL="152400" indent="-152400" algn="l">
              <a:lnSpc>
                <a:spcPct val="100000"/>
              </a:lnSpc>
              <a:spcBef>
                <a:spcPts val="0"/>
              </a:spcBef>
              <a:spcAft>
                <a:spcPts val="300"/>
              </a:spcAft>
              <a:buClrTx/>
              <a:buSzPct val="100000"/>
              <a:buFontTx/>
              <a:buChar char="•"/>
            </a:pPr>
            <a:r>
              <a:rPr lang="en-US" sz="1100" b="0" i="0" kern="1200" spc="0" baseline="0">
                <a:solidFill>
                  <a:srgbClr val="1B0065"/>
                </a:solidFill>
                <a:latin typeface="Calibri" pitchFamily="34" charset="0"/>
                <a:ea typeface="Calibri" pitchFamily="34" charset="-122"/>
                <a:cs typeface="Calibri" pitchFamily="34" charset="-120"/>
              </a:rPr>
              <a:t>Applies to the largest share of our LLM spend</a:t>
            </a:r>
          </a:p>
          <a:p>
            <a:pPr marL="152400" indent="-152400" algn="l">
              <a:lnSpc>
                <a:spcPct val="100000"/>
              </a:lnSpc>
              <a:spcBef>
                <a:spcPts val="0"/>
              </a:spcBef>
              <a:spcAft>
                <a:spcPts val="300"/>
              </a:spcAft>
              <a:buClrTx/>
              <a:buSzPct val="100000"/>
              <a:buFontTx/>
              <a:buChar char="•"/>
            </a:pPr>
            <a:r>
              <a:rPr lang="en-US" sz="1100" b="1" i="0" kern="1200" spc="0" baseline="0">
                <a:solidFill>
                  <a:srgbClr val="1B0065"/>
                </a:solidFill>
                <a:latin typeface="Calibri" pitchFamily="34" charset="0"/>
                <a:ea typeface="Calibri" pitchFamily="34" charset="-122"/>
                <a:cs typeface="Calibri" pitchFamily="34" charset="-120"/>
              </a:rPr>
              <a:t>Serves any lender</a:t>
            </a:r>
            <a:r>
              <a:rPr lang="en-US" sz="1100" b="0" i="0" kern="1200" spc="0" baseline="0">
                <a:solidFill>
                  <a:srgbClr val="1B0065"/>
                </a:solidFill>
                <a:latin typeface="Calibri" pitchFamily="34" charset="0"/>
                <a:ea typeface="Calibri" pitchFamily="34" charset="-122"/>
                <a:cs typeface="Calibri" pitchFamily="34" charset="-120"/>
              </a:rPr>
              <a:t> by swapping in its JTBDs, with no retraining</a:t>
            </a:r>
          </a:p>
        </p:txBody>
      </p:sp>
      <p:sp>
        <p:nvSpPr>
          <p:cNvPr id="139" name="Where label"/>
          <p:cNvSpPr txBox="1"/>
          <p:nvPr/>
        </p:nvSpPr>
        <p:spPr>
          <a:xfrm>
            <a:off x="8267700" y="56261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0" spc="100" baseline="0">
                <a:solidFill>
                  <a:srgbClr val="5B2D8E"/>
                </a:solidFill>
                <a:latin typeface="Calibri" pitchFamily="34" charset="0"/>
                <a:ea typeface="Calibri" pitchFamily="34" charset="-122"/>
                <a:cs typeface="Calibri" pitchFamily="34" charset="-120"/>
              </a:rPr>
              <a:t>WHERE IT RUNS</a:t>
            </a:r>
          </a:p>
        </p:txBody>
      </p:sp>
      <p:sp>
        <p:nvSpPr>
          <p:cNvPr id="140" name="Where text"/>
          <p:cNvSpPr txBox="1"/>
          <p:nvPr/>
        </p:nvSpPr>
        <p:spPr>
          <a:xfrm>
            <a:off x="8267700" y="58166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0" kern="1200" spc="0" baseline="0">
                <a:solidFill>
                  <a:srgbClr val="1E293B"/>
                </a:solidFill>
                <a:latin typeface="Calibri" pitchFamily="34" charset="0"/>
                <a:ea typeface="Calibri" pitchFamily="34" charset="-122"/>
                <a:cs typeface="Calibri" pitchFamily="34" charset="-120"/>
              </a:rPr>
              <a:t>Reasoner</a:t>
            </a:r>
          </a:p>
        </p:txBody>
      </p:sp>
      <p:sp>
        <p:nvSpPr>
          <p:cNvPr id="141" name="Benefit"/>
          <p:cNvSpPr txBox="1"/>
          <p:nvPr/>
        </p:nvSpPr>
        <p:spPr>
          <a:xfrm>
            <a:off x="8267700" y="60452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1" i="0" kern="1200" spc="0" baseline="0">
                <a:solidFill>
                  <a:srgbClr val="5B2D8E"/>
                </a:solidFill>
                <a:latin typeface="Calibri" pitchFamily="34" charset="0"/>
                <a:ea typeface="Calibri" pitchFamily="34" charset="-122"/>
                <a:cs typeface="Calibri" pitchFamily="34" charset="-120"/>
              </a:rPr>
              <a:t>Primary benefit: </a:t>
            </a:r>
            <a:r>
              <a:rPr lang="en-US" sz="1100" b="1" i="0" kern="1200" spc="0" baseline="0">
                <a:solidFill>
                  <a:srgbClr val="1B0065"/>
                </a:solidFill>
                <a:latin typeface="Calibri" pitchFamily="34" charset="0"/>
                <a:ea typeface="Calibri" pitchFamily="34" charset="-122"/>
                <a:cs typeface="Calibri" pitchFamily="34" charset="-120"/>
              </a:rPr>
              <a:t>Cost</a:t>
            </a: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pic>
        <p:nvPicPr>
          <p:cNvPr id="142" name="Graphic 142" descr="Chat"/>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2150" y="1670050"/>
            <a:ext cx="177800" cy="177800"/>
          </a:xfrm>
          <a:prstGeom prst="rect">
            <a:avLst/>
          </a:prstGeom>
        </p:spPr>
      </p:pic>
      <p:pic>
        <p:nvPicPr>
          <p:cNvPr id="143" name="Graphic 143" descr="Magnifying glass"/>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521200" y="1670050"/>
            <a:ext cx="177800" cy="177800"/>
          </a:xfrm>
          <a:prstGeom prst="rect">
            <a:avLst/>
          </a:prstGeom>
        </p:spPr>
      </p:pic>
      <p:pic>
        <p:nvPicPr>
          <p:cNvPr id="144" name="Graphic 144" descr="Coins"/>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350250" y="1670050"/>
            <a:ext cx="177800" cy="177800"/>
          </a:xfrm>
          <a:prstGeom prst="rect">
            <a:avLst/>
          </a:prstGeom>
        </p:spPr>
      </p:pic>
    </p:spTree>
    <p:extLst>
      <p:ext uri="{BB962C8B-B14F-4D97-AF65-F5344CB8AC3E}">
        <p14:creationId xmlns:p14="http://schemas.microsoft.com/office/powerpoint/2010/main" val="408180852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indent="0" algn="l">
              <a:lnSpc>
                <a:spcPct val="100000"/>
              </a:lnSpc>
              <a:spcBef>
                <a:spcPts val="0"/>
              </a:spcBef>
              <a:spcAft>
                <a:spcPts val="0"/>
              </a:spcAft>
              <a:buNone/>
            </a:pPr>
            <a:r>
              <a:rPr lang="en-US" sz="1000" b="1" i="0" kern="1200" spc="300" baseline="0">
                <a:solidFill>
                  <a:srgbClr val="5069EC"/>
                </a:solidFill>
                <a:latin typeface="Calibri" pitchFamily="34" charset="0"/>
                <a:ea typeface="Calibri" pitchFamily="34" charset="-122"/>
                <a:cs typeface="Calibri" pitchFamily="34" charset="-120"/>
              </a:rPr>
              <a:t>REINFORCEMENT LEARNING  ·  BUILD APPROACH</a:t>
            </a: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lnSpc>
                <a:spcPct val="100000"/>
              </a:lnSpc>
              <a:spcBef>
                <a:spcPts val="0"/>
              </a:spcBef>
              <a:spcAft>
                <a:spcPts val="0"/>
              </a:spcAft>
              <a:buNone/>
            </a:pPr>
            <a:r>
              <a:rPr lang="en-US" sz="2600" b="1" i="0" kern="1200" spc="0" baseline="0">
                <a:solidFill>
                  <a:srgbClr val="3600AD"/>
                </a:solidFill>
                <a:latin typeface="Calibri" pitchFamily="34" charset="0"/>
                <a:ea typeface="Calibri" pitchFamily="34" charset="-122"/>
                <a:cs typeface="Calibri" pitchFamily="34" charset="-120"/>
              </a:rPr>
              <a:t>Training effort grows with difficulty, from distillation to SFT plus RLVR</a:t>
            </a:r>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indent="0" algn="l">
              <a:lnSpc>
                <a:spcPct val="100000"/>
              </a:lnSpc>
              <a:spcBef>
                <a:spcPts val="0"/>
              </a:spcBef>
              <a:spcAft>
                <a:spcPts val="0"/>
              </a:spcAft>
              <a:buNone/>
            </a:pPr>
            <a:r>
              <a:rPr lang="en-US" sz="1400" b="0" i="1" kern="1200" spc="0" baseline="0">
                <a:solidFill>
                  <a:srgbClr val="5B2D8E"/>
                </a:solidFill>
                <a:latin typeface="Calibri" pitchFamily="34" charset="0"/>
                <a:ea typeface="Calibri" pitchFamily="34" charset="-122"/>
                <a:cs typeface="Calibri" pitchFamily="34" charset="-120"/>
              </a:rPr>
              <a:t>Each step can reuse the model and data built for the step before it</a:t>
            </a:r>
          </a:p>
        </p:txBody>
      </p:sp>
      <p:sp>
        <p:nvSpPr>
          <p:cNvPr id="100" name="Use case card 1"/>
          <p:cNvSpPr/>
          <p:nvPr/>
        </p:nvSpPr>
        <p:spPr>
          <a:xfrm>
            <a:off x="457200" y="1460500"/>
            <a:ext cx="3619500" cy="4826000"/>
          </a:xfrm>
          <a:prstGeom prst="roundRect">
            <a:avLst>
              <a:gd name="adj" fmla="val 2712"/>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endParaRPr lang="en-US"/>
          </a:p>
        </p:txBody>
      </p:sp>
      <p:sp>
        <p:nvSpPr>
          <p:cNvPr id="101" name="Icon circle"/>
          <p:cNvSpPr/>
          <p:nvPr/>
        </p:nvSpPr>
        <p:spPr>
          <a:xfrm>
            <a:off x="609600" y="1587500"/>
            <a:ext cx="342900" cy="342900"/>
          </a:xfrm>
          <a:prstGeom prst="ellipse">
            <a:avLst/>
          </a:prstGeom>
          <a:solidFill>
            <a:srgbClr val="E4E9FD"/>
          </a:solidFill>
          <a:ln w="9525">
            <a:solidFill>
              <a:srgbClr val="E4E9FD"/>
            </a:solidFill>
          </a:ln>
        </p:spPr>
        <p:txBody>
          <a:bodyPr/>
          <a:lstStyle/>
          <a:p>
            <a:endParaRPr lang="en-US"/>
          </a:p>
        </p:txBody>
      </p:sp>
      <p:sp>
        <p:nvSpPr>
          <p:cNvPr id="102" name="Tier"/>
          <p:cNvSpPr txBox="1"/>
          <p:nvPr/>
        </p:nvSpPr>
        <p:spPr>
          <a:xfrm>
            <a:off x="1028700" y="1587500"/>
            <a:ext cx="2895600" cy="3429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5069EC"/>
                </a:solidFill>
                <a:latin typeface="Calibri" pitchFamily="34" charset="0"/>
                <a:ea typeface="Calibri" pitchFamily="34" charset="-122"/>
                <a:cs typeface="Calibri" pitchFamily="34" charset="-120"/>
              </a:rPr>
              <a:t>EASY  ·  LOOKUP</a:t>
            </a:r>
          </a:p>
        </p:txBody>
      </p:sp>
      <p:sp>
        <p:nvSpPr>
          <p:cNvPr id="103" name="Heading"/>
          <p:cNvSpPr txBox="1"/>
          <p:nvPr/>
        </p:nvSpPr>
        <p:spPr>
          <a:xfrm>
            <a:off x="609600" y="2032000"/>
            <a:ext cx="3314700" cy="4826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400" b="1" i="0" kern="1200" spc="0" baseline="0">
                <a:solidFill>
                  <a:srgbClr val="1B0065"/>
                </a:solidFill>
                <a:latin typeface="Calibri" pitchFamily="34" charset="0"/>
                <a:ea typeface="Calibri" pitchFamily="34" charset="-122"/>
                <a:cs typeface="Calibri" pitchFamily="34" charset="-120"/>
              </a:rPr>
              <a:t>Distill a small open model from frontier-model answers</a:t>
            </a:r>
          </a:p>
        </p:txBody>
      </p:sp>
      <p:sp>
        <p:nvSpPr>
          <p:cNvPr id="104" name="Example"/>
          <p:cNvSpPr txBox="1"/>
          <p:nvPr/>
        </p:nvSpPr>
        <p:spPr>
          <a:xfrm>
            <a:off x="609600" y="2565400"/>
            <a:ext cx="3314700" cy="5588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1" kern="1200" spc="0" baseline="0">
                <a:solidFill>
                  <a:srgbClr val="5B6472"/>
                </a:solidFill>
                <a:latin typeface="Calibri" pitchFamily="34" charset="0"/>
                <a:ea typeface="Calibri" pitchFamily="34" charset="-122"/>
                <a:cs typeface="Calibri" pitchFamily="34" charset="-120"/>
              </a:rPr>
              <a:t>Base model: </a:t>
            </a:r>
            <a:r>
              <a:rPr lang="en-US" sz="1100" b="1" i="1" kern="1200" spc="0" baseline="0">
                <a:solidFill>
                  <a:srgbClr val="5B6472"/>
                </a:solidFill>
                <a:latin typeface="Calibri" pitchFamily="34" charset="0"/>
                <a:ea typeface="Calibri" pitchFamily="34" charset="-122"/>
                <a:cs typeface="Calibri" pitchFamily="34" charset="-120"/>
              </a:rPr>
              <a:t>Qwen3-4B-Instruct-2507</a:t>
            </a:r>
            <a:r>
              <a:rPr lang="en-US" sz="1100" b="0" i="1" kern="1200" spc="0" baseline="0">
                <a:solidFill>
                  <a:srgbClr val="5B6472"/>
                </a:solidFill>
                <a:latin typeface="Calibri" pitchFamily="34" charset="0"/>
                <a:ea typeface="Calibri" pitchFamily="34" charset="-122"/>
                <a:cs typeface="Calibri" pitchFamily="34" charset="-120"/>
              </a:rPr>
              <a:t> (small, non-reasoning)</a:t>
            </a:r>
          </a:p>
        </p:txBody>
      </p:sp>
      <p:sp>
        <p:nvSpPr>
          <p:cNvPr id="105" name="Today box"/>
          <p:cNvSpPr/>
          <p:nvPr/>
        </p:nvSpPr>
        <p:spPr>
          <a:xfrm>
            <a:off x="533400" y="3175000"/>
            <a:ext cx="3467100" cy="1092200"/>
          </a:xfrm>
          <a:prstGeom prst="roundRect">
            <a:avLst>
              <a:gd name="adj" fmla="val 6000"/>
            </a:avLst>
          </a:prstGeom>
          <a:solidFill>
            <a:srgbClr val="F3F6FF"/>
          </a:solidFill>
          <a:ln w="9525">
            <a:solidFill>
              <a:srgbClr val="D6DDF3"/>
            </a:solidFill>
          </a:ln>
        </p:spPr>
        <p:txBody>
          <a:bodyPr/>
          <a:lstStyle/>
          <a:p>
            <a:endParaRPr lang="en-US"/>
          </a:p>
        </p:txBody>
      </p:sp>
      <p:sp>
        <p:nvSpPr>
          <p:cNvPr id="106" name="Today label"/>
          <p:cNvSpPr txBox="1"/>
          <p:nvPr/>
        </p:nvSpPr>
        <p:spPr>
          <a:xfrm>
            <a:off x="609600" y="32512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5069EC"/>
                </a:solidFill>
                <a:latin typeface="Calibri" pitchFamily="34" charset="0"/>
                <a:ea typeface="Calibri" pitchFamily="34" charset="-122"/>
                <a:cs typeface="Calibri" pitchFamily="34" charset="-120"/>
              </a:rPr>
              <a:t>TRAINING DATA</a:t>
            </a:r>
          </a:p>
        </p:txBody>
      </p:sp>
      <p:sp>
        <p:nvSpPr>
          <p:cNvPr id="107" name="Today text"/>
          <p:cNvSpPr txBox="1"/>
          <p:nvPr/>
        </p:nvSpPr>
        <p:spPr>
          <a:xfrm>
            <a:off x="609600" y="3454400"/>
            <a:ext cx="3314700" cy="762000"/>
          </a:xfrm>
          <a:prstGeom prst="rect">
            <a:avLst/>
          </a:prstGeom>
          <a:noFill/>
        </p:spPr>
        <p:txBody>
          <a:bodyPr wrap="square" lIns="0" tIns="0" rIns="0" bIns="0" rtlCol="0" anchor="t">
            <a:noAutofit/>
          </a:bodyPr>
          <a:lstStyle/>
          <a:p>
            <a:r>
              <a:rPr lang="en-US" sz="1100" b="0" i="0" kern="1200" spc="0" baseline="0">
                <a:solidFill>
                  <a:srgbClr val="1B0065"/>
                </a:solidFill>
                <a:latin typeface="Calibri"/>
                <a:ea typeface="Calibri"/>
                <a:cs typeface="Calibri"/>
              </a:rPr>
              <a:t>Answers from </a:t>
            </a:r>
            <a:r>
              <a:rPr lang="en-US" sz="1100" b="1" i="0" kern="1200" spc="0" baseline="0">
                <a:solidFill>
                  <a:srgbClr val="1B0065"/>
                </a:solidFill>
                <a:latin typeface="Calibri"/>
                <a:ea typeface="Calibri"/>
                <a:cs typeface="Calibri"/>
              </a:rPr>
              <a:t>frontier models</a:t>
            </a:r>
            <a:r>
              <a:rPr lang="en-US" sz="1100" b="0" i="0" kern="1200" spc="0" baseline="0">
                <a:solidFill>
                  <a:srgbClr val="1B0065"/>
                </a:solidFill>
                <a:latin typeface="Calibri"/>
                <a:ea typeface="Calibri"/>
                <a:cs typeface="Calibri"/>
              </a:rPr>
              <a:t> to real underwriter questions, used as teacher outputs to train the cheaper</a:t>
            </a:r>
            <a:r>
              <a:rPr lang="en-US" sz="1100">
                <a:solidFill>
                  <a:srgbClr val="1B0065"/>
                </a:solidFill>
                <a:latin typeface="Calibri"/>
                <a:ea typeface="Calibri"/>
                <a:cs typeface="Calibri"/>
              </a:rPr>
              <a:t>/student model</a:t>
            </a:r>
            <a:r>
              <a:rPr lang="en-US" sz="1100" b="0" i="0" kern="1200" spc="0" baseline="0">
                <a:solidFill>
                  <a:srgbClr val="1B0065"/>
                </a:solidFill>
                <a:latin typeface="Calibri"/>
                <a:ea typeface="Calibri"/>
                <a:cs typeface="Calibri"/>
              </a:rPr>
              <a:t>.</a:t>
            </a:r>
          </a:p>
        </p:txBody>
      </p:sp>
      <p:sp>
        <p:nvSpPr>
          <p:cNvPr id="108" name="SRM box"/>
          <p:cNvSpPr/>
          <p:nvPr/>
        </p:nvSpPr>
        <p:spPr>
          <a:xfrm>
            <a:off x="533400" y="4343400"/>
            <a:ext cx="3467100" cy="1193800"/>
          </a:xfrm>
          <a:prstGeom prst="roundRect">
            <a:avLst>
              <a:gd name="adj" fmla="val 4545"/>
            </a:avLst>
          </a:prstGeom>
          <a:solidFill>
            <a:srgbClr val="E6F8F4"/>
          </a:solidFill>
          <a:ln w="9525">
            <a:solidFill>
              <a:srgbClr val="9FE3D6"/>
            </a:solidFill>
          </a:ln>
        </p:spPr>
        <p:txBody>
          <a:bodyPr/>
          <a:lstStyle/>
          <a:p>
            <a:endParaRPr lang="en-US"/>
          </a:p>
        </p:txBody>
      </p:sp>
      <p:sp>
        <p:nvSpPr>
          <p:cNvPr id="109" name="SRM label"/>
          <p:cNvSpPr txBox="1"/>
          <p:nvPr/>
        </p:nvSpPr>
        <p:spPr>
          <a:xfrm>
            <a:off x="609600" y="44196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0D9488"/>
                </a:solidFill>
                <a:latin typeface="Calibri" pitchFamily="34" charset="0"/>
                <a:ea typeface="Calibri" pitchFamily="34" charset="-122"/>
                <a:cs typeface="Calibri" pitchFamily="34" charset="-120"/>
              </a:rPr>
              <a:t>HOW WE TRAIN</a:t>
            </a:r>
          </a:p>
        </p:txBody>
      </p:sp>
      <p:sp>
        <p:nvSpPr>
          <p:cNvPr id="110" name="SRM bullets"/>
          <p:cNvSpPr txBox="1"/>
          <p:nvPr/>
        </p:nvSpPr>
        <p:spPr>
          <a:xfrm>
            <a:off x="609600" y="4635500"/>
            <a:ext cx="3314700" cy="863600"/>
          </a:xfrm>
          <a:prstGeom prst="rect">
            <a:avLst/>
          </a:prstGeom>
          <a:noFill/>
        </p:spPr>
        <p:txBody>
          <a:bodyPr wrap="square" lIns="0" tIns="0" rIns="0" bIns="0" rtlCol="0" anchor="t">
            <a:noAutofit/>
          </a:bodyPr>
          <a:lstStyle/>
          <a:p>
            <a:pPr marL="152400" indent="-152400" algn="l">
              <a:lnSpc>
                <a:spcPct val="100000"/>
              </a:lnSpc>
              <a:spcBef>
                <a:spcPts val="0"/>
              </a:spcBef>
              <a:spcAft>
                <a:spcPts val="300"/>
              </a:spcAft>
              <a:buClrTx/>
              <a:buSzPct val="100000"/>
              <a:buFontTx/>
              <a:buChar char="•"/>
            </a:pPr>
            <a:r>
              <a:rPr lang="en-US" sz="1100" b="1" i="0" kern="1200" spc="0" baseline="0">
                <a:solidFill>
                  <a:srgbClr val="1B0065"/>
                </a:solidFill>
                <a:latin typeface="Calibri" pitchFamily="34" charset="0"/>
                <a:ea typeface="Calibri" pitchFamily="34" charset="-122"/>
                <a:cs typeface="Calibri" pitchFamily="34" charset="-120"/>
              </a:rPr>
              <a:t>Distillation</a:t>
            </a:r>
            <a:r>
              <a:rPr lang="en-US" sz="1100" b="0" i="0" kern="1200" spc="0" baseline="0">
                <a:solidFill>
                  <a:srgbClr val="1B0065"/>
                </a:solidFill>
                <a:latin typeface="Calibri" pitchFamily="34" charset="0"/>
                <a:ea typeface="Calibri" pitchFamily="34" charset="-122"/>
                <a:cs typeface="Calibri" pitchFamily="34" charset="-120"/>
              </a:rPr>
              <a:t> only: no reward design needed</a:t>
            </a:r>
          </a:p>
          <a:p>
            <a:pPr marL="152400" indent="-152400" algn="l">
              <a:lnSpc>
                <a:spcPct val="100000"/>
              </a:lnSpc>
              <a:spcBef>
                <a:spcPts val="0"/>
              </a:spcBef>
              <a:spcAft>
                <a:spcPts val="300"/>
              </a:spcAft>
              <a:buClrTx/>
              <a:buSzPct val="100000"/>
              <a:buFontTx/>
              <a:buChar char="•"/>
            </a:pPr>
            <a:r>
              <a:rPr lang="en-US" sz="1100" b="0" i="0" kern="1200" spc="0" baseline="0">
                <a:solidFill>
                  <a:srgbClr val="1B0065"/>
                </a:solidFill>
                <a:latin typeface="Calibri" pitchFamily="34" charset="0"/>
                <a:ea typeface="Calibri" pitchFamily="34" charset="-122"/>
                <a:cs typeface="Calibri" pitchFamily="34" charset="-120"/>
              </a:rPr>
              <a:t>Target: match frontier answers at 1–2 second latency</a:t>
            </a:r>
          </a:p>
        </p:txBody>
      </p:sp>
      <p:sp>
        <p:nvSpPr>
          <p:cNvPr id="111" name="Where label"/>
          <p:cNvSpPr txBox="1"/>
          <p:nvPr/>
        </p:nvSpPr>
        <p:spPr>
          <a:xfrm>
            <a:off x="609600" y="56261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5B2D8E"/>
                </a:solidFill>
                <a:latin typeface="Calibri" pitchFamily="34" charset="0"/>
                <a:ea typeface="Calibri" pitchFamily="34" charset="-122"/>
                <a:cs typeface="Calibri" pitchFamily="34" charset="-120"/>
              </a:rPr>
              <a:t>HOW IT COMBINES</a:t>
            </a:r>
          </a:p>
        </p:txBody>
      </p:sp>
      <p:sp>
        <p:nvSpPr>
          <p:cNvPr id="112" name="Where text"/>
          <p:cNvSpPr txBox="1"/>
          <p:nvPr/>
        </p:nvSpPr>
        <p:spPr>
          <a:xfrm>
            <a:off x="609600" y="58166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0" kern="1200" spc="0" baseline="0">
                <a:solidFill>
                  <a:srgbClr val="1E293B"/>
                </a:solidFill>
                <a:latin typeface="Calibri" pitchFamily="34" charset="0"/>
                <a:ea typeface="Calibri" pitchFamily="34" charset="-122"/>
                <a:cs typeface="Calibri" pitchFamily="34" charset="-120"/>
              </a:rPr>
              <a:t>Its frontier-answer data can seed SFT for cases 2 and 3</a:t>
            </a:r>
          </a:p>
        </p:txBody>
      </p:sp>
      <p:sp>
        <p:nvSpPr>
          <p:cNvPr id="113" name="Benefit"/>
          <p:cNvSpPr txBox="1"/>
          <p:nvPr/>
        </p:nvSpPr>
        <p:spPr>
          <a:xfrm>
            <a:off x="609600" y="60452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1" i="0" kern="1200" spc="0" baseline="0">
                <a:solidFill>
                  <a:srgbClr val="5B2D8E"/>
                </a:solidFill>
                <a:latin typeface="Calibri" pitchFamily="34" charset="0"/>
                <a:ea typeface="Calibri" pitchFamily="34" charset="-122"/>
                <a:cs typeface="Calibri" pitchFamily="34" charset="-120"/>
              </a:rPr>
              <a:t>Build effort: </a:t>
            </a:r>
            <a:r>
              <a:rPr lang="en-US" sz="1100" b="1" i="0" kern="1200" spc="0" baseline="0">
                <a:solidFill>
                  <a:srgbClr val="1B0065"/>
                </a:solidFill>
                <a:latin typeface="Calibri" pitchFamily="34" charset="0"/>
                <a:ea typeface="Calibri" pitchFamily="34" charset="-122"/>
                <a:cs typeface="Calibri" pitchFamily="34" charset="-120"/>
              </a:rPr>
              <a:t>Low</a:t>
            </a:r>
          </a:p>
        </p:txBody>
      </p:sp>
      <p:sp>
        <p:nvSpPr>
          <p:cNvPr id="114" name="Use case card 2"/>
          <p:cNvSpPr/>
          <p:nvPr/>
        </p:nvSpPr>
        <p:spPr>
          <a:xfrm>
            <a:off x="4286250" y="1460500"/>
            <a:ext cx="3619500" cy="4826000"/>
          </a:xfrm>
          <a:prstGeom prst="roundRect">
            <a:avLst>
              <a:gd name="adj" fmla="val 2712"/>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endParaRPr lang="en-US"/>
          </a:p>
        </p:txBody>
      </p:sp>
      <p:sp>
        <p:nvSpPr>
          <p:cNvPr id="115" name="Icon circle"/>
          <p:cNvSpPr/>
          <p:nvPr/>
        </p:nvSpPr>
        <p:spPr>
          <a:xfrm>
            <a:off x="4438650" y="1587500"/>
            <a:ext cx="342900" cy="342900"/>
          </a:xfrm>
          <a:prstGeom prst="ellipse">
            <a:avLst/>
          </a:prstGeom>
          <a:solidFill>
            <a:srgbClr val="E4E9FD"/>
          </a:solidFill>
          <a:ln w="9525">
            <a:solidFill>
              <a:srgbClr val="E4E9FD"/>
            </a:solidFill>
          </a:ln>
        </p:spPr>
        <p:txBody>
          <a:bodyPr/>
          <a:lstStyle/>
          <a:p>
            <a:endParaRPr lang="en-US"/>
          </a:p>
        </p:txBody>
      </p:sp>
      <p:sp>
        <p:nvSpPr>
          <p:cNvPr id="116" name="Tier"/>
          <p:cNvSpPr txBox="1"/>
          <p:nvPr/>
        </p:nvSpPr>
        <p:spPr>
          <a:xfrm>
            <a:off x="4857750" y="1587500"/>
            <a:ext cx="2895600" cy="3429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5069EC"/>
                </a:solidFill>
                <a:latin typeface="Calibri" pitchFamily="34" charset="0"/>
                <a:ea typeface="Calibri" pitchFamily="34" charset="-122"/>
                <a:cs typeface="Calibri" pitchFamily="34" charset="-120"/>
              </a:rPr>
              <a:t>MEDIUM  ·  SELF-CHECK</a:t>
            </a:r>
          </a:p>
        </p:txBody>
      </p:sp>
      <p:sp>
        <p:nvSpPr>
          <p:cNvPr id="117" name="Heading"/>
          <p:cNvSpPr txBox="1"/>
          <p:nvPr/>
        </p:nvSpPr>
        <p:spPr>
          <a:xfrm>
            <a:off x="4438650" y="2032000"/>
            <a:ext cx="3314700" cy="4826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400" b="1" i="0" kern="1200" spc="0" baseline="0">
                <a:solidFill>
                  <a:srgbClr val="1B0065"/>
                </a:solidFill>
                <a:latin typeface="Calibri" pitchFamily="34" charset="0"/>
                <a:ea typeface="Calibri" pitchFamily="34" charset="-122"/>
                <a:cs typeface="Calibri" pitchFamily="34" charset="-120"/>
              </a:rPr>
              <a:t>SFT or RLVR on cases where frontier models fail</a:t>
            </a:r>
          </a:p>
        </p:txBody>
      </p:sp>
      <p:sp>
        <p:nvSpPr>
          <p:cNvPr id="118" name="Example"/>
          <p:cNvSpPr txBox="1"/>
          <p:nvPr/>
        </p:nvSpPr>
        <p:spPr>
          <a:xfrm>
            <a:off x="4438650" y="2565400"/>
            <a:ext cx="3314700" cy="5588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1" kern="1200" spc="0" baseline="0">
                <a:solidFill>
                  <a:srgbClr val="5B6472"/>
                </a:solidFill>
                <a:latin typeface="Calibri" pitchFamily="34" charset="0"/>
                <a:ea typeface="Calibri" pitchFamily="34" charset="-122"/>
                <a:cs typeface="Calibri" pitchFamily="34" charset="-120"/>
              </a:rPr>
              <a:t>Base model: </a:t>
            </a:r>
            <a:r>
              <a:rPr lang="en-US" sz="1100" b="1" i="1" kern="1200" spc="0" baseline="0">
                <a:solidFill>
                  <a:srgbClr val="5B6472"/>
                </a:solidFill>
                <a:latin typeface="Calibri" pitchFamily="34" charset="0"/>
                <a:ea typeface="Calibri" pitchFamily="34" charset="-122"/>
                <a:cs typeface="Calibri" pitchFamily="34" charset="-120"/>
              </a:rPr>
              <a:t>Qwen3-8B</a:t>
            </a:r>
            <a:r>
              <a:rPr lang="en-US" sz="1100" b="0" i="1" kern="1200" spc="0" baseline="0">
                <a:solidFill>
                  <a:srgbClr val="5B6472"/>
                </a:solidFill>
                <a:latin typeface="Calibri" pitchFamily="34" charset="0"/>
                <a:ea typeface="Calibri" pitchFamily="34" charset="-122"/>
                <a:cs typeface="Calibri" pitchFamily="34" charset="-120"/>
              </a:rPr>
              <a:t> (8B reasoning, thinking mode)</a:t>
            </a:r>
          </a:p>
        </p:txBody>
      </p:sp>
      <p:sp>
        <p:nvSpPr>
          <p:cNvPr id="119" name="Today box"/>
          <p:cNvSpPr/>
          <p:nvPr/>
        </p:nvSpPr>
        <p:spPr>
          <a:xfrm>
            <a:off x="4362450" y="3175000"/>
            <a:ext cx="3467100" cy="1092200"/>
          </a:xfrm>
          <a:prstGeom prst="roundRect">
            <a:avLst>
              <a:gd name="adj" fmla="val 6000"/>
            </a:avLst>
          </a:prstGeom>
          <a:solidFill>
            <a:srgbClr val="F3F6FF"/>
          </a:solidFill>
          <a:ln w="9525">
            <a:solidFill>
              <a:srgbClr val="D6DDF3"/>
            </a:solidFill>
          </a:ln>
        </p:spPr>
        <p:txBody>
          <a:bodyPr/>
          <a:lstStyle/>
          <a:p>
            <a:endParaRPr lang="en-US"/>
          </a:p>
        </p:txBody>
      </p:sp>
      <p:sp>
        <p:nvSpPr>
          <p:cNvPr id="120" name="Today label"/>
          <p:cNvSpPr txBox="1"/>
          <p:nvPr/>
        </p:nvSpPr>
        <p:spPr>
          <a:xfrm>
            <a:off x="4438650" y="32512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5069EC"/>
                </a:solidFill>
                <a:latin typeface="Calibri" pitchFamily="34" charset="0"/>
                <a:ea typeface="Calibri" pitchFamily="34" charset="-122"/>
                <a:cs typeface="Calibri" pitchFamily="34" charset="-120"/>
              </a:rPr>
              <a:t>TRAINING DATA</a:t>
            </a:r>
          </a:p>
        </p:txBody>
      </p:sp>
      <p:sp>
        <p:nvSpPr>
          <p:cNvPr id="121" name="Today text"/>
          <p:cNvSpPr txBox="1"/>
          <p:nvPr/>
        </p:nvSpPr>
        <p:spPr>
          <a:xfrm>
            <a:off x="4438650" y="3454400"/>
            <a:ext cx="3314700" cy="7620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A </a:t>
            </a:r>
            <a:r>
              <a:rPr lang="en-US" sz="1100" b="1" i="0" kern="1200" spc="0" baseline="0">
                <a:solidFill>
                  <a:srgbClr val="1B0065"/>
                </a:solidFill>
                <a:latin typeface="Calibri" pitchFamily="34" charset="0"/>
                <a:ea typeface="Calibri" pitchFamily="34" charset="-122"/>
                <a:cs typeface="Calibri" pitchFamily="34" charset="-120"/>
              </a:rPr>
              <a:t>hand-curated dataset</a:t>
            </a:r>
            <a:r>
              <a:rPr lang="en-US" sz="1100" b="0" i="0" kern="1200" spc="0" baseline="0">
                <a:solidFill>
                  <a:srgbClr val="1B0065"/>
                </a:solidFill>
                <a:latin typeface="Calibri" pitchFamily="34" charset="0"/>
                <a:ea typeface="Calibri" pitchFamily="34" charset="-122"/>
                <a:cs typeface="Calibri" pitchFamily="34" charset="-120"/>
              </a:rPr>
              <a:t> of cases where frontier models genuinely make mistakes, plus </a:t>
            </a:r>
            <a:r>
              <a:rPr lang="en-US" sz="1100" b="1" i="0" kern="1200" spc="0" baseline="0">
                <a:solidFill>
                  <a:srgbClr val="1B0065"/>
                </a:solidFill>
                <a:latin typeface="Calibri" pitchFamily="34" charset="0"/>
                <a:ea typeface="Calibri" pitchFamily="34" charset="-122"/>
                <a:cs typeface="Calibri" pitchFamily="34" charset="-120"/>
              </a:rPr>
              <a:t>intentionally wrong answers</a:t>
            </a:r>
            <a:r>
              <a:rPr lang="en-US" sz="1100" b="0" i="0" kern="1200" spc="0" baseline="0">
                <a:solidFill>
                  <a:srgbClr val="1B0065"/>
                </a:solidFill>
                <a:latin typeface="Calibri" pitchFamily="34" charset="0"/>
                <a:ea typeface="Calibri" pitchFamily="34" charset="-122"/>
                <a:cs typeface="Calibri" pitchFamily="34" charset="-120"/>
              </a:rPr>
              <a:t> generated by frontier models.</a:t>
            </a:r>
          </a:p>
        </p:txBody>
      </p:sp>
      <p:sp>
        <p:nvSpPr>
          <p:cNvPr id="122" name="SRM box"/>
          <p:cNvSpPr/>
          <p:nvPr/>
        </p:nvSpPr>
        <p:spPr>
          <a:xfrm>
            <a:off x="4362450" y="4343400"/>
            <a:ext cx="3467100" cy="1193800"/>
          </a:xfrm>
          <a:prstGeom prst="roundRect">
            <a:avLst>
              <a:gd name="adj" fmla="val 4545"/>
            </a:avLst>
          </a:prstGeom>
          <a:solidFill>
            <a:srgbClr val="E6F8F4"/>
          </a:solidFill>
          <a:ln w="9525">
            <a:solidFill>
              <a:srgbClr val="9FE3D6"/>
            </a:solidFill>
          </a:ln>
        </p:spPr>
        <p:txBody>
          <a:bodyPr/>
          <a:lstStyle/>
          <a:p>
            <a:endParaRPr lang="en-US"/>
          </a:p>
        </p:txBody>
      </p:sp>
      <p:sp>
        <p:nvSpPr>
          <p:cNvPr id="123" name="SRM label"/>
          <p:cNvSpPr txBox="1"/>
          <p:nvPr/>
        </p:nvSpPr>
        <p:spPr>
          <a:xfrm>
            <a:off x="4438650" y="44196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0D9488"/>
                </a:solidFill>
                <a:latin typeface="Calibri" pitchFamily="34" charset="0"/>
                <a:ea typeface="Calibri" pitchFamily="34" charset="-122"/>
                <a:cs typeface="Calibri" pitchFamily="34" charset="-120"/>
              </a:rPr>
              <a:t>HOW WE TRAIN</a:t>
            </a:r>
          </a:p>
        </p:txBody>
      </p:sp>
      <p:sp>
        <p:nvSpPr>
          <p:cNvPr id="124" name="SRM bullets"/>
          <p:cNvSpPr txBox="1"/>
          <p:nvPr/>
        </p:nvSpPr>
        <p:spPr>
          <a:xfrm>
            <a:off x="4438650" y="4635500"/>
            <a:ext cx="3314700" cy="863600"/>
          </a:xfrm>
          <a:prstGeom prst="rect">
            <a:avLst/>
          </a:prstGeom>
          <a:noFill/>
        </p:spPr>
        <p:txBody>
          <a:bodyPr wrap="square" lIns="0" tIns="0" rIns="0" bIns="0" rtlCol="0" anchor="t">
            <a:noAutofit/>
          </a:bodyPr>
          <a:lstStyle/>
          <a:p>
            <a:pPr marL="152400" indent="-152400" algn="l">
              <a:lnSpc>
                <a:spcPct val="100000"/>
              </a:lnSpc>
              <a:spcBef>
                <a:spcPts val="0"/>
              </a:spcBef>
              <a:spcAft>
                <a:spcPts val="300"/>
              </a:spcAft>
              <a:buClrTx/>
              <a:buSzPct val="100000"/>
              <a:buFontTx/>
              <a:buChar char="•"/>
            </a:pPr>
            <a:r>
              <a:rPr lang="en-US" sz="1100" b="1" i="0" kern="1200" spc="0" baseline="0">
                <a:solidFill>
                  <a:srgbClr val="1B0065"/>
                </a:solidFill>
                <a:latin typeface="Calibri" pitchFamily="34" charset="0"/>
                <a:ea typeface="Calibri" pitchFamily="34" charset="-122"/>
                <a:cs typeface="Calibri" pitchFamily="34" charset="-120"/>
              </a:rPr>
              <a:t>SFT</a:t>
            </a:r>
            <a:r>
              <a:rPr lang="en-US" sz="1100" b="0" i="0" kern="1200" spc="0" baseline="0">
                <a:solidFill>
                  <a:srgbClr val="1B0065"/>
                </a:solidFill>
                <a:latin typeface="Calibri" pitchFamily="34" charset="0"/>
                <a:ea typeface="Calibri" pitchFamily="34" charset="-122"/>
                <a:cs typeface="Calibri" pitchFamily="34" charset="-120"/>
              </a:rPr>
              <a:t> or </a:t>
            </a:r>
            <a:r>
              <a:rPr lang="en-US" sz="1100" b="1" i="0" kern="1200" spc="0" baseline="0">
                <a:solidFill>
                  <a:srgbClr val="1B0065"/>
                </a:solidFill>
                <a:latin typeface="Calibri" pitchFamily="34" charset="0"/>
                <a:ea typeface="Calibri" pitchFamily="34" charset="-122"/>
                <a:cs typeface="Calibri" pitchFamily="34" charset="-120"/>
              </a:rPr>
              <a:t>RLVR</a:t>
            </a:r>
            <a:r>
              <a:rPr lang="en-US" sz="1100" b="0" i="0" kern="1200" spc="0" baseline="0">
                <a:solidFill>
                  <a:srgbClr val="1B0065"/>
                </a:solidFill>
                <a:latin typeface="Calibri" pitchFamily="34" charset="0"/>
                <a:ea typeface="Calibri" pitchFamily="34" charset="-122"/>
                <a:cs typeface="Calibri" pitchFamily="34" charset="-120"/>
              </a:rPr>
              <a:t> over the curated set</a:t>
            </a:r>
          </a:p>
          <a:p>
            <a:pPr marL="152400" indent="-152400" algn="l">
              <a:lnSpc>
                <a:spcPct val="100000"/>
              </a:lnSpc>
              <a:spcBef>
                <a:spcPts val="0"/>
              </a:spcBef>
              <a:spcAft>
                <a:spcPts val="300"/>
              </a:spcAft>
              <a:buClrTx/>
              <a:buSzPct val="100000"/>
              <a:buFontTx/>
              <a:buChar char="•"/>
            </a:pPr>
            <a:r>
              <a:rPr lang="en-US" sz="1100" b="0" i="0" kern="1200" spc="0" baseline="0">
                <a:solidFill>
                  <a:srgbClr val="1B0065"/>
                </a:solidFill>
                <a:latin typeface="Calibri" pitchFamily="34" charset="0"/>
                <a:ea typeface="Calibri" pitchFamily="34" charset="-122"/>
                <a:cs typeface="Calibri" pitchFamily="34" charset="-120"/>
              </a:rPr>
              <a:t>Distillation alone fails: the teacher makes the errors we need to catch</a:t>
            </a:r>
          </a:p>
        </p:txBody>
      </p:sp>
      <p:sp>
        <p:nvSpPr>
          <p:cNvPr id="125" name="Where label"/>
          <p:cNvSpPr txBox="1"/>
          <p:nvPr/>
        </p:nvSpPr>
        <p:spPr>
          <a:xfrm>
            <a:off x="4438650" y="56261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5B2D8E"/>
                </a:solidFill>
                <a:latin typeface="Calibri" pitchFamily="34" charset="0"/>
                <a:ea typeface="Calibri" pitchFamily="34" charset="-122"/>
                <a:cs typeface="Calibri" pitchFamily="34" charset="-120"/>
              </a:rPr>
              <a:t>HOW IT COMBINES</a:t>
            </a:r>
          </a:p>
        </p:txBody>
      </p:sp>
      <p:sp>
        <p:nvSpPr>
          <p:cNvPr id="126" name="Where text"/>
          <p:cNvSpPr txBox="1"/>
          <p:nvPr/>
        </p:nvSpPr>
        <p:spPr>
          <a:xfrm>
            <a:off x="4438650" y="58166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0" kern="1200" spc="0" baseline="0">
                <a:solidFill>
                  <a:srgbClr val="1E293B"/>
                </a:solidFill>
                <a:latin typeface="Calibri" pitchFamily="34" charset="0"/>
                <a:ea typeface="Calibri" pitchFamily="34" charset="-122"/>
                <a:cs typeface="Calibri" pitchFamily="34" charset="-120"/>
              </a:rPr>
              <a:t>Trained checker judges case 3 outputs during RL</a:t>
            </a:r>
          </a:p>
        </p:txBody>
      </p:sp>
      <p:sp>
        <p:nvSpPr>
          <p:cNvPr id="127" name="Benefit"/>
          <p:cNvSpPr txBox="1"/>
          <p:nvPr/>
        </p:nvSpPr>
        <p:spPr>
          <a:xfrm>
            <a:off x="4438650" y="60452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1" i="0" kern="1200" spc="0" baseline="0">
                <a:solidFill>
                  <a:srgbClr val="5B2D8E"/>
                </a:solidFill>
                <a:latin typeface="Calibri" pitchFamily="34" charset="0"/>
                <a:ea typeface="Calibri" pitchFamily="34" charset="-122"/>
                <a:cs typeface="Calibri" pitchFamily="34" charset="-120"/>
              </a:rPr>
              <a:t>Build effort: </a:t>
            </a:r>
            <a:r>
              <a:rPr lang="en-US" sz="1100" b="1" i="0" kern="1200" spc="0" baseline="0">
                <a:solidFill>
                  <a:srgbClr val="1B0065"/>
                </a:solidFill>
                <a:latin typeface="Calibri" pitchFamily="34" charset="0"/>
                <a:ea typeface="Calibri" pitchFamily="34" charset="-122"/>
                <a:cs typeface="Calibri" pitchFamily="34" charset="-120"/>
              </a:rPr>
              <a:t>Medium</a:t>
            </a:r>
          </a:p>
        </p:txBody>
      </p:sp>
      <p:sp>
        <p:nvSpPr>
          <p:cNvPr id="128" name="Use case card 3"/>
          <p:cNvSpPr/>
          <p:nvPr/>
        </p:nvSpPr>
        <p:spPr>
          <a:xfrm>
            <a:off x="8115300" y="1460500"/>
            <a:ext cx="3619500" cy="4826000"/>
          </a:xfrm>
          <a:prstGeom prst="roundRect">
            <a:avLst>
              <a:gd name="adj" fmla="val 2712"/>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endParaRPr lang="en-US"/>
          </a:p>
        </p:txBody>
      </p:sp>
      <p:sp>
        <p:nvSpPr>
          <p:cNvPr id="129" name="Icon circle"/>
          <p:cNvSpPr/>
          <p:nvPr/>
        </p:nvSpPr>
        <p:spPr>
          <a:xfrm>
            <a:off x="8267700" y="1587500"/>
            <a:ext cx="342900" cy="342900"/>
          </a:xfrm>
          <a:prstGeom prst="ellipse">
            <a:avLst/>
          </a:prstGeom>
          <a:solidFill>
            <a:srgbClr val="E4E9FD"/>
          </a:solidFill>
          <a:ln w="9525">
            <a:solidFill>
              <a:srgbClr val="E4E9FD"/>
            </a:solidFill>
          </a:ln>
        </p:spPr>
        <p:txBody>
          <a:bodyPr/>
          <a:lstStyle/>
          <a:p>
            <a:endParaRPr lang="en-US"/>
          </a:p>
        </p:txBody>
      </p:sp>
      <p:sp>
        <p:nvSpPr>
          <p:cNvPr id="130" name="Tier"/>
          <p:cNvSpPr txBox="1"/>
          <p:nvPr/>
        </p:nvSpPr>
        <p:spPr>
          <a:xfrm>
            <a:off x="8686800" y="1587500"/>
            <a:ext cx="2895600" cy="3429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5069EC"/>
                </a:solidFill>
                <a:latin typeface="Calibri" pitchFamily="34" charset="0"/>
                <a:ea typeface="Calibri" pitchFamily="34" charset="-122"/>
                <a:cs typeface="Calibri" pitchFamily="34" charset="-120"/>
              </a:rPr>
              <a:t>HARD  ·  JTBD-GUIDED UNDERWRITING</a:t>
            </a:r>
          </a:p>
        </p:txBody>
      </p:sp>
      <p:sp>
        <p:nvSpPr>
          <p:cNvPr id="131" name="Heading"/>
          <p:cNvSpPr txBox="1"/>
          <p:nvPr/>
        </p:nvSpPr>
        <p:spPr>
          <a:xfrm>
            <a:off x="8267700" y="2032000"/>
            <a:ext cx="3314700" cy="4826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400" b="1" i="0" kern="1200" spc="0" baseline="0">
                <a:solidFill>
                  <a:srgbClr val="1B0065"/>
                </a:solidFill>
                <a:latin typeface="Calibri" pitchFamily="34" charset="0"/>
                <a:ea typeface="Calibri" pitchFamily="34" charset="-122"/>
                <a:cs typeface="Calibri" pitchFamily="34" charset="-120"/>
              </a:rPr>
              <a:t>SFT followed by full RL with RLVR</a:t>
            </a:r>
          </a:p>
        </p:txBody>
      </p:sp>
      <p:sp>
        <p:nvSpPr>
          <p:cNvPr id="132" name="Example"/>
          <p:cNvSpPr txBox="1"/>
          <p:nvPr/>
        </p:nvSpPr>
        <p:spPr>
          <a:xfrm>
            <a:off x="8267700" y="2565400"/>
            <a:ext cx="3314700" cy="5588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1" kern="1200" spc="0" baseline="0">
                <a:solidFill>
                  <a:srgbClr val="5B6472"/>
                </a:solidFill>
                <a:latin typeface="Calibri" pitchFamily="34" charset="0"/>
                <a:ea typeface="Calibri" pitchFamily="34" charset="-122"/>
                <a:cs typeface="Calibri" pitchFamily="34" charset="-120"/>
              </a:rPr>
              <a:t>Base model: </a:t>
            </a:r>
            <a:r>
              <a:rPr lang="en-US" sz="1100" b="1" i="1" kern="1200" spc="0" baseline="0">
                <a:solidFill>
                  <a:srgbClr val="5B6472"/>
                </a:solidFill>
                <a:latin typeface="Calibri" pitchFamily="34" charset="0"/>
                <a:ea typeface="Calibri" pitchFamily="34" charset="-122"/>
                <a:cs typeface="Calibri" pitchFamily="34" charset="-120"/>
              </a:rPr>
              <a:t>Qwen3-30B-A3B-Thinking-2507</a:t>
            </a:r>
            <a:r>
              <a:rPr lang="en-US" sz="1100" b="0" i="1" kern="1200" spc="0" baseline="0">
                <a:solidFill>
                  <a:srgbClr val="5B6472"/>
                </a:solidFill>
                <a:latin typeface="Calibri" pitchFamily="34" charset="0"/>
                <a:ea typeface="Calibri" pitchFamily="34" charset="-122"/>
                <a:cs typeface="Calibri" pitchFamily="34" charset="-120"/>
              </a:rPr>
              <a:t> (30B-class MoE reasoning, ~3B active)</a:t>
            </a:r>
          </a:p>
        </p:txBody>
      </p:sp>
      <p:sp>
        <p:nvSpPr>
          <p:cNvPr id="133" name="Today box"/>
          <p:cNvSpPr/>
          <p:nvPr/>
        </p:nvSpPr>
        <p:spPr>
          <a:xfrm>
            <a:off x="8191500" y="3175000"/>
            <a:ext cx="3467100" cy="1092200"/>
          </a:xfrm>
          <a:prstGeom prst="roundRect">
            <a:avLst>
              <a:gd name="adj" fmla="val 6000"/>
            </a:avLst>
          </a:prstGeom>
          <a:solidFill>
            <a:srgbClr val="F3F6FF"/>
          </a:solidFill>
          <a:ln w="9525">
            <a:solidFill>
              <a:srgbClr val="D6DDF3"/>
            </a:solidFill>
          </a:ln>
        </p:spPr>
        <p:txBody>
          <a:bodyPr/>
          <a:lstStyle/>
          <a:p>
            <a:endParaRPr lang="en-US"/>
          </a:p>
        </p:txBody>
      </p:sp>
      <p:sp>
        <p:nvSpPr>
          <p:cNvPr id="134" name="Today label"/>
          <p:cNvSpPr txBox="1"/>
          <p:nvPr/>
        </p:nvSpPr>
        <p:spPr>
          <a:xfrm>
            <a:off x="8267700" y="32512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5069EC"/>
                </a:solidFill>
                <a:latin typeface="Calibri" pitchFamily="34" charset="0"/>
                <a:ea typeface="Calibri" pitchFamily="34" charset="-122"/>
                <a:cs typeface="Calibri" pitchFamily="34" charset="-120"/>
              </a:rPr>
              <a:t>TRAINING DATA</a:t>
            </a:r>
          </a:p>
        </p:txBody>
      </p:sp>
      <p:sp>
        <p:nvSpPr>
          <p:cNvPr id="135" name="Today text"/>
          <p:cNvSpPr txBox="1"/>
          <p:nvPr/>
        </p:nvSpPr>
        <p:spPr>
          <a:xfrm>
            <a:off x="8267700" y="3454400"/>
            <a:ext cx="3314700" cy="7620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Reasoner runs paired with </a:t>
            </a:r>
            <a:r>
              <a:rPr lang="en-US" sz="1100" b="1" i="0" kern="1200" spc="0" baseline="0">
                <a:solidFill>
                  <a:srgbClr val="1B0065"/>
                </a:solidFill>
                <a:latin typeface="Calibri" pitchFamily="34" charset="0"/>
                <a:ea typeface="Calibri" pitchFamily="34" charset="-122"/>
                <a:cs typeface="Calibri" pitchFamily="34" charset="-120"/>
              </a:rPr>
              <a:t>underwriter feedback</a:t>
            </a:r>
            <a:r>
              <a:rPr lang="en-US" sz="1100" b="0" i="0" kern="1200" spc="0" baseline="0">
                <a:solidFill>
                  <a:srgbClr val="1B0065"/>
                </a:solidFill>
                <a:latin typeface="Calibri" pitchFamily="34" charset="0"/>
                <a:ea typeface="Calibri" pitchFamily="34" charset="-122"/>
                <a:cs typeface="Calibri" pitchFamily="34" charset="-120"/>
              </a:rPr>
              <a:t> from the Mortgage App, so the model learns to </a:t>
            </a:r>
            <a:r>
              <a:rPr lang="en-US" sz="1100" b="1" i="0" kern="1200" spc="0" baseline="0">
                <a:solidFill>
                  <a:srgbClr val="1B0065"/>
                </a:solidFill>
                <a:latin typeface="Calibri" pitchFamily="34" charset="0"/>
                <a:ea typeface="Calibri" pitchFamily="34" charset="-122"/>
                <a:cs typeface="Calibri" pitchFamily="34" charset="-120"/>
              </a:rPr>
              <a:t>apply each JTBD</a:t>
            </a:r>
            <a:r>
              <a:rPr lang="en-US" sz="1100" b="0" i="0" kern="1200" spc="0" baseline="0">
                <a:solidFill>
                  <a:srgbClr val="1B0065"/>
                </a:solidFill>
                <a:latin typeface="Calibri" pitchFamily="34" charset="0"/>
                <a:ea typeface="Calibri" pitchFamily="34" charset="-122"/>
                <a:cs typeface="Calibri" pitchFamily="34" charset="-120"/>
              </a:rPr>
              <a:t> to the loan documents.</a:t>
            </a:r>
          </a:p>
        </p:txBody>
      </p:sp>
      <p:sp>
        <p:nvSpPr>
          <p:cNvPr id="136" name="SRM box"/>
          <p:cNvSpPr/>
          <p:nvPr/>
        </p:nvSpPr>
        <p:spPr>
          <a:xfrm>
            <a:off x="8191500" y="4343400"/>
            <a:ext cx="3467100" cy="1193800"/>
          </a:xfrm>
          <a:prstGeom prst="roundRect">
            <a:avLst>
              <a:gd name="adj" fmla="val 4545"/>
            </a:avLst>
          </a:prstGeom>
          <a:solidFill>
            <a:srgbClr val="E6F8F4"/>
          </a:solidFill>
          <a:ln w="9525">
            <a:solidFill>
              <a:srgbClr val="9FE3D6"/>
            </a:solidFill>
          </a:ln>
        </p:spPr>
        <p:txBody>
          <a:bodyPr/>
          <a:lstStyle/>
          <a:p>
            <a:endParaRPr lang="en-US"/>
          </a:p>
        </p:txBody>
      </p:sp>
      <p:sp>
        <p:nvSpPr>
          <p:cNvPr id="137" name="SRM label"/>
          <p:cNvSpPr txBox="1"/>
          <p:nvPr/>
        </p:nvSpPr>
        <p:spPr>
          <a:xfrm>
            <a:off x="8267700" y="44196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0D9488"/>
                </a:solidFill>
                <a:latin typeface="Calibri" pitchFamily="34" charset="0"/>
                <a:ea typeface="Calibri" pitchFamily="34" charset="-122"/>
                <a:cs typeface="Calibri" pitchFamily="34" charset="-120"/>
              </a:rPr>
              <a:t>HOW WE TRAIN</a:t>
            </a:r>
          </a:p>
        </p:txBody>
      </p:sp>
      <p:sp>
        <p:nvSpPr>
          <p:cNvPr id="138" name="SRM bullets"/>
          <p:cNvSpPr txBox="1"/>
          <p:nvPr/>
        </p:nvSpPr>
        <p:spPr>
          <a:xfrm>
            <a:off x="8267700" y="4635500"/>
            <a:ext cx="3314700" cy="863600"/>
          </a:xfrm>
          <a:prstGeom prst="rect">
            <a:avLst/>
          </a:prstGeom>
          <a:noFill/>
        </p:spPr>
        <p:txBody>
          <a:bodyPr wrap="square" lIns="0" tIns="0" rIns="0" bIns="0" rtlCol="0" anchor="t">
            <a:noAutofit/>
          </a:bodyPr>
          <a:lstStyle/>
          <a:p>
            <a:pPr marL="152400" indent="-152400" algn="l">
              <a:lnSpc>
                <a:spcPct val="100000"/>
              </a:lnSpc>
              <a:spcBef>
                <a:spcPts val="0"/>
              </a:spcBef>
              <a:spcAft>
                <a:spcPts val="300"/>
              </a:spcAft>
              <a:buClrTx/>
              <a:buSzPct val="100000"/>
              <a:buFontTx/>
              <a:buChar char="•"/>
            </a:pPr>
            <a:r>
              <a:rPr lang="en-US" sz="1100" b="1" i="0" kern="1200" spc="0" baseline="0">
                <a:solidFill>
                  <a:srgbClr val="1B0065"/>
                </a:solidFill>
                <a:latin typeface="Calibri" pitchFamily="34" charset="0"/>
                <a:ea typeface="Calibri" pitchFamily="34" charset="-122"/>
                <a:cs typeface="Calibri" pitchFamily="34" charset="-120"/>
              </a:rPr>
              <a:t>SFT</a:t>
            </a:r>
            <a:r>
              <a:rPr lang="en-US" sz="1100" b="0" i="0" kern="1200" spc="0" baseline="0">
                <a:solidFill>
                  <a:srgbClr val="1B0065"/>
                </a:solidFill>
                <a:latin typeface="Calibri" pitchFamily="34" charset="0"/>
                <a:ea typeface="Calibri" pitchFamily="34" charset="-122"/>
                <a:cs typeface="Calibri" pitchFamily="34" charset="-120"/>
              </a:rPr>
              <a:t> first, then </a:t>
            </a:r>
            <a:r>
              <a:rPr lang="en-US" sz="1100" b="1" i="0" kern="1200" spc="0" baseline="0">
                <a:solidFill>
                  <a:srgbClr val="1B0065"/>
                </a:solidFill>
                <a:latin typeface="Calibri" pitchFamily="34" charset="0"/>
                <a:ea typeface="Calibri" pitchFamily="34" charset="-122"/>
                <a:cs typeface="Calibri" pitchFamily="34" charset="-120"/>
              </a:rPr>
              <a:t>RLVR</a:t>
            </a:r>
          </a:p>
          <a:p>
            <a:pPr marL="152400" indent="-152400" algn="l">
              <a:lnSpc>
                <a:spcPct val="100000"/>
              </a:lnSpc>
              <a:spcBef>
                <a:spcPts val="0"/>
              </a:spcBef>
              <a:spcAft>
                <a:spcPts val="300"/>
              </a:spcAft>
              <a:buClrTx/>
              <a:buSzPct val="100000"/>
              <a:buFontTx/>
              <a:buChar char="•"/>
            </a:pPr>
            <a:r>
              <a:rPr lang="en-US" sz="1100" b="0" i="0" kern="1200" spc="0" baseline="0">
                <a:solidFill>
                  <a:srgbClr val="1B0065"/>
                </a:solidFill>
                <a:latin typeface="Calibri" pitchFamily="34" charset="0"/>
                <a:ea typeface="Calibri" pitchFamily="34" charset="-122"/>
                <a:cs typeface="Calibri" pitchFamily="34" charset="-120"/>
              </a:rPr>
              <a:t>Rewards for JSON format, complete citations and the correct answer</a:t>
            </a:r>
          </a:p>
          <a:p>
            <a:pPr marL="152400" indent="-152400" algn="l">
              <a:lnSpc>
                <a:spcPct val="100000"/>
              </a:lnSpc>
              <a:spcBef>
                <a:spcPts val="0"/>
              </a:spcBef>
              <a:spcAft>
                <a:spcPts val="300"/>
              </a:spcAft>
              <a:buClrTx/>
              <a:buSzPct val="100000"/>
              <a:buFontTx/>
              <a:buChar char="•"/>
            </a:pPr>
            <a:r>
              <a:rPr lang="en-US" sz="1100" b="0" i="0" kern="1200" spc="0" baseline="0">
                <a:solidFill>
                  <a:srgbClr val="1B0065"/>
                </a:solidFill>
                <a:latin typeface="Calibri" pitchFamily="34" charset="0"/>
                <a:ea typeface="Calibri" pitchFamily="34" charset="-122"/>
                <a:cs typeface="Calibri" pitchFamily="34" charset="-120"/>
              </a:rPr>
              <a:t>Separate reward for creating the relevant conditions</a:t>
            </a:r>
          </a:p>
        </p:txBody>
      </p:sp>
      <p:sp>
        <p:nvSpPr>
          <p:cNvPr id="139" name="Where label"/>
          <p:cNvSpPr txBox="1"/>
          <p:nvPr/>
        </p:nvSpPr>
        <p:spPr>
          <a:xfrm>
            <a:off x="8267700" y="5626100"/>
            <a:ext cx="3314700" cy="165100"/>
          </a:xfrm>
          <a:prstGeom prst="rect">
            <a:avLst/>
          </a:prstGeom>
          <a:noFill/>
        </p:spPr>
        <p:txBody>
          <a:bodyPr wrap="square" lIns="0" tIns="0" rIns="0" bIns="0" rtlCol="0" anchor="ctr">
            <a:noAutofit/>
          </a:bodyPr>
          <a:lstStyle/>
          <a:p>
            <a:pPr marL="0" indent="0" algn="l">
              <a:lnSpc>
                <a:spcPct val="100000"/>
              </a:lnSpc>
              <a:spcBef>
                <a:spcPts val="0"/>
              </a:spcBef>
              <a:spcAft>
                <a:spcPts val="0"/>
              </a:spcAft>
              <a:buNone/>
            </a:pPr>
            <a:r>
              <a:rPr lang="en-US" sz="900" b="1" i="0" kern="1200" spc="100" baseline="0">
                <a:solidFill>
                  <a:srgbClr val="5B2D8E"/>
                </a:solidFill>
                <a:latin typeface="Calibri" pitchFamily="34" charset="0"/>
                <a:ea typeface="Calibri" pitchFamily="34" charset="-122"/>
                <a:cs typeface="Calibri" pitchFamily="34" charset="-120"/>
              </a:rPr>
              <a:t>HOW IT COMBINES</a:t>
            </a:r>
          </a:p>
        </p:txBody>
      </p:sp>
      <p:sp>
        <p:nvSpPr>
          <p:cNvPr id="140" name="Where text"/>
          <p:cNvSpPr txBox="1"/>
          <p:nvPr/>
        </p:nvSpPr>
        <p:spPr>
          <a:xfrm>
            <a:off x="8267700" y="58166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0" i="0" kern="1200" spc="0" baseline="0">
                <a:solidFill>
                  <a:srgbClr val="1E293B"/>
                </a:solidFill>
                <a:latin typeface="Calibri" pitchFamily="34" charset="0"/>
                <a:ea typeface="Calibri" pitchFamily="34" charset="-122"/>
                <a:cs typeface="Calibri" pitchFamily="34" charset="-120"/>
              </a:rPr>
              <a:t>SFT → RLVR, with the 8B checker as judge</a:t>
            </a:r>
          </a:p>
        </p:txBody>
      </p:sp>
      <p:sp>
        <p:nvSpPr>
          <p:cNvPr id="141" name="Benefit"/>
          <p:cNvSpPr txBox="1"/>
          <p:nvPr/>
        </p:nvSpPr>
        <p:spPr>
          <a:xfrm>
            <a:off x="8267700" y="6045200"/>
            <a:ext cx="3314700" cy="190500"/>
          </a:xfrm>
          <a:prstGeom prst="rect">
            <a:avLst/>
          </a:prstGeom>
          <a:noFill/>
        </p:spPr>
        <p:txBody>
          <a:bodyPr wrap="square" lIns="0" tIns="0" rIns="0" bIns="0" rtlCol="0" anchor="t">
            <a:noAutofit/>
          </a:bodyPr>
          <a:lstStyle/>
          <a:p>
            <a:pPr marL="0" indent="0" algn="l">
              <a:lnSpc>
                <a:spcPct val="100000"/>
              </a:lnSpc>
              <a:spcBef>
                <a:spcPts val="0"/>
              </a:spcBef>
              <a:spcAft>
                <a:spcPts val="0"/>
              </a:spcAft>
              <a:buNone/>
            </a:pPr>
            <a:r>
              <a:rPr lang="en-US" sz="1100" b="1" i="0" kern="1200" spc="0" baseline="0">
                <a:solidFill>
                  <a:srgbClr val="5B2D8E"/>
                </a:solidFill>
                <a:latin typeface="Calibri" pitchFamily="34" charset="0"/>
                <a:ea typeface="Calibri" pitchFamily="34" charset="-122"/>
                <a:cs typeface="Calibri" pitchFamily="34" charset="-120"/>
              </a:rPr>
              <a:t>Build effort: </a:t>
            </a:r>
            <a:r>
              <a:rPr lang="en-US" sz="1100" b="1" i="0" kern="1200" spc="0" baseline="0">
                <a:solidFill>
                  <a:srgbClr val="1B0065"/>
                </a:solidFill>
                <a:latin typeface="Calibri" pitchFamily="34" charset="0"/>
                <a:ea typeface="Calibri" pitchFamily="34" charset="-122"/>
                <a:cs typeface="Calibri" pitchFamily="34" charset="-120"/>
              </a:rPr>
              <a:t>High</a:t>
            </a: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pic>
        <p:nvPicPr>
          <p:cNvPr id="142" name="Graphic 142" descr="Chat"/>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92150" y="1670050"/>
            <a:ext cx="177800" cy="177800"/>
          </a:xfrm>
          <a:prstGeom prst="rect">
            <a:avLst/>
          </a:prstGeom>
        </p:spPr>
      </p:pic>
      <p:pic>
        <p:nvPicPr>
          <p:cNvPr id="143" name="Graphic 143" descr="Magnifying glass"/>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521200" y="1670050"/>
            <a:ext cx="177800" cy="177800"/>
          </a:xfrm>
          <a:prstGeom prst="rect">
            <a:avLst/>
          </a:prstGeom>
        </p:spPr>
      </p:pic>
      <p:pic>
        <p:nvPicPr>
          <p:cNvPr id="144" name="Graphic 144" descr="Coins"/>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350250" y="1670050"/>
            <a:ext cx="177800" cy="177800"/>
          </a:xfrm>
          <a:prstGeom prst="rect">
            <a:avLst/>
          </a:prstGeom>
        </p:spPr>
      </p:pic>
    </p:spTree>
    <p:extLst>
      <p:ext uri="{BB962C8B-B14F-4D97-AF65-F5344CB8AC3E}">
        <p14:creationId xmlns:p14="http://schemas.microsoft.com/office/powerpoint/2010/main" val="304369286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indent="0" algn="l">
              <a:lnSpc>
                <a:spcPct val="100000"/>
              </a:lnSpc>
              <a:spcBef>
                <a:spcPts val="0"/>
              </a:spcBef>
              <a:spcAft>
                <a:spcPts val="0"/>
              </a:spcAft>
              <a:buNone/>
            </a:pPr>
            <a:r>
              <a:rPr lang="en-US" sz="1000" b="1" i="0" kern="1200" spc="300" baseline="0">
                <a:solidFill>
                  <a:srgbClr val="5069EC"/>
                </a:solidFill>
                <a:latin typeface="Calibri" pitchFamily="34" charset="0"/>
                <a:ea typeface="Calibri" pitchFamily="34" charset="-122"/>
                <a:cs typeface="Calibri" pitchFamily="34" charset="-120"/>
              </a:rPr>
              <a:t>REINFORCEMENT LEARNING  ·  INFRASTRUCTURE</a:t>
            </a: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lnSpc>
                <a:spcPct val="100000"/>
              </a:lnSpc>
              <a:spcBef>
                <a:spcPts val="0"/>
              </a:spcBef>
              <a:spcAft>
                <a:spcPts val="0"/>
              </a:spcAft>
              <a:buNone/>
            </a:pPr>
            <a:r>
              <a:rPr lang="en-US" sz="2600" b="1" i="0" kern="1200" spc="0" baseline="0">
                <a:solidFill>
                  <a:srgbClr val="3600AD"/>
                </a:solidFill>
                <a:latin typeface="Calibri" pitchFamily="34" charset="0"/>
                <a:ea typeface="Calibri" pitchFamily="34" charset="-122"/>
                <a:cs typeface="Calibri" pitchFamily="34" charset="-120"/>
              </a:rPr>
              <a:t>Fireworks has the lowest published rates to train and serve all three Qwen models</a:t>
            </a:r>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indent="0" algn="l">
              <a:lnSpc>
                <a:spcPct val="100000"/>
              </a:lnSpc>
              <a:spcBef>
                <a:spcPts val="0"/>
              </a:spcBef>
              <a:spcAft>
                <a:spcPts val="0"/>
              </a:spcAft>
              <a:buNone/>
            </a:pPr>
            <a:r>
              <a:rPr lang="en-US" sz="1400" b="0" i="1" kern="1200" spc="0" baseline="0">
                <a:solidFill>
                  <a:srgbClr val="5B2D8E"/>
                </a:solidFill>
                <a:latin typeface="Calibri" pitchFamily="34" charset="0"/>
                <a:ea typeface="Calibri" pitchFamily="34" charset="-122"/>
                <a:cs typeface="Calibri" pitchFamily="34" charset="-120"/>
              </a:rPr>
              <a:t>List prices for training and serving Qwen3-4B, Qwen3-8B and Qwen3-30B-A3B, US regions, Oct 2026</a:t>
            </a: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graphicFrame>
        <p:nvGraphicFramePr>
          <p:cNvPr id="200" name="Infra cost table"/>
          <p:cNvGraphicFramePr>
            <a:graphicFrameLocks noGrp="1"/>
          </p:cNvGraphicFramePr>
          <p:nvPr/>
        </p:nvGraphicFramePr>
        <p:xfrm>
          <a:off x="457200" y="1473200"/>
          <a:ext cx="11277600" cy="3149600"/>
        </p:xfrm>
        <a:graphic>
          <a:graphicData uri="http://schemas.openxmlformats.org/drawingml/2006/table">
            <a:tbl>
              <a:tblPr firstRow="1"/>
              <a:tblGrid>
                <a:gridCol w="1422400">
                  <a:extLst>
                    <a:ext uri="{9D8B030D-6E8A-4147-A177-3AD203B41FA5}">
                      <a16:colId xmlns:a16="http://schemas.microsoft.com/office/drawing/2014/main" val="20000"/>
                    </a:ext>
                  </a:extLst>
                </a:gridCol>
                <a:gridCol w="1905000">
                  <a:extLst>
                    <a:ext uri="{9D8B030D-6E8A-4147-A177-3AD203B41FA5}">
                      <a16:colId xmlns:a16="http://schemas.microsoft.com/office/drawing/2014/main" val="20001"/>
                    </a:ext>
                  </a:extLst>
                </a:gridCol>
                <a:gridCol w="1676400">
                  <a:extLst>
                    <a:ext uri="{9D8B030D-6E8A-4147-A177-3AD203B41FA5}">
                      <a16:colId xmlns:a16="http://schemas.microsoft.com/office/drawing/2014/main" val="20002"/>
                    </a:ext>
                  </a:extLst>
                </a:gridCol>
                <a:gridCol w="2133600">
                  <a:extLst>
                    <a:ext uri="{9D8B030D-6E8A-4147-A177-3AD203B41FA5}">
                      <a16:colId xmlns:a16="http://schemas.microsoft.com/office/drawing/2014/main" val="20003"/>
                    </a:ext>
                  </a:extLst>
                </a:gridCol>
                <a:gridCol w="1778000">
                  <a:extLst>
                    <a:ext uri="{9D8B030D-6E8A-4147-A177-3AD203B41FA5}">
                      <a16:colId xmlns:a16="http://schemas.microsoft.com/office/drawing/2014/main" val="20004"/>
                    </a:ext>
                  </a:extLst>
                </a:gridCol>
                <a:gridCol w="2362200">
                  <a:extLst>
                    <a:ext uri="{9D8B030D-6E8A-4147-A177-3AD203B41FA5}">
                      <a16:colId xmlns:a16="http://schemas.microsoft.com/office/drawing/2014/main" val="20005"/>
                    </a:ext>
                  </a:extLst>
                </a:gridCol>
              </a:tblGrid>
              <a:tr h="355600">
                <a:tc>
                  <a:txBody>
                    <a:bodyPr/>
                    <a:lstStyle/>
                    <a:p>
                      <a:pPr marL="0" indent="0" algn="l">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Platform</a:t>
                      </a:r>
                    </a:p>
                  </a:txBody>
                  <a:tcPr marL="76200" marR="76200" marT="50800" marB="50800">
                    <a:lnL w="0">
                      <a:noFill/>
                    </a:lnL>
                    <a:lnR w="0">
                      <a:noFill/>
                    </a:lnR>
                    <a:lnT w="0">
                      <a:noFill/>
                    </a:lnT>
                    <a:lnB w="9525">
                      <a:solidFill>
                        <a:srgbClr val="D9DCEA"/>
                      </a:solidFill>
                    </a:lnB>
                    <a:noFill/>
                  </a:tcPr>
                </a:tc>
                <a:tc>
                  <a:txBody>
                    <a:bodyPr/>
                    <a:lstStyle/>
                    <a:p>
                      <a:pPr marL="0" indent="0" algn="l">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SFT training (per 1M tokens)</a:t>
                      </a:r>
                    </a:p>
                  </a:txBody>
                  <a:tcPr marL="76200" marR="76200" marT="50800" marB="50800">
                    <a:lnL w="0">
                      <a:noFill/>
                    </a:lnL>
                    <a:lnR w="0">
                      <a:noFill/>
                    </a:lnR>
                    <a:lnT w="0">
                      <a:noFill/>
                    </a:lnT>
                    <a:lnB w="9525">
                      <a:solidFill>
                        <a:srgbClr val="D9DCEA"/>
                      </a:solidFill>
                    </a:lnB>
                    <a:noFill/>
                  </a:tcPr>
                </a:tc>
                <a:tc>
                  <a:txBody>
                    <a:bodyPr/>
                    <a:lstStyle/>
                    <a:p>
                      <a:pPr marL="0" indent="0" algn="l">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RL training</a:t>
                      </a:r>
                    </a:p>
                  </a:txBody>
                  <a:tcPr marL="76200" marR="76200" marT="50800" marB="50800">
                    <a:lnL w="0">
                      <a:noFill/>
                    </a:lnL>
                    <a:lnR w="0">
                      <a:noFill/>
                    </a:lnR>
                    <a:lnT w="0">
                      <a:noFill/>
                    </a:lnT>
                    <a:lnB w="9525">
                      <a:solidFill>
                        <a:srgbClr val="D9DCEA"/>
                      </a:solidFill>
                    </a:lnB>
                    <a:noFill/>
                  </a:tcPr>
                </a:tc>
                <a:tc>
                  <a:txBody>
                    <a:bodyPr/>
                    <a:lstStyle/>
                    <a:p>
                      <a:pPr marL="0" indent="0" algn="l">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Pay-per-token inference (in / out per 1M)</a:t>
                      </a:r>
                    </a:p>
                  </a:txBody>
                  <a:tcPr marL="76200" marR="76200" marT="50800" marB="50800">
                    <a:lnL w="0">
                      <a:noFill/>
                    </a:lnL>
                    <a:lnR w="0">
                      <a:noFill/>
                    </a:lnR>
                    <a:lnT w="0">
                      <a:noFill/>
                    </a:lnT>
                    <a:lnB w="9525">
                      <a:solidFill>
                        <a:srgbClr val="D9DCEA"/>
                      </a:solidFill>
                    </a:lnB>
                    <a:noFill/>
                  </a:tcPr>
                </a:tc>
                <a:tc>
                  <a:txBody>
                    <a:bodyPr/>
                    <a:lstStyle/>
                    <a:p>
                      <a:pPr marL="0" indent="0" algn="l">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Dedicated hosting (per GPU-hour)</a:t>
                      </a:r>
                    </a:p>
                  </a:txBody>
                  <a:tcPr marL="76200" marR="76200" marT="50800" marB="50800">
                    <a:lnL w="0">
                      <a:noFill/>
                    </a:lnL>
                    <a:lnR w="0">
                      <a:noFill/>
                    </a:lnR>
                    <a:lnT w="0">
                      <a:noFill/>
                    </a:lnT>
                    <a:lnB w="9525">
                      <a:solidFill>
                        <a:srgbClr val="D9DCEA"/>
                      </a:solidFill>
                    </a:lnB>
                    <a:noFill/>
                  </a:tcPr>
                </a:tc>
                <a:tc>
                  <a:txBody>
                    <a:bodyPr/>
                    <a:lstStyle/>
                    <a:p>
                      <a:pPr marL="0" indent="0" algn="l">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Fit for our three models</a:t>
                      </a:r>
                    </a:p>
                  </a:txBody>
                  <a:tcPr marL="76200" marR="76200" marT="50800" marB="50800">
                    <a:lnL w="0">
                      <a:noFill/>
                    </a:lnL>
                    <a:lnR w="0">
                      <a:noFill/>
                    </a:lnR>
                    <a:lnT w="0">
                      <a:noFill/>
                    </a:lnT>
                    <a:lnB w="9525">
                      <a:solidFill>
                        <a:srgbClr val="D9DCEA"/>
                      </a:solidFill>
                    </a:lnB>
                    <a:noFill/>
                  </a:tcPr>
                </a:tc>
                <a:extLst>
                  <a:ext uri="{0D108BD9-81ED-4DB2-BD59-A6C34878D82A}">
                    <a16:rowId xmlns:a16="http://schemas.microsoft.com/office/drawing/2014/main" val="10000"/>
                  </a:ext>
                </a:extLst>
              </a:tr>
              <a:tr h="685800">
                <a:tc>
                  <a:txBody>
                    <a:bodyPr/>
                    <a:lstStyle/>
                    <a:p>
                      <a:pPr marL="0" indent="0" algn="l">
                        <a:lnSpc>
                          <a:spcPct val="100000"/>
                        </a:lnSpc>
                        <a:spcBef>
                          <a:spcPts val="0"/>
                        </a:spcBef>
                        <a:spcAft>
                          <a:spcPts val="0"/>
                        </a:spcAft>
                        <a:buNone/>
                      </a:pPr>
                      <a:r>
                        <a:rPr lang="en-US" sz="1100" b="1" i="0" kern="1200" spc="0" baseline="0">
                          <a:solidFill>
                            <a:srgbClr val="1B0065"/>
                          </a:solidFill>
                          <a:latin typeface="Calibri" pitchFamily="34" charset="0"/>
                          <a:ea typeface="Calibri" pitchFamily="34" charset="-122"/>
                          <a:cs typeface="Calibri" pitchFamily="34" charset="-120"/>
                        </a:rPr>
                        <a:t>Fireworks</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solidFill>
                      <a:srgbClr val="E4E8FD"/>
                    </a:solidFill>
                  </a:tcPr>
                </a:tc>
                <a:tc>
                  <a:txBody>
                    <a:bodyPr/>
                    <a:lstStyle/>
                    <a:p>
                      <a:pPr marL="0" indent="0" algn="l">
                        <a:lnSpc>
                          <a:spcPct val="100000"/>
                        </a:lnSpc>
                        <a:spcBef>
                          <a:spcPts val="0"/>
                        </a:spcBef>
                        <a:spcAft>
                          <a:spcPts val="200"/>
                        </a:spcAft>
                        <a:buNone/>
                      </a:pPr>
                      <a:r>
                        <a:rPr lang="en-US" sz="1100" b="1" i="0" kern="1200" spc="0" baseline="0">
                          <a:solidFill>
                            <a:srgbClr val="1B0065"/>
                          </a:solidFill>
                          <a:latin typeface="Calibri" pitchFamily="34" charset="0"/>
                          <a:ea typeface="Calibri" pitchFamily="34" charset="-122"/>
                          <a:cs typeface="Calibri" pitchFamily="34" charset="-120"/>
                        </a:rPr>
                        <a:t>$0.50</a:t>
                      </a:r>
                      <a:r>
                        <a:rPr lang="en-US" sz="1100" b="0" i="0" kern="1200" spc="0" baseline="0">
                          <a:solidFill>
                            <a:srgbClr val="1B0065"/>
                          </a:solidFill>
                          <a:latin typeface="Calibri" pitchFamily="34" charset="0"/>
                          <a:ea typeface="Calibri" pitchFamily="34" charset="-122"/>
                          <a:cs typeface="Calibri" pitchFamily="34" charset="-120"/>
                        </a:rPr>
                        <a:t> under 16B (LoRA)</a:t>
                      </a:r>
                    </a:p>
                    <a:p>
                      <a:pPr marL="0" indent="0" algn="l">
                        <a:lnSpc>
                          <a:spcPct val="100000"/>
                        </a:lnSpc>
                        <a:spcBef>
                          <a:spcPts val="0"/>
                        </a:spcBef>
                        <a:spcAft>
                          <a:spcPts val="200"/>
                        </a:spcAft>
                        <a:buNone/>
                      </a:pPr>
                      <a:r>
                        <a:rPr lang="en-US" sz="1100" b="1" i="0" kern="1200" spc="0" baseline="0">
                          <a:solidFill>
                            <a:srgbClr val="1B0065"/>
                          </a:solidFill>
                          <a:latin typeface="Calibri" pitchFamily="34" charset="0"/>
                          <a:ea typeface="Calibri" pitchFamily="34" charset="-122"/>
                          <a:cs typeface="Calibri" pitchFamily="34" charset="-120"/>
                        </a:rPr>
                        <a:t>$3.00</a:t>
                      </a:r>
                      <a:r>
                        <a:rPr lang="en-US" sz="1100" b="0" i="0" kern="1200" spc="0" baseline="0">
                          <a:solidFill>
                            <a:srgbClr val="1B0065"/>
                          </a:solidFill>
                          <a:latin typeface="Calibri" pitchFamily="34" charset="0"/>
                          <a:ea typeface="Calibri" pitchFamily="34" charset="-122"/>
                          <a:cs typeface="Calibri" pitchFamily="34" charset="-120"/>
                        </a:rPr>
                        <a:t> for 16–80B</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solidFill>
                      <a:srgbClr val="E4E8FD"/>
                    </a:solid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Billed per GPU-hour at on-demand rates</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solidFill>
                      <a:srgbClr val="E4E8FD"/>
                    </a:solid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4B, 8B: </a:t>
                      </a:r>
                      <a:r>
                        <a:rPr lang="en-US" sz="1100" b="1" i="0" kern="1200" spc="0" baseline="0">
                          <a:solidFill>
                            <a:srgbClr val="1B0065"/>
                          </a:solidFill>
                          <a:latin typeface="Calibri" pitchFamily="34" charset="0"/>
                          <a:ea typeface="Calibri" pitchFamily="34" charset="-122"/>
                          <a:cs typeface="Calibri" pitchFamily="34" charset="-120"/>
                        </a:rPr>
                        <a:t>$0.20</a:t>
                      </a:r>
                    </a:p>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30B-A3B: </a:t>
                      </a:r>
                      <a:r>
                        <a:rPr lang="en-US" sz="1100" b="1" i="0" kern="1200" spc="0" baseline="0">
                          <a:solidFill>
                            <a:srgbClr val="1B0065"/>
                          </a:solidFill>
                          <a:latin typeface="Calibri" pitchFamily="34" charset="0"/>
                          <a:ea typeface="Calibri" pitchFamily="34" charset="-122"/>
                          <a:cs typeface="Calibri" pitchFamily="34" charset="-120"/>
                        </a:rPr>
                        <a:t>$0.15 / $0.60</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solidFill>
                      <a:srgbClr val="E4E8FD"/>
                    </a:solid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H100 </a:t>
                      </a:r>
                      <a:r>
                        <a:rPr lang="en-US" sz="1100" b="1" i="0" kern="1200" spc="0" baseline="0">
                          <a:solidFill>
                            <a:srgbClr val="1B0065"/>
                          </a:solidFill>
                          <a:latin typeface="Calibri" pitchFamily="34" charset="0"/>
                          <a:ea typeface="Calibri" pitchFamily="34" charset="-122"/>
                          <a:cs typeface="Calibri" pitchFamily="34" charset="-120"/>
                        </a:rPr>
                        <a:t>$8</a:t>
                      </a:r>
                      <a:r>
                        <a:rPr lang="en-US" sz="1100" b="0" i="0" kern="1200" spc="0" baseline="0">
                          <a:solidFill>
                            <a:srgbClr val="1B0065"/>
                          </a:solidFill>
                          <a:latin typeface="Calibri" pitchFamily="34" charset="0"/>
                          <a:ea typeface="Calibri" pitchFamily="34" charset="-122"/>
                          <a:cs typeface="Calibri" pitchFamily="34" charset="-120"/>
                        </a:rPr>
                        <a:t>, B200 $13</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solidFill>
                      <a:srgbClr val="E4E8FD"/>
                    </a:solid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All three models; fine-tuned models served at base-model rates</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solidFill>
                      <a:srgbClr val="E4E8FD"/>
                    </a:solidFill>
                  </a:tcPr>
                </a:tc>
                <a:extLst>
                  <a:ext uri="{0D108BD9-81ED-4DB2-BD59-A6C34878D82A}">
                    <a16:rowId xmlns:a16="http://schemas.microsoft.com/office/drawing/2014/main" val="10001"/>
                  </a:ext>
                </a:extLst>
              </a:tr>
              <a:tr h="685800">
                <a:tc>
                  <a:txBody>
                    <a:bodyPr/>
                    <a:lstStyle/>
                    <a:p>
                      <a:pPr marL="0" indent="0" algn="l">
                        <a:lnSpc>
                          <a:spcPct val="100000"/>
                        </a:lnSpc>
                        <a:spcBef>
                          <a:spcPts val="0"/>
                        </a:spcBef>
                        <a:spcAft>
                          <a:spcPts val="0"/>
                        </a:spcAft>
                        <a:buNone/>
                      </a:pPr>
                      <a:r>
                        <a:rPr lang="en-US" sz="1100" b="1" i="0" kern="1200" spc="0" baseline="0">
                          <a:solidFill>
                            <a:srgbClr val="1B0065"/>
                          </a:solidFill>
                          <a:latin typeface="Calibri" pitchFamily="34" charset="0"/>
                          <a:ea typeface="Calibri" pitchFamily="34" charset="-122"/>
                          <a:cs typeface="Calibri" pitchFamily="34" charset="-120"/>
                        </a:rPr>
                        <a:t>GCP Vertex AI</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4B </a:t>
                      </a:r>
                      <a:r>
                        <a:rPr lang="en-US" sz="1100" b="1" i="0" kern="1200" spc="0" baseline="0">
                          <a:solidFill>
                            <a:srgbClr val="1B0065"/>
                          </a:solidFill>
                          <a:latin typeface="Calibri" pitchFamily="34" charset="0"/>
                          <a:ea typeface="Calibri" pitchFamily="34" charset="-122"/>
                          <a:cs typeface="Calibri" pitchFamily="34" charset="-120"/>
                        </a:rPr>
                        <a:t>$1.35</a:t>
                      </a:r>
                      <a:r>
                        <a:rPr lang="en-US" sz="1100" b="0" i="0" kern="1200" spc="0" baseline="0">
                          <a:solidFill>
                            <a:srgbClr val="1B0065"/>
                          </a:solidFill>
                          <a:latin typeface="Calibri" pitchFamily="34" charset="0"/>
                          <a:ea typeface="Calibri" pitchFamily="34" charset="-122"/>
                          <a:cs typeface="Calibri" pitchFamily="34" charset="-120"/>
                        </a:rPr>
                        <a:t>, 8B </a:t>
                      </a:r>
                      <a:r>
                        <a:rPr lang="en-US" sz="1100" b="1" i="0" kern="1200" spc="0" baseline="0">
                          <a:solidFill>
                            <a:srgbClr val="1B0065"/>
                          </a:solidFill>
                          <a:latin typeface="Calibri" pitchFamily="34" charset="0"/>
                          <a:ea typeface="Calibri" pitchFamily="34" charset="-122"/>
                          <a:cs typeface="Calibri" pitchFamily="34" charset="-120"/>
                        </a:rPr>
                        <a:t>$4.18</a:t>
                      </a:r>
                    </a:p>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32B </a:t>
                      </a:r>
                      <a:r>
                        <a:rPr lang="en-US" sz="1100" b="1" i="0" kern="1200" spc="0" baseline="0">
                          <a:solidFill>
                            <a:srgbClr val="1B0065"/>
                          </a:solidFill>
                          <a:latin typeface="Calibri" pitchFamily="34" charset="0"/>
                          <a:ea typeface="Calibri" pitchFamily="34" charset="-122"/>
                          <a:cs typeface="Calibri" pitchFamily="34" charset="-120"/>
                        </a:rPr>
                        <a:t>$6.57</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Custom jobs on H100: $9.80 + $1.47 fee per hour</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Only large Qwen, e.g. 235B at $0.22 / $0.88</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L4 </a:t>
                      </a:r>
                      <a:r>
                        <a:rPr lang="en-US" sz="1100" b="1" i="0" kern="1200" spc="0" baseline="0">
                          <a:solidFill>
                            <a:srgbClr val="1B0065"/>
                          </a:solidFill>
                          <a:latin typeface="Calibri" pitchFamily="34" charset="0"/>
                          <a:ea typeface="Calibri" pitchFamily="34" charset="-122"/>
                          <a:cs typeface="Calibri" pitchFamily="34" charset="-120"/>
                        </a:rPr>
                        <a:t>$0.64</a:t>
                      </a:r>
                      <a:r>
                        <a:rPr lang="en-US" sz="1100" b="0" i="0" kern="1200" spc="0" baseline="0">
                          <a:solidFill>
                            <a:srgbClr val="1B0065"/>
                          </a:solidFill>
                          <a:latin typeface="Calibri" pitchFamily="34" charset="0"/>
                          <a:ea typeface="Calibri" pitchFamily="34" charset="-122"/>
                          <a:cs typeface="Calibri" pitchFamily="34" charset="-120"/>
                        </a:rPr>
                        <a:t>, H100 ~$11.27</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No 30B-A3B tuning price; use 32B or self-deploy</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extLst>
                  <a:ext uri="{0D108BD9-81ED-4DB2-BD59-A6C34878D82A}">
                    <a16:rowId xmlns:a16="http://schemas.microsoft.com/office/drawing/2014/main" val="10002"/>
                  </a:ext>
                </a:extLst>
              </a:tr>
              <a:tr h="685800">
                <a:tc>
                  <a:txBody>
                    <a:bodyPr/>
                    <a:lstStyle/>
                    <a:p>
                      <a:pPr marL="0" indent="0" algn="l">
                        <a:lnSpc>
                          <a:spcPct val="100000"/>
                        </a:lnSpc>
                        <a:spcBef>
                          <a:spcPts val="0"/>
                        </a:spcBef>
                        <a:spcAft>
                          <a:spcPts val="0"/>
                        </a:spcAft>
                        <a:buNone/>
                      </a:pPr>
                      <a:r>
                        <a:rPr lang="en-US" sz="1100" b="1" i="0" kern="1200" spc="0" baseline="0">
                          <a:solidFill>
                            <a:srgbClr val="1B0065"/>
                          </a:solidFill>
                          <a:latin typeface="Calibri" pitchFamily="34" charset="0"/>
                          <a:ea typeface="Calibri" pitchFamily="34" charset="-122"/>
                          <a:cs typeface="Calibri" pitchFamily="34" charset="-120"/>
                        </a:rPr>
                        <a:t>AWS Bedrock</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Per token; Qwen rate not published</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Managed RFT </a:t>
                      </a:r>
                      <a:r>
                        <a:rPr lang="en-US" sz="1100" b="1" i="0" kern="1200" spc="0" baseline="0">
                          <a:solidFill>
                            <a:srgbClr val="1B0065"/>
                          </a:solidFill>
                          <a:latin typeface="Calibri" pitchFamily="34" charset="0"/>
                          <a:ea typeface="Calibri" pitchFamily="34" charset="-122"/>
                          <a:cs typeface="Calibri" pitchFamily="34" charset="-120"/>
                        </a:rPr>
                        <a:t>$80/hour</a:t>
                      </a:r>
                      <a:r>
                        <a:rPr lang="en-US" sz="1100" b="0" i="0" kern="1200" spc="0" baseline="0">
                          <a:solidFill>
                            <a:srgbClr val="1B0065"/>
                          </a:solidFill>
                          <a:latin typeface="Calibri" pitchFamily="34" charset="0"/>
                          <a:ea typeface="Calibri" pitchFamily="34" charset="-122"/>
                          <a:cs typeface="Calibri" pitchFamily="34" charset="-120"/>
                        </a:rPr>
                        <a:t> (Qwen3 32B)</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Qwen3 32B: </a:t>
                      </a:r>
                      <a:r>
                        <a:rPr lang="en-US" sz="1100" b="1" i="0" kern="1200" spc="0" baseline="0">
                          <a:solidFill>
                            <a:srgbClr val="1B0065"/>
                          </a:solidFill>
                          <a:latin typeface="Calibri" pitchFamily="34" charset="0"/>
                          <a:ea typeface="Calibri" pitchFamily="34" charset="-122"/>
                          <a:cs typeface="Calibri" pitchFamily="34" charset="-120"/>
                        </a:rPr>
                        <a:t>$0.15 / $0.60</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Custom Model Import: $0.057 per unit-minute, scales to zero</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Managed RFT only on 32B; 4B and 8B via import</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extLst>
                  <a:ext uri="{0D108BD9-81ED-4DB2-BD59-A6C34878D82A}">
                    <a16:rowId xmlns:a16="http://schemas.microsoft.com/office/drawing/2014/main" val="10003"/>
                  </a:ext>
                </a:extLst>
              </a:tr>
              <a:tr h="685800">
                <a:tc>
                  <a:txBody>
                    <a:bodyPr/>
                    <a:lstStyle/>
                    <a:p>
                      <a:pPr marL="0" indent="0" algn="l">
                        <a:lnSpc>
                          <a:spcPct val="100000"/>
                        </a:lnSpc>
                        <a:spcBef>
                          <a:spcPts val="0"/>
                        </a:spcBef>
                        <a:spcAft>
                          <a:spcPts val="0"/>
                        </a:spcAft>
                        <a:buNone/>
                      </a:pPr>
                      <a:r>
                        <a:rPr lang="en-US" sz="1100" b="1" i="0" kern="1200" spc="0" baseline="0">
                          <a:solidFill>
                            <a:srgbClr val="1B0065"/>
                          </a:solidFill>
                          <a:latin typeface="Calibri" pitchFamily="34" charset="0"/>
                          <a:ea typeface="Calibri" pitchFamily="34" charset="-122"/>
                          <a:cs typeface="Calibri" pitchFamily="34" charset="-120"/>
                        </a:rPr>
                        <a:t>Azure Foundry</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Managed SFT on Qwen3-32B; rate not published</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Managed RFT on Qwen3.6-35B-A3B (preview)</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Serverless for tuned Qwen3-32B</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H100 </a:t>
                      </a:r>
                      <a:r>
                        <a:rPr lang="en-US" sz="1100" b="1" i="0" kern="1200" spc="0" baseline="0">
                          <a:solidFill>
                            <a:srgbClr val="1B0065"/>
                          </a:solidFill>
                          <a:latin typeface="Calibri" pitchFamily="34" charset="0"/>
                          <a:ea typeface="Calibri" pitchFamily="34" charset="-122"/>
                          <a:cs typeface="Calibri" pitchFamily="34" charset="-120"/>
                        </a:rPr>
                        <a:t>$7.91</a:t>
                      </a:r>
                      <a:r>
                        <a:rPr lang="en-US" sz="1100" b="0" i="0" kern="1200" spc="0" baseline="0">
                          <a:solidFill>
                            <a:srgbClr val="1B0065"/>
                          </a:solidFill>
                          <a:latin typeface="Calibri" pitchFamily="34" charset="0"/>
                          <a:ea typeface="Calibri" pitchFamily="34" charset="-122"/>
                          <a:cs typeface="Calibri" pitchFamily="34" charset="-120"/>
                        </a:rPr>
                        <a:t>, A100 $3.95</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tc>
                  <a:txBody>
                    <a:bodyPr/>
                    <a:lstStyle/>
                    <a:p>
                      <a:pPr marL="0" indent="0" algn="l">
                        <a:lnSpc>
                          <a:spcPct val="100000"/>
                        </a:lnSpc>
                        <a:spcBef>
                          <a:spcPts val="0"/>
                        </a:spcBef>
                        <a:spcAft>
                          <a:spcPts val="200"/>
                        </a:spcAft>
                        <a:buNone/>
                      </a:pPr>
                      <a:r>
                        <a:rPr lang="en-US" sz="1100" b="0" i="0" kern="1200" spc="0" baseline="0">
                          <a:solidFill>
                            <a:srgbClr val="1B0065"/>
                          </a:solidFill>
                          <a:latin typeface="Calibri" pitchFamily="34" charset="0"/>
                          <a:ea typeface="Calibri" pitchFamily="34" charset="-122"/>
                          <a:cs typeface="Calibri" pitchFamily="34" charset="-120"/>
                        </a:rPr>
                        <a:t>35B-A3B preview can deploy to Fireworks</a:t>
                      </a:r>
                    </a:p>
                  </a:txBody>
                  <a:tcPr marL="76200" marR="76200" marT="50800" marB="50800">
                    <a:lnL w="0">
                      <a:noFill/>
                    </a:lnL>
                    <a:lnR w="0">
                      <a:noFill/>
                    </a:lnR>
                    <a:lnT w="9525" cap="flat" cmpd="sng" algn="ctr">
                      <a:solidFill>
                        <a:srgbClr val="D9DCEA"/>
                      </a:solidFill>
                      <a:prstDash val="solid"/>
                      <a:round/>
                      <a:headEnd type="none" w="med" len="med"/>
                      <a:tailEnd type="none" w="med" len="med"/>
                    </a:lnT>
                    <a:lnB w="9525">
                      <a:solidFill>
                        <a:srgbClr val="D9DCEA"/>
                      </a:solidFill>
                    </a:lnB>
                    <a:noFill/>
                  </a:tcPr>
                </a:tc>
                <a:extLst>
                  <a:ext uri="{0D108BD9-81ED-4DB2-BD59-A6C34878D82A}">
                    <a16:rowId xmlns:a16="http://schemas.microsoft.com/office/drawing/2014/main" val="10004"/>
                  </a:ext>
                </a:extLst>
              </a:tr>
            </a:tbl>
          </a:graphicData>
        </a:graphic>
      </p:graphicFrame>
      <p:sp>
        <p:nvSpPr>
          <p:cNvPr id="201" name="Illustrative box"/>
          <p:cNvSpPr txBox="1"/>
          <p:nvPr/>
        </p:nvSpPr>
        <p:spPr>
          <a:xfrm>
            <a:off x="457200" y="4749800"/>
            <a:ext cx="11277600" cy="838200"/>
          </a:xfrm>
          <a:prstGeom prst="roundRect">
            <a:avLst>
              <a:gd name="adj" fmla="val 6000"/>
            </a:avLst>
          </a:prstGeom>
          <a:solidFill>
            <a:srgbClr val="EAF7F5"/>
          </a:solidFill>
          <a:ln w="9525">
            <a:solidFill>
              <a:srgbClr val="B9E4DD"/>
            </a:solidFill>
          </a:ln>
        </p:spPr>
        <p:txBody>
          <a:bodyPr wrap="square" lIns="152400" tIns="101600" rIns="152400" bIns="101600" anchor="t">
            <a:noAutofit/>
          </a:bodyPr>
          <a:lstStyle/>
          <a:p>
            <a:pPr marL="0" indent="0" algn="l">
              <a:lnSpc>
                <a:spcPct val="100000"/>
              </a:lnSpc>
              <a:spcBef>
                <a:spcPts val="0"/>
              </a:spcBef>
              <a:spcAft>
                <a:spcPts val="300"/>
              </a:spcAft>
              <a:buNone/>
            </a:pPr>
            <a:r>
              <a:rPr lang="en-US" sz="900" b="1" i="0" kern="1200" spc="100" baseline="0">
                <a:solidFill>
                  <a:srgbClr val="0D9488"/>
                </a:solidFill>
                <a:latin typeface="Calibri" pitchFamily="34" charset="0"/>
                <a:ea typeface="Calibri" pitchFamily="34" charset="-122"/>
                <a:cs typeface="Calibri" pitchFamily="34" charset="-120"/>
              </a:rPr>
              <a:t>HARD MODEL TRAINING ESTIMATE</a:t>
            </a:r>
            <a:r>
              <a:rPr lang="en-US" sz="1000" b="0" i="1" kern="1200" spc="0" baseline="0">
                <a:solidFill>
                  <a:srgbClr val="5B6472"/>
                </a:solidFill>
                <a:latin typeface="Calibri" pitchFamily="34" charset="0"/>
                <a:ea typeface="Calibri" pitchFamily="34" charset="-122"/>
                <a:cs typeface="Calibri" pitchFamily="34" charset="-120"/>
              </a:rPr>
              <a:t>   1,000 loans × ~50M tokens = 50B training tokens per pass; RLVR on one 8×H100 node for up to 30 days (5,760 GPU-hours)</a:t>
            </a:r>
          </a:p>
          <a:p>
            <a:pPr marL="0" indent="0" algn="l">
              <a:lnSpc>
                <a:spcPct val="100000"/>
              </a:lnSpc>
              <a:spcBef>
                <a:spcPts val="0"/>
              </a:spcBef>
              <a:spcAft>
                <a:spcPts val="200"/>
              </a:spcAft>
              <a:buNone/>
            </a:pPr>
            <a:r>
              <a:rPr lang="en-US" sz="1100" b="1" i="0" kern="1200" spc="0" baseline="0">
                <a:solidFill>
                  <a:srgbClr val="1B0065"/>
                </a:solidFill>
                <a:latin typeface="Calibri" pitchFamily="34" charset="0"/>
                <a:ea typeface="Calibri" pitchFamily="34" charset="-122"/>
                <a:cs typeface="Calibri" pitchFamily="34" charset="-120"/>
              </a:rPr>
              <a:t>SFT, one pass: </a:t>
            </a:r>
            <a:r>
              <a:rPr lang="en-US" sz="1100" b="0" i="0" kern="1200" spc="0" baseline="0">
                <a:solidFill>
                  <a:srgbClr val="1B0065"/>
                </a:solidFill>
                <a:latin typeface="Calibri" pitchFamily="34" charset="0"/>
                <a:ea typeface="Calibri" pitchFamily="34" charset="-122"/>
                <a:cs typeface="Calibri" pitchFamily="34" charset="-120"/>
              </a:rPr>
              <a:t>Fireworks </a:t>
            </a:r>
            <a:r>
              <a:rPr lang="en-US" sz="1100" b="1" i="0" kern="1200" spc="0" baseline="0">
                <a:solidFill>
                  <a:srgbClr val="1B0065"/>
                </a:solidFill>
                <a:latin typeface="Calibri" pitchFamily="34" charset="0"/>
                <a:ea typeface="Calibri" pitchFamily="34" charset="-122"/>
                <a:cs typeface="Calibri" pitchFamily="34" charset="-120"/>
              </a:rPr>
              <a:t>~$150K</a:t>
            </a:r>
            <a:r>
              <a:rPr lang="en-US" sz="1100" b="0" i="0" kern="1200" spc="0" baseline="0">
                <a:solidFill>
                  <a:srgbClr val="1B0065"/>
                </a:solidFill>
                <a:latin typeface="Calibri" pitchFamily="34" charset="0"/>
                <a:ea typeface="Calibri" pitchFamily="34" charset="-122"/>
                <a:cs typeface="Calibri" pitchFamily="34" charset="-120"/>
              </a:rPr>
              <a:t>  ·  Vertex </a:t>
            </a:r>
            <a:r>
              <a:rPr lang="en-US" sz="1100" b="1" i="0" kern="1200" spc="0" baseline="0">
                <a:solidFill>
                  <a:srgbClr val="1B0065"/>
                </a:solidFill>
                <a:latin typeface="Calibri" pitchFamily="34" charset="0"/>
                <a:ea typeface="Calibri" pitchFamily="34" charset="-122"/>
                <a:cs typeface="Calibri" pitchFamily="34" charset="-120"/>
              </a:rPr>
              <a:t>~$330K</a:t>
            </a:r>
            <a:r>
              <a:rPr lang="en-US" sz="1100" b="0" i="0" kern="1200" spc="0" baseline="0">
                <a:solidFill>
                  <a:srgbClr val="1B0065"/>
                </a:solidFill>
                <a:latin typeface="Calibri" pitchFamily="34" charset="0"/>
                <a:ea typeface="Calibri" pitchFamily="34" charset="-122"/>
                <a:cs typeface="Calibri" pitchFamily="34" charset="-120"/>
              </a:rPr>
              <a:t> (32B rate)  ·  Bedrock and Azure per-token rates not published</a:t>
            </a:r>
          </a:p>
          <a:p>
            <a:pPr marL="0" indent="0" algn="l">
              <a:lnSpc>
                <a:spcPct val="100000"/>
              </a:lnSpc>
              <a:spcBef>
                <a:spcPts val="0"/>
              </a:spcBef>
              <a:spcAft>
                <a:spcPts val="0"/>
              </a:spcAft>
              <a:buNone/>
            </a:pPr>
            <a:r>
              <a:rPr lang="en-US" sz="1100" b="1" i="0" kern="1200" spc="0" baseline="0">
                <a:solidFill>
                  <a:srgbClr val="1B0065"/>
                </a:solidFill>
                <a:latin typeface="Calibri" pitchFamily="34" charset="0"/>
                <a:ea typeface="Calibri" pitchFamily="34" charset="-122"/>
                <a:cs typeface="Calibri" pitchFamily="34" charset="-120"/>
              </a:rPr>
              <a:t>RLVR, 30 days: </a:t>
            </a:r>
            <a:r>
              <a:rPr lang="en-US" sz="1100" b="0" i="0" kern="1200" spc="0" baseline="0">
                <a:solidFill>
                  <a:srgbClr val="1B0065"/>
                </a:solidFill>
                <a:latin typeface="Calibri" pitchFamily="34" charset="0"/>
                <a:ea typeface="Calibri" pitchFamily="34" charset="-122"/>
                <a:cs typeface="Calibri" pitchFamily="34" charset="-120"/>
              </a:rPr>
              <a:t>Fireworks </a:t>
            </a:r>
            <a:r>
              <a:rPr lang="en-US" sz="1100" b="1" i="0" kern="1200" spc="0" baseline="0">
                <a:solidFill>
                  <a:srgbClr val="1B0065"/>
                </a:solidFill>
                <a:latin typeface="Calibri" pitchFamily="34" charset="0"/>
                <a:ea typeface="Calibri" pitchFamily="34" charset="-122"/>
                <a:cs typeface="Calibri" pitchFamily="34" charset="-120"/>
              </a:rPr>
              <a:t>~$46K</a:t>
            </a:r>
            <a:r>
              <a:rPr lang="en-US" sz="1100" b="0" i="0" kern="1200" spc="0" baseline="0">
                <a:solidFill>
                  <a:srgbClr val="1B0065"/>
                </a:solidFill>
                <a:latin typeface="Calibri" pitchFamily="34" charset="0"/>
                <a:ea typeface="Calibri" pitchFamily="34" charset="-122"/>
                <a:cs typeface="Calibri" pitchFamily="34" charset="-120"/>
              </a:rPr>
              <a:t>  ·  Azure </a:t>
            </a:r>
            <a:r>
              <a:rPr lang="en-US" sz="1100" b="1" i="0" kern="1200" spc="0" baseline="0">
                <a:solidFill>
                  <a:srgbClr val="1B0065"/>
                </a:solidFill>
                <a:latin typeface="Calibri" pitchFamily="34" charset="0"/>
                <a:ea typeface="Calibri" pitchFamily="34" charset="-122"/>
                <a:cs typeface="Calibri" pitchFamily="34" charset="-120"/>
              </a:rPr>
              <a:t>~$46K</a:t>
            </a:r>
            <a:r>
              <a:rPr lang="en-US" sz="1100" b="0" i="0" kern="1200" spc="0" baseline="0">
                <a:solidFill>
                  <a:srgbClr val="1B0065"/>
                </a:solidFill>
                <a:latin typeface="Calibri" pitchFamily="34" charset="0"/>
                <a:ea typeface="Calibri" pitchFamily="34" charset="-122"/>
                <a:cs typeface="Calibri" pitchFamily="34" charset="-120"/>
              </a:rPr>
              <a:t> (GPU rate)  ·  Bedrock </a:t>
            </a:r>
            <a:r>
              <a:rPr lang="en-US" sz="1100" b="1" i="0" kern="1200" spc="0" baseline="0">
                <a:solidFill>
                  <a:srgbClr val="1B0065"/>
                </a:solidFill>
                <a:latin typeface="Calibri" pitchFamily="34" charset="0"/>
                <a:ea typeface="Calibri" pitchFamily="34" charset="-122"/>
                <a:cs typeface="Calibri" pitchFamily="34" charset="-120"/>
              </a:rPr>
              <a:t>~$58K</a:t>
            </a:r>
            <a:r>
              <a:rPr lang="en-US" sz="1100" b="0" i="0" kern="1200" spc="0" baseline="0">
                <a:solidFill>
                  <a:srgbClr val="1B0065"/>
                </a:solidFill>
                <a:latin typeface="Calibri" pitchFamily="34" charset="0"/>
                <a:ea typeface="Calibri" pitchFamily="34" charset="-122"/>
                <a:cs typeface="Calibri" pitchFamily="34" charset="-120"/>
              </a:rPr>
              <a:t> ($80/hr managed RFT)  ·  Vertex </a:t>
            </a:r>
            <a:r>
              <a:rPr lang="en-US" sz="1100" b="1" i="0" kern="1200" spc="0" baseline="0">
                <a:solidFill>
                  <a:srgbClr val="1B0065"/>
                </a:solidFill>
                <a:latin typeface="Calibri" pitchFamily="34" charset="0"/>
                <a:ea typeface="Calibri" pitchFamily="34" charset="-122"/>
                <a:cs typeface="Calibri" pitchFamily="34" charset="-120"/>
              </a:rPr>
              <a:t>~$65K</a:t>
            </a:r>
          </a:p>
        </p:txBody>
      </p:sp>
      <p:sp>
        <p:nvSpPr>
          <p:cNvPr id="202" name="Source"/>
          <p:cNvSpPr txBox="1"/>
          <p:nvPr/>
        </p:nvSpPr>
        <p:spPr>
          <a:xfrm>
            <a:off x="457200" y="5867400"/>
            <a:ext cx="11277600" cy="457200"/>
          </a:xfrm>
          <a:prstGeom prst="rect">
            <a:avLst/>
          </a:prstGeom>
          <a:noFill/>
          <a:ln>
            <a:noFill/>
          </a:ln>
        </p:spPr>
        <p:txBody>
          <a:bodyPr wrap="square" lIns="0" tIns="0" rIns="0" bIns="0" anchor="t">
            <a:noAutofit/>
          </a:bodyPr>
          <a:lstStyle/>
          <a:p>
            <a:pPr marL="0" indent="0" algn="l">
              <a:lnSpc>
                <a:spcPct val="100000"/>
              </a:lnSpc>
              <a:spcBef>
                <a:spcPts val="0"/>
              </a:spcBef>
              <a:spcAft>
                <a:spcPts val="0"/>
              </a:spcAft>
              <a:buNone/>
            </a:pPr>
            <a:r>
              <a:rPr lang="en-US" sz="900" b="0" i="0" kern="1200" spc="0" baseline="0">
                <a:solidFill>
                  <a:srgbClr val="5B6472"/>
                </a:solidFill>
                <a:latin typeface="Calibri" pitchFamily="34" charset="0"/>
                <a:ea typeface="Calibri" pitchFamily="34" charset="-122"/>
                <a:cs typeface="Calibri" pitchFamily="34" charset="-120"/>
              </a:rPr>
              <a:t>RFT = reinforcement fine-tuning, the vendors' name for managed RL training (RLVR when the grader checks verifiable answers). Assumptions: LoRA SFT rates; RLVR at on-demand H100 list prices ($8.00 Fireworks, $7.91 Azure, ~$11.27 Vertex incl. fee); cost scales linearly with nodes, days and epochs; no enterprise or committed-use discounts. Some trackers list Fireworks 30B-A3B inference at $0.90 per 1M. Source: Fireworks, Google Cloud Vertex AI, AWS Bedrock and Microsoft Foundry pricing pages and third-party price trackers, Aug–Oct 2026.</a:t>
            </a:r>
          </a:p>
        </p:txBody>
      </p:sp>
    </p:spTree>
    <p:extLst>
      <p:ext uri="{BB962C8B-B14F-4D97-AF65-F5344CB8AC3E}">
        <p14:creationId xmlns:p14="http://schemas.microsoft.com/office/powerpoint/2010/main" val="20707808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indent="0" algn="l">
              <a:lnSpc>
                <a:spcPct val="100000"/>
              </a:lnSpc>
              <a:spcBef>
                <a:spcPts val="0"/>
              </a:spcBef>
              <a:spcAft>
                <a:spcPts val="0"/>
              </a:spcAft>
              <a:buNone/>
            </a:pPr>
            <a:r>
              <a:rPr lang="en-US" sz="1000" b="1" i="0" kern="1200" spc="300" baseline="0">
                <a:solidFill>
                  <a:srgbClr val="5069EC"/>
                </a:solidFill>
                <a:latin typeface="Calibri" pitchFamily="34" charset="0"/>
                <a:ea typeface="Calibri" pitchFamily="34" charset="-122"/>
                <a:cs typeface="Calibri" pitchFamily="34" charset="-120"/>
              </a:rPr>
              <a:t>REINFORCEMENT LEARNING  ·  DATA</a:t>
            </a: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lnSpc>
                <a:spcPct val="100000"/>
              </a:lnSpc>
              <a:spcBef>
                <a:spcPts val="0"/>
              </a:spcBef>
              <a:spcAft>
                <a:spcPts val="0"/>
              </a:spcAft>
              <a:buNone/>
            </a:pPr>
            <a:r>
              <a:rPr lang="en-US" sz="2600" b="1" i="0" kern="1200" spc="0" baseline="0">
                <a:solidFill>
                  <a:srgbClr val="3600AD"/>
                </a:solidFill>
                <a:latin typeface="Calibri" pitchFamily="34" charset="0"/>
                <a:ea typeface="Calibri" pitchFamily="34" charset="-122"/>
                <a:cs typeface="Calibri" pitchFamily="34" charset="-120"/>
              </a:rPr>
              <a:t>Underwriter feedback in the Mortgage App trains all three models</a:t>
            </a:r>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indent="0" algn="l">
              <a:lnSpc>
                <a:spcPct val="100000"/>
              </a:lnSpc>
              <a:spcBef>
                <a:spcPts val="0"/>
              </a:spcBef>
              <a:spcAft>
                <a:spcPts val="0"/>
              </a:spcAft>
              <a:buNone/>
            </a:pPr>
            <a:r>
              <a:rPr lang="en-US" sz="1400" b="0" i="1" kern="1200" spc="0" baseline="0">
                <a:solidFill>
                  <a:srgbClr val="5B2D8E"/>
                </a:solidFill>
                <a:latin typeface="Calibri" pitchFamily="34" charset="0"/>
                <a:ea typeface="Calibri" pitchFamily="34" charset="-122"/>
                <a:cs typeface="Calibri" pitchFamily="34" charset="-120"/>
              </a:rPr>
              <a:t>One capture pipeline; the use cases differ only in what the model learns from the data</a:t>
            </a: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
        <p:nvSpPr>
          <p:cNvPr id="300" name="Data 300"/>
          <p:cNvSpPr/>
          <p:nvPr/>
        </p:nvSpPr>
        <p:spPr>
          <a:xfrm>
            <a:off x="457200" y="1498600"/>
            <a:ext cx="2590800" cy="990600"/>
          </a:xfrm>
          <a:prstGeom prst="roundRect">
            <a:avLst>
              <a:gd name="adj" fmla="val 5000"/>
            </a:avLst>
          </a:prstGeom>
          <a:solidFill>
            <a:srgbClr val="F3F5FE"/>
          </a:solidFill>
          <a:ln w="9525">
            <a:solidFill>
              <a:srgbClr val="D9DCEA"/>
            </a:solidFill>
          </a:ln>
        </p:spPr>
        <p:txBody>
          <a:bodyPr wrap="square" lIns="152400" tIns="152400" rIns="152400" bIns="152400" anchor="t">
            <a:noAutofit/>
          </a:bodyPr>
          <a:lstStyle/>
          <a:p>
            <a:pPr marL="0" indent="0" algn="l">
              <a:lnSpc>
                <a:spcPct val="100000"/>
              </a:lnSpc>
              <a:spcBef>
                <a:spcPts val="0"/>
              </a:spcBef>
              <a:spcAft>
                <a:spcPts val="300"/>
              </a:spcAft>
              <a:buNone/>
            </a:pPr>
            <a:r>
              <a:rPr lang="en-US" sz="900" b="1" i="0" kern="1200" spc="100" baseline="0">
                <a:solidFill>
                  <a:srgbClr val="5069EC"/>
                </a:solidFill>
                <a:latin typeface="Calibri" pitchFamily="34" charset="0"/>
                <a:ea typeface="Calibri" pitchFamily="34" charset="-122"/>
                <a:cs typeface="Calibri" pitchFamily="34" charset="-120"/>
              </a:rPr>
              <a:t>1  REVIEW</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Underwriters work through 1,000 loans in the Mortgage App</a:t>
            </a:r>
          </a:p>
        </p:txBody>
      </p:sp>
      <p:sp>
        <p:nvSpPr>
          <p:cNvPr id="301" name="Data 301"/>
          <p:cNvSpPr/>
          <p:nvPr/>
        </p:nvSpPr>
        <p:spPr>
          <a:xfrm rot="5400000">
            <a:off x="3136900" y="1905000"/>
            <a:ext cx="127000" cy="177800"/>
          </a:xfrm>
          <a:prstGeom prst="triangle">
            <a:avLst/>
          </a:prstGeom>
          <a:solidFill>
            <a:srgbClr val="8BA2FF"/>
          </a:solidFill>
          <a:ln>
            <a:no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302" name="Data 302"/>
          <p:cNvSpPr/>
          <p:nvPr/>
        </p:nvSpPr>
        <p:spPr>
          <a:xfrm>
            <a:off x="3352800" y="1498600"/>
            <a:ext cx="2590800" cy="990600"/>
          </a:xfrm>
          <a:prstGeom prst="roundRect">
            <a:avLst>
              <a:gd name="adj" fmla="val 5000"/>
            </a:avLst>
          </a:prstGeom>
          <a:solidFill>
            <a:srgbClr val="F3F5FE"/>
          </a:solidFill>
          <a:ln w="9525">
            <a:solidFill>
              <a:srgbClr val="D9DCEA"/>
            </a:solidFill>
          </a:ln>
        </p:spPr>
        <p:txBody>
          <a:bodyPr wrap="square" lIns="152400" tIns="152400" rIns="152400" bIns="152400" anchor="t">
            <a:noAutofit/>
          </a:bodyPr>
          <a:lstStyle/>
          <a:p>
            <a:pPr marL="0" indent="0" algn="l">
              <a:lnSpc>
                <a:spcPct val="100000"/>
              </a:lnSpc>
              <a:spcBef>
                <a:spcPts val="0"/>
              </a:spcBef>
              <a:spcAft>
                <a:spcPts val="300"/>
              </a:spcAft>
              <a:buNone/>
            </a:pPr>
            <a:r>
              <a:rPr lang="en-US" sz="900" b="1" i="0" kern="1200" spc="100" baseline="0">
                <a:solidFill>
                  <a:srgbClr val="5069EC"/>
                </a:solidFill>
                <a:latin typeface="Calibri" pitchFamily="34" charset="0"/>
                <a:ea typeface="Calibri" pitchFamily="34" charset="-122"/>
                <a:cs typeface="Calibri" pitchFamily="34" charset="-120"/>
              </a:rPr>
              <a:t>2  RATE</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Positive or negative on each answer, calculation and condition</a:t>
            </a:r>
          </a:p>
        </p:txBody>
      </p:sp>
      <p:sp>
        <p:nvSpPr>
          <p:cNvPr id="303" name="Data 303"/>
          <p:cNvSpPr/>
          <p:nvPr/>
        </p:nvSpPr>
        <p:spPr>
          <a:xfrm rot="5400000">
            <a:off x="6032500" y="1905000"/>
            <a:ext cx="127000" cy="177800"/>
          </a:xfrm>
          <a:prstGeom prst="triangle">
            <a:avLst/>
          </a:prstGeom>
          <a:solidFill>
            <a:srgbClr val="8BA2FF"/>
          </a:solidFill>
          <a:ln>
            <a:no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304" name="Data 304"/>
          <p:cNvSpPr/>
          <p:nvPr/>
        </p:nvSpPr>
        <p:spPr>
          <a:xfrm>
            <a:off x="6248400" y="1498600"/>
            <a:ext cx="2590800" cy="990600"/>
          </a:xfrm>
          <a:prstGeom prst="roundRect">
            <a:avLst>
              <a:gd name="adj" fmla="val 5000"/>
            </a:avLst>
          </a:prstGeom>
          <a:solidFill>
            <a:srgbClr val="F3F5FE"/>
          </a:solidFill>
          <a:ln w="9525">
            <a:solidFill>
              <a:srgbClr val="D9DCEA"/>
            </a:solidFill>
          </a:ln>
        </p:spPr>
        <p:txBody>
          <a:bodyPr wrap="square" lIns="152400" tIns="152400" rIns="152400" bIns="152400" anchor="t">
            <a:noAutofit/>
          </a:bodyPr>
          <a:lstStyle/>
          <a:p>
            <a:pPr marL="0" indent="0" algn="l">
              <a:lnSpc>
                <a:spcPct val="100000"/>
              </a:lnSpc>
              <a:spcBef>
                <a:spcPts val="0"/>
              </a:spcBef>
              <a:spcAft>
                <a:spcPts val="300"/>
              </a:spcAft>
              <a:buNone/>
            </a:pPr>
            <a:r>
              <a:rPr lang="en-US" sz="900" b="1" i="0" kern="1200" spc="100" baseline="0">
                <a:solidFill>
                  <a:srgbClr val="5069EC"/>
                </a:solidFill>
                <a:latin typeface="Calibri" pitchFamily="34" charset="0"/>
                <a:ea typeface="Calibri" pitchFamily="34" charset="-122"/>
                <a:cs typeface="Calibri" pitchFamily="34" charset="-120"/>
              </a:rPr>
              <a:t>3  LINK</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Each rating is tied automatically to the chat turn or Reasoner run behind it</a:t>
            </a:r>
          </a:p>
        </p:txBody>
      </p:sp>
      <p:sp>
        <p:nvSpPr>
          <p:cNvPr id="305" name="Data 305"/>
          <p:cNvSpPr/>
          <p:nvPr/>
        </p:nvSpPr>
        <p:spPr>
          <a:xfrm rot="5400000">
            <a:off x="8928100" y="1905000"/>
            <a:ext cx="127000" cy="177800"/>
          </a:xfrm>
          <a:prstGeom prst="triangle">
            <a:avLst/>
          </a:prstGeom>
          <a:solidFill>
            <a:srgbClr val="8BA2FF"/>
          </a:solidFill>
          <a:ln>
            <a:no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306" name="Data 306"/>
          <p:cNvSpPr/>
          <p:nvPr/>
        </p:nvSpPr>
        <p:spPr>
          <a:xfrm>
            <a:off x="9144000" y="1498600"/>
            <a:ext cx="2590800" cy="990600"/>
          </a:xfrm>
          <a:prstGeom prst="roundRect">
            <a:avLst>
              <a:gd name="adj" fmla="val 5000"/>
            </a:avLst>
          </a:prstGeom>
          <a:solidFill>
            <a:srgbClr val="F3F5FE"/>
          </a:solidFill>
          <a:ln w="9525">
            <a:solidFill>
              <a:srgbClr val="D9DCEA"/>
            </a:solidFill>
          </a:ln>
        </p:spPr>
        <p:txBody>
          <a:bodyPr wrap="square" lIns="152400" tIns="152400" rIns="152400" bIns="152400" anchor="t">
            <a:noAutofit/>
          </a:bodyPr>
          <a:lstStyle/>
          <a:p>
            <a:pPr marL="0" indent="0" algn="l">
              <a:lnSpc>
                <a:spcPct val="100000"/>
              </a:lnSpc>
              <a:spcBef>
                <a:spcPts val="0"/>
              </a:spcBef>
              <a:spcAft>
                <a:spcPts val="300"/>
              </a:spcAft>
              <a:buNone/>
            </a:pPr>
            <a:r>
              <a:rPr lang="en-US" sz="900" b="1" i="0" kern="1200" spc="100" baseline="0">
                <a:solidFill>
                  <a:srgbClr val="5069EC"/>
                </a:solidFill>
                <a:latin typeface="Calibri" pitchFamily="34" charset="0"/>
                <a:ea typeface="Calibri" pitchFamily="34" charset="-122"/>
                <a:cs typeface="Calibri" pitchFamily="34" charset="-120"/>
              </a:rPr>
              <a:t>4  STORE</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Saved to blob storage, where Fireworks pulls it in for training</a:t>
            </a:r>
          </a:p>
        </p:txBody>
      </p:sp>
      <p:sp>
        <p:nvSpPr>
          <p:cNvPr id="307" name="Data 307"/>
          <p:cNvSpPr txBox="1"/>
          <p:nvPr/>
        </p:nvSpPr>
        <p:spPr>
          <a:xfrm>
            <a:off x="457200" y="2641600"/>
            <a:ext cx="11277600" cy="203200"/>
          </a:xfrm>
          <a:prstGeom prst="roundRect">
            <a:avLst>
              <a:gd name="adj" fmla="val 5000"/>
            </a:avLst>
          </a:prstGeom>
          <a:noFill/>
          <a:ln>
            <a:noFill/>
          </a:ln>
        </p:spPr>
        <p:txBody>
          <a:bodyPr wrap="square" lIns="0" tIns="0" rIns="0" bIns="0" anchor="t">
            <a:noAutofit/>
          </a:bodyPr>
          <a:lstStyle/>
          <a:p>
            <a:pPr marL="0" indent="0" algn="l">
              <a:lnSpc>
                <a:spcPct val="100000"/>
              </a:lnSpc>
              <a:spcBef>
                <a:spcPts val="0"/>
              </a:spcBef>
              <a:spcAft>
                <a:spcPts val="0"/>
              </a:spcAft>
              <a:buNone/>
            </a:pPr>
            <a:r>
              <a:rPr lang="en-US" sz="900" b="1" i="0" kern="1200" spc="100" baseline="0">
                <a:solidFill>
                  <a:srgbClr val="5B2D8E"/>
                </a:solidFill>
                <a:latin typeface="Calibri" pitchFamily="34" charset="0"/>
                <a:ea typeface="Calibri" pitchFamily="34" charset="-122"/>
                <a:cs typeface="Calibri" pitchFamily="34" charset="-120"/>
              </a:rPr>
              <a:t>SAME PIPELINE, DIFFERENT LEARNING TASK</a:t>
            </a:r>
          </a:p>
        </p:txBody>
      </p:sp>
      <p:sp>
        <p:nvSpPr>
          <p:cNvPr id="308" name="Data 308"/>
          <p:cNvSpPr/>
          <p:nvPr/>
        </p:nvSpPr>
        <p:spPr>
          <a:xfrm>
            <a:off x="457200" y="2997200"/>
            <a:ext cx="3648710" cy="3175000"/>
          </a:xfrm>
          <a:prstGeom prst="roundRect">
            <a:avLst>
              <a:gd name="adj" fmla="val 5000"/>
            </a:avLst>
          </a:prstGeom>
          <a:solidFill>
            <a:srgbClr val="FFFFFF"/>
          </a:solidFill>
          <a:ln w="9525">
            <a:solidFill>
              <a:srgbClr val="D9DCEA"/>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309" name="Data 309"/>
          <p:cNvSpPr txBox="1"/>
          <p:nvPr/>
        </p:nvSpPr>
        <p:spPr>
          <a:xfrm>
            <a:off x="635000" y="3149600"/>
            <a:ext cx="3293110" cy="203200"/>
          </a:xfrm>
          <a:prstGeom prst="roundRect">
            <a:avLst>
              <a:gd name="adj" fmla="val 5000"/>
            </a:avLst>
          </a:prstGeom>
          <a:noFill/>
          <a:ln>
            <a:noFill/>
          </a:ln>
        </p:spPr>
        <p:txBody>
          <a:bodyPr wrap="square" lIns="0" tIns="0" rIns="0" bIns="0" anchor="t">
            <a:noAutofit/>
          </a:bodyPr>
          <a:lstStyle/>
          <a:p>
            <a:pPr marL="0" indent="0" algn="l">
              <a:lnSpc>
                <a:spcPct val="100000"/>
              </a:lnSpc>
              <a:spcBef>
                <a:spcPts val="0"/>
              </a:spcBef>
              <a:spcAft>
                <a:spcPts val="0"/>
              </a:spcAft>
              <a:buNone/>
            </a:pPr>
            <a:r>
              <a:rPr lang="en-US" sz="900" b="1" i="0" kern="1200" spc="100" baseline="0">
                <a:solidFill>
                  <a:srgbClr val="5069EC"/>
                </a:solidFill>
                <a:latin typeface="Calibri" pitchFamily="34" charset="0"/>
                <a:ea typeface="Calibri" pitchFamily="34" charset="-122"/>
                <a:cs typeface="Calibri" pitchFamily="34" charset="-120"/>
              </a:rPr>
              <a:t>EASY  ·  LOOKUP</a:t>
            </a:r>
          </a:p>
        </p:txBody>
      </p:sp>
      <p:sp>
        <p:nvSpPr>
          <p:cNvPr id="310" name="Data 310"/>
          <p:cNvSpPr txBox="1"/>
          <p:nvPr/>
        </p:nvSpPr>
        <p:spPr>
          <a:xfrm>
            <a:off x="635000" y="3454400"/>
            <a:ext cx="3293110" cy="787400"/>
          </a:xfrm>
          <a:prstGeom prst="roundRect">
            <a:avLst>
              <a:gd name="adj" fmla="val 5000"/>
            </a:avLst>
          </a:prstGeom>
          <a:noFill/>
          <a:ln>
            <a:noFill/>
          </a:ln>
        </p:spPr>
        <p:txBody>
          <a:bodyPr wrap="square" lIns="0" tIns="0" rIns="0" bIns="0" anchor="t">
            <a:noAutofit/>
          </a:bodyPr>
          <a:lstStyle/>
          <a:p>
            <a:pPr marL="0" indent="0" algn="l">
              <a:lnSpc>
                <a:spcPct val="100000"/>
              </a:lnSpc>
              <a:spcBef>
                <a:spcPts val="0"/>
              </a:spcBef>
              <a:spcAft>
                <a:spcPts val="300"/>
              </a:spcAft>
              <a:buNone/>
            </a:pPr>
            <a:r>
              <a:rPr lang="en-US" sz="900" b="1" i="0" kern="1200" spc="100" baseline="0">
                <a:solidFill>
                  <a:srgbClr val="5B2D8E"/>
                </a:solidFill>
                <a:latin typeface="Calibri" pitchFamily="34" charset="0"/>
                <a:ea typeface="Calibri" pitchFamily="34" charset="-122"/>
                <a:cs typeface="Calibri" pitchFamily="34" charset="-120"/>
              </a:rPr>
              <a:t>WHAT UNDERWRITERS DO</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Ask 10–20 questions per loan in Mortgage App chat and rate each answer positive or negative</a:t>
            </a:r>
          </a:p>
        </p:txBody>
      </p:sp>
      <p:sp>
        <p:nvSpPr>
          <p:cNvPr id="311" name="Data 311"/>
          <p:cNvSpPr txBox="1"/>
          <p:nvPr/>
        </p:nvSpPr>
        <p:spPr>
          <a:xfrm>
            <a:off x="635000" y="4318000"/>
            <a:ext cx="3293110" cy="762000"/>
          </a:xfrm>
          <a:prstGeom prst="roundRect">
            <a:avLst>
              <a:gd name="adj" fmla="val 5000"/>
            </a:avLst>
          </a:prstGeom>
          <a:noFill/>
          <a:ln>
            <a:noFill/>
          </a:ln>
        </p:spPr>
        <p:txBody>
          <a:bodyPr wrap="square" lIns="0" tIns="0" rIns="0" bIns="0" anchor="t">
            <a:noAutofit/>
          </a:bodyPr>
          <a:lstStyle/>
          <a:p>
            <a:pPr marL="0" indent="0" algn="l">
              <a:lnSpc>
                <a:spcPct val="100000"/>
              </a:lnSpc>
              <a:spcBef>
                <a:spcPts val="0"/>
              </a:spcBef>
              <a:spcAft>
                <a:spcPts val="300"/>
              </a:spcAft>
              <a:buNone/>
            </a:pPr>
            <a:r>
              <a:rPr lang="en-US" sz="900" b="1" i="0" kern="1200" spc="100" baseline="0">
                <a:solidFill>
                  <a:srgbClr val="5B2D8E"/>
                </a:solidFill>
                <a:latin typeface="Calibri" pitchFamily="34" charset="0"/>
                <a:ea typeface="Calibri" pitchFamily="34" charset="-122"/>
                <a:cs typeface="Calibri" pitchFamily="34" charset="-120"/>
              </a:rPr>
              <a:t>DATA CAPTURED</a:t>
            </a:r>
          </a:p>
          <a:p>
            <a:pPr marL="0" indent="0" algn="l">
              <a:lnSpc>
                <a:spcPct val="100000"/>
              </a:lnSpc>
              <a:spcBef>
                <a:spcPts val="0"/>
              </a:spcBef>
              <a:spcAft>
                <a:spcPts val="0"/>
              </a:spcAft>
              <a:buNone/>
            </a:pPr>
            <a:r>
              <a:rPr lang="en-US" sz="1100" b="1" i="0" kern="1200" spc="0" baseline="0">
                <a:solidFill>
                  <a:srgbClr val="1B0065"/>
                </a:solidFill>
                <a:latin typeface="Calibri" pitchFamily="34" charset="0"/>
                <a:ea typeface="Calibri" pitchFamily="34" charset="-122"/>
                <a:cs typeface="Calibri" pitchFamily="34" charset="-120"/>
              </a:rPr>
              <a:t>~10,000–20,000</a:t>
            </a:r>
            <a:r>
              <a:rPr lang="en-US" sz="1100" b="0" i="0" kern="1200" spc="0" baseline="0">
                <a:solidFill>
                  <a:srgbClr val="1B0065"/>
                </a:solidFill>
                <a:latin typeface="Calibri" pitchFamily="34" charset="0"/>
                <a:ea typeface="Calibri" pitchFamily="34" charset="-122"/>
                <a:cs typeface="Calibri" pitchFamily="34" charset="-120"/>
              </a:rPr>
              <a:t> rated question and answer pairs</a:t>
            </a:r>
          </a:p>
        </p:txBody>
      </p:sp>
      <p:sp>
        <p:nvSpPr>
          <p:cNvPr id="312" name="Data 312"/>
          <p:cNvSpPr/>
          <p:nvPr/>
        </p:nvSpPr>
        <p:spPr>
          <a:xfrm>
            <a:off x="584200" y="5156200"/>
            <a:ext cx="3394710" cy="863600"/>
          </a:xfrm>
          <a:prstGeom prst="roundRect">
            <a:avLst>
              <a:gd name="adj" fmla="val 5000"/>
            </a:avLst>
          </a:prstGeom>
          <a:solidFill>
            <a:srgbClr val="EAF7F5"/>
          </a:solidFill>
          <a:ln w="9525">
            <a:solidFill>
              <a:srgbClr val="B9E4DD"/>
            </a:solidFill>
          </a:ln>
        </p:spPr>
        <p:txBody>
          <a:bodyPr wrap="square" lIns="127000" tIns="127000" rIns="127000" bIns="127000" anchor="t">
            <a:noAutofit/>
          </a:bodyPr>
          <a:lstStyle/>
          <a:p>
            <a:pPr marL="0" indent="0" algn="l">
              <a:lnSpc>
                <a:spcPct val="100000"/>
              </a:lnSpc>
              <a:spcBef>
                <a:spcPts val="0"/>
              </a:spcBef>
              <a:spcAft>
                <a:spcPts val="300"/>
              </a:spcAft>
              <a:buNone/>
            </a:pPr>
            <a:r>
              <a:rPr lang="en-US" sz="900" b="1" i="0" kern="1200" spc="100" baseline="0">
                <a:solidFill>
                  <a:srgbClr val="0D9488"/>
                </a:solidFill>
                <a:latin typeface="Calibri" pitchFamily="34" charset="0"/>
                <a:ea typeface="Calibri" pitchFamily="34" charset="-122"/>
                <a:cs typeface="Calibri" pitchFamily="34" charset="-120"/>
              </a:rPr>
              <a:t>WHAT THE MODEL LEARNS</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Answer loan questions in 1–2 seconds, the way underwriters rated as correct</a:t>
            </a:r>
          </a:p>
        </p:txBody>
      </p:sp>
      <p:sp>
        <p:nvSpPr>
          <p:cNvPr id="313" name="Data 313"/>
          <p:cNvSpPr/>
          <p:nvPr/>
        </p:nvSpPr>
        <p:spPr>
          <a:xfrm>
            <a:off x="4271010" y="2997200"/>
            <a:ext cx="3648710" cy="3175000"/>
          </a:xfrm>
          <a:prstGeom prst="roundRect">
            <a:avLst>
              <a:gd name="adj" fmla="val 5000"/>
            </a:avLst>
          </a:prstGeom>
          <a:solidFill>
            <a:srgbClr val="FFFFFF"/>
          </a:solidFill>
          <a:ln w="9525">
            <a:solidFill>
              <a:srgbClr val="D9DCEA"/>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314" name="Data 314"/>
          <p:cNvSpPr txBox="1"/>
          <p:nvPr/>
        </p:nvSpPr>
        <p:spPr>
          <a:xfrm>
            <a:off x="4448810" y="3149600"/>
            <a:ext cx="3293110" cy="203200"/>
          </a:xfrm>
          <a:prstGeom prst="roundRect">
            <a:avLst>
              <a:gd name="adj" fmla="val 5000"/>
            </a:avLst>
          </a:prstGeom>
          <a:noFill/>
          <a:ln>
            <a:noFill/>
          </a:ln>
        </p:spPr>
        <p:txBody>
          <a:bodyPr wrap="square" lIns="0" tIns="0" rIns="0" bIns="0" anchor="t">
            <a:noAutofit/>
          </a:bodyPr>
          <a:lstStyle/>
          <a:p>
            <a:pPr marL="0" indent="0" algn="l">
              <a:lnSpc>
                <a:spcPct val="100000"/>
              </a:lnSpc>
              <a:spcBef>
                <a:spcPts val="0"/>
              </a:spcBef>
              <a:spcAft>
                <a:spcPts val="0"/>
              </a:spcAft>
              <a:buNone/>
            </a:pPr>
            <a:r>
              <a:rPr lang="en-US" sz="900" b="1" i="0" kern="1200" spc="100" baseline="0">
                <a:solidFill>
                  <a:srgbClr val="5069EC"/>
                </a:solidFill>
                <a:latin typeface="Calibri" pitchFamily="34" charset="0"/>
                <a:ea typeface="Calibri" pitchFamily="34" charset="-122"/>
                <a:cs typeface="Calibri" pitchFamily="34" charset="-120"/>
              </a:rPr>
              <a:t>MEDIUM  ·  SELF-CHECK</a:t>
            </a:r>
          </a:p>
        </p:txBody>
      </p:sp>
      <p:sp>
        <p:nvSpPr>
          <p:cNvPr id="315" name="Data 315"/>
          <p:cNvSpPr txBox="1"/>
          <p:nvPr/>
        </p:nvSpPr>
        <p:spPr>
          <a:xfrm>
            <a:off x="4448810" y="3454400"/>
            <a:ext cx="3293110" cy="787400"/>
          </a:xfrm>
          <a:prstGeom prst="roundRect">
            <a:avLst>
              <a:gd name="adj" fmla="val 5000"/>
            </a:avLst>
          </a:prstGeom>
          <a:noFill/>
          <a:ln>
            <a:noFill/>
          </a:ln>
        </p:spPr>
        <p:txBody>
          <a:bodyPr wrap="square" lIns="0" tIns="0" rIns="0" bIns="0" anchor="t">
            <a:noAutofit/>
          </a:bodyPr>
          <a:lstStyle/>
          <a:p>
            <a:pPr marL="0" indent="0" algn="l">
              <a:lnSpc>
                <a:spcPct val="100000"/>
              </a:lnSpc>
              <a:spcBef>
                <a:spcPts val="0"/>
              </a:spcBef>
              <a:spcAft>
                <a:spcPts val="300"/>
              </a:spcAft>
              <a:buNone/>
            </a:pPr>
            <a:r>
              <a:rPr lang="en-US" sz="900" b="1" i="0" kern="1200" spc="100" baseline="0">
                <a:solidFill>
                  <a:srgbClr val="5B2D8E"/>
                </a:solidFill>
                <a:latin typeface="Calibri" pitchFamily="34" charset="0"/>
                <a:ea typeface="Calibri" pitchFamily="34" charset="-122"/>
                <a:cs typeface="Calibri" pitchFamily="34" charset="-120"/>
              </a:rPr>
              <a:t>WHAT UNDERWRITERS DO</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Review the Reasoner output in the Mortgage App and rate each calculation and condition</a:t>
            </a:r>
          </a:p>
        </p:txBody>
      </p:sp>
      <p:sp>
        <p:nvSpPr>
          <p:cNvPr id="316" name="Data 316"/>
          <p:cNvSpPr txBox="1"/>
          <p:nvPr/>
        </p:nvSpPr>
        <p:spPr>
          <a:xfrm>
            <a:off x="4448810" y="4318000"/>
            <a:ext cx="3293110" cy="762000"/>
          </a:xfrm>
          <a:prstGeom prst="roundRect">
            <a:avLst>
              <a:gd name="adj" fmla="val 5000"/>
            </a:avLst>
          </a:prstGeom>
          <a:noFill/>
          <a:ln>
            <a:noFill/>
          </a:ln>
        </p:spPr>
        <p:txBody>
          <a:bodyPr wrap="square" lIns="0" tIns="0" rIns="0" bIns="0" anchor="t">
            <a:noAutofit/>
          </a:bodyPr>
          <a:lstStyle/>
          <a:p>
            <a:pPr marL="0" indent="0" algn="l">
              <a:lnSpc>
                <a:spcPct val="100000"/>
              </a:lnSpc>
              <a:spcBef>
                <a:spcPts val="0"/>
              </a:spcBef>
              <a:spcAft>
                <a:spcPts val="300"/>
              </a:spcAft>
              <a:buNone/>
            </a:pPr>
            <a:r>
              <a:rPr lang="en-US" sz="900" b="1" i="0" kern="1200" spc="100" baseline="0">
                <a:solidFill>
                  <a:srgbClr val="5B2D8E"/>
                </a:solidFill>
                <a:latin typeface="Calibri" pitchFamily="34" charset="0"/>
                <a:ea typeface="Calibri" pitchFamily="34" charset="-122"/>
                <a:cs typeface="Calibri" pitchFamily="34" charset="-120"/>
              </a:rPr>
              <a:t>DATA CAPTURED</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Each rating linked to its </a:t>
            </a:r>
            <a:r>
              <a:rPr lang="en-US" sz="1100" b="1" i="0" kern="1200" spc="0" baseline="0">
                <a:solidFill>
                  <a:srgbClr val="1B0065"/>
                </a:solidFill>
                <a:latin typeface="Calibri" pitchFamily="34" charset="0"/>
                <a:ea typeface="Calibri" pitchFamily="34" charset="-122"/>
                <a:cs typeface="Calibri" pitchFamily="34" charset="-120"/>
              </a:rPr>
              <a:t>Reasoner run</a:t>
            </a:r>
            <a:r>
              <a:rPr lang="en-US" sz="1100" b="0" i="0" kern="1200" spc="0" baseline="0">
                <a:solidFill>
                  <a:srgbClr val="1B0065"/>
                </a:solidFill>
                <a:latin typeface="Calibri" pitchFamily="34" charset="0"/>
                <a:ea typeface="Calibri" pitchFamily="34" charset="-122"/>
                <a:cs typeface="Calibri" pitchFamily="34" charset="-120"/>
              </a:rPr>
              <a:t>, JTBD, cited documents and answer</a:t>
            </a:r>
          </a:p>
        </p:txBody>
      </p:sp>
      <p:sp>
        <p:nvSpPr>
          <p:cNvPr id="317" name="Data 317"/>
          <p:cNvSpPr/>
          <p:nvPr/>
        </p:nvSpPr>
        <p:spPr>
          <a:xfrm>
            <a:off x="4398010" y="5156200"/>
            <a:ext cx="3394710" cy="863600"/>
          </a:xfrm>
          <a:prstGeom prst="roundRect">
            <a:avLst>
              <a:gd name="adj" fmla="val 5000"/>
            </a:avLst>
          </a:prstGeom>
          <a:solidFill>
            <a:srgbClr val="EAF7F5"/>
          </a:solidFill>
          <a:ln w="9525">
            <a:solidFill>
              <a:srgbClr val="B9E4DD"/>
            </a:solidFill>
          </a:ln>
        </p:spPr>
        <p:txBody>
          <a:bodyPr wrap="square" lIns="127000" tIns="127000" rIns="127000" bIns="127000" anchor="t">
            <a:noAutofit/>
          </a:bodyPr>
          <a:lstStyle/>
          <a:p>
            <a:pPr marL="0" indent="0" algn="l">
              <a:lnSpc>
                <a:spcPct val="100000"/>
              </a:lnSpc>
              <a:spcBef>
                <a:spcPts val="0"/>
              </a:spcBef>
              <a:spcAft>
                <a:spcPts val="300"/>
              </a:spcAft>
              <a:buNone/>
            </a:pPr>
            <a:r>
              <a:rPr lang="en-US" sz="900" b="1" i="0" kern="1200" spc="100" baseline="0">
                <a:solidFill>
                  <a:srgbClr val="0D9488"/>
                </a:solidFill>
                <a:latin typeface="Calibri" pitchFamily="34" charset="0"/>
                <a:ea typeface="Calibri" pitchFamily="34" charset="-122"/>
                <a:cs typeface="Calibri" pitchFamily="34" charset="-120"/>
              </a:rPr>
              <a:t>WHAT THE MODEL LEARNS</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Judge whether a Reasoner finding is correct, so the Reasoner knows when to escalate</a:t>
            </a:r>
          </a:p>
        </p:txBody>
      </p:sp>
      <p:sp>
        <p:nvSpPr>
          <p:cNvPr id="318" name="Data 318"/>
          <p:cNvSpPr/>
          <p:nvPr/>
        </p:nvSpPr>
        <p:spPr>
          <a:xfrm>
            <a:off x="8084820" y="2997200"/>
            <a:ext cx="3648710" cy="3175000"/>
          </a:xfrm>
          <a:prstGeom prst="roundRect">
            <a:avLst>
              <a:gd name="adj" fmla="val 5000"/>
            </a:avLst>
          </a:prstGeom>
          <a:solidFill>
            <a:srgbClr val="FFFFFF"/>
          </a:solidFill>
          <a:ln w="9525">
            <a:solidFill>
              <a:srgbClr val="D9DCEA"/>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319" name="Data 319"/>
          <p:cNvSpPr txBox="1"/>
          <p:nvPr/>
        </p:nvSpPr>
        <p:spPr>
          <a:xfrm>
            <a:off x="8262620" y="3149600"/>
            <a:ext cx="3293110" cy="203200"/>
          </a:xfrm>
          <a:prstGeom prst="roundRect">
            <a:avLst>
              <a:gd name="adj" fmla="val 5000"/>
            </a:avLst>
          </a:prstGeom>
          <a:noFill/>
          <a:ln>
            <a:noFill/>
          </a:ln>
        </p:spPr>
        <p:txBody>
          <a:bodyPr wrap="square" lIns="0" tIns="0" rIns="0" bIns="0" anchor="t">
            <a:noAutofit/>
          </a:bodyPr>
          <a:lstStyle/>
          <a:p>
            <a:pPr marL="0" indent="0" algn="l">
              <a:lnSpc>
                <a:spcPct val="100000"/>
              </a:lnSpc>
              <a:spcBef>
                <a:spcPts val="0"/>
              </a:spcBef>
              <a:spcAft>
                <a:spcPts val="0"/>
              </a:spcAft>
              <a:buNone/>
            </a:pPr>
            <a:r>
              <a:rPr lang="en-US" sz="900" b="1" i="0" kern="1200" spc="100" baseline="0">
                <a:solidFill>
                  <a:srgbClr val="5069EC"/>
                </a:solidFill>
                <a:latin typeface="Calibri" pitchFamily="34" charset="0"/>
                <a:ea typeface="Calibri" pitchFamily="34" charset="-122"/>
                <a:cs typeface="Calibri" pitchFamily="34" charset="-120"/>
              </a:rPr>
              <a:t>HARD  ·  JTBD-GUIDED UNDERWRITING</a:t>
            </a:r>
          </a:p>
        </p:txBody>
      </p:sp>
      <p:sp>
        <p:nvSpPr>
          <p:cNvPr id="320" name="Data 320"/>
          <p:cNvSpPr txBox="1"/>
          <p:nvPr/>
        </p:nvSpPr>
        <p:spPr>
          <a:xfrm>
            <a:off x="8262620" y="3454400"/>
            <a:ext cx="3293110" cy="787400"/>
          </a:xfrm>
          <a:prstGeom prst="roundRect">
            <a:avLst>
              <a:gd name="adj" fmla="val 5000"/>
            </a:avLst>
          </a:prstGeom>
          <a:noFill/>
          <a:ln>
            <a:noFill/>
          </a:ln>
        </p:spPr>
        <p:txBody>
          <a:bodyPr wrap="square" lIns="0" tIns="0" rIns="0" bIns="0" anchor="t">
            <a:noAutofit/>
          </a:bodyPr>
          <a:lstStyle/>
          <a:p>
            <a:pPr marL="0" indent="0" algn="l">
              <a:lnSpc>
                <a:spcPct val="100000"/>
              </a:lnSpc>
              <a:spcBef>
                <a:spcPts val="0"/>
              </a:spcBef>
              <a:spcAft>
                <a:spcPts val="300"/>
              </a:spcAft>
              <a:buNone/>
            </a:pPr>
            <a:r>
              <a:rPr lang="en-US" sz="900" b="1" i="0" kern="1200" spc="100" baseline="0">
                <a:solidFill>
                  <a:srgbClr val="5B2D8E"/>
                </a:solidFill>
                <a:latin typeface="Calibri" pitchFamily="34" charset="0"/>
                <a:ea typeface="Calibri" pitchFamily="34" charset="-122"/>
                <a:cs typeface="Calibri" pitchFamily="34" charset="-120"/>
              </a:rPr>
              <a:t>WHAT UNDERWRITERS DO</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Same review as the medium case: rate each calculation and condition the Reasoner produces</a:t>
            </a:r>
          </a:p>
        </p:txBody>
      </p:sp>
      <p:sp>
        <p:nvSpPr>
          <p:cNvPr id="321" name="Data 321"/>
          <p:cNvSpPr txBox="1"/>
          <p:nvPr/>
        </p:nvSpPr>
        <p:spPr>
          <a:xfrm>
            <a:off x="8262620" y="4318000"/>
            <a:ext cx="3293110" cy="762000"/>
          </a:xfrm>
          <a:prstGeom prst="roundRect">
            <a:avLst>
              <a:gd name="adj" fmla="val 5000"/>
            </a:avLst>
          </a:prstGeom>
          <a:noFill/>
          <a:ln>
            <a:noFill/>
          </a:ln>
        </p:spPr>
        <p:txBody>
          <a:bodyPr wrap="square" lIns="0" tIns="0" rIns="0" bIns="0" anchor="t">
            <a:noAutofit/>
          </a:bodyPr>
          <a:lstStyle/>
          <a:p>
            <a:pPr marL="0" indent="0" algn="l">
              <a:lnSpc>
                <a:spcPct val="100000"/>
              </a:lnSpc>
              <a:spcBef>
                <a:spcPts val="0"/>
              </a:spcBef>
              <a:spcAft>
                <a:spcPts val="300"/>
              </a:spcAft>
              <a:buNone/>
            </a:pPr>
            <a:r>
              <a:rPr lang="en-US" sz="900" b="1" i="0" kern="1200" spc="100" baseline="0">
                <a:solidFill>
                  <a:srgbClr val="5B2D8E"/>
                </a:solidFill>
                <a:latin typeface="Calibri" pitchFamily="34" charset="0"/>
                <a:ea typeface="Calibri" pitchFamily="34" charset="-122"/>
                <a:cs typeface="Calibri" pitchFamily="34" charset="-120"/>
              </a:rPr>
              <a:t>DATA CAPTURED</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Same records; </a:t>
            </a:r>
            <a:r>
              <a:rPr lang="en-US" sz="1100" b="1" i="0" kern="1200" spc="0" baseline="0">
                <a:solidFill>
                  <a:srgbClr val="1B0065"/>
                </a:solidFill>
                <a:latin typeface="Calibri" pitchFamily="34" charset="0"/>
                <a:ea typeface="Calibri" pitchFamily="34" charset="-122"/>
                <a:cs typeface="Calibri" pitchFamily="34" charset="-120"/>
              </a:rPr>
              <a:t>accepted findings</a:t>
            </a:r>
            <a:r>
              <a:rPr lang="en-US" sz="1100" b="0" i="0" kern="1200" spc="0" baseline="0">
                <a:solidFill>
                  <a:srgbClr val="1B0065"/>
                </a:solidFill>
                <a:latin typeface="Calibri" pitchFamily="34" charset="0"/>
                <a:ea typeface="Calibri" pitchFamily="34" charset="-122"/>
                <a:cs typeface="Calibri" pitchFamily="34" charset="-120"/>
              </a:rPr>
              <a:t> become verified answers for SFT and rewards for RLVR</a:t>
            </a:r>
          </a:p>
        </p:txBody>
      </p:sp>
      <p:sp>
        <p:nvSpPr>
          <p:cNvPr id="322" name="Data 322"/>
          <p:cNvSpPr/>
          <p:nvPr/>
        </p:nvSpPr>
        <p:spPr>
          <a:xfrm>
            <a:off x="8211820" y="5156200"/>
            <a:ext cx="3394710" cy="863600"/>
          </a:xfrm>
          <a:prstGeom prst="roundRect">
            <a:avLst>
              <a:gd name="adj" fmla="val 5000"/>
            </a:avLst>
          </a:prstGeom>
          <a:solidFill>
            <a:srgbClr val="EAF7F5"/>
          </a:solidFill>
          <a:ln w="9525">
            <a:solidFill>
              <a:srgbClr val="B9E4DD"/>
            </a:solidFill>
          </a:ln>
        </p:spPr>
        <p:txBody>
          <a:bodyPr wrap="square" lIns="127000" tIns="127000" rIns="127000" bIns="127000" anchor="t">
            <a:noAutofit/>
          </a:bodyPr>
          <a:lstStyle/>
          <a:p>
            <a:pPr marL="0" indent="0" algn="l">
              <a:lnSpc>
                <a:spcPct val="100000"/>
              </a:lnSpc>
              <a:spcBef>
                <a:spcPts val="0"/>
              </a:spcBef>
              <a:spcAft>
                <a:spcPts val="300"/>
              </a:spcAft>
              <a:buNone/>
            </a:pPr>
            <a:r>
              <a:rPr lang="en-US" sz="900" b="1" i="0" kern="1200" spc="100" baseline="0">
                <a:solidFill>
                  <a:srgbClr val="0D9488"/>
                </a:solidFill>
                <a:latin typeface="Calibri" pitchFamily="34" charset="0"/>
                <a:ea typeface="Calibri" pitchFamily="34" charset="-122"/>
                <a:cs typeface="Calibri" pitchFamily="34" charset="-120"/>
              </a:rPr>
              <a:t>WHAT THE MODEL LEARNS</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Produce findings from each JTBD that underwriters accept, at 2–3x lower cost</a:t>
            </a:r>
          </a:p>
        </p:txBody>
      </p:sp>
    </p:spTree>
    <p:extLst>
      <p:ext uri="{BB962C8B-B14F-4D97-AF65-F5344CB8AC3E}">
        <p14:creationId xmlns:p14="http://schemas.microsoft.com/office/powerpoint/2010/main" val="16841148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indent="0" algn="l">
              <a:lnSpc>
                <a:spcPct val="100000"/>
              </a:lnSpc>
              <a:spcBef>
                <a:spcPts val="0"/>
              </a:spcBef>
              <a:spcAft>
                <a:spcPts val="0"/>
              </a:spcAft>
              <a:buNone/>
            </a:pPr>
            <a:r>
              <a:rPr lang="en-US" sz="1000" b="1" i="0" kern="1200" spc="300" baseline="0">
                <a:solidFill>
                  <a:srgbClr val="5069EC"/>
                </a:solidFill>
                <a:latin typeface="Calibri" pitchFamily="34" charset="0"/>
                <a:ea typeface="Calibri" pitchFamily="34" charset="-122"/>
                <a:cs typeface="Calibri" pitchFamily="34" charset="-120"/>
              </a:rPr>
              <a:t>REINFORCEMENT LEARNING  ·  TEAM AND TIMELINE</a:t>
            </a: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lnSpc>
                <a:spcPct val="100000"/>
              </a:lnSpc>
              <a:spcBef>
                <a:spcPts val="0"/>
              </a:spcBef>
              <a:spcAft>
                <a:spcPts val="0"/>
              </a:spcAft>
              <a:buNone/>
            </a:pPr>
            <a:r>
              <a:rPr lang="en-US" sz="2600" b="1" i="0" kern="1200" spc="0" baseline="0">
                <a:solidFill>
                  <a:srgbClr val="3600AD"/>
                </a:solidFill>
                <a:latin typeface="Calibri" pitchFamily="34" charset="0"/>
                <a:ea typeface="Calibri" pitchFamily="34" charset="-122"/>
                <a:cs typeface="Calibri" pitchFamily="34" charset="-120"/>
              </a:rPr>
              <a:t>Seven people label 1,000 loans in 11 months, with a go/no-go at month 3</a:t>
            </a:r>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indent="0" algn="l">
              <a:lnSpc>
                <a:spcPct val="100000"/>
              </a:lnSpc>
              <a:spcBef>
                <a:spcPts val="0"/>
              </a:spcBef>
              <a:spcAft>
                <a:spcPts val="0"/>
              </a:spcAft>
              <a:buNone/>
            </a:pPr>
            <a:r>
              <a:rPr lang="en-US" sz="1400" b="0" i="1" kern="1200" spc="0" baseline="0">
                <a:solidFill>
                  <a:srgbClr val="5B2D8E"/>
                </a:solidFill>
                <a:latin typeface="Calibri" pitchFamily="34" charset="0"/>
                <a:ea typeface="Calibri" pitchFamily="34" charset="-122"/>
                <a:cs typeface="Calibri" pitchFamily="34" charset="-120"/>
              </a:rPr>
              <a:t>SMEs set the pace: 2–3 loans per SME per day, planned at ~100 loans a month</a:t>
            </a: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
        <p:nvSpPr>
          <p:cNvPr id="400" name="Team 400"/>
          <p:cNvSpPr/>
          <p:nvPr/>
        </p:nvSpPr>
        <p:spPr>
          <a:xfrm>
            <a:off x="457200" y="1473200"/>
            <a:ext cx="2705100" cy="1016000"/>
          </a:xfrm>
          <a:prstGeom prst="roundRect">
            <a:avLst>
              <a:gd name="adj" fmla="val 8000"/>
            </a:avLst>
          </a:prstGeom>
          <a:solidFill>
            <a:srgbClr val="F3F5FE"/>
          </a:solidFill>
          <a:ln w="9525">
            <a:solidFill>
              <a:srgbClr val="D9DCEA"/>
            </a:solidFill>
          </a:ln>
        </p:spPr>
        <p:txBody>
          <a:bodyPr wrap="square" lIns="152400" tIns="101600" rIns="152400" bIns="101600" anchor="t">
            <a:noAutofit/>
          </a:bodyPr>
          <a:lstStyle/>
          <a:p>
            <a:pPr marL="0" indent="0" algn="l">
              <a:lnSpc>
                <a:spcPct val="100000"/>
              </a:lnSpc>
              <a:spcBef>
                <a:spcPts val="0"/>
              </a:spcBef>
              <a:spcAft>
                <a:spcPts val="200"/>
              </a:spcAft>
              <a:buNone/>
            </a:pPr>
            <a:r>
              <a:rPr lang="en-US" sz="1400" b="1" i="0" kern="1200" spc="0" baseline="0">
                <a:solidFill>
                  <a:srgbClr val="3600AD"/>
                </a:solidFill>
                <a:latin typeface="Calibri" pitchFamily="34" charset="0"/>
                <a:ea typeface="Calibri" pitchFamily="34" charset="-122"/>
                <a:cs typeface="Calibri" pitchFamily="34" charset="-120"/>
              </a:rPr>
              <a:t>1  </a:t>
            </a:r>
            <a:r>
              <a:rPr lang="en-US" sz="900" b="1" i="0" kern="1200" spc="100" baseline="0">
                <a:solidFill>
                  <a:srgbClr val="5069EC"/>
                </a:solidFill>
                <a:latin typeface="Calibri" pitchFamily="34" charset="0"/>
                <a:ea typeface="Calibri" pitchFamily="34" charset="-122"/>
                <a:cs typeface="Calibri" pitchFamily="34" charset="-120"/>
              </a:rPr>
              <a:t>RESEARCH LEAD</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Sets direction, chooses approaches and owns the go/no-go call</a:t>
            </a:r>
          </a:p>
        </p:txBody>
      </p:sp>
      <p:sp>
        <p:nvSpPr>
          <p:cNvPr id="401" name="Team 401"/>
          <p:cNvSpPr/>
          <p:nvPr/>
        </p:nvSpPr>
        <p:spPr>
          <a:xfrm>
            <a:off x="3314700" y="1473200"/>
            <a:ext cx="2705100" cy="1016000"/>
          </a:xfrm>
          <a:prstGeom prst="roundRect">
            <a:avLst>
              <a:gd name="adj" fmla="val 8000"/>
            </a:avLst>
          </a:prstGeom>
          <a:solidFill>
            <a:srgbClr val="F3F5FE"/>
          </a:solidFill>
          <a:ln w="9525">
            <a:solidFill>
              <a:srgbClr val="D9DCEA"/>
            </a:solidFill>
          </a:ln>
        </p:spPr>
        <p:txBody>
          <a:bodyPr wrap="square" lIns="152400" tIns="101600" rIns="152400" bIns="101600" anchor="t">
            <a:noAutofit/>
          </a:bodyPr>
          <a:lstStyle/>
          <a:p>
            <a:pPr marL="0" indent="0" algn="l">
              <a:lnSpc>
                <a:spcPct val="100000"/>
              </a:lnSpc>
              <a:spcBef>
                <a:spcPts val="0"/>
              </a:spcBef>
              <a:spcAft>
                <a:spcPts val="200"/>
              </a:spcAft>
              <a:buNone/>
            </a:pPr>
            <a:r>
              <a:rPr lang="en-US" sz="1400" b="1" i="0" kern="1200" spc="0" baseline="0">
                <a:solidFill>
                  <a:srgbClr val="3600AD"/>
                </a:solidFill>
                <a:latin typeface="Calibri" pitchFamily="34" charset="0"/>
                <a:ea typeface="Calibri" pitchFamily="34" charset="-122"/>
                <a:cs typeface="Calibri" pitchFamily="34" charset="-120"/>
              </a:rPr>
              <a:t>1  </a:t>
            </a:r>
            <a:r>
              <a:rPr lang="en-US" sz="900" b="1" i="0" kern="1200" spc="100" baseline="0">
                <a:solidFill>
                  <a:srgbClr val="5069EC"/>
                </a:solidFill>
                <a:latin typeface="Calibri" pitchFamily="34" charset="0"/>
                <a:ea typeface="Calibri" pitchFamily="34" charset="-122"/>
                <a:cs typeface="Calibri" pitchFamily="34" charset="-120"/>
              </a:rPr>
              <a:t>RL EXPERT</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Designs and tunes reward functions; runs RLVR, evals and model iterations</a:t>
            </a:r>
          </a:p>
        </p:txBody>
      </p:sp>
      <p:sp>
        <p:nvSpPr>
          <p:cNvPr id="402" name="Team 402"/>
          <p:cNvSpPr/>
          <p:nvPr/>
        </p:nvSpPr>
        <p:spPr>
          <a:xfrm>
            <a:off x="6172200" y="1473200"/>
            <a:ext cx="2705100" cy="1016000"/>
          </a:xfrm>
          <a:prstGeom prst="roundRect">
            <a:avLst>
              <a:gd name="adj" fmla="val 8000"/>
            </a:avLst>
          </a:prstGeom>
          <a:solidFill>
            <a:srgbClr val="F3F5FE"/>
          </a:solidFill>
          <a:ln w="9525">
            <a:solidFill>
              <a:srgbClr val="D9DCEA"/>
            </a:solidFill>
          </a:ln>
        </p:spPr>
        <p:txBody>
          <a:bodyPr wrap="square" lIns="152400" tIns="101600" rIns="152400" bIns="101600" anchor="t">
            <a:noAutofit/>
          </a:bodyPr>
          <a:lstStyle/>
          <a:p>
            <a:pPr marL="0" indent="0" algn="l">
              <a:lnSpc>
                <a:spcPct val="100000"/>
              </a:lnSpc>
              <a:spcBef>
                <a:spcPts val="0"/>
              </a:spcBef>
              <a:spcAft>
                <a:spcPts val="200"/>
              </a:spcAft>
              <a:buNone/>
            </a:pPr>
            <a:r>
              <a:rPr lang="en-US" sz="1400" b="1" i="0" kern="1200" spc="0" baseline="0">
                <a:solidFill>
                  <a:srgbClr val="3600AD"/>
                </a:solidFill>
                <a:latin typeface="Calibri" pitchFamily="34" charset="0"/>
                <a:ea typeface="Calibri" pitchFamily="34" charset="-122"/>
                <a:cs typeface="Calibri" pitchFamily="34" charset="-120"/>
              </a:rPr>
              <a:t>3  </a:t>
            </a:r>
            <a:r>
              <a:rPr lang="en-US" sz="900" b="1" i="0" kern="1200" spc="100" baseline="0">
                <a:solidFill>
                  <a:srgbClr val="5069EC"/>
                </a:solidFill>
                <a:latin typeface="Calibri" pitchFamily="34" charset="0"/>
                <a:ea typeface="Calibri" pitchFamily="34" charset="-122"/>
                <a:cs typeface="Calibri" pitchFamily="34" charset="-120"/>
              </a:rPr>
              <a:t>ENGINEERS</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Instrument the app, Assistant and Reasoner; obfuscate and centralize data; run the Fireworks pipeline</a:t>
            </a:r>
          </a:p>
        </p:txBody>
      </p:sp>
      <p:sp>
        <p:nvSpPr>
          <p:cNvPr id="403" name="Team 403"/>
          <p:cNvSpPr/>
          <p:nvPr/>
        </p:nvSpPr>
        <p:spPr>
          <a:xfrm>
            <a:off x="9029700" y="1473200"/>
            <a:ext cx="2705100" cy="1016000"/>
          </a:xfrm>
          <a:prstGeom prst="roundRect">
            <a:avLst>
              <a:gd name="adj" fmla="val 8000"/>
            </a:avLst>
          </a:prstGeom>
          <a:solidFill>
            <a:srgbClr val="F3F5FE"/>
          </a:solidFill>
          <a:ln w="9525">
            <a:solidFill>
              <a:srgbClr val="D9DCEA"/>
            </a:solidFill>
          </a:ln>
        </p:spPr>
        <p:txBody>
          <a:bodyPr wrap="square" lIns="152400" tIns="101600" rIns="152400" bIns="101600" anchor="t">
            <a:noAutofit/>
          </a:bodyPr>
          <a:lstStyle/>
          <a:p>
            <a:pPr marL="0" indent="0" algn="l">
              <a:lnSpc>
                <a:spcPct val="100000"/>
              </a:lnSpc>
              <a:spcBef>
                <a:spcPts val="0"/>
              </a:spcBef>
              <a:spcAft>
                <a:spcPts val="200"/>
              </a:spcAft>
              <a:buNone/>
            </a:pPr>
            <a:r>
              <a:rPr lang="en-US" sz="1400" b="1" i="0" kern="1200" spc="0" baseline="0">
                <a:solidFill>
                  <a:srgbClr val="3600AD"/>
                </a:solidFill>
                <a:latin typeface="Calibri" pitchFamily="34" charset="0"/>
                <a:ea typeface="Calibri" pitchFamily="34" charset="-122"/>
                <a:cs typeface="Calibri" pitchFamily="34" charset="-120"/>
              </a:rPr>
              <a:t>2  </a:t>
            </a:r>
            <a:r>
              <a:rPr lang="en-US" sz="900" b="1" i="0" kern="1200" spc="100" baseline="0">
                <a:solidFill>
                  <a:srgbClr val="5069EC"/>
                </a:solidFill>
                <a:latin typeface="Calibri" pitchFamily="34" charset="0"/>
                <a:ea typeface="Calibri" pitchFamily="34" charset="-122"/>
                <a:cs typeface="Calibri" pitchFamily="34" charset="-120"/>
              </a:rPr>
              <a:t>SMES</a:t>
            </a:r>
          </a:p>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Label and review loans at 2–3 loans per SME per day</a:t>
            </a:r>
          </a:p>
        </p:txBody>
      </p:sp>
      <p:sp>
        <p:nvSpPr>
          <p:cNvPr id="404" name="Team 404"/>
          <p:cNvSpPr/>
          <p:nvPr/>
        </p:nvSpPr>
        <p:spPr>
          <a:xfrm>
            <a:off x="2946400" y="2717800"/>
            <a:ext cx="798945" cy="203200"/>
          </a:xfrm>
          <a:prstGeom prst="rect">
            <a:avLst/>
          </a:prstGeom>
          <a:noFill/>
          <a:ln>
            <a:noFill/>
          </a:ln>
        </p:spPr>
        <p:txBody>
          <a:bodyPr wrap="square" lIns="0" tIns="0" rIns="0" bIns="0" anchor="t">
            <a:noAutofit/>
          </a:bodyPr>
          <a:lstStyle/>
          <a:p>
            <a:pPr marL="0" indent="0" algn="ctr">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M1</a:t>
            </a:r>
          </a:p>
        </p:txBody>
      </p:sp>
      <p:sp>
        <p:nvSpPr>
          <p:cNvPr id="405" name="Team 405"/>
          <p:cNvSpPr/>
          <p:nvPr/>
        </p:nvSpPr>
        <p:spPr>
          <a:xfrm>
            <a:off x="3745345" y="2717800"/>
            <a:ext cx="798945" cy="203200"/>
          </a:xfrm>
          <a:prstGeom prst="rect">
            <a:avLst/>
          </a:prstGeom>
          <a:noFill/>
          <a:ln>
            <a:noFill/>
          </a:ln>
        </p:spPr>
        <p:txBody>
          <a:bodyPr wrap="square" lIns="0" tIns="0" rIns="0" bIns="0" anchor="t">
            <a:noAutofit/>
          </a:bodyPr>
          <a:lstStyle/>
          <a:p>
            <a:pPr marL="0" indent="0" algn="ctr">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M2</a:t>
            </a:r>
          </a:p>
        </p:txBody>
      </p:sp>
      <p:sp>
        <p:nvSpPr>
          <p:cNvPr id="406" name="Team 406"/>
          <p:cNvSpPr/>
          <p:nvPr/>
        </p:nvSpPr>
        <p:spPr>
          <a:xfrm>
            <a:off x="4544291" y="2717800"/>
            <a:ext cx="798945" cy="203200"/>
          </a:xfrm>
          <a:prstGeom prst="rect">
            <a:avLst/>
          </a:prstGeom>
          <a:noFill/>
          <a:ln>
            <a:noFill/>
          </a:ln>
        </p:spPr>
        <p:txBody>
          <a:bodyPr wrap="square" lIns="0" tIns="0" rIns="0" bIns="0" anchor="t">
            <a:noAutofit/>
          </a:bodyPr>
          <a:lstStyle/>
          <a:p>
            <a:pPr marL="0" indent="0" algn="ctr">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M3</a:t>
            </a:r>
          </a:p>
        </p:txBody>
      </p:sp>
      <p:sp>
        <p:nvSpPr>
          <p:cNvPr id="407" name="Team 407"/>
          <p:cNvSpPr/>
          <p:nvPr/>
        </p:nvSpPr>
        <p:spPr>
          <a:xfrm>
            <a:off x="5343236" y="2717800"/>
            <a:ext cx="798945" cy="203200"/>
          </a:xfrm>
          <a:prstGeom prst="rect">
            <a:avLst/>
          </a:prstGeom>
          <a:noFill/>
          <a:ln>
            <a:noFill/>
          </a:ln>
        </p:spPr>
        <p:txBody>
          <a:bodyPr wrap="square" lIns="0" tIns="0" rIns="0" bIns="0" anchor="t">
            <a:noAutofit/>
          </a:bodyPr>
          <a:lstStyle/>
          <a:p>
            <a:pPr marL="0" indent="0" algn="ctr">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M4</a:t>
            </a:r>
          </a:p>
        </p:txBody>
      </p:sp>
      <p:sp>
        <p:nvSpPr>
          <p:cNvPr id="408" name="Team 408"/>
          <p:cNvSpPr/>
          <p:nvPr/>
        </p:nvSpPr>
        <p:spPr>
          <a:xfrm>
            <a:off x="6142182" y="2717800"/>
            <a:ext cx="798945" cy="203200"/>
          </a:xfrm>
          <a:prstGeom prst="rect">
            <a:avLst/>
          </a:prstGeom>
          <a:noFill/>
          <a:ln>
            <a:noFill/>
          </a:ln>
        </p:spPr>
        <p:txBody>
          <a:bodyPr wrap="square" lIns="0" tIns="0" rIns="0" bIns="0" anchor="t">
            <a:noAutofit/>
          </a:bodyPr>
          <a:lstStyle/>
          <a:p>
            <a:pPr marL="0" indent="0" algn="ctr">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M5</a:t>
            </a:r>
          </a:p>
        </p:txBody>
      </p:sp>
      <p:sp>
        <p:nvSpPr>
          <p:cNvPr id="409" name="Team 409"/>
          <p:cNvSpPr/>
          <p:nvPr/>
        </p:nvSpPr>
        <p:spPr>
          <a:xfrm>
            <a:off x="6941127" y="2717800"/>
            <a:ext cx="798945" cy="203200"/>
          </a:xfrm>
          <a:prstGeom prst="rect">
            <a:avLst/>
          </a:prstGeom>
          <a:noFill/>
          <a:ln>
            <a:noFill/>
          </a:ln>
        </p:spPr>
        <p:txBody>
          <a:bodyPr wrap="square" lIns="0" tIns="0" rIns="0" bIns="0" anchor="t">
            <a:noAutofit/>
          </a:bodyPr>
          <a:lstStyle/>
          <a:p>
            <a:pPr marL="0" indent="0" algn="ctr">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M6</a:t>
            </a:r>
          </a:p>
        </p:txBody>
      </p:sp>
      <p:sp>
        <p:nvSpPr>
          <p:cNvPr id="410" name="Team 410"/>
          <p:cNvSpPr/>
          <p:nvPr/>
        </p:nvSpPr>
        <p:spPr>
          <a:xfrm>
            <a:off x="7740073" y="2717800"/>
            <a:ext cx="798945" cy="203200"/>
          </a:xfrm>
          <a:prstGeom prst="rect">
            <a:avLst/>
          </a:prstGeom>
          <a:noFill/>
          <a:ln>
            <a:noFill/>
          </a:ln>
        </p:spPr>
        <p:txBody>
          <a:bodyPr wrap="square" lIns="0" tIns="0" rIns="0" bIns="0" anchor="t">
            <a:noAutofit/>
          </a:bodyPr>
          <a:lstStyle/>
          <a:p>
            <a:pPr marL="0" indent="0" algn="ctr">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M7</a:t>
            </a:r>
          </a:p>
        </p:txBody>
      </p:sp>
      <p:sp>
        <p:nvSpPr>
          <p:cNvPr id="411" name="Team 411"/>
          <p:cNvSpPr/>
          <p:nvPr/>
        </p:nvSpPr>
        <p:spPr>
          <a:xfrm>
            <a:off x="8539018" y="2717800"/>
            <a:ext cx="798945" cy="203200"/>
          </a:xfrm>
          <a:prstGeom prst="rect">
            <a:avLst/>
          </a:prstGeom>
          <a:noFill/>
          <a:ln>
            <a:noFill/>
          </a:ln>
        </p:spPr>
        <p:txBody>
          <a:bodyPr wrap="square" lIns="0" tIns="0" rIns="0" bIns="0" anchor="t">
            <a:noAutofit/>
          </a:bodyPr>
          <a:lstStyle/>
          <a:p>
            <a:pPr marL="0" indent="0" algn="ctr">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M8</a:t>
            </a:r>
          </a:p>
        </p:txBody>
      </p:sp>
      <p:sp>
        <p:nvSpPr>
          <p:cNvPr id="412" name="Team 412"/>
          <p:cNvSpPr/>
          <p:nvPr/>
        </p:nvSpPr>
        <p:spPr>
          <a:xfrm>
            <a:off x="9337964" y="2717800"/>
            <a:ext cx="798945" cy="203200"/>
          </a:xfrm>
          <a:prstGeom prst="rect">
            <a:avLst/>
          </a:prstGeom>
          <a:noFill/>
          <a:ln>
            <a:noFill/>
          </a:ln>
        </p:spPr>
        <p:txBody>
          <a:bodyPr wrap="square" lIns="0" tIns="0" rIns="0" bIns="0" anchor="t">
            <a:noAutofit/>
          </a:bodyPr>
          <a:lstStyle/>
          <a:p>
            <a:pPr marL="0" indent="0" algn="ctr">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M9</a:t>
            </a:r>
          </a:p>
        </p:txBody>
      </p:sp>
      <p:sp>
        <p:nvSpPr>
          <p:cNvPr id="413" name="Team 413"/>
          <p:cNvSpPr/>
          <p:nvPr/>
        </p:nvSpPr>
        <p:spPr>
          <a:xfrm>
            <a:off x="10136909" y="2717800"/>
            <a:ext cx="798945" cy="203200"/>
          </a:xfrm>
          <a:prstGeom prst="rect">
            <a:avLst/>
          </a:prstGeom>
          <a:noFill/>
          <a:ln>
            <a:noFill/>
          </a:ln>
        </p:spPr>
        <p:txBody>
          <a:bodyPr wrap="square" lIns="0" tIns="0" rIns="0" bIns="0" anchor="t">
            <a:noAutofit/>
          </a:bodyPr>
          <a:lstStyle/>
          <a:p>
            <a:pPr marL="0" indent="0" algn="ctr">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M10</a:t>
            </a:r>
          </a:p>
        </p:txBody>
      </p:sp>
      <p:sp>
        <p:nvSpPr>
          <p:cNvPr id="414" name="Team 414"/>
          <p:cNvSpPr/>
          <p:nvPr/>
        </p:nvSpPr>
        <p:spPr>
          <a:xfrm>
            <a:off x="10935855" y="2717800"/>
            <a:ext cx="798945" cy="203200"/>
          </a:xfrm>
          <a:prstGeom prst="rect">
            <a:avLst/>
          </a:prstGeom>
          <a:noFill/>
          <a:ln>
            <a:noFill/>
          </a:ln>
        </p:spPr>
        <p:txBody>
          <a:bodyPr wrap="square" lIns="0" tIns="0" rIns="0" bIns="0" anchor="t">
            <a:noAutofit/>
          </a:bodyPr>
          <a:lstStyle/>
          <a:p>
            <a:pPr marL="0" indent="0" algn="ctr">
              <a:lnSpc>
                <a:spcPct val="100000"/>
              </a:lnSpc>
              <a:spcBef>
                <a:spcPts val="0"/>
              </a:spcBef>
              <a:spcAft>
                <a:spcPts val="0"/>
              </a:spcAft>
              <a:buNone/>
            </a:pPr>
            <a:r>
              <a:rPr lang="en-US" sz="1000" b="1" i="0" kern="1200" spc="0" baseline="0">
                <a:solidFill>
                  <a:srgbClr val="5B2D8E"/>
                </a:solidFill>
                <a:latin typeface="Calibri" pitchFamily="34" charset="0"/>
                <a:ea typeface="Calibri" pitchFamily="34" charset="-122"/>
                <a:cs typeface="Calibri" pitchFamily="34" charset="-120"/>
              </a:rPr>
              <a:t>M11</a:t>
            </a:r>
          </a:p>
        </p:txBody>
      </p:sp>
      <p:sp>
        <p:nvSpPr>
          <p:cNvPr id="415" name="Team 415"/>
          <p:cNvSpPr/>
          <p:nvPr/>
        </p:nvSpPr>
        <p:spPr>
          <a:xfrm>
            <a:off x="2946400"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16" name="Team 416"/>
          <p:cNvSpPr/>
          <p:nvPr/>
        </p:nvSpPr>
        <p:spPr>
          <a:xfrm>
            <a:off x="3745345"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17" name="Team 417"/>
          <p:cNvSpPr/>
          <p:nvPr/>
        </p:nvSpPr>
        <p:spPr>
          <a:xfrm>
            <a:off x="4544291"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18" name="Team 418"/>
          <p:cNvSpPr/>
          <p:nvPr/>
        </p:nvSpPr>
        <p:spPr>
          <a:xfrm>
            <a:off x="5343236"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19" name="Team 419"/>
          <p:cNvSpPr/>
          <p:nvPr/>
        </p:nvSpPr>
        <p:spPr>
          <a:xfrm>
            <a:off x="6142182"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20" name="Team 420"/>
          <p:cNvSpPr/>
          <p:nvPr/>
        </p:nvSpPr>
        <p:spPr>
          <a:xfrm>
            <a:off x="6941127"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21" name="Team 421"/>
          <p:cNvSpPr/>
          <p:nvPr/>
        </p:nvSpPr>
        <p:spPr>
          <a:xfrm>
            <a:off x="7740073"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22" name="Team 422"/>
          <p:cNvSpPr/>
          <p:nvPr/>
        </p:nvSpPr>
        <p:spPr>
          <a:xfrm>
            <a:off x="8539018"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23" name="Team 423"/>
          <p:cNvSpPr/>
          <p:nvPr/>
        </p:nvSpPr>
        <p:spPr>
          <a:xfrm>
            <a:off x="9337964"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24" name="Team 424"/>
          <p:cNvSpPr/>
          <p:nvPr/>
        </p:nvSpPr>
        <p:spPr>
          <a:xfrm>
            <a:off x="10136909"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25" name="Team 425"/>
          <p:cNvSpPr/>
          <p:nvPr/>
        </p:nvSpPr>
        <p:spPr>
          <a:xfrm>
            <a:off x="10935855"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26" name="Team 426"/>
          <p:cNvSpPr/>
          <p:nvPr/>
        </p:nvSpPr>
        <p:spPr>
          <a:xfrm>
            <a:off x="11734800" y="2946400"/>
            <a:ext cx="1" cy="3048000"/>
          </a:xfrm>
          <a:prstGeom prst="rect">
            <a:avLst/>
          </a:prstGeom>
          <a:noFill/>
          <a:ln w="9525">
            <a:solidFill>
              <a:srgbClr val="E3E6F0"/>
            </a:solid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27" name="Team 427"/>
          <p:cNvSpPr/>
          <p:nvPr/>
        </p:nvSpPr>
        <p:spPr>
          <a:xfrm>
            <a:off x="457200" y="2971800"/>
            <a:ext cx="2413000" cy="279400"/>
          </a:xfrm>
          <a:prstGeom prst="rect">
            <a:avLst/>
          </a:prstGeom>
          <a:noFill/>
          <a:ln>
            <a:noFill/>
          </a:ln>
        </p:spPr>
        <p:txBody>
          <a:bodyPr wrap="square" lIns="0" tIns="0" rIns="0" bIns="0" anchor="ctr">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Instrument app, Assistant, Reasoner</a:t>
            </a:r>
          </a:p>
        </p:txBody>
      </p:sp>
      <p:sp>
        <p:nvSpPr>
          <p:cNvPr id="428" name="Team 428"/>
          <p:cNvSpPr/>
          <p:nvPr/>
        </p:nvSpPr>
        <p:spPr>
          <a:xfrm>
            <a:off x="2971800" y="2971800"/>
            <a:ext cx="748145" cy="279400"/>
          </a:xfrm>
          <a:prstGeom prst="roundRect">
            <a:avLst>
              <a:gd name="adj" fmla="val 8000"/>
            </a:avLst>
          </a:prstGeom>
          <a:solidFill>
            <a:srgbClr val="5069EC"/>
          </a:solidFill>
          <a:ln>
            <a:noFill/>
          </a:ln>
        </p:spPr>
        <p:txBody>
          <a:bodyPr wrap="square" lIns="0" tIns="0" rIns="0" bIns="0" anchor="ctr">
            <a:noAutofit/>
          </a:bodyPr>
          <a:lstStyle/>
          <a:p>
            <a:pPr marL="0" indent="0" algn="l">
              <a:lnSpc>
                <a:spcPct val="100000"/>
              </a:lnSpc>
              <a:spcBef>
                <a:spcPts val="0"/>
              </a:spcBef>
              <a:spcAft>
                <a:spcPts val="0"/>
              </a:spcAft>
              <a:buNone/>
            </a:pPr>
            <a:endParaRPr/>
          </a:p>
        </p:txBody>
      </p:sp>
      <p:sp>
        <p:nvSpPr>
          <p:cNvPr id="429" name="Team 429"/>
          <p:cNvSpPr/>
          <p:nvPr/>
        </p:nvSpPr>
        <p:spPr>
          <a:xfrm>
            <a:off x="3770745" y="2971800"/>
            <a:ext cx="748145" cy="279400"/>
          </a:xfrm>
          <a:prstGeom prst="roundRect">
            <a:avLst>
              <a:gd name="adj" fmla="val 8000"/>
            </a:avLst>
          </a:prstGeom>
          <a:solidFill>
            <a:srgbClr val="B9C4F6"/>
          </a:solidFill>
          <a:ln>
            <a:noFill/>
          </a:ln>
        </p:spPr>
        <p:txBody>
          <a:bodyPr wrap="square" lIns="0" tIns="0" rIns="0" bIns="0" anchor="ctr">
            <a:noAutofit/>
          </a:bodyPr>
          <a:lstStyle/>
          <a:p>
            <a:pPr marL="0" indent="0" algn="ctr">
              <a:lnSpc>
                <a:spcPct val="100000"/>
              </a:lnSpc>
              <a:spcBef>
                <a:spcPts val="0"/>
              </a:spcBef>
              <a:spcAft>
                <a:spcPts val="0"/>
              </a:spcAft>
              <a:buNone/>
            </a:pPr>
            <a:r>
              <a:rPr lang="en-US" sz="1000" b="1" i="0" kern="1200" spc="0" baseline="0">
                <a:solidFill>
                  <a:srgbClr val="1B0065"/>
                </a:solidFill>
                <a:latin typeface="Calibri" pitchFamily="34" charset="0"/>
                <a:ea typeface="Calibri" pitchFamily="34" charset="-122"/>
                <a:cs typeface="Calibri" pitchFamily="34" charset="-120"/>
              </a:rPr>
              <a:t>Fix bugs</a:t>
            </a:r>
          </a:p>
        </p:txBody>
      </p:sp>
      <p:sp>
        <p:nvSpPr>
          <p:cNvPr id="430" name="Team 430"/>
          <p:cNvSpPr/>
          <p:nvPr/>
        </p:nvSpPr>
        <p:spPr>
          <a:xfrm>
            <a:off x="457200" y="3352800"/>
            <a:ext cx="2413000" cy="279400"/>
          </a:xfrm>
          <a:prstGeom prst="rect">
            <a:avLst/>
          </a:prstGeom>
          <a:noFill/>
          <a:ln>
            <a:noFill/>
          </a:ln>
        </p:spPr>
        <p:txBody>
          <a:bodyPr wrap="square" lIns="0" tIns="0" rIns="0" bIns="0" anchor="ctr">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Fireworks pilot: sample SFT + RLVR</a:t>
            </a:r>
          </a:p>
        </p:txBody>
      </p:sp>
      <p:sp>
        <p:nvSpPr>
          <p:cNvPr id="431" name="Team 431"/>
          <p:cNvSpPr/>
          <p:nvPr/>
        </p:nvSpPr>
        <p:spPr>
          <a:xfrm>
            <a:off x="2971800" y="3352800"/>
            <a:ext cx="748145" cy="279400"/>
          </a:xfrm>
          <a:prstGeom prst="roundRect">
            <a:avLst>
              <a:gd name="adj" fmla="val 8000"/>
            </a:avLst>
          </a:prstGeom>
          <a:solidFill>
            <a:srgbClr val="5069EC"/>
          </a:solidFill>
          <a:ln>
            <a:noFill/>
          </a:ln>
        </p:spPr>
        <p:txBody>
          <a:bodyPr wrap="square" lIns="0" tIns="0" rIns="0" bIns="0" anchor="ctr">
            <a:noAutofit/>
          </a:bodyPr>
          <a:lstStyle/>
          <a:p>
            <a:pPr marL="0" indent="0" algn="l">
              <a:lnSpc>
                <a:spcPct val="100000"/>
              </a:lnSpc>
              <a:spcBef>
                <a:spcPts val="0"/>
              </a:spcBef>
              <a:spcAft>
                <a:spcPts val="0"/>
              </a:spcAft>
              <a:buNone/>
            </a:pPr>
            <a:endParaRPr/>
          </a:p>
        </p:txBody>
      </p:sp>
      <p:sp>
        <p:nvSpPr>
          <p:cNvPr id="432" name="Team 432"/>
          <p:cNvSpPr/>
          <p:nvPr/>
        </p:nvSpPr>
        <p:spPr>
          <a:xfrm>
            <a:off x="457200" y="3733800"/>
            <a:ext cx="2413000" cy="279400"/>
          </a:xfrm>
          <a:prstGeom prst="rect">
            <a:avLst/>
          </a:prstGeom>
          <a:noFill/>
          <a:ln>
            <a:noFill/>
          </a:ln>
        </p:spPr>
        <p:txBody>
          <a:bodyPr wrap="square" lIns="0" tIns="0" rIns="0" bIns="0" anchor="ctr">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SME labeling, ~100 loans per month</a:t>
            </a:r>
          </a:p>
        </p:txBody>
      </p:sp>
      <p:sp>
        <p:nvSpPr>
          <p:cNvPr id="433" name="Team 433"/>
          <p:cNvSpPr/>
          <p:nvPr/>
        </p:nvSpPr>
        <p:spPr>
          <a:xfrm>
            <a:off x="3770745" y="3733800"/>
            <a:ext cx="7938655" cy="279400"/>
          </a:xfrm>
          <a:prstGeom prst="roundRect">
            <a:avLst>
              <a:gd name="adj" fmla="val 8000"/>
            </a:avLst>
          </a:prstGeom>
          <a:solidFill>
            <a:srgbClr val="0D9488"/>
          </a:solidFill>
          <a:ln>
            <a:noFill/>
          </a:ln>
        </p:spPr>
        <p:txBody>
          <a:bodyPr wrap="square" lIns="0" tIns="0" rIns="0" bIns="0" anchor="ctr">
            <a:noAutofit/>
          </a:bodyPr>
          <a:lstStyle/>
          <a:p>
            <a:pPr marL="0" indent="0" algn="ctr">
              <a:lnSpc>
                <a:spcPct val="100000"/>
              </a:lnSpc>
              <a:spcBef>
                <a:spcPts val="0"/>
              </a:spcBef>
              <a:spcAft>
                <a:spcPts val="0"/>
              </a:spcAft>
              <a:buNone/>
            </a:pPr>
            <a:r>
              <a:rPr lang="en-US" sz="1000" b="1" i="0" kern="1200" spc="0" baseline="0">
                <a:solidFill>
                  <a:srgbClr val="FFFFFF"/>
                </a:solidFill>
                <a:latin typeface="Calibri" pitchFamily="34" charset="0"/>
                <a:ea typeface="Calibri" pitchFamily="34" charset="-122"/>
                <a:cs typeface="Calibri" pitchFamily="34" charset="-120"/>
              </a:rPr>
              <a:t>~100 loans a month, reaching 1,000 by end of M11</a:t>
            </a:r>
          </a:p>
        </p:txBody>
      </p:sp>
      <p:sp>
        <p:nvSpPr>
          <p:cNvPr id="434" name="Team 434"/>
          <p:cNvSpPr/>
          <p:nvPr/>
        </p:nvSpPr>
        <p:spPr>
          <a:xfrm>
            <a:off x="457200" y="4114800"/>
            <a:ext cx="2413000" cy="279400"/>
          </a:xfrm>
          <a:prstGeom prst="rect">
            <a:avLst/>
          </a:prstGeom>
          <a:noFill/>
          <a:ln>
            <a:noFill/>
          </a:ln>
        </p:spPr>
        <p:txBody>
          <a:bodyPr wrap="square" lIns="0" tIns="0" rIns="0" bIns="0" anchor="ctr">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First models on 100 loans + evals</a:t>
            </a:r>
          </a:p>
        </p:txBody>
      </p:sp>
      <p:sp>
        <p:nvSpPr>
          <p:cNvPr id="435" name="Team 435"/>
          <p:cNvSpPr/>
          <p:nvPr/>
        </p:nvSpPr>
        <p:spPr>
          <a:xfrm>
            <a:off x="4569691" y="4114800"/>
            <a:ext cx="748145" cy="279400"/>
          </a:xfrm>
          <a:prstGeom prst="roundRect">
            <a:avLst>
              <a:gd name="adj" fmla="val 8000"/>
            </a:avLst>
          </a:prstGeom>
          <a:solidFill>
            <a:srgbClr val="5069EC"/>
          </a:solidFill>
          <a:ln>
            <a:noFill/>
          </a:ln>
        </p:spPr>
        <p:txBody>
          <a:bodyPr wrap="square" lIns="0" tIns="0" rIns="0" bIns="0" anchor="ctr">
            <a:noAutofit/>
          </a:bodyPr>
          <a:lstStyle/>
          <a:p>
            <a:pPr marL="0" indent="0" algn="l">
              <a:lnSpc>
                <a:spcPct val="100000"/>
              </a:lnSpc>
              <a:spcBef>
                <a:spcPts val="0"/>
              </a:spcBef>
              <a:spcAft>
                <a:spcPts val="0"/>
              </a:spcAft>
              <a:buNone/>
            </a:pPr>
            <a:endParaRPr/>
          </a:p>
        </p:txBody>
      </p:sp>
      <p:sp>
        <p:nvSpPr>
          <p:cNvPr id="436" name="Team 436"/>
          <p:cNvSpPr/>
          <p:nvPr/>
        </p:nvSpPr>
        <p:spPr>
          <a:xfrm>
            <a:off x="457200" y="4495800"/>
            <a:ext cx="2413000" cy="279400"/>
          </a:xfrm>
          <a:prstGeom prst="rect">
            <a:avLst/>
          </a:prstGeom>
          <a:noFill/>
          <a:ln>
            <a:noFill/>
          </a:ln>
        </p:spPr>
        <p:txBody>
          <a:bodyPr wrap="square" lIns="0" tIns="0" rIns="0" bIns="0" anchor="ctr">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Test three approaches in parallel</a:t>
            </a:r>
          </a:p>
        </p:txBody>
      </p:sp>
      <p:sp>
        <p:nvSpPr>
          <p:cNvPr id="437" name="Team 437"/>
          <p:cNvSpPr/>
          <p:nvPr/>
        </p:nvSpPr>
        <p:spPr>
          <a:xfrm>
            <a:off x="5368636" y="4495800"/>
            <a:ext cx="1547091" cy="279400"/>
          </a:xfrm>
          <a:prstGeom prst="roundRect">
            <a:avLst>
              <a:gd name="adj" fmla="val 8000"/>
            </a:avLst>
          </a:prstGeom>
          <a:solidFill>
            <a:srgbClr val="5069EC"/>
          </a:solidFill>
          <a:ln>
            <a:noFill/>
          </a:ln>
        </p:spPr>
        <p:txBody>
          <a:bodyPr wrap="square" lIns="0" tIns="0" rIns="0" bIns="0" anchor="ctr">
            <a:noAutofit/>
          </a:bodyPr>
          <a:lstStyle/>
          <a:p>
            <a:pPr marL="0" indent="0" algn="ctr">
              <a:lnSpc>
                <a:spcPct val="100000"/>
              </a:lnSpc>
              <a:spcBef>
                <a:spcPts val="0"/>
              </a:spcBef>
              <a:spcAft>
                <a:spcPts val="0"/>
              </a:spcAft>
              <a:buNone/>
            </a:pPr>
            <a:r>
              <a:rPr lang="en-US" sz="1000" b="1" i="0" kern="1200" spc="0" baseline="0">
                <a:solidFill>
                  <a:srgbClr val="FFFFFF"/>
                </a:solidFill>
                <a:latin typeface="Calibri" pitchFamily="34" charset="0"/>
                <a:ea typeface="Calibri" pitchFamily="34" charset="-122"/>
                <a:cs typeface="Calibri" pitchFamily="34" charset="-120"/>
              </a:rPr>
              <a:t>3 approaches</a:t>
            </a:r>
          </a:p>
        </p:txBody>
      </p:sp>
      <p:sp>
        <p:nvSpPr>
          <p:cNvPr id="438" name="Team 438"/>
          <p:cNvSpPr/>
          <p:nvPr/>
        </p:nvSpPr>
        <p:spPr>
          <a:xfrm>
            <a:off x="457200" y="4876800"/>
            <a:ext cx="2413000" cy="279400"/>
          </a:xfrm>
          <a:prstGeom prst="rect">
            <a:avLst/>
          </a:prstGeom>
          <a:noFill/>
          <a:ln>
            <a:noFill/>
          </a:ln>
        </p:spPr>
        <p:txBody>
          <a:bodyPr wrap="square" lIns="0" tIns="0" rIns="0" bIns="0" anchor="ctr">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Iterate on the best approach</a:t>
            </a:r>
          </a:p>
        </p:txBody>
      </p:sp>
      <p:sp>
        <p:nvSpPr>
          <p:cNvPr id="439" name="Team 439"/>
          <p:cNvSpPr/>
          <p:nvPr/>
        </p:nvSpPr>
        <p:spPr>
          <a:xfrm>
            <a:off x="6966527" y="4876800"/>
            <a:ext cx="1547091" cy="279400"/>
          </a:xfrm>
          <a:prstGeom prst="roundRect">
            <a:avLst>
              <a:gd name="adj" fmla="val 8000"/>
            </a:avLst>
          </a:prstGeom>
          <a:solidFill>
            <a:srgbClr val="5069EC"/>
          </a:solidFill>
          <a:ln>
            <a:noFill/>
          </a:ln>
        </p:spPr>
        <p:txBody>
          <a:bodyPr wrap="square" lIns="0" tIns="0" rIns="0" bIns="0" anchor="ctr">
            <a:noAutofit/>
          </a:bodyPr>
          <a:lstStyle/>
          <a:p>
            <a:pPr marL="0" indent="0" algn="ctr">
              <a:lnSpc>
                <a:spcPct val="100000"/>
              </a:lnSpc>
              <a:spcBef>
                <a:spcPts val="0"/>
              </a:spcBef>
              <a:spcAft>
                <a:spcPts val="0"/>
              </a:spcAft>
              <a:buNone/>
            </a:pPr>
            <a:r>
              <a:rPr lang="en-US" sz="1000" b="1" i="0" kern="1200" spc="0" baseline="0">
                <a:solidFill>
                  <a:srgbClr val="FFFFFF"/>
                </a:solidFill>
                <a:latin typeface="Calibri" pitchFamily="34" charset="0"/>
                <a:ea typeface="Calibri" pitchFamily="34" charset="-122"/>
                <a:cs typeface="Calibri" pitchFamily="34" charset="-120"/>
              </a:rPr>
              <a:t>More data, more iterations</a:t>
            </a:r>
          </a:p>
        </p:txBody>
      </p:sp>
      <p:sp>
        <p:nvSpPr>
          <p:cNvPr id="440" name="Team 440"/>
          <p:cNvSpPr/>
          <p:nvPr/>
        </p:nvSpPr>
        <p:spPr>
          <a:xfrm>
            <a:off x="457200" y="5257800"/>
            <a:ext cx="2413000" cy="279400"/>
          </a:xfrm>
          <a:prstGeom prst="rect">
            <a:avLst/>
          </a:prstGeom>
          <a:noFill/>
          <a:ln>
            <a:noFill/>
          </a:ln>
        </p:spPr>
        <p:txBody>
          <a:bodyPr wrap="square" lIns="0" tIns="0" rIns="0" bIns="0" anchor="ctr">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Publicize and publish a data subset</a:t>
            </a:r>
          </a:p>
        </p:txBody>
      </p:sp>
      <p:sp>
        <p:nvSpPr>
          <p:cNvPr id="441" name="Team 441"/>
          <p:cNvSpPr/>
          <p:nvPr/>
        </p:nvSpPr>
        <p:spPr>
          <a:xfrm>
            <a:off x="8564418" y="5257800"/>
            <a:ext cx="1547091" cy="279400"/>
          </a:xfrm>
          <a:prstGeom prst="roundRect">
            <a:avLst>
              <a:gd name="adj" fmla="val 8000"/>
            </a:avLst>
          </a:prstGeom>
          <a:solidFill>
            <a:srgbClr val="8BA2FF"/>
          </a:solidFill>
          <a:ln>
            <a:noFill/>
          </a:ln>
        </p:spPr>
        <p:txBody>
          <a:bodyPr wrap="square" lIns="0" tIns="0" rIns="0" bIns="0" anchor="ctr">
            <a:noAutofit/>
          </a:bodyPr>
          <a:lstStyle/>
          <a:p>
            <a:pPr marL="0" indent="0" algn="ctr">
              <a:lnSpc>
                <a:spcPct val="100000"/>
              </a:lnSpc>
              <a:spcBef>
                <a:spcPts val="0"/>
              </a:spcBef>
              <a:spcAft>
                <a:spcPts val="0"/>
              </a:spcAft>
              <a:buNone/>
            </a:pPr>
            <a:r>
              <a:rPr lang="en-US" sz="1000" b="1" i="0" kern="1200" spc="0" baseline="0">
                <a:solidFill>
                  <a:srgbClr val="1B0065"/>
                </a:solidFill>
                <a:latin typeface="Calibri" pitchFamily="34" charset="0"/>
                <a:ea typeface="Calibri" pitchFamily="34" charset="-122"/>
                <a:cs typeface="Calibri" pitchFamily="34" charset="-120"/>
              </a:rPr>
              <a:t>Talks, paper, data</a:t>
            </a:r>
          </a:p>
        </p:txBody>
      </p:sp>
      <p:sp>
        <p:nvSpPr>
          <p:cNvPr id="442" name="Team 442"/>
          <p:cNvSpPr/>
          <p:nvPr/>
        </p:nvSpPr>
        <p:spPr>
          <a:xfrm>
            <a:off x="457200" y="5638800"/>
            <a:ext cx="2413000" cy="279400"/>
          </a:xfrm>
          <a:prstGeom prst="rect">
            <a:avLst/>
          </a:prstGeom>
          <a:noFill/>
          <a:ln>
            <a:noFill/>
          </a:ln>
        </p:spPr>
        <p:txBody>
          <a:bodyPr wrap="square" lIns="0" tIns="0" rIns="0" bIns="0" anchor="ctr">
            <a:noAutofit/>
          </a:bodyPr>
          <a:lstStyle/>
          <a:p>
            <a:pPr marL="0" indent="0" algn="l">
              <a:lnSpc>
                <a:spcPct val="100000"/>
              </a:lnSpc>
              <a:spcBef>
                <a:spcPts val="0"/>
              </a:spcBef>
              <a:spcAft>
                <a:spcPts val="0"/>
              </a:spcAft>
              <a:buNone/>
            </a:pPr>
            <a:r>
              <a:rPr lang="en-US" sz="1100" b="0" i="0" kern="1200" spc="0" baseline="0">
                <a:solidFill>
                  <a:srgbClr val="1B0065"/>
                </a:solidFill>
                <a:latin typeface="Calibri" pitchFamily="34" charset="0"/>
                <a:ea typeface="Calibri" pitchFamily="34" charset="-122"/>
                <a:cs typeface="Calibri" pitchFamily="34" charset="-120"/>
              </a:rPr>
              <a:t>Final models on all 1,000 loans</a:t>
            </a:r>
          </a:p>
        </p:txBody>
      </p:sp>
      <p:sp>
        <p:nvSpPr>
          <p:cNvPr id="443" name="Team 443"/>
          <p:cNvSpPr/>
          <p:nvPr/>
        </p:nvSpPr>
        <p:spPr>
          <a:xfrm>
            <a:off x="10162309" y="5638800"/>
            <a:ext cx="1547091" cy="279400"/>
          </a:xfrm>
          <a:prstGeom prst="roundRect">
            <a:avLst>
              <a:gd name="adj" fmla="val 8000"/>
            </a:avLst>
          </a:prstGeom>
          <a:solidFill>
            <a:srgbClr val="5069EC"/>
          </a:solidFill>
          <a:ln>
            <a:noFill/>
          </a:ln>
        </p:spPr>
        <p:txBody>
          <a:bodyPr wrap="square" lIns="0" tIns="0" rIns="0" bIns="0" anchor="ctr">
            <a:noAutofit/>
          </a:bodyPr>
          <a:lstStyle/>
          <a:p>
            <a:pPr marL="0" indent="0" algn="ctr">
              <a:lnSpc>
                <a:spcPct val="100000"/>
              </a:lnSpc>
              <a:spcBef>
                <a:spcPts val="0"/>
              </a:spcBef>
              <a:spcAft>
                <a:spcPts val="0"/>
              </a:spcAft>
              <a:buNone/>
            </a:pPr>
            <a:r>
              <a:rPr lang="en-US" sz="1000" b="1" i="0" kern="1200" spc="0" baseline="0">
                <a:solidFill>
                  <a:srgbClr val="FFFFFF"/>
                </a:solidFill>
                <a:latin typeface="Calibri" pitchFamily="34" charset="0"/>
                <a:ea typeface="Calibri" pitchFamily="34" charset="-122"/>
                <a:cs typeface="Calibri" pitchFamily="34" charset="-120"/>
              </a:rPr>
              <a:t>All three models</a:t>
            </a:r>
          </a:p>
        </p:txBody>
      </p:sp>
      <p:sp>
        <p:nvSpPr>
          <p:cNvPr id="444" name="Team 444"/>
          <p:cNvSpPr/>
          <p:nvPr/>
        </p:nvSpPr>
        <p:spPr>
          <a:xfrm>
            <a:off x="5343236" y="2946400"/>
            <a:ext cx="1" cy="3022600"/>
          </a:xfrm>
          <a:prstGeom prst="rect">
            <a:avLst/>
          </a:prstGeom>
          <a:noFill/>
          <a:ln w="15875">
            <a:solidFill>
              <a:srgbClr val="FF592C"/>
            </a:solidFill>
            <a:prstDash val="dash"/>
          </a:ln>
        </p:spPr>
        <p:txBody>
          <a:bodyPr wrap="square" lIns="0" tIns="0" rIns="0" bIns="0" anchor="t">
            <a:noAutofit/>
          </a:bodyPr>
          <a:lstStyle/>
          <a:p>
            <a:pPr marL="0" indent="0" algn="l">
              <a:lnSpc>
                <a:spcPct val="100000"/>
              </a:lnSpc>
              <a:spcBef>
                <a:spcPts val="0"/>
              </a:spcBef>
              <a:spcAft>
                <a:spcPts val="0"/>
              </a:spcAft>
              <a:buNone/>
            </a:pPr>
            <a:endParaRPr/>
          </a:p>
        </p:txBody>
      </p:sp>
      <p:sp>
        <p:nvSpPr>
          <p:cNvPr id="445" name="Team 445"/>
          <p:cNvSpPr/>
          <p:nvPr/>
        </p:nvSpPr>
        <p:spPr>
          <a:xfrm>
            <a:off x="5267036" y="5969000"/>
            <a:ext cx="152400" cy="152400"/>
          </a:xfrm>
          <a:prstGeom prst="diamond">
            <a:avLst/>
          </a:prstGeom>
          <a:solidFill>
            <a:srgbClr val="FF592C"/>
          </a:solidFill>
          <a:ln>
            <a:noFill/>
          </a:ln>
        </p:spPr>
        <p:txBody>
          <a:bodyPr wrap="square" lIns="0" tIns="0" rIns="0" bIns="0" anchor="t">
            <a:noAutofit/>
          </a:bodyPr>
          <a:lstStyle/>
          <a:p>
            <a:pPr marL="0" indent="0" algn="l">
              <a:lnSpc>
                <a:spcPct val="100000"/>
              </a:lnSpc>
              <a:spcBef>
                <a:spcPts val="0"/>
              </a:spcBef>
              <a:spcAft>
                <a:spcPts val="0"/>
              </a:spcAft>
              <a:buNone/>
            </a:pPr>
            <a:endParaRPr/>
          </a:p>
        </p:txBody>
      </p:sp>
      <p:sp>
        <p:nvSpPr>
          <p:cNvPr id="446" name="Team 446"/>
          <p:cNvSpPr/>
          <p:nvPr/>
        </p:nvSpPr>
        <p:spPr>
          <a:xfrm>
            <a:off x="5470236" y="5943600"/>
            <a:ext cx="3810000" cy="203200"/>
          </a:xfrm>
          <a:prstGeom prst="rect">
            <a:avLst/>
          </a:prstGeom>
          <a:noFill/>
          <a:ln>
            <a:noFill/>
          </a:ln>
        </p:spPr>
        <p:txBody>
          <a:bodyPr wrap="square" lIns="0" tIns="0" rIns="0" bIns="0" anchor="ctr">
            <a:noAutofit/>
          </a:bodyPr>
          <a:lstStyle/>
          <a:p>
            <a:pPr marL="0" indent="0" algn="l">
              <a:lnSpc>
                <a:spcPct val="100000"/>
              </a:lnSpc>
              <a:spcBef>
                <a:spcPts val="0"/>
              </a:spcBef>
              <a:spcAft>
                <a:spcPts val="0"/>
              </a:spcAft>
              <a:buNone/>
            </a:pPr>
            <a:r>
              <a:rPr lang="en-US" sz="1000" b="1" i="0" kern="1200" spc="0" baseline="0">
                <a:solidFill>
                  <a:srgbClr val="FF592C"/>
                </a:solidFill>
                <a:latin typeface="Calibri" pitchFamily="34" charset="0"/>
                <a:ea typeface="Calibri" pitchFamily="34" charset="-122"/>
                <a:cs typeface="Calibri" pitchFamily="34" charset="-120"/>
              </a:rPr>
              <a:t>Go / no-go checkpoint</a:t>
            </a:r>
            <a:r>
              <a:rPr lang="en-US" sz="1000" b="0" i="0" kern="1200" spc="0" baseline="0">
                <a:solidFill>
                  <a:srgbClr val="5B6472"/>
                </a:solidFill>
                <a:latin typeface="Calibri" pitchFamily="34" charset="0"/>
                <a:ea typeface="Calibri" pitchFamily="34" charset="-122"/>
                <a:cs typeface="Calibri" pitchFamily="34" charset="-120"/>
              </a:rPr>
              <a:t>  after the first models are evaluated</a:t>
            </a:r>
          </a:p>
        </p:txBody>
      </p:sp>
    </p:spTree>
    <p:extLst>
      <p:ext uri="{BB962C8B-B14F-4D97-AF65-F5344CB8AC3E}">
        <p14:creationId xmlns:p14="http://schemas.microsoft.com/office/powerpoint/2010/main" val="27325691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02B7C-F23B-74DE-FD85-59220FE88616}"/>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87437DFE-92D3-2CC0-FBC0-CE1E3211E681}"/>
              </a:ext>
            </a:extLst>
          </p:cNvPr>
          <p:cNvPicPr>
            <a:picLocks noChangeAspect="1"/>
          </p:cNvPicPr>
          <p:nvPr/>
        </p:nvPicPr>
        <p:blipFill>
          <a:blip r:embed="rId3"/>
          <a:stretch>
            <a:fillRect/>
          </a:stretch>
        </p:blipFill>
        <p:spPr>
          <a:xfrm>
            <a:off x="5074920" y="4526280"/>
            <a:ext cx="7132320" cy="1920240"/>
          </a:xfrm>
          <a:prstGeom prst="rect">
            <a:avLst/>
          </a:prstGeom>
        </p:spPr>
      </p:pic>
      <p:sp>
        <p:nvSpPr>
          <p:cNvPr id="3" name="Section panel">
            <a:extLst>
              <a:ext uri="{FF2B5EF4-FFF2-40B4-BE49-F238E27FC236}">
                <a16:creationId xmlns:a16="http://schemas.microsoft.com/office/drawing/2014/main" id="{9A43F525-3C37-AA82-0B10-CA6956033D3E}"/>
              </a:ext>
            </a:extLst>
          </p:cNvPr>
          <p:cNvSpPr/>
          <p:nvPr/>
        </p:nvSpPr>
        <p:spPr>
          <a:xfrm>
            <a:off x="0" y="1170432"/>
            <a:ext cx="5394960" cy="4114800"/>
          </a:xfrm>
          <a:prstGeom prst="snip1Rect">
            <a:avLst/>
          </a:prstGeom>
          <a:solidFill>
            <a:srgbClr val="5069EC"/>
          </a:solidFill>
          <a:ln w="1270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Section title">
            <a:extLst>
              <a:ext uri="{FF2B5EF4-FFF2-40B4-BE49-F238E27FC236}">
                <a16:creationId xmlns:a16="http://schemas.microsoft.com/office/drawing/2014/main" id="{DB4CAC27-B8CC-5BBD-A465-E6F7F17A9E7B}"/>
              </a:ext>
            </a:extLst>
          </p:cNvPr>
          <p:cNvSpPr txBox="1"/>
          <p:nvPr/>
        </p:nvSpPr>
        <p:spPr>
          <a:xfrm>
            <a:off x="411480" y="2651760"/>
            <a:ext cx="4754880" cy="777240"/>
          </a:xfrm>
          <a:prstGeom prst="rect">
            <a:avLst/>
          </a:prstGeom>
          <a:noFill/>
          <a:ln/>
        </p:spPr>
        <p:txBody>
          <a:bodyPr wrap="square" lIns="0" tIns="0" rIns="0" bIns="0" rtlCol="0" anchor="ctr"/>
          <a:lstStyle/>
          <a:p>
            <a:pPr>
              <a:defRPr/>
            </a:pPr>
            <a:r>
              <a:rPr lang="en-US" sz="3600" b="1">
                <a:solidFill>
                  <a:srgbClr val="FFFFFF"/>
                </a:solidFill>
                <a:latin typeface="Calibri"/>
                <a:ea typeface="Calibri"/>
                <a:cs typeface="Calibri"/>
              </a:rPr>
              <a:t>Appendix</a:t>
            </a:r>
            <a:endParaRPr lang="en-US" sz="3600" b="1" i="0" u="none" strike="noStrike" kern="1200" cap="none" spc="0" normalizeH="0" baseline="0" noProof="0">
              <a:ln>
                <a:noFill/>
              </a:ln>
              <a:solidFill>
                <a:srgbClr val="FFFFFF"/>
              </a:solidFill>
              <a:effectLst/>
              <a:uLnTx/>
              <a:uFillTx/>
              <a:latin typeface="Calibri"/>
              <a:ea typeface="Calibri"/>
              <a:cs typeface="Calibri"/>
            </a:endParaRPr>
          </a:p>
        </p:txBody>
      </p:sp>
      <p:sp>
        <p:nvSpPr>
          <p:cNvPr id="8" name="Wordmark">
            <a:extLst>
              <a:ext uri="{FF2B5EF4-FFF2-40B4-BE49-F238E27FC236}">
                <a16:creationId xmlns:a16="http://schemas.microsoft.com/office/drawing/2014/main" id="{A1B2894C-0EDA-06E3-2026-E463B701EDBE}"/>
              </a:ext>
            </a:extLst>
          </p:cNvPr>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9" name="Footer dot">
            <a:extLst>
              <a:ext uri="{FF2B5EF4-FFF2-40B4-BE49-F238E27FC236}">
                <a16:creationId xmlns:a16="http://schemas.microsoft.com/office/drawing/2014/main" id="{13D615EA-78BB-5F99-C314-FB557C950FE0}"/>
              </a:ext>
            </a:extLst>
          </p:cNvPr>
          <p:cNvSpPr/>
          <p:nvPr/>
        </p:nvSpPr>
        <p:spPr>
          <a:xfrm>
            <a:off x="8814816" y="6533388"/>
            <a:ext cx="82296" cy="82296"/>
          </a:xfrm>
          <a:prstGeom prst="ellipse">
            <a:avLst/>
          </a:prstGeom>
          <a:solidFill>
            <a:srgbClr val="0D9595"/>
          </a:solidFill>
          <a:ln w="12700">
            <a:solidFill>
              <a:srgbClr val="0D959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 7">
            <a:extLst>
              <a:ext uri="{FF2B5EF4-FFF2-40B4-BE49-F238E27FC236}">
                <a16:creationId xmlns:a16="http://schemas.microsoft.com/office/drawing/2014/main" id="{1A422C83-5A4E-3978-C00A-8183F1A9A22C}"/>
              </a:ext>
            </a:extLst>
          </p:cNvPr>
          <p:cNvSpPr txBox="1"/>
          <p:nvPr/>
        </p:nvSpPr>
        <p:spPr>
          <a:xfrm>
            <a:off x="8961120" y="6437376"/>
            <a:ext cx="25603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Confidential &amp; Proprietary  |  © 2026 JazzX AI</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25" name="Slide Number Placeholder 0">
            <a:extLst>
              <a:ext uri="{FF2B5EF4-FFF2-40B4-BE49-F238E27FC236}">
                <a16:creationId xmlns:a16="http://schemas.microsoft.com/office/drawing/2014/main" id="{1A82DC12-AEF4-5E9F-40E1-7F6827B7EB8A}"/>
              </a:ext>
            </a:extLst>
          </p:cNvPr>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FFFFFF"/>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FFFFFF"/>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US" sz="900" b="0" i="0" u="none" strike="noStrike" kern="1200" cap="none" spc="0" normalizeH="0" baseline="0" noProof="0">
              <a:ln>
                <a:noFill/>
              </a:ln>
              <a:solidFill>
                <a:srgbClr val="FFFFFF"/>
              </a:solidFill>
              <a:effectLst/>
              <a:uLnTx/>
              <a:uFillTx/>
              <a:latin typeface="Calibri"/>
              <a:ea typeface="Calibri"/>
              <a:cs typeface="Calibri"/>
            </a:endParaRPr>
          </a:p>
        </p:txBody>
      </p:sp>
    </p:spTree>
    <p:extLst>
      <p:ext uri="{BB962C8B-B14F-4D97-AF65-F5344CB8AC3E}">
        <p14:creationId xmlns:p14="http://schemas.microsoft.com/office/powerpoint/2010/main" val="28843059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074920" y="4526280"/>
            <a:ext cx="7132320" cy="1920240"/>
          </a:xfrm>
          <a:prstGeom prst="rect">
            <a:avLst/>
          </a:prstGeom>
        </p:spPr>
      </p:pic>
      <p:sp>
        <p:nvSpPr>
          <p:cNvPr id="3" name="Section panel"/>
          <p:cNvSpPr/>
          <p:nvPr/>
        </p:nvSpPr>
        <p:spPr>
          <a:xfrm>
            <a:off x="0" y="1170432"/>
            <a:ext cx="5394960" cy="4114800"/>
          </a:xfrm>
          <a:prstGeom prst="snip1Rect">
            <a:avLst/>
          </a:prstGeom>
          <a:solidFill>
            <a:srgbClr val="5069EC"/>
          </a:solidFill>
          <a:ln w="1270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 1"/>
          <p:cNvSpPr txBox="1"/>
          <p:nvPr/>
        </p:nvSpPr>
        <p:spPr>
          <a:xfrm>
            <a:off x="411480" y="2240280"/>
            <a:ext cx="45720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100" normalizeH="0" baseline="0" noProof="0">
                <a:ln>
                  <a:noFill/>
                </a:ln>
                <a:solidFill>
                  <a:srgbClr val="FFFFFF"/>
                </a:solidFill>
                <a:effectLst/>
                <a:uLnTx/>
                <a:uFillTx/>
                <a:latin typeface="Calibri" pitchFamily="34" charset="0"/>
                <a:ea typeface="Calibri" pitchFamily="34" charset="-122"/>
                <a:cs typeface="Calibri" pitchFamily="34" charset="-120"/>
              </a:rPr>
              <a:t>01</a:t>
            </a:r>
            <a:endParaRPr kumimoji="0" lang="en-US" sz="1600" b="0" i="0" u="none" strike="noStrike" kern="1200" cap="none" spc="0" normalizeH="0" baseline="0" noProof="0">
              <a:ln>
                <a:noFill/>
              </a:ln>
              <a:solidFill>
                <a:prstClr val="black"/>
              </a:solidFill>
              <a:effectLst/>
              <a:uLnTx/>
              <a:uFillTx/>
              <a:latin typeface="Calibri"/>
              <a:ea typeface="+mn-ea"/>
              <a:cs typeface="+mn-cs"/>
            </a:endParaRPr>
          </a:p>
        </p:txBody>
      </p:sp>
      <p:sp>
        <p:nvSpPr>
          <p:cNvPr id="5" name="Section title"/>
          <p:cNvSpPr txBox="1"/>
          <p:nvPr/>
        </p:nvSpPr>
        <p:spPr>
          <a:xfrm>
            <a:off x="411480" y="2651760"/>
            <a:ext cx="475488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In context learning</a:t>
            </a:r>
            <a:endParaRPr kumimoji="0" lang="en-US" sz="3600" b="0" i="0" u="none" strike="noStrike" kern="1200" cap="none" spc="0" normalizeH="0" baseline="0" noProof="0">
              <a:ln>
                <a:noFill/>
              </a:ln>
              <a:solidFill>
                <a:prstClr val="black"/>
              </a:solidFill>
              <a:effectLst/>
              <a:uLnTx/>
              <a:uFillTx/>
              <a:latin typeface="Calibri"/>
              <a:ea typeface="+mn-ea"/>
              <a:cs typeface="+mn-cs"/>
            </a:endParaRPr>
          </a:p>
        </p:txBody>
      </p:sp>
      <p:sp>
        <p:nvSpPr>
          <p:cNvPr id="6" name="Text 3"/>
          <p:cNvSpPr txBox="1"/>
          <p:nvPr/>
        </p:nvSpPr>
        <p:spPr>
          <a:xfrm>
            <a:off x="411480" y="3474720"/>
            <a:ext cx="4754880" cy="6858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In production</a:t>
            </a:r>
            <a:endParaRPr kumimoji="0" lang="en-US" sz="16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 4"/>
          <p:cNvSpPr txBox="1"/>
          <p:nvPr/>
        </p:nvSpPr>
        <p:spPr>
          <a:xfrm>
            <a:off x="6035040" y="2331720"/>
            <a:ext cx="5669280" cy="12801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C9D3FA"/>
                </a:solidFill>
                <a:effectLst/>
                <a:uLnTx/>
                <a:uFillTx/>
                <a:latin typeface="Calibri" pitchFamily="34" charset="0"/>
                <a:ea typeface="Calibri" pitchFamily="34" charset="-122"/>
                <a:cs typeface="Calibri" pitchFamily="34" charset="-120"/>
              </a:rPr>
              <a:t>Agents, processes and reasoners improve from approved feedback, without retraining the model.</a:t>
            </a:r>
            <a:endParaRPr kumimoji="0" lang="en-US" sz="2000" b="0" i="0" u="none" strike="noStrike" kern="1200" cap="none" spc="0" normalizeH="0" baseline="0" noProof="0">
              <a:ln>
                <a:noFill/>
              </a:ln>
              <a:solidFill>
                <a:prstClr val="black"/>
              </a:solidFill>
              <a:effectLst/>
              <a:uLnTx/>
              <a:uFillTx/>
              <a:latin typeface="Calibri"/>
              <a:ea typeface="+mn-ea"/>
              <a:cs typeface="+mn-cs"/>
            </a:endParaRPr>
          </a:p>
        </p:txBody>
      </p:sp>
      <p:sp>
        <p:nvSpPr>
          <p:cNvPr id="8"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9" name="Footer dot"/>
          <p:cNvSpPr/>
          <p:nvPr/>
        </p:nvSpPr>
        <p:spPr>
          <a:xfrm>
            <a:off x="8814816" y="6533388"/>
            <a:ext cx="82296" cy="82296"/>
          </a:xfrm>
          <a:prstGeom prst="ellipse">
            <a:avLst/>
          </a:prstGeom>
          <a:solidFill>
            <a:srgbClr val="0D9595"/>
          </a:solidFill>
          <a:ln w="12700">
            <a:solidFill>
              <a:srgbClr val="0D959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 7"/>
          <p:cNvSpPr txBox="1"/>
          <p:nvPr/>
        </p:nvSpPr>
        <p:spPr>
          <a:xfrm>
            <a:off x="8961120" y="6437376"/>
            <a:ext cx="25603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Confidential &amp; Proprietary  |  © 2026 JazzX AI</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FFFFFF"/>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FFFFFF"/>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US" sz="900" b="0" i="0" u="none" strike="noStrike" kern="1200" cap="none" spc="0" normalizeH="0" baseline="0" noProof="0">
              <a:ln>
                <a:noFill/>
              </a:ln>
              <a:solidFill>
                <a:srgbClr val="FFFFFF"/>
              </a:solidFill>
              <a:effectLst/>
              <a:uLnTx/>
              <a:uFillTx/>
              <a:latin typeface="Calibri"/>
              <a:ea typeface="Calibri"/>
              <a:cs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IN CONTEXT LEARNING  ·  WHAT IT IS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Agents, processes and reasoners improve from feedback, without retraining</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What is context learning, what </a:t>
            </a:r>
            <a:r>
              <a:rPr kumimoji="0" lang="en-US" sz="1400" b="0" i="1" u="none" strike="noStrike" kern="1200" cap="none" spc="0" normalizeH="0" baseline="0" noProof="0" err="1">
                <a:ln>
                  <a:noFill/>
                </a:ln>
                <a:solidFill>
                  <a:srgbClr val="5B2D8E"/>
                </a:solidFill>
                <a:effectLst/>
                <a:uLnTx/>
                <a:uFillTx/>
                <a:latin typeface="Calibri" pitchFamily="34" charset="0"/>
                <a:ea typeface="Calibri" pitchFamily="34" charset="-122"/>
                <a:cs typeface="Calibri" pitchFamily="34" charset="-120"/>
              </a:rPr>
              <a:t>Medprompt</a:t>
            </a: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 style adds, and the recipe we run on the Jazz platform starting with Hawaii release</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Definition"/>
          <p:cNvSpPr/>
          <p:nvPr/>
        </p:nvSpPr>
        <p:spPr>
          <a:xfrm>
            <a:off x="457200" y="1572768"/>
            <a:ext cx="11274552" cy="841248"/>
          </a:xfrm>
          <a:prstGeom prst="roundRect">
            <a:avLst>
              <a:gd name="adj" fmla="val 8696"/>
            </a:avLst>
          </a:prstGeom>
          <a:solidFill>
            <a:srgbClr val="F3F6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 6"/>
          <p:cNvSpPr txBox="1"/>
          <p:nvPr/>
        </p:nvSpPr>
        <p:spPr>
          <a:xfrm>
            <a:off x="685800" y="1572768"/>
            <a:ext cx="10881360" cy="8412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In context learning  </a:t>
            </a:r>
            <a:r>
              <a:rPr kumimoji="0" lang="en-US" sz="13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Agents, processes and reasoners adapt from examples and guidance placed in the prompt at run time. The model’s weights do not change, so a lesson takes effect on the next request and can be removed just as quickly.</a:t>
            </a:r>
            <a:endParaRPr kumimoji="0" lang="en-US" sz="1500" b="0" i="0" u="none" strike="noStrike" kern="1200" cap="none" spc="0" normalizeH="0" baseline="0" noProof="0">
              <a:ln>
                <a:noFill/>
              </a:ln>
              <a:solidFill>
                <a:prstClr val="black"/>
              </a:solidFill>
              <a:effectLst/>
              <a:uLnTx/>
              <a:uFillTx/>
              <a:latin typeface="Calibri"/>
              <a:ea typeface="+mn-ea"/>
              <a:cs typeface="+mn-cs"/>
            </a:endParaRPr>
          </a:p>
        </p:txBody>
      </p:sp>
      <p:sp>
        <p:nvSpPr>
          <p:cNvPr id="9" name="Medprompt style ICL"/>
          <p:cNvSpPr/>
          <p:nvPr/>
        </p:nvSpPr>
        <p:spPr>
          <a:xfrm>
            <a:off x="457200" y="2615184"/>
            <a:ext cx="3337560" cy="2487168"/>
          </a:xfrm>
          <a:prstGeom prst="roundRect">
            <a:avLst>
              <a:gd name="adj" fmla="val 2941"/>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 8"/>
          <p:cNvSpPr txBox="1"/>
          <p:nvPr/>
        </p:nvSpPr>
        <p:spPr>
          <a:xfrm>
            <a:off x="658368" y="2779776"/>
            <a:ext cx="2935224"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Medprompt style ICL</a:t>
            </a:r>
            <a:endParaRPr kumimoji="0" lang="en-US" sz="145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 9"/>
          <p:cNvSpPr txBox="1"/>
          <p:nvPr/>
        </p:nvSpPr>
        <p:spPr>
          <a:xfrm>
            <a:off x="658368" y="3291840"/>
            <a:ext cx="2935224" cy="1709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 Microsoft Research recipe that improves a general model through the prompt alone, with no fine tuning:</a:t>
            </a:r>
            <a:endParaRPr kumimoji="0" lang="en-US" sz="12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600"/>
              </a:spcAft>
              <a:buClrTx/>
              <a:buSzPct val="100000"/>
              <a:buFontTx/>
              <a:buChar char="•"/>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Similar examples: </a:t>
            </a:r>
            <a:r>
              <a:rPr kumimoji="0" lang="en-US" sz="12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the solved cases closest to the question</a:t>
            </a:r>
            <a:endParaRPr kumimoji="0" lang="en-US" sz="12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600"/>
              </a:spcAft>
              <a:buClrTx/>
              <a:buSzPct val="100000"/>
              <a:buFontTx/>
              <a:buChar char="•"/>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Reasoning: </a:t>
            </a:r>
            <a:r>
              <a:rPr kumimoji="0" lang="en-US" sz="12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each example shows the steps to its answer</a:t>
            </a:r>
            <a:endParaRPr kumimoji="0" lang="en-US" sz="12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600"/>
              </a:spcAft>
              <a:buClrTx/>
              <a:buSzPct val="100000"/>
              <a:buFontTx/>
              <a:buChar char="•"/>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Voting: </a:t>
            </a:r>
            <a:r>
              <a:rPr kumimoji="0" lang="en-US" sz="12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several runs, majority answer</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2" name="Feedback based ICL"/>
          <p:cNvSpPr/>
          <p:nvPr/>
        </p:nvSpPr>
        <p:spPr>
          <a:xfrm>
            <a:off x="4425696" y="2615184"/>
            <a:ext cx="3337560" cy="2487168"/>
          </a:xfrm>
          <a:prstGeom prst="roundRect">
            <a:avLst>
              <a:gd name="adj" fmla="val 2941"/>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 11"/>
          <p:cNvSpPr txBox="1"/>
          <p:nvPr/>
        </p:nvSpPr>
        <p:spPr>
          <a:xfrm>
            <a:off x="4626864" y="2779776"/>
            <a:ext cx="2935224"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Feedback based ICL</a:t>
            </a:r>
            <a:endParaRPr kumimoji="0" lang="en-US" sz="145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 12"/>
          <p:cNvSpPr txBox="1"/>
          <p:nvPr/>
        </p:nvSpPr>
        <p:spPr>
          <a:xfrm>
            <a:off x="4626864" y="3291840"/>
            <a:ext cx="2935224" cy="1709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Corrections, clarifications and preferences from underwriters, SMEs or evaluation agents are added to the prompt as new examples.</a:t>
            </a:r>
            <a:endParaRPr kumimoji="0" lang="en-US" sz="12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The agent, reasoner or process adapts to a new rule or standard immediately, with no retraining and no release.</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5" name="Our recipe: feedback infused, Medprompt style ICL"/>
          <p:cNvSpPr/>
          <p:nvPr/>
        </p:nvSpPr>
        <p:spPr>
          <a:xfrm>
            <a:off x="8394192" y="2615184"/>
            <a:ext cx="3337560" cy="2487168"/>
          </a:xfrm>
          <a:prstGeom prst="roundRect">
            <a:avLst>
              <a:gd name="adj" fmla="val 2941"/>
            </a:avLst>
          </a:prstGeom>
          <a:solidFill>
            <a:srgbClr val="E6F8F4"/>
          </a:solidFill>
          <a:ln w="9525">
            <a:solidFill>
              <a:srgbClr val="9FE3D6"/>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 14"/>
          <p:cNvSpPr txBox="1"/>
          <p:nvPr/>
        </p:nvSpPr>
        <p:spPr>
          <a:xfrm>
            <a:off x="8595360" y="2779776"/>
            <a:ext cx="2935224"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5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Our JazzX recipe: feedback infused, </a:t>
            </a:r>
            <a:r>
              <a:rPr kumimoji="0" lang="en-US" sz="1450" b="1" i="0" u="none" strike="noStrike" kern="1200" cap="none" spc="0" normalizeH="0" baseline="0" noProof="0" err="1">
                <a:ln>
                  <a:noFill/>
                </a:ln>
                <a:solidFill>
                  <a:srgbClr val="0D9488"/>
                </a:solidFill>
                <a:effectLst/>
                <a:uLnTx/>
                <a:uFillTx/>
                <a:latin typeface="Calibri" pitchFamily="34" charset="0"/>
                <a:ea typeface="Calibri" pitchFamily="34" charset="-122"/>
                <a:cs typeface="Calibri" pitchFamily="34" charset="-120"/>
              </a:rPr>
              <a:t>Medprompt</a:t>
            </a:r>
            <a:r>
              <a:rPr kumimoji="0" lang="en-US" sz="145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 style ICL</a:t>
            </a:r>
            <a:endParaRPr kumimoji="0" lang="en-US" sz="1450" b="0" i="0" u="none" strike="noStrike" kern="1200" cap="none" spc="0" normalizeH="0" baseline="0" noProof="0">
              <a:ln>
                <a:noFill/>
              </a:ln>
              <a:solidFill>
                <a:prstClr val="black"/>
              </a:solidFill>
              <a:effectLst/>
              <a:uLnTx/>
              <a:uFillTx/>
              <a:latin typeface="Calibri"/>
              <a:ea typeface="+mn-ea"/>
              <a:cs typeface="+mn-cs"/>
            </a:endParaRPr>
          </a:p>
        </p:txBody>
      </p:sp>
      <p:sp>
        <p:nvSpPr>
          <p:cNvPr id="17" name="Text 15"/>
          <p:cNvSpPr txBox="1"/>
          <p:nvPr/>
        </p:nvSpPr>
        <p:spPr>
          <a:xfrm>
            <a:off x="8595360" y="3291840"/>
            <a:ext cx="2935224" cy="1709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Every correction is written as an example with the corrected answer and its rationale, approved by an SME, stored, and retrieved into the prompt when a similar request arrives.</a:t>
            </a:r>
            <a:endParaRPr kumimoji="0" lang="en-US" sz="12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600"/>
              </a:spcAft>
              <a:buClrTx/>
              <a:buSzTx/>
              <a:buFontTx/>
              <a:buNone/>
              <a:tabLst/>
              <a:defRPr/>
            </a:pPr>
            <a:r>
              <a:rPr kumimoji="0" lang="en-US" sz="120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Instant adaptation from feedback, better reasoning from the rationale.</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8" name="Text 16"/>
          <p:cNvSpPr txBox="1"/>
          <p:nvPr/>
        </p:nvSpPr>
        <p:spPr>
          <a:xfrm>
            <a:off x="3794760" y="3584448"/>
            <a:ext cx="630936"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a:ln>
                  <a:noFill/>
                </a:ln>
                <a:solidFill>
                  <a:srgbClr val="03CBA9"/>
                </a:solidFill>
                <a:effectLst/>
                <a:uLnTx/>
                <a:uFillTx/>
                <a:latin typeface="Calibri" pitchFamily="34" charset="0"/>
                <a:ea typeface="Calibri" pitchFamily="34" charset="-122"/>
                <a:cs typeface="Calibri" pitchFamily="34" charset="-120"/>
              </a:rPr>
              <a:t>+</a:t>
            </a:r>
            <a:endParaRPr kumimoji="0" lang="en-US" sz="30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 17"/>
          <p:cNvSpPr txBox="1"/>
          <p:nvPr/>
        </p:nvSpPr>
        <p:spPr>
          <a:xfrm>
            <a:off x="7763256" y="3584448"/>
            <a:ext cx="630936" cy="54864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3000" b="1" i="0" u="none" strike="noStrike" kern="1200" cap="none" spc="0" normalizeH="0" baseline="0" noProof="0">
                <a:ln>
                  <a:noFill/>
                </a:ln>
                <a:solidFill>
                  <a:srgbClr val="03CBA9"/>
                </a:solidFill>
                <a:effectLst/>
                <a:uLnTx/>
                <a:uFillTx/>
                <a:latin typeface="Calibri" pitchFamily="34" charset="0"/>
                <a:ea typeface="Calibri" pitchFamily="34" charset="-122"/>
                <a:cs typeface="Calibri" pitchFamily="34" charset="-120"/>
              </a:rPr>
              <a:t>=</a:t>
            </a:r>
            <a:endParaRPr kumimoji="0" lang="en-US" sz="3000" b="0" i="0" u="none" strike="noStrike" kern="1200" cap="none" spc="0" normalizeH="0" baseline="0" noProof="0">
              <a:ln>
                <a:noFill/>
              </a:ln>
              <a:solidFill>
                <a:prstClr val="black"/>
              </a:solidFill>
              <a:effectLst/>
              <a:uLnTx/>
              <a:uFillTx/>
              <a:latin typeface="Calibri"/>
              <a:ea typeface="+mn-ea"/>
              <a:cs typeface="+mn-cs"/>
            </a:endParaRPr>
          </a:p>
        </p:txBody>
      </p:sp>
      <p:sp>
        <p:nvSpPr>
          <p:cNvPr id="20" name="Text 18"/>
          <p:cNvSpPr txBox="1"/>
          <p:nvPr/>
        </p:nvSpPr>
        <p:spPr>
          <a:xfrm>
            <a:off x="457200" y="5285232"/>
            <a:ext cx="2697480" cy="7315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Immediate</a:t>
            </a:r>
            <a:endParaRPr kumimoji="0" lang="en-US" sz="13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 lesson applies on the next request.</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 19"/>
          <p:cNvSpPr txBox="1"/>
          <p:nvPr/>
        </p:nvSpPr>
        <p:spPr>
          <a:xfrm>
            <a:off x="3316529" y="5285232"/>
            <a:ext cx="2697480" cy="7315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Model agnostic</a:t>
            </a:r>
            <a:endParaRPr kumimoji="0" lang="en-US" sz="13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Works with any frontier model and carries over model upgrades.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2" name="Text 20"/>
          <p:cNvSpPr txBox="1"/>
          <p:nvPr/>
        </p:nvSpPr>
        <p:spPr>
          <a:xfrm>
            <a:off x="6175858" y="5285232"/>
            <a:ext cx="2697480" cy="7315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Auditable</a:t>
            </a:r>
            <a:endParaRPr kumimoji="0" lang="en-US" sz="13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Every lesson used is visible in the prompt and traces to its approver.</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3" name="Text 21"/>
          <p:cNvSpPr txBox="1"/>
          <p:nvPr/>
        </p:nvSpPr>
        <p:spPr>
          <a:xfrm>
            <a:off x="9035186" y="5285232"/>
            <a:ext cx="2697480" cy="7315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Governed</a:t>
            </a:r>
            <a:endParaRPr kumimoji="0" lang="en-US" sz="13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Nothing applies until an SME approves it; lessons stay with the lender.</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4" name="Text 22"/>
          <p:cNvSpPr txBox="1"/>
          <p:nvPr/>
        </p:nvSpPr>
        <p:spPr>
          <a:xfrm>
            <a:off x="457200" y="6089904"/>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Medprompt: Nori et al., Microsoft, 2023. In context learning changes the context layer</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IN CONTEXT LEARNING  ·  USE CASES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Lenders teach Jazz their own way of working, one approved correction at a time</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Every lesson is approved by the lender’s SME and applies only within that lender</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Problem"/>
          <p:cNvSpPr/>
          <p:nvPr/>
        </p:nvSpPr>
        <p:spPr>
          <a:xfrm>
            <a:off x="457200" y="1463040"/>
            <a:ext cx="11274552" cy="896112"/>
          </a:xfrm>
          <a:prstGeom prst="roundRect">
            <a:avLst>
              <a:gd name="adj" fmla="val 8163"/>
            </a:avLst>
          </a:prstGeom>
          <a:solidFill>
            <a:srgbClr val="1B0065"/>
          </a:solidFill>
          <a:ln w="9525">
            <a:solidFill>
              <a:srgbClr val="1B0065"/>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 6"/>
          <p:cNvSpPr txBox="1"/>
          <p:nvPr/>
        </p:nvSpPr>
        <p:spPr>
          <a:xfrm>
            <a:off x="685800" y="1463040"/>
            <a:ext cx="1371600" cy="8961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0" cap="none" spc="200" normalizeH="0" baseline="0" noProof="0">
                <a:ln>
                  <a:noFill/>
                </a:ln>
                <a:solidFill>
                  <a:srgbClr val="03CBA9"/>
                </a:solidFill>
                <a:effectLst/>
                <a:uLnTx/>
                <a:uFillTx/>
                <a:latin typeface="Calibri" pitchFamily="34" charset="0"/>
                <a:ea typeface="Calibri" pitchFamily="34" charset="-122"/>
                <a:cs typeface="Calibri" pitchFamily="34" charset="-120"/>
              </a:rPr>
              <a:t>THE PROBLEM</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9" name="Text 7"/>
          <p:cNvSpPr txBox="1"/>
          <p:nvPr/>
        </p:nvSpPr>
        <p:spPr>
          <a:xfrm>
            <a:off x="2148840" y="1463040"/>
            <a:ext cx="2852928" cy="8961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Every lender is different</a:t>
            </a:r>
            <a:endParaRPr kumimoji="0" lang="en-US" sz="14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50" b="0" i="0" u="none" strike="noStrike" kern="1200" cap="none" spc="0" normalizeH="0" baseline="0" noProof="0">
                <a:ln>
                  <a:noFill/>
                </a:ln>
                <a:solidFill>
                  <a:srgbClr val="C9D3FA"/>
                </a:solidFill>
                <a:effectLst/>
                <a:uLnTx/>
                <a:uFillTx/>
                <a:latin typeface="Calibri" pitchFamily="34" charset="0"/>
                <a:ea typeface="Calibri" pitchFamily="34" charset="-122"/>
                <a:cs typeface="Calibri" pitchFamily="34" charset="-120"/>
              </a:rPr>
              <a:t>Overlays, formats and judgment calls that no base model knows</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10" name="Divider"/>
          <p:cNvSpPr/>
          <p:nvPr/>
        </p:nvSpPr>
        <p:spPr>
          <a:xfrm>
            <a:off x="5166360" y="1645920"/>
            <a:ext cx="0" cy="530352"/>
          </a:xfrm>
          <a:prstGeom prst="line">
            <a:avLst/>
          </a:prstGeom>
          <a:noFill/>
          <a:ln w="12700">
            <a:solidFill>
              <a:srgbClr val="3B2A9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 9"/>
          <p:cNvSpPr txBox="1"/>
          <p:nvPr/>
        </p:nvSpPr>
        <p:spPr>
          <a:xfrm>
            <a:off x="5276088" y="1463040"/>
            <a:ext cx="2852928" cy="8961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Corrections do not carry forward</a:t>
            </a:r>
            <a:endParaRPr kumimoji="0" lang="en-US" sz="14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50" b="0" i="0" u="none" strike="noStrike" kern="1200" cap="none" spc="0" normalizeH="0" baseline="0" noProof="0">
                <a:ln>
                  <a:noFill/>
                </a:ln>
                <a:solidFill>
                  <a:srgbClr val="C9D3FA"/>
                </a:solidFill>
                <a:effectLst/>
                <a:uLnTx/>
                <a:uFillTx/>
                <a:latin typeface="Calibri" pitchFamily="34" charset="0"/>
                <a:ea typeface="Calibri" pitchFamily="34" charset="-122"/>
                <a:cs typeface="Calibri" pitchFamily="34" charset="-120"/>
              </a:rPr>
              <a:t>An underwriter fixes one loan; the next file repeats the mistake</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12" name="Divider"/>
          <p:cNvSpPr/>
          <p:nvPr/>
        </p:nvSpPr>
        <p:spPr>
          <a:xfrm>
            <a:off x="8293608" y="1645920"/>
            <a:ext cx="0" cy="530352"/>
          </a:xfrm>
          <a:prstGeom prst="line">
            <a:avLst/>
          </a:prstGeom>
          <a:noFill/>
          <a:ln w="12700">
            <a:solidFill>
              <a:srgbClr val="3B2A9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 11"/>
          <p:cNvSpPr txBox="1"/>
          <p:nvPr/>
        </p:nvSpPr>
        <p:spPr>
          <a:xfrm>
            <a:off x="8403336" y="1463040"/>
            <a:ext cx="2852928" cy="8961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Changes wait for a release</a:t>
            </a:r>
            <a:endParaRPr kumimoji="0" lang="en-US" sz="14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50" b="0" i="0" u="none" strike="noStrike" kern="1200" cap="none" spc="0" normalizeH="0" baseline="0" noProof="0">
                <a:ln>
                  <a:noFill/>
                </a:ln>
                <a:solidFill>
                  <a:srgbClr val="C9D3FA"/>
                </a:solidFill>
                <a:effectLst/>
                <a:uLnTx/>
                <a:uFillTx/>
                <a:latin typeface="Calibri" pitchFamily="34" charset="0"/>
                <a:ea typeface="Calibri" pitchFamily="34" charset="-122"/>
                <a:cs typeface="Calibri" pitchFamily="34" charset="-120"/>
              </a:rPr>
              <a:t>Adjusting an agent or reasoner takes an engineer and weeks</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 12"/>
          <p:cNvSpPr txBox="1"/>
          <p:nvPr/>
        </p:nvSpPr>
        <p:spPr>
          <a:xfrm>
            <a:off x="457200" y="2468880"/>
            <a:ext cx="1097280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0D9488"/>
                </a:solidFill>
                <a:effectLst/>
                <a:uLnTx/>
                <a:uFillTx/>
                <a:latin typeface="Calibri" pitchFamily="34" charset="0"/>
                <a:ea typeface="Calibri" pitchFamily="34" charset="-122"/>
                <a:cs typeface="Calibri" pitchFamily="34" charset="-120"/>
              </a:rPr>
              <a:t>AVAILABLE NOW  ·  JAZZ ASSISTANT AND PLATFORM AGENTS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15" name="Complete analysis"/>
          <p:cNvSpPr/>
          <p:nvPr/>
        </p:nvSpPr>
        <p:spPr>
          <a:xfrm>
            <a:off x="457200" y="2724912"/>
            <a:ext cx="2697480" cy="1426464"/>
          </a:xfrm>
          <a:prstGeom prst="roundRect">
            <a:avLst>
              <a:gd name="adj" fmla="val 5128"/>
            </a:avLst>
          </a:prstGeom>
          <a:solidFill>
            <a:srgbClr val="FFFFFF"/>
          </a:solidFill>
          <a:ln w="9525">
            <a:solidFill>
              <a:srgbClr val="9FE3D6"/>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Icon circle"/>
          <p:cNvSpPr/>
          <p:nvPr/>
        </p:nvSpPr>
        <p:spPr>
          <a:xfrm>
            <a:off x="603504" y="2843784"/>
            <a:ext cx="365760" cy="365760"/>
          </a:xfrm>
          <a:prstGeom prst="ellipse">
            <a:avLst/>
          </a:prstGeom>
          <a:solidFill>
            <a:srgbClr val="E6F8F4"/>
          </a:solidFill>
          <a:ln w="12700">
            <a:solidFill>
              <a:srgbClr val="E6F8F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17" name="Image 0" descr="preencoded.png"/>
          <p:cNvPicPr>
            <a:picLocks noChangeAspect="1"/>
          </p:cNvPicPr>
          <p:nvPr/>
        </p:nvPicPr>
        <p:blipFill>
          <a:blip r:embed="rId3"/>
          <a:stretch>
            <a:fillRect/>
          </a:stretch>
        </p:blipFill>
        <p:spPr>
          <a:xfrm>
            <a:off x="694944" y="2935224"/>
            <a:ext cx="182880" cy="182880"/>
          </a:xfrm>
          <a:prstGeom prst="rect">
            <a:avLst/>
          </a:prstGeom>
        </p:spPr>
      </p:pic>
      <p:sp>
        <p:nvSpPr>
          <p:cNvPr id="18" name="Text 15"/>
          <p:cNvSpPr txBox="1"/>
          <p:nvPr/>
        </p:nvSpPr>
        <p:spPr>
          <a:xfrm>
            <a:off x="1060704" y="2843784"/>
            <a:ext cx="1984248"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Complete analysis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 16"/>
          <p:cNvSpPr txBox="1"/>
          <p:nvPr/>
        </p:nvSpPr>
        <p:spPr>
          <a:xfrm>
            <a:off x="603504" y="3273552"/>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Jazz lists paystub and W‑2 figures; the underwriter still reconciles them by hand.</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20" name="Text 17"/>
          <p:cNvSpPr txBox="1"/>
          <p:nvPr/>
        </p:nvSpPr>
        <p:spPr>
          <a:xfrm>
            <a:off x="603504" y="3694176"/>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Lesson  </a:t>
            </a: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Reconcile current pay to W‑2 history and say if it supports income.</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21" name="The lender’s format"/>
          <p:cNvSpPr/>
          <p:nvPr/>
        </p:nvSpPr>
        <p:spPr>
          <a:xfrm>
            <a:off x="3316529" y="2724912"/>
            <a:ext cx="2697480" cy="1426464"/>
          </a:xfrm>
          <a:prstGeom prst="roundRect">
            <a:avLst>
              <a:gd name="adj" fmla="val 5128"/>
            </a:avLst>
          </a:prstGeom>
          <a:solidFill>
            <a:srgbClr val="FFFFFF"/>
          </a:solidFill>
          <a:ln w="9525">
            <a:solidFill>
              <a:srgbClr val="9FE3D6"/>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2" name="Icon circle"/>
          <p:cNvSpPr/>
          <p:nvPr/>
        </p:nvSpPr>
        <p:spPr>
          <a:xfrm>
            <a:off x="3462833" y="2843784"/>
            <a:ext cx="365760" cy="365760"/>
          </a:xfrm>
          <a:prstGeom prst="ellipse">
            <a:avLst/>
          </a:prstGeom>
          <a:solidFill>
            <a:srgbClr val="E6F8F4"/>
          </a:solidFill>
          <a:ln w="12700">
            <a:solidFill>
              <a:srgbClr val="E6F8F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23" name="Image 1" descr="preencoded.png"/>
          <p:cNvPicPr>
            <a:picLocks noChangeAspect="1"/>
          </p:cNvPicPr>
          <p:nvPr/>
        </p:nvPicPr>
        <p:blipFill>
          <a:blip r:embed="rId4"/>
          <a:stretch>
            <a:fillRect/>
          </a:stretch>
        </p:blipFill>
        <p:spPr>
          <a:xfrm>
            <a:off x="3554273" y="2935224"/>
            <a:ext cx="182880" cy="182880"/>
          </a:xfrm>
          <a:prstGeom prst="rect">
            <a:avLst/>
          </a:prstGeom>
        </p:spPr>
      </p:pic>
      <p:sp>
        <p:nvSpPr>
          <p:cNvPr id="24" name="Text 20"/>
          <p:cNvSpPr txBox="1"/>
          <p:nvPr/>
        </p:nvSpPr>
        <p:spPr>
          <a:xfrm>
            <a:off x="3920033" y="2843784"/>
            <a:ext cx="1984248"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The lender’s format</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5" name="Text 21"/>
          <p:cNvSpPr txBox="1"/>
          <p:nvPr/>
        </p:nvSpPr>
        <p:spPr>
          <a:xfrm>
            <a:off x="3462833" y="3273552"/>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Underwriters rewrite every summary into the lender’s format before filing it.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26" name="Text 22"/>
          <p:cNvSpPr txBox="1"/>
          <p:nvPr/>
        </p:nvSpPr>
        <p:spPr>
          <a:xfrm>
            <a:off x="3462833" y="3694176"/>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Lesson  </a:t>
            </a: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Show DTI by component; risk as strengths, weaknesses and red flags.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27" name="The lender’s own rules"/>
          <p:cNvSpPr/>
          <p:nvPr/>
        </p:nvSpPr>
        <p:spPr>
          <a:xfrm>
            <a:off x="6175858" y="2724912"/>
            <a:ext cx="2697480" cy="1426464"/>
          </a:xfrm>
          <a:prstGeom prst="roundRect">
            <a:avLst>
              <a:gd name="adj" fmla="val 5128"/>
            </a:avLst>
          </a:prstGeom>
          <a:solidFill>
            <a:srgbClr val="FFFFFF"/>
          </a:solidFill>
          <a:ln w="9525">
            <a:solidFill>
              <a:srgbClr val="9FE3D6"/>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 name="Icon circle"/>
          <p:cNvSpPr/>
          <p:nvPr/>
        </p:nvSpPr>
        <p:spPr>
          <a:xfrm>
            <a:off x="6322162" y="2843784"/>
            <a:ext cx="365760" cy="365760"/>
          </a:xfrm>
          <a:prstGeom prst="ellipse">
            <a:avLst/>
          </a:prstGeom>
          <a:solidFill>
            <a:srgbClr val="E6F8F4"/>
          </a:solidFill>
          <a:ln w="12700">
            <a:solidFill>
              <a:srgbClr val="E6F8F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29" name="Image 2" descr="preencoded.png"/>
          <p:cNvPicPr>
            <a:picLocks noChangeAspect="1"/>
          </p:cNvPicPr>
          <p:nvPr/>
        </p:nvPicPr>
        <p:blipFill>
          <a:blip r:embed="rId5"/>
          <a:stretch>
            <a:fillRect/>
          </a:stretch>
        </p:blipFill>
        <p:spPr>
          <a:xfrm>
            <a:off x="6413602" y="2935224"/>
            <a:ext cx="182880" cy="182880"/>
          </a:xfrm>
          <a:prstGeom prst="rect">
            <a:avLst/>
          </a:prstGeom>
        </p:spPr>
      </p:pic>
      <p:sp>
        <p:nvSpPr>
          <p:cNvPr id="30" name="Text 25"/>
          <p:cNvSpPr txBox="1"/>
          <p:nvPr/>
        </p:nvSpPr>
        <p:spPr>
          <a:xfrm>
            <a:off x="6779362" y="2843784"/>
            <a:ext cx="1984248"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The lender’s own rules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31" name="Text 26"/>
          <p:cNvSpPr txBox="1"/>
          <p:nvPr/>
        </p:nvSpPr>
        <p:spPr>
          <a:xfrm>
            <a:off x="6322162" y="3273552"/>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An agent accepts electronic signatures where the lender requires wet ink.</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32" name="Text 27"/>
          <p:cNvSpPr txBox="1"/>
          <p:nvPr/>
        </p:nvSpPr>
        <p:spPr>
          <a:xfrm>
            <a:off x="6322162" y="3694176"/>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Lesson  </a:t>
            </a: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Accept wet ink signatures only, for this lender.</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33" name="Answers within policy"/>
          <p:cNvSpPr/>
          <p:nvPr/>
        </p:nvSpPr>
        <p:spPr>
          <a:xfrm>
            <a:off x="9035186" y="2724912"/>
            <a:ext cx="2697480" cy="1426464"/>
          </a:xfrm>
          <a:prstGeom prst="roundRect">
            <a:avLst>
              <a:gd name="adj" fmla="val 5128"/>
            </a:avLst>
          </a:prstGeom>
          <a:solidFill>
            <a:srgbClr val="FFFFFF"/>
          </a:solidFill>
          <a:ln w="9525">
            <a:solidFill>
              <a:srgbClr val="9FE3D6"/>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 name="Icon circle"/>
          <p:cNvSpPr/>
          <p:nvPr/>
        </p:nvSpPr>
        <p:spPr>
          <a:xfrm>
            <a:off x="9181490" y="2843784"/>
            <a:ext cx="365760" cy="365760"/>
          </a:xfrm>
          <a:prstGeom prst="ellipse">
            <a:avLst/>
          </a:prstGeom>
          <a:solidFill>
            <a:srgbClr val="E6F8F4"/>
          </a:solidFill>
          <a:ln w="12700">
            <a:solidFill>
              <a:srgbClr val="E6F8F4"/>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35" name="Image 3" descr="preencoded.png"/>
          <p:cNvPicPr>
            <a:picLocks noChangeAspect="1"/>
          </p:cNvPicPr>
          <p:nvPr/>
        </p:nvPicPr>
        <p:blipFill>
          <a:blip r:embed="rId6"/>
          <a:stretch>
            <a:fillRect/>
          </a:stretch>
        </p:blipFill>
        <p:spPr>
          <a:xfrm>
            <a:off x="9272930" y="2935224"/>
            <a:ext cx="182880" cy="182880"/>
          </a:xfrm>
          <a:prstGeom prst="rect">
            <a:avLst/>
          </a:prstGeom>
        </p:spPr>
      </p:pic>
      <p:sp>
        <p:nvSpPr>
          <p:cNvPr id="36" name="Text 30"/>
          <p:cNvSpPr txBox="1"/>
          <p:nvPr/>
        </p:nvSpPr>
        <p:spPr>
          <a:xfrm>
            <a:off x="9638690" y="2843784"/>
            <a:ext cx="1984248"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Answers within policy</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37" name="Text 31"/>
          <p:cNvSpPr txBox="1"/>
          <p:nvPr/>
        </p:nvSpPr>
        <p:spPr>
          <a:xfrm>
            <a:off x="9181490" y="3273552"/>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Users ask questions outside the loan and policy, a compliance exposure.</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 32"/>
          <p:cNvSpPr txBox="1"/>
          <p:nvPr/>
        </p:nvSpPr>
        <p:spPr>
          <a:xfrm>
            <a:off x="9181490" y="3694176"/>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Lesson  </a:t>
            </a: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Decline questions unrelated to the loan or mortgage policy.</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39" name="Text 33"/>
          <p:cNvSpPr txBox="1"/>
          <p:nvPr/>
        </p:nvSpPr>
        <p:spPr>
          <a:xfrm>
            <a:off x="457200" y="4242816"/>
            <a:ext cx="1097280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5069EC"/>
                </a:solidFill>
                <a:effectLst/>
                <a:uLnTx/>
                <a:uFillTx/>
                <a:latin typeface="Calibri" pitchFamily="34" charset="0"/>
                <a:ea typeface="Calibri" pitchFamily="34" charset="-122"/>
                <a:cs typeface="Calibri" pitchFamily="34" charset="-120"/>
              </a:rPr>
              <a:t>NEXT, V2 (JAMAICA)  ·  REASONERS: REASONING LOGIC THE UNDERWRITER CORRECTS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40" name="Misapplied thresholds"/>
          <p:cNvSpPr/>
          <p:nvPr/>
        </p:nvSpPr>
        <p:spPr>
          <a:xfrm>
            <a:off x="457200" y="4498848"/>
            <a:ext cx="2697480" cy="1426464"/>
          </a:xfrm>
          <a:prstGeom prst="roundRect">
            <a:avLst>
              <a:gd name="adj" fmla="val 5128"/>
            </a:avLst>
          </a:prstGeom>
          <a:solidFill>
            <a:srgbClr val="F3F6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Icon circle"/>
          <p:cNvSpPr/>
          <p:nvPr/>
        </p:nvSpPr>
        <p:spPr>
          <a:xfrm>
            <a:off x="603504" y="4617720"/>
            <a:ext cx="365760" cy="365760"/>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42" name="Image 4" descr="preencoded.png"/>
          <p:cNvPicPr>
            <a:picLocks noChangeAspect="1"/>
          </p:cNvPicPr>
          <p:nvPr/>
        </p:nvPicPr>
        <p:blipFill>
          <a:blip r:embed="rId7"/>
          <a:stretch>
            <a:fillRect/>
          </a:stretch>
        </p:blipFill>
        <p:spPr>
          <a:xfrm>
            <a:off x="694944" y="4709160"/>
            <a:ext cx="182880" cy="182880"/>
          </a:xfrm>
          <a:prstGeom prst="rect">
            <a:avLst/>
          </a:prstGeom>
        </p:spPr>
      </p:pic>
      <p:sp>
        <p:nvSpPr>
          <p:cNvPr id="43" name="Text 36"/>
          <p:cNvSpPr txBox="1"/>
          <p:nvPr/>
        </p:nvSpPr>
        <p:spPr>
          <a:xfrm>
            <a:off x="1060704" y="4617720"/>
            <a:ext cx="1984248"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Misapplied thresholds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 37"/>
          <p:cNvSpPr txBox="1"/>
          <p:nvPr/>
        </p:nvSpPr>
        <p:spPr>
          <a:xfrm>
            <a:off x="603504" y="5047488"/>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A reserves rule for investment property is applied to a primary home.</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5" name="Text 38"/>
          <p:cNvSpPr txBox="1"/>
          <p:nvPr/>
        </p:nvSpPr>
        <p:spPr>
          <a:xfrm>
            <a:off x="603504" y="5468112"/>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5069EC"/>
                </a:solidFill>
                <a:effectLst/>
                <a:uLnTx/>
                <a:uFillTx/>
                <a:latin typeface="Calibri" pitchFamily="34" charset="0"/>
                <a:ea typeface="Calibri" pitchFamily="34" charset="-122"/>
                <a:cs typeface="Calibri" pitchFamily="34" charset="-120"/>
              </a:rPr>
              <a:t>Lesson  </a:t>
            </a: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Apply the reserves threshold by occupancy type, per the overlay.</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6" name="Compensating factors"/>
          <p:cNvSpPr/>
          <p:nvPr/>
        </p:nvSpPr>
        <p:spPr>
          <a:xfrm>
            <a:off x="3316529" y="4498848"/>
            <a:ext cx="2697480" cy="1426464"/>
          </a:xfrm>
          <a:prstGeom prst="roundRect">
            <a:avLst>
              <a:gd name="adj" fmla="val 5128"/>
            </a:avLst>
          </a:prstGeom>
          <a:solidFill>
            <a:srgbClr val="F3F6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Icon circle"/>
          <p:cNvSpPr/>
          <p:nvPr/>
        </p:nvSpPr>
        <p:spPr>
          <a:xfrm>
            <a:off x="3462833" y="4617720"/>
            <a:ext cx="365760" cy="365760"/>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48" name="Image 5" descr="preencoded.png"/>
          <p:cNvPicPr>
            <a:picLocks noChangeAspect="1"/>
          </p:cNvPicPr>
          <p:nvPr/>
        </p:nvPicPr>
        <p:blipFill>
          <a:blip r:embed="rId8"/>
          <a:stretch>
            <a:fillRect/>
          </a:stretch>
        </p:blipFill>
        <p:spPr>
          <a:xfrm>
            <a:off x="3554273" y="4709160"/>
            <a:ext cx="182880" cy="182880"/>
          </a:xfrm>
          <a:prstGeom prst="rect">
            <a:avLst/>
          </a:prstGeom>
        </p:spPr>
      </p:pic>
      <p:sp>
        <p:nvSpPr>
          <p:cNvPr id="49" name="Text 41"/>
          <p:cNvSpPr txBox="1"/>
          <p:nvPr/>
        </p:nvSpPr>
        <p:spPr>
          <a:xfrm>
            <a:off x="3920033" y="4617720"/>
            <a:ext cx="1984248"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Compensating factors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 42"/>
          <p:cNvSpPr txBox="1"/>
          <p:nvPr/>
        </p:nvSpPr>
        <p:spPr>
          <a:xfrm>
            <a:off x="3462833" y="5047488"/>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A file over the DTI limit is flagged despite strong reserves and credit.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1" name="Text 43"/>
          <p:cNvSpPr txBox="1"/>
          <p:nvPr/>
        </p:nvSpPr>
        <p:spPr>
          <a:xfrm>
            <a:off x="3462833" y="5468112"/>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5069EC"/>
                </a:solidFill>
                <a:effectLst/>
                <a:uLnTx/>
                <a:uFillTx/>
                <a:latin typeface="Calibri" pitchFamily="34" charset="0"/>
                <a:ea typeface="Calibri" pitchFamily="34" charset="-122"/>
                <a:cs typeface="Calibri" pitchFamily="34" charset="-120"/>
              </a:rPr>
              <a:t>Lesson  </a:t>
            </a: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Allow DTI over the limit when compensating factors are documented.</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2" name="Declining income"/>
          <p:cNvSpPr/>
          <p:nvPr/>
        </p:nvSpPr>
        <p:spPr>
          <a:xfrm>
            <a:off x="6175858" y="4498848"/>
            <a:ext cx="2697480" cy="1426464"/>
          </a:xfrm>
          <a:prstGeom prst="roundRect">
            <a:avLst>
              <a:gd name="adj" fmla="val 5128"/>
            </a:avLst>
          </a:prstGeom>
          <a:solidFill>
            <a:srgbClr val="F3F6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3" name="Icon circle"/>
          <p:cNvSpPr/>
          <p:nvPr/>
        </p:nvSpPr>
        <p:spPr>
          <a:xfrm>
            <a:off x="6322162" y="4617720"/>
            <a:ext cx="365760" cy="365760"/>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54" name="Image 6" descr="preencoded.png"/>
          <p:cNvPicPr>
            <a:picLocks noChangeAspect="1"/>
          </p:cNvPicPr>
          <p:nvPr/>
        </p:nvPicPr>
        <p:blipFill>
          <a:blip r:embed="rId9"/>
          <a:stretch>
            <a:fillRect/>
          </a:stretch>
        </p:blipFill>
        <p:spPr>
          <a:xfrm>
            <a:off x="6413602" y="4709160"/>
            <a:ext cx="182880" cy="182880"/>
          </a:xfrm>
          <a:prstGeom prst="rect">
            <a:avLst/>
          </a:prstGeom>
        </p:spPr>
      </p:pic>
      <p:sp>
        <p:nvSpPr>
          <p:cNvPr id="55" name="Text 46"/>
          <p:cNvSpPr txBox="1"/>
          <p:nvPr/>
        </p:nvSpPr>
        <p:spPr>
          <a:xfrm>
            <a:off x="6779362" y="4617720"/>
            <a:ext cx="1984248"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Declining income</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56" name="Text 47"/>
          <p:cNvSpPr txBox="1"/>
          <p:nvPr/>
        </p:nvSpPr>
        <p:spPr>
          <a:xfrm>
            <a:off x="6322162" y="5047488"/>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Two years of self employed income are averaged though the trend is down.</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7" name="Text 48"/>
          <p:cNvSpPr txBox="1"/>
          <p:nvPr/>
        </p:nvSpPr>
        <p:spPr>
          <a:xfrm>
            <a:off x="6322162" y="5468112"/>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5069EC"/>
                </a:solidFill>
                <a:effectLst/>
                <a:uLnTx/>
                <a:uFillTx/>
                <a:latin typeface="Calibri" pitchFamily="34" charset="0"/>
                <a:ea typeface="Calibri" pitchFamily="34" charset="-122"/>
                <a:cs typeface="Calibri" pitchFamily="34" charset="-120"/>
              </a:rPr>
              <a:t>Lesson  </a:t>
            </a: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When income declines, qualify on the recent year, with an explanation.</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8" name="Overlay precedence"/>
          <p:cNvSpPr/>
          <p:nvPr/>
        </p:nvSpPr>
        <p:spPr>
          <a:xfrm>
            <a:off x="9035186" y="4498848"/>
            <a:ext cx="2697480" cy="1426464"/>
          </a:xfrm>
          <a:prstGeom prst="roundRect">
            <a:avLst>
              <a:gd name="adj" fmla="val 5128"/>
            </a:avLst>
          </a:prstGeom>
          <a:solidFill>
            <a:srgbClr val="F3F6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9" name="Icon circle"/>
          <p:cNvSpPr/>
          <p:nvPr/>
        </p:nvSpPr>
        <p:spPr>
          <a:xfrm>
            <a:off x="9181490" y="4617720"/>
            <a:ext cx="365760" cy="365760"/>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60" name="Image 7" descr="preencoded.png"/>
          <p:cNvPicPr>
            <a:picLocks noChangeAspect="1"/>
          </p:cNvPicPr>
          <p:nvPr/>
        </p:nvPicPr>
        <p:blipFill>
          <a:blip r:embed="rId10"/>
          <a:stretch>
            <a:fillRect/>
          </a:stretch>
        </p:blipFill>
        <p:spPr>
          <a:xfrm>
            <a:off x="9272930" y="4709160"/>
            <a:ext cx="182880" cy="182880"/>
          </a:xfrm>
          <a:prstGeom prst="rect">
            <a:avLst/>
          </a:prstGeom>
        </p:spPr>
      </p:pic>
      <p:sp>
        <p:nvSpPr>
          <p:cNvPr id="61" name="Text 51"/>
          <p:cNvSpPr txBox="1"/>
          <p:nvPr/>
        </p:nvSpPr>
        <p:spPr>
          <a:xfrm>
            <a:off x="9638690" y="4617720"/>
            <a:ext cx="1984248"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Overlay precedence</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62" name="Text 52"/>
          <p:cNvSpPr txBox="1"/>
          <p:nvPr/>
        </p:nvSpPr>
        <p:spPr>
          <a:xfrm>
            <a:off x="9181490" y="5047488"/>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Where overlay and agency guideline differ, the reasoner applies the wrong one.</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63" name="Text 53"/>
          <p:cNvSpPr txBox="1"/>
          <p:nvPr/>
        </p:nvSpPr>
        <p:spPr>
          <a:xfrm>
            <a:off x="9181490" y="5468112"/>
            <a:ext cx="2423160"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5069EC"/>
                </a:solidFill>
                <a:effectLst/>
                <a:uLnTx/>
                <a:uFillTx/>
                <a:latin typeface="Calibri" pitchFamily="34" charset="0"/>
                <a:ea typeface="Calibri" pitchFamily="34" charset="-122"/>
                <a:cs typeface="Calibri" pitchFamily="34" charset="-120"/>
              </a:rPr>
              <a:t>Lesson  </a:t>
            </a: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Apply the lender’s overlay first and cite it in the condition.</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 54"/>
          <p:cNvSpPr txBox="1"/>
          <p:nvPr/>
        </p:nvSpPr>
        <p:spPr>
          <a:xfrm>
            <a:off x="457200" y="5998464"/>
            <a:ext cx="11274552"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For reasoners, SME feedback on a condition becomes a candidate change, tested before and after on the feedback loans and the lender’s golden dataset, and approved in Knowledge Studio before it goes live.</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6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IN CONTEXT LEARNING  ·  DEMO VIDEO</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Demo: one approved correction fixes the answer for every underwriter</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End to end on a loan in processing: from the mortgage app, to the platform, to Knowledge Studio and back on Hawaii release</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Problem"/>
          <p:cNvSpPr/>
          <p:nvPr/>
        </p:nvSpPr>
        <p:spPr>
          <a:xfrm>
            <a:off x="457200" y="1572768"/>
            <a:ext cx="3840480" cy="4663440"/>
          </a:xfrm>
          <a:prstGeom prst="roundRect">
            <a:avLst>
              <a:gd name="adj" fmla="val 1905"/>
            </a:avLst>
          </a:prstGeom>
          <a:solidFill>
            <a:srgbClr val="1B0065"/>
          </a:solidFill>
          <a:ln w="9525">
            <a:solidFill>
              <a:srgbClr val="1B0065"/>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 6"/>
          <p:cNvSpPr txBox="1"/>
          <p:nvPr/>
        </p:nvSpPr>
        <p:spPr>
          <a:xfrm>
            <a:off x="731520" y="1801368"/>
            <a:ext cx="329184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03CBA9"/>
                </a:solidFill>
                <a:effectLst/>
                <a:uLnTx/>
                <a:uFillTx/>
                <a:latin typeface="Calibri" pitchFamily="34" charset="0"/>
                <a:ea typeface="Calibri" pitchFamily="34" charset="-122"/>
                <a:cs typeface="Calibri" pitchFamily="34" charset="-120"/>
              </a:rPr>
              <a:t>THE PROBLEM</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9" name="Text 7"/>
          <p:cNvSpPr txBox="1"/>
          <p:nvPr/>
        </p:nvSpPr>
        <p:spPr>
          <a:xfrm>
            <a:off x="731520" y="2139696"/>
            <a:ext cx="3291840" cy="23774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C9C4E8"/>
                </a:solidFill>
                <a:effectLst/>
                <a:uLnTx/>
                <a:uFillTx/>
                <a:latin typeface="Calibri" pitchFamily="34" charset="0"/>
                <a:ea typeface="Calibri" pitchFamily="34" charset="-122"/>
                <a:cs typeface="Calibri" pitchFamily="34" charset="-120"/>
              </a:rPr>
              <a:t>The underwriter asks Jazz Q&amp;A chat</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10" name="Question"/>
          <p:cNvSpPr/>
          <p:nvPr/>
        </p:nvSpPr>
        <p:spPr>
          <a:xfrm>
            <a:off x="731520" y="2414016"/>
            <a:ext cx="3291840" cy="868680"/>
          </a:xfrm>
          <a:prstGeom prst="roundRect">
            <a:avLst>
              <a:gd name="adj" fmla="val 8421"/>
            </a:avLst>
          </a:prstGeom>
          <a:solidFill>
            <a:srgbClr val="2A1680"/>
          </a:solidFill>
          <a:ln w="9525">
            <a:solidFill>
              <a:srgbClr val="3B2A9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 9"/>
          <p:cNvSpPr txBox="1"/>
          <p:nvPr/>
        </p:nvSpPr>
        <p:spPr>
          <a:xfrm>
            <a:off x="868680" y="2414016"/>
            <a:ext cx="3017520" cy="86868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“Do the current earnings reconcile with the W‑2 income history?”</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 10"/>
          <p:cNvSpPr txBox="1"/>
          <p:nvPr/>
        </p:nvSpPr>
        <p:spPr>
          <a:xfrm>
            <a:off x="731520" y="3493008"/>
            <a:ext cx="3291840" cy="13716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3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Jazz lists the paystub and W‑2 figures but does not reconcile them.</a:t>
            </a:r>
            <a:endParaRPr kumimoji="0" lang="en-US" sz="135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1200"/>
              </a:spcAft>
              <a:buClrTx/>
              <a:buSzTx/>
              <a:buFontTx/>
              <a:buNone/>
              <a:tabLst/>
              <a:defRPr/>
            </a:pPr>
            <a:r>
              <a:rPr kumimoji="0" lang="en-US" sz="13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Today the underwriter does the math by hand, and every other underwriter meets the same gap until a fix ships in a release.</a:t>
            </a:r>
            <a:endParaRPr kumimoji="0" lang="en-US" sz="1350" b="0" i="0" u="none" strike="noStrike" kern="1200" cap="none" spc="0" normalizeH="0" baseline="0" noProof="0">
              <a:ln>
                <a:noFill/>
              </a:ln>
              <a:solidFill>
                <a:prstClr val="black"/>
              </a:solidFill>
              <a:effectLst/>
              <a:uLnTx/>
              <a:uFillTx/>
              <a:latin typeface="Calibri"/>
              <a:ea typeface="+mn-ea"/>
              <a:cs typeface="+mn-cs"/>
            </a:endParaRPr>
          </a:p>
        </p:txBody>
      </p:sp>
      <p:sp>
        <p:nvSpPr>
          <p:cNvPr id="13" name="Rule"/>
          <p:cNvSpPr/>
          <p:nvPr/>
        </p:nvSpPr>
        <p:spPr>
          <a:xfrm>
            <a:off x="731520" y="4974336"/>
            <a:ext cx="3291840" cy="0"/>
          </a:xfrm>
          <a:prstGeom prst="line">
            <a:avLst/>
          </a:prstGeom>
          <a:noFill/>
          <a:ln w="12700">
            <a:solidFill>
              <a:srgbClr val="3B2A9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 12"/>
          <p:cNvSpPr txBox="1"/>
          <p:nvPr/>
        </p:nvSpPr>
        <p:spPr>
          <a:xfrm>
            <a:off x="731520" y="5138928"/>
            <a:ext cx="329184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03CBA9"/>
                </a:solidFill>
                <a:effectLst/>
                <a:uLnTx/>
                <a:uFillTx/>
                <a:latin typeface="Calibri" pitchFamily="34" charset="0"/>
                <a:ea typeface="Calibri" pitchFamily="34" charset="-122"/>
                <a:cs typeface="Calibri" pitchFamily="34" charset="-120"/>
              </a:rPr>
              <a:t>WHAT THE LENDER NEEDS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15" name="Text 13"/>
          <p:cNvSpPr txBox="1"/>
          <p:nvPr/>
        </p:nvSpPr>
        <p:spPr>
          <a:xfrm>
            <a:off x="731520" y="5413248"/>
            <a:ext cx="3291840" cy="6858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5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Teach Jazz once, have it apply to every underwriter, with an SME in control of what it learns.</a:t>
            </a:r>
            <a:endParaRPr kumimoji="0" lang="en-US" sz="1350" b="0" i="0" u="none" strike="noStrike" kern="1200" cap="none" spc="0" normalizeH="0" baseline="0" noProof="0">
              <a:ln>
                <a:noFill/>
              </a:ln>
              <a:solidFill>
                <a:prstClr val="black"/>
              </a:solidFill>
              <a:effectLst/>
              <a:uLnTx/>
              <a:uFillTx/>
              <a:latin typeface="Calibri"/>
              <a:ea typeface="+mn-ea"/>
              <a:cs typeface="+mn-cs"/>
            </a:endParaRPr>
          </a:p>
        </p:txBody>
      </p:sp>
      <p:pic>
        <p:nvPicPr>
          <p:cNvPr id="16" name="Image 0" descr="preencoded.png"/>
          <p:cNvPicPr>
            <a:picLocks noChangeAspect="1"/>
          </p:cNvPicPr>
          <p:nvPr/>
        </p:nvPicPr>
        <p:blipFill>
          <a:blip r:embed="rId3"/>
          <a:stretch>
            <a:fillRect/>
          </a:stretch>
        </p:blipFill>
        <p:spPr>
          <a:xfrm>
            <a:off x="4572000" y="1563624"/>
            <a:ext cx="219456" cy="219456"/>
          </a:xfrm>
          <a:prstGeom prst="rect">
            <a:avLst/>
          </a:prstGeom>
        </p:spPr>
      </p:pic>
      <p:sp>
        <p:nvSpPr>
          <p:cNvPr id="17" name="Text 14"/>
          <p:cNvSpPr txBox="1"/>
          <p:nvPr/>
        </p:nvSpPr>
        <p:spPr>
          <a:xfrm>
            <a:off x="4864608" y="1591056"/>
            <a:ext cx="71597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0D9488"/>
                </a:solidFill>
                <a:effectLst/>
                <a:uLnTx/>
                <a:uFillTx/>
                <a:latin typeface="Calibri" pitchFamily="34" charset="0"/>
                <a:ea typeface="Calibri" pitchFamily="34" charset="-122"/>
                <a:cs typeface="Calibri" pitchFamily="34" charset="-120"/>
              </a:rPr>
              <a:t>WHAT THE VIDEO SHOWS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18" name="Flag"/>
          <p:cNvSpPr/>
          <p:nvPr/>
        </p:nvSpPr>
        <p:spPr>
          <a:xfrm>
            <a:off x="4572000" y="1938528"/>
            <a:ext cx="7159752" cy="786384"/>
          </a:xfrm>
          <a:prstGeom prst="roundRect">
            <a:avLst>
              <a:gd name="adj" fmla="val 930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Number"/>
          <p:cNvSpPr/>
          <p:nvPr/>
        </p:nvSpPr>
        <p:spPr>
          <a:xfrm>
            <a:off x="4754880" y="2139696"/>
            <a:ext cx="384048" cy="384048"/>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0" name="Text 17"/>
          <p:cNvSpPr txBox="1"/>
          <p:nvPr/>
        </p:nvSpPr>
        <p:spPr>
          <a:xfrm>
            <a:off x="4754880" y="2139696"/>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1</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 18"/>
          <p:cNvSpPr txBox="1"/>
          <p:nvPr/>
        </p:nvSpPr>
        <p:spPr>
          <a:xfrm>
            <a:off x="5285232" y="1938528"/>
            <a:ext cx="914400" cy="7863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Flag</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22" name="Text 19"/>
          <p:cNvSpPr txBox="1"/>
          <p:nvPr/>
        </p:nvSpPr>
        <p:spPr>
          <a:xfrm>
            <a:off x="6217920" y="1938528"/>
            <a:ext cx="3776472" cy="7863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The underwriter marks the answer as a bad response: Incomplete, severity Major, with what should have happened. Conversation, trace, loan and agent are captured with it.</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23" name="Where"/>
          <p:cNvSpPr/>
          <p:nvPr/>
        </p:nvSpPr>
        <p:spPr>
          <a:xfrm>
            <a:off x="10131552" y="2194560"/>
            <a:ext cx="1463040" cy="274320"/>
          </a:xfrm>
          <a:prstGeom prst="roundRect">
            <a:avLst>
              <a:gd name="adj" fmla="val 50000"/>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 name="Text 21"/>
          <p:cNvSpPr txBox="1"/>
          <p:nvPr/>
        </p:nvSpPr>
        <p:spPr>
          <a:xfrm>
            <a:off x="10131552" y="2194560"/>
            <a:ext cx="146304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Mortgage app</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25" name="Review"/>
          <p:cNvSpPr/>
          <p:nvPr/>
        </p:nvSpPr>
        <p:spPr>
          <a:xfrm>
            <a:off x="4572000" y="2834640"/>
            <a:ext cx="7159752" cy="786384"/>
          </a:xfrm>
          <a:prstGeom prst="roundRect">
            <a:avLst>
              <a:gd name="adj" fmla="val 930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 name="Number"/>
          <p:cNvSpPr/>
          <p:nvPr/>
        </p:nvSpPr>
        <p:spPr>
          <a:xfrm>
            <a:off x="4754880" y="3035808"/>
            <a:ext cx="384048" cy="384048"/>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 name="Text 24"/>
          <p:cNvSpPr txBox="1"/>
          <p:nvPr/>
        </p:nvSpPr>
        <p:spPr>
          <a:xfrm>
            <a:off x="4754880" y="3035808"/>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2</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8" name="Text 25"/>
          <p:cNvSpPr txBox="1"/>
          <p:nvPr/>
        </p:nvSpPr>
        <p:spPr>
          <a:xfrm>
            <a:off x="5285232" y="2834640"/>
            <a:ext cx="914400" cy="7863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Review</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29" name="Text 26"/>
          <p:cNvSpPr txBox="1"/>
          <p:nvPr/>
        </p:nvSpPr>
        <p:spPr>
          <a:xfrm>
            <a:off x="6217920" y="2834640"/>
            <a:ext cx="3776472" cy="7863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An SME opens the item, checks the captured context, turns on learning for the agent and ‘always use this feedback’, and approves it with a reason.</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0" name="Where"/>
          <p:cNvSpPr/>
          <p:nvPr/>
        </p:nvSpPr>
        <p:spPr>
          <a:xfrm>
            <a:off x="10131552" y="3090672"/>
            <a:ext cx="1463040" cy="274320"/>
          </a:xfrm>
          <a:prstGeom prst="roundRect">
            <a:avLst>
              <a:gd name="adj" fmla="val 50000"/>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 name="Text 28"/>
          <p:cNvSpPr txBox="1"/>
          <p:nvPr/>
        </p:nvSpPr>
        <p:spPr>
          <a:xfrm>
            <a:off x="10131552" y="3090672"/>
            <a:ext cx="146304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Studio  ·  Feedback Viewer</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32" name="Apply"/>
          <p:cNvSpPr/>
          <p:nvPr/>
        </p:nvSpPr>
        <p:spPr>
          <a:xfrm>
            <a:off x="4572000" y="3730752"/>
            <a:ext cx="7159752" cy="786384"/>
          </a:xfrm>
          <a:prstGeom prst="roundRect">
            <a:avLst>
              <a:gd name="adj" fmla="val 930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 name="Number"/>
          <p:cNvSpPr/>
          <p:nvPr/>
        </p:nvSpPr>
        <p:spPr>
          <a:xfrm>
            <a:off x="4754880" y="3931920"/>
            <a:ext cx="384048" cy="384048"/>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 name="Text 31"/>
          <p:cNvSpPr txBox="1"/>
          <p:nvPr/>
        </p:nvSpPr>
        <p:spPr>
          <a:xfrm>
            <a:off x="4754880" y="3931920"/>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3</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35" name="Text 32"/>
          <p:cNvSpPr txBox="1"/>
          <p:nvPr/>
        </p:nvSpPr>
        <p:spPr>
          <a:xfrm>
            <a:off x="5285232" y="3730752"/>
            <a:ext cx="914400" cy="7863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Apply</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36" name="Text 33"/>
          <p:cNvSpPr txBox="1"/>
          <p:nvPr/>
        </p:nvSpPr>
        <p:spPr>
          <a:xfrm>
            <a:off x="6217920" y="3730752"/>
            <a:ext cx="3776472" cy="7863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The approved lesson joins the chat standing instructions for every later request, for this lender.</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7" name="Where"/>
          <p:cNvSpPr/>
          <p:nvPr/>
        </p:nvSpPr>
        <p:spPr>
          <a:xfrm>
            <a:off x="10131552" y="3986784"/>
            <a:ext cx="1463040" cy="274320"/>
          </a:xfrm>
          <a:prstGeom prst="roundRect">
            <a:avLst>
              <a:gd name="adj" fmla="val 50000"/>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 35"/>
          <p:cNvSpPr txBox="1"/>
          <p:nvPr/>
        </p:nvSpPr>
        <p:spPr>
          <a:xfrm>
            <a:off x="10131552" y="3986784"/>
            <a:ext cx="146304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Platform</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39" name="Answer"/>
          <p:cNvSpPr/>
          <p:nvPr/>
        </p:nvSpPr>
        <p:spPr>
          <a:xfrm>
            <a:off x="4572000" y="4626864"/>
            <a:ext cx="7159752" cy="786384"/>
          </a:xfrm>
          <a:prstGeom prst="roundRect">
            <a:avLst>
              <a:gd name="adj" fmla="val 9302"/>
            </a:avLst>
          </a:prstGeom>
          <a:solidFill>
            <a:srgbClr val="E6F8F4"/>
          </a:solidFill>
          <a:ln w="9525">
            <a:solidFill>
              <a:srgbClr val="9FE3D6"/>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0" name="Number"/>
          <p:cNvSpPr/>
          <p:nvPr/>
        </p:nvSpPr>
        <p:spPr>
          <a:xfrm>
            <a:off x="4754880" y="4828032"/>
            <a:ext cx="384048" cy="384048"/>
          </a:xfrm>
          <a:prstGeom prst="ellipse">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 38"/>
          <p:cNvSpPr txBox="1"/>
          <p:nvPr/>
        </p:nvSpPr>
        <p:spPr>
          <a:xfrm>
            <a:off x="4754880" y="4828032"/>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4</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42" name="Text 39"/>
          <p:cNvSpPr txBox="1"/>
          <p:nvPr/>
        </p:nvSpPr>
        <p:spPr>
          <a:xfrm>
            <a:off x="5285232" y="4626864"/>
            <a:ext cx="914400" cy="7863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Answer</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43" name="Text 40"/>
          <p:cNvSpPr txBox="1"/>
          <p:nvPr/>
        </p:nvSpPr>
        <p:spPr>
          <a:xfrm>
            <a:off x="6217920" y="4626864"/>
            <a:ext cx="3776472" cy="7863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Asked again, Jazz compares the current wage of $3,661.59 a month with the W‑2 average of $3,444.78, finds it 6.3% higher, confirms it reconciles and cites its sources.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44" name="Where"/>
          <p:cNvSpPr/>
          <p:nvPr/>
        </p:nvSpPr>
        <p:spPr>
          <a:xfrm>
            <a:off x="10131552" y="4882896"/>
            <a:ext cx="1463040" cy="274320"/>
          </a:xfrm>
          <a:prstGeom prst="roundRect">
            <a:avLst>
              <a:gd name="adj" fmla="val 50000"/>
            </a:avLst>
          </a:prstGeom>
          <a:solidFill>
            <a:srgbClr val="FFFF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5" name="Text 42"/>
          <p:cNvSpPr txBox="1"/>
          <p:nvPr/>
        </p:nvSpPr>
        <p:spPr>
          <a:xfrm>
            <a:off x="10131552" y="4882896"/>
            <a:ext cx="146304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Mortgage app</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46" name="Outcome"/>
          <p:cNvSpPr/>
          <p:nvPr/>
        </p:nvSpPr>
        <p:spPr>
          <a:xfrm>
            <a:off x="4572000" y="5596128"/>
            <a:ext cx="2295144" cy="566928"/>
          </a:xfrm>
          <a:prstGeom prst="roundRect">
            <a:avLst>
              <a:gd name="adj" fmla="val 12903"/>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 44"/>
          <p:cNvSpPr txBox="1"/>
          <p:nvPr/>
        </p:nvSpPr>
        <p:spPr>
          <a:xfrm>
            <a:off x="4681728" y="5596128"/>
            <a:ext cx="2075688" cy="56692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Minutes, not a release</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48" name="Outcome"/>
          <p:cNvSpPr/>
          <p:nvPr/>
        </p:nvSpPr>
        <p:spPr>
          <a:xfrm>
            <a:off x="7004304" y="5596128"/>
            <a:ext cx="2295144" cy="566928"/>
          </a:xfrm>
          <a:prstGeom prst="roundRect">
            <a:avLst>
              <a:gd name="adj" fmla="val 12903"/>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 name="Text 46"/>
          <p:cNvSpPr txBox="1"/>
          <p:nvPr/>
        </p:nvSpPr>
        <p:spPr>
          <a:xfrm>
            <a:off x="7114032" y="5596128"/>
            <a:ext cx="2075688" cy="56692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Every underwriter gets the fix on the next question</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50" name="Outcome"/>
          <p:cNvSpPr/>
          <p:nvPr/>
        </p:nvSpPr>
        <p:spPr>
          <a:xfrm>
            <a:off x="9436608" y="5596128"/>
            <a:ext cx="2295144" cy="566928"/>
          </a:xfrm>
          <a:prstGeom prst="roundRect">
            <a:avLst>
              <a:gd name="adj" fmla="val 12903"/>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1" name="Text 48"/>
          <p:cNvSpPr txBox="1"/>
          <p:nvPr/>
        </p:nvSpPr>
        <p:spPr>
          <a:xfrm>
            <a:off x="9546336" y="5596128"/>
            <a:ext cx="2075688" cy="56692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Every answer traces to the lesson and its approver</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52"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IN CONTEXT LEARNING  ·  ARCHITECTURE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Feedback becomes vetted lessons, and evaluation checks their effect</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The learning pipeline within the Jazz platform: any learning recipe plugs into the same stages</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Feedback ingestion"/>
          <p:cNvSpPr/>
          <p:nvPr/>
        </p:nvSpPr>
        <p:spPr>
          <a:xfrm>
            <a:off x="457200" y="1481328"/>
            <a:ext cx="2578608" cy="3035808"/>
          </a:xfrm>
          <a:prstGeom prst="roundRect">
            <a:avLst>
              <a:gd name="adj" fmla="val 2837"/>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Number"/>
          <p:cNvSpPr/>
          <p:nvPr/>
        </p:nvSpPr>
        <p:spPr>
          <a:xfrm>
            <a:off x="640080" y="1664208"/>
            <a:ext cx="384048" cy="384048"/>
          </a:xfrm>
          <a:prstGeom prst="ellipse">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Text 7"/>
          <p:cNvSpPr txBox="1"/>
          <p:nvPr/>
        </p:nvSpPr>
        <p:spPr>
          <a:xfrm>
            <a:off x="640080" y="1664208"/>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1</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10" name="Stage pill"/>
          <p:cNvSpPr/>
          <p:nvPr/>
        </p:nvSpPr>
        <p:spPr>
          <a:xfrm>
            <a:off x="1115568" y="1664208"/>
            <a:ext cx="1737360" cy="384048"/>
          </a:xfrm>
          <a:prstGeom prst="roundRect">
            <a:avLst>
              <a:gd name="adj" fmla="val 19048"/>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 9"/>
          <p:cNvSpPr txBox="1"/>
          <p:nvPr/>
        </p:nvSpPr>
        <p:spPr>
          <a:xfrm>
            <a:off x="1115568" y="1664208"/>
            <a:ext cx="173736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Feedback ingestion</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12" name="Item icon"/>
          <p:cNvSpPr/>
          <p:nvPr/>
        </p:nvSpPr>
        <p:spPr>
          <a:xfrm>
            <a:off x="658368" y="2212848"/>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13" name="Image 0" descr="preencoded.png"/>
          <p:cNvPicPr>
            <a:picLocks noChangeAspect="1"/>
          </p:cNvPicPr>
          <p:nvPr/>
        </p:nvPicPr>
        <p:blipFill>
          <a:blip r:embed="rId3"/>
          <a:stretch>
            <a:fillRect/>
          </a:stretch>
        </p:blipFill>
        <p:spPr>
          <a:xfrm>
            <a:off x="731520" y="2286000"/>
            <a:ext cx="182880" cy="182880"/>
          </a:xfrm>
          <a:prstGeom prst="rect">
            <a:avLst/>
          </a:prstGeom>
        </p:spPr>
      </p:pic>
      <p:sp>
        <p:nvSpPr>
          <p:cNvPr id="14" name="Text 11"/>
          <p:cNvSpPr txBox="1"/>
          <p:nvPr/>
        </p:nvSpPr>
        <p:spPr>
          <a:xfrm>
            <a:off x="1078992" y="2212848"/>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User feedback</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15" name="Item icon"/>
          <p:cNvSpPr/>
          <p:nvPr/>
        </p:nvSpPr>
        <p:spPr>
          <a:xfrm>
            <a:off x="658368" y="2606040"/>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16" name="Image 1" descr="preencoded.png"/>
          <p:cNvPicPr>
            <a:picLocks noChangeAspect="1"/>
          </p:cNvPicPr>
          <p:nvPr/>
        </p:nvPicPr>
        <p:blipFill>
          <a:blip r:embed="rId4"/>
          <a:stretch>
            <a:fillRect/>
          </a:stretch>
        </p:blipFill>
        <p:spPr>
          <a:xfrm>
            <a:off x="731520" y="2679192"/>
            <a:ext cx="182880" cy="182880"/>
          </a:xfrm>
          <a:prstGeom prst="rect">
            <a:avLst/>
          </a:prstGeom>
        </p:spPr>
      </p:pic>
      <p:sp>
        <p:nvSpPr>
          <p:cNvPr id="17" name="Text 13"/>
          <p:cNvSpPr txBox="1"/>
          <p:nvPr/>
        </p:nvSpPr>
        <p:spPr>
          <a:xfrm>
            <a:off x="1078992" y="2606040"/>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Agent feedback</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18" name="Item icon"/>
          <p:cNvSpPr/>
          <p:nvPr/>
        </p:nvSpPr>
        <p:spPr>
          <a:xfrm>
            <a:off x="658368" y="2999232"/>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19" name="Image 2" descr="preencoded.png"/>
          <p:cNvPicPr>
            <a:picLocks noChangeAspect="1"/>
          </p:cNvPicPr>
          <p:nvPr/>
        </p:nvPicPr>
        <p:blipFill>
          <a:blip r:embed="rId5"/>
          <a:stretch>
            <a:fillRect/>
          </a:stretch>
        </p:blipFill>
        <p:spPr>
          <a:xfrm>
            <a:off x="731520" y="3072384"/>
            <a:ext cx="182880" cy="182880"/>
          </a:xfrm>
          <a:prstGeom prst="rect">
            <a:avLst/>
          </a:prstGeom>
        </p:spPr>
      </p:pic>
      <p:sp>
        <p:nvSpPr>
          <p:cNvPr id="20" name="Text 15"/>
          <p:cNvSpPr txBox="1"/>
          <p:nvPr/>
        </p:nvSpPr>
        <p:spPr>
          <a:xfrm>
            <a:off x="1078992" y="2999232"/>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Other feedback</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21" name="Item icon"/>
          <p:cNvSpPr/>
          <p:nvPr/>
        </p:nvSpPr>
        <p:spPr>
          <a:xfrm>
            <a:off x="658368" y="3392424"/>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22" name="Image 3" descr="preencoded.png"/>
          <p:cNvPicPr>
            <a:picLocks noChangeAspect="1"/>
          </p:cNvPicPr>
          <p:nvPr/>
        </p:nvPicPr>
        <p:blipFill>
          <a:blip r:embed="rId6"/>
          <a:stretch>
            <a:fillRect/>
          </a:stretch>
        </p:blipFill>
        <p:spPr>
          <a:xfrm>
            <a:off x="731520" y="3465576"/>
            <a:ext cx="182880" cy="182880"/>
          </a:xfrm>
          <a:prstGeom prst="rect">
            <a:avLst/>
          </a:prstGeom>
        </p:spPr>
      </p:pic>
      <p:sp>
        <p:nvSpPr>
          <p:cNvPr id="23" name="Text 17"/>
          <p:cNvSpPr txBox="1"/>
          <p:nvPr/>
        </p:nvSpPr>
        <p:spPr>
          <a:xfrm>
            <a:off x="1078992" y="3392424"/>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Data preparation</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24" name="Text 18"/>
          <p:cNvSpPr txBox="1"/>
          <p:nvPr/>
        </p:nvSpPr>
        <p:spPr>
          <a:xfrm>
            <a:off x="658368" y="3813048"/>
            <a:ext cx="2212848" cy="6583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Collect corrections, clarifications, preferences and new scenarios; prioritize by how often an issue appears and how much it matters.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25" name="Arrow"/>
          <p:cNvSpPr/>
          <p:nvPr/>
        </p:nvSpPr>
        <p:spPr>
          <a:xfrm>
            <a:off x="3063240" y="1856232"/>
            <a:ext cx="265176"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 name="Learning recipes"/>
          <p:cNvSpPr/>
          <p:nvPr/>
        </p:nvSpPr>
        <p:spPr>
          <a:xfrm>
            <a:off x="3355848" y="1481328"/>
            <a:ext cx="2578608" cy="3035808"/>
          </a:xfrm>
          <a:prstGeom prst="roundRect">
            <a:avLst>
              <a:gd name="adj" fmla="val 2837"/>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 name="Number"/>
          <p:cNvSpPr/>
          <p:nvPr/>
        </p:nvSpPr>
        <p:spPr>
          <a:xfrm>
            <a:off x="3538728" y="1664208"/>
            <a:ext cx="384048" cy="384048"/>
          </a:xfrm>
          <a:prstGeom prst="ellipse">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 name="Text 22"/>
          <p:cNvSpPr txBox="1"/>
          <p:nvPr/>
        </p:nvSpPr>
        <p:spPr>
          <a:xfrm>
            <a:off x="3538728" y="1664208"/>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2</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9" name="Stage pill"/>
          <p:cNvSpPr/>
          <p:nvPr/>
        </p:nvSpPr>
        <p:spPr>
          <a:xfrm>
            <a:off x="4014216" y="1664208"/>
            <a:ext cx="1737360" cy="384048"/>
          </a:xfrm>
          <a:prstGeom prst="roundRect">
            <a:avLst>
              <a:gd name="adj" fmla="val 19048"/>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 name="Text 24"/>
          <p:cNvSpPr txBox="1"/>
          <p:nvPr/>
        </p:nvSpPr>
        <p:spPr>
          <a:xfrm>
            <a:off x="4014216" y="1664208"/>
            <a:ext cx="173736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Learning recipes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31" name="Item icon"/>
          <p:cNvSpPr/>
          <p:nvPr/>
        </p:nvSpPr>
        <p:spPr>
          <a:xfrm>
            <a:off x="3557016" y="2212848"/>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32" name="Image 4" descr="preencoded.png"/>
          <p:cNvPicPr>
            <a:picLocks noChangeAspect="1"/>
          </p:cNvPicPr>
          <p:nvPr/>
        </p:nvPicPr>
        <p:blipFill>
          <a:blip r:embed="rId7"/>
          <a:stretch>
            <a:fillRect/>
          </a:stretch>
        </p:blipFill>
        <p:spPr>
          <a:xfrm>
            <a:off x="3630168" y="2286000"/>
            <a:ext cx="182880" cy="182880"/>
          </a:xfrm>
          <a:prstGeom prst="rect">
            <a:avLst/>
          </a:prstGeom>
        </p:spPr>
      </p:pic>
      <p:sp>
        <p:nvSpPr>
          <p:cNvPr id="33" name="Text 26"/>
          <p:cNvSpPr txBox="1"/>
          <p:nvPr/>
        </p:nvSpPr>
        <p:spPr>
          <a:xfrm>
            <a:off x="3977640" y="2212848"/>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Learning data set</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34" name="Item icon"/>
          <p:cNvSpPr/>
          <p:nvPr/>
        </p:nvSpPr>
        <p:spPr>
          <a:xfrm>
            <a:off x="3557016" y="2606040"/>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35" name="Image 5" descr="preencoded.png"/>
          <p:cNvPicPr>
            <a:picLocks noChangeAspect="1"/>
          </p:cNvPicPr>
          <p:nvPr/>
        </p:nvPicPr>
        <p:blipFill>
          <a:blip r:embed="rId8"/>
          <a:stretch>
            <a:fillRect/>
          </a:stretch>
        </p:blipFill>
        <p:spPr>
          <a:xfrm>
            <a:off x="3630168" y="2679192"/>
            <a:ext cx="182880" cy="182880"/>
          </a:xfrm>
          <a:prstGeom prst="rect">
            <a:avLst/>
          </a:prstGeom>
        </p:spPr>
      </p:pic>
      <p:sp>
        <p:nvSpPr>
          <p:cNvPr id="36" name="Text 28"/>
          <p:cNvSpPr txBox="1"/>
          <p:nvPr/>
        </p:nvSpPr>
        <p:spPr>
          <a:xfrm>
            <a:off x="3977640" y="2606040"/>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Learning recipe</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37" name="Item icon"/>
          <p:cNvSpPr/>
          <p:nvPr/>
        </p:nvSpPr>
        <p:spPr>
          <a:xfrm>
            <a:off x="3557016" y="2999232"/>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38" name="Image 6" descr="preencoded.png"/>
          <p:cNvPicPr>
            <a:picLocks noChangeAspect="1"/>
          </p:cNvPicPr>
          <p:nvPr/>
        </p:nvPicPr>
        <p:blipFill>
          <a:blip r:embed="rId9"/>
          <a:stretch>
            <a:fillRect/>
          </a:stretch>
        </p:blipFill>
        <p:spPr>
          <a:xfrm>
            <a:off x="3630168" y="3072384"/>
            <a:ext cx="182880" cy="182880"/>
          </a:xfrm>
          <a:prstGeom prst="rect">
            <a:avLst/>
          </a:prstGeom>
        </p:spPr>
      </p:pic>
      <p:sp>
        <p:nvSpPr>
          <p:cNvPr id="39" name="Text 30"/>
          <p:cNvSpPr txBox="1"/>
          <p:nvPr/>
        </p:nvSpPr>
        <p:spPr>
          <a:xfrm>
            <a:off x="3977640" y="2999232"/>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Learned facts and insights</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40" name="Text 31"/>
          <p:cNvSpPr txBox="1"/>
          <p:nvPr/>
        </p:nvSpPr>
        <p:spPr>
          <a:xfrm>
            <a:off x="3557016" y="3813048"/>
            <a:ext cx="2212848" cy="6583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Turn raw feedback into clear examples with reasoning; an SME approves them into a repository of vetted lessons.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41" name="Arrow"/>
          <p:cNvSpPr/>
          <p:nvPr/>
        </p:nvSpPr>
        <p:spPr>
          <a:xfrm>
            <a:off x="5961888" y="1856232"/>
            <a:ext cx="265176"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2" name="Inference"/>
          <p:cNvSpPr/>
          <p:nvPr/>
        </p:nvSpPr>
        <p:spPr>
          <a:xfrm>
            <a:off x="6254496" y="1481328"/>
            <a:ext cx="2578608" cy="3035808"/>
          </a:xfrm>
          <a:prstGeom prst="roundRect">
            <a:avLst>
              <a:gd name="adj" fmla="val 2837"/>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3" name="Number"/>
          <p:cNvSpPr/>
          <p:nvPr/>
        </p:nvSpPr>
        <p:spPr>
          <a:xfrm>
            <a:off x="6437376" y="1664208"/>
            <a:ext cx="384048" cy="384048"/>
          </a:xfrm>
          <a:prstGeom prst="ellipse">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 35"/>
          <p:cNvSpPr txBox="1"/>
          <p:nvPr/>
        </p:nvSpPr>
        <p:spPr>
          <a:xfrm>
            <a:off x="6437376" y="1664208"/>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3</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45" name="Stage pill"/>
          <p:cNvSpPr/>
          <p:nvPr/>
        </p:nvSpPr>
        <p:spPr>
          <a:xfrm>
            <a:off x="6912864" y="1664208"/>
            <a:ext cx="1737360" cy="384048"/>
          </a:xfrm>
          <a:prstGeom prst="roundRect">
            <a:avLst>
              <a:gd name="adj" fmla="val 19048"/>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6" name="Text 37"/>
          <p:cNvSpPr txBox="1"/>
          <p:nvPr/>
        </p:nvSpPr>
        <p:spPr>
          <a:xfrm>
            <a:off x="6912864" y="1664208"/>
            <a:ext cx="173736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Inference</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47" name="Item icon"/>
          <p:cNvSpPr/>
          <p:nvPr/>
        </p:nvSpPr>
        <p:spPr>
          <a:xfrm>
            <a:off x="6455664" y="2212848"/>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48" name="Image 7" descr="preencoded.png"/>
          <p:cNvPicPr>
            <a:picLocks noChangeAspect="1"/>
          </p:cNvPicPr>
          <p:nvPr/>
        </p:nvPicPr>
        <p:blipFill>
          <a:blip r:embed="rId10"/>
          <a:stretch>
            <a:fillRect/>
          </a:stretch>
        </p:blipFill>
        <p:spPr>
          <a:xfrm>
            <a:off x="6528816" y="2286000"/>
            <a:ext cx="182880" cy="182880"/>
          </a:xfrm>
          <a:prstGeom prst="rect">
            <a:avLst/>
          </a:prstGeom>
        </p:spPr>
      </p:pic>
      <p:sp>
        <p:nvSpPr>
          <p:cNvPr id="49" name="Text 39"/>
          <p:cNvSpPr txBox="1"/>
          <p:nvPr/>
        </p:nvSpPr>
        <p:spPr>
          <a:xfrm>
            <a:off x="6876288" y="2212848"/>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User or agent request</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50" name="Item icon"/>
          <p:cNvSpPr/>
          <p:nvPr/>
        </p:nvSpPr>
        <p:spPr>
          <a:xfrm>
            <a:off x="6455664" y="2606040"/>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51" name="Image 8" descr="preencoded.png"/>
          <p:cNvPicPr>
            <a:picLocks noChangeAspect="1"/>
          </p:cNvPicPr>
          <p:nvPr/>
        </p:nvPicPr>
        <p:blipFill>
          <a:blip r:embed="rId11"/>
          <a:stretch>
            <a:fillRect/>
          </a:stretch>
        </p:blipFill>
        <p:spPr>
          <a:xfrm>
            <a:off x="6528816" y="2679192"/>
            <a:ext cx="182880" cy="182880"/>
          </a:xfrm>
          <a:prstGeom prst="rect">
            <a:avLst/>
          </a:prstGeom>
        </p:spPr>
      </p:pic>
      <p:sp>
        <p:nvSpPr>
          <p:cNvPr id="52" name="Text 41"/>
          <p:cNvSpPr txBox="1"/>
          <p:nvPr/>
        </p:nvSpPr>
        <p:spPr>
          <a:xfrm>
            <a:off x="6876288" y="2606040"/>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Prompts, agents, reasoners, RAG, processes</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53" name="Item icon"/>
          <p:cNvSpPr/>
          <p:nvPr/>
        </p:nvSpPr>
        <p:spPr>
          <a:xfrm>
            <a:off x="6455664" y="2999232"/>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54" name="Image 9" descr="preencoded.png"/>
          <p:cNvPicPr>
            <a:picLocks noChangeAspect="1"/>
          </p:cNvPicPr>
          <p:nvPr/>
        </p:nvPicPr>
        <p:blipFill>
          <a:blip r:embed="rId12"/>
          <a:stretch>
            <a:fillRect/>
          </a:stretch>
        </p:blipFill>
        <p:spPr>
          <a:xfrm>
            <a:off x="6528816" y="3072384"/>
            <a:ext cx="182880" cy="182880"/>
          </a:xfrm>
          <a:prstGeom prst="rect">
            <a:avLst/>
          </a:prstGeom>
        </p:spPr>
      </p:pic>
      <p:sp>
        <p:nvSpPr>
          <p:cNvPr id="55" name="Text 43"/>
          <p:cNvSpPr txBox="1"/>
          <p:nvPr/>
        </p:nvSpPr>
        <p:spPr>
          <a:xfrm>
            <a:off x="6876288" y="2999232"/>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Task completion or process automation</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56" name="Text 44"/>
          <p:cNvSpPr txBox="1"/>
          <p:nvPr/>
        </p:nvSpPr>
        <p:spPr>
          <a:xfrm>
            <a:off x="6455664" y="3813048"/>
            <a:ext cx="2212848" cy="6583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For each request the platform applies the relevant lessons to the prompt, agent, reasoner or process that serves it.</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57" name="Arrow"/>
          <p:cNvSpPr/>
          <p:nvPr/>
        </p:nvSpPr>
        <p:spPr>
          <a:xfrm>
            <a:off x="8860536" y="1856232"/>
            <a:ext cx="265176"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Evaluation"/>
          <p:cNvSpPr/>
          <p:nvPr/>
        </p:nvSpPr>
        <p:spPr>
          <a:xfrm>
            <a:off x="9153144" y="1481328"/>
            <a:ext cx="2578608" cy="3035808"/>
          </a:xfrm>
          <a:prstGeom prst="roundRect">
            <a:avLst>
              <a:gd name="adj" fmla="val 2837"/>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9" name="Number"/>
          <p:cNvSpPr/>
          <p:nvPr/>
        </p:nvSpPr>
        <p:spPr>
          <a:xfrm>
            <a:off x="9336024" y="1664208"/>
            <a:ext cx="384048" cy="384048"/>
          </a:xfrm>
          <a:prstGeom prst="ellipse">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0" name="Text 48"/>
          <p:cNvSpPr txBox="1"/>
          <p:nvPr/>
        </p:nvSpPr>
        <p:spPr>
          <a:xfrm>
            <a:off x="9336024" y="1664208"/>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4</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61" name="Stage pill"/>
          <p:cNvSpPr/>
          <p:nvPr/>
        </p:nvSpPr>
        <p:spPr>
          <a:xfrm>
            <a:off x="9811512" y="1664208"/>
            <a:ext cx="1737360" cy="384048"/>
          </a:xfrm>
          <a:prstGeom prst="roundRect">
            <a:avLst>
              <a:gd name="adj" fmla="val 19048"/>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2" name="Text 50"/>
          <p:cNvSpPr txBox="1"/>
          <p:nvPr/>
        </p:nvSpPr>
        <p:spPr>
          <a:xfrm>
            <a:off x="9811512" y="1664208"/>
            <a:ext cx="173736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Evaluation</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63" name="Item icon"/>
          <p:cNvSpPr/>
          <p:nvPr/>
        </p:nvSpPr>
        <p:spPr>
          <a:xfrm>
            <a:off x="9354312" y="2212848"/>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64" name="Image 10" descr="preencoded.png"/>
          <p:cNvPicPr>
            <a:picLocks noChangeAspect="1"/>
          </p:cNvPicPr>
          <p:nvPr/>
        </p:nvPicPr>
        <p:blipFill>
          <a:blip r:embed="rId13"/>
          <a:stretch>
            <a:fillRect/>
          </a:stretch>
        </p:blipFill>
        <p:spPr>
          <a:xfrm>
            <a:off x="9427464" y="2286000"/>
            <a:ext cx="182880" cy="182880"/>
          </a:xfrm>
          <a:prstGeom prst="rect">
            <a:avLst/>
          </a:prstGeom>
        </p:spPr>
      </p:pic>
      <p:sp>
        <p:nvSpPr>
          <p:cNvPr id="65" name="Text 52"/>
          <p:cNvSpPr txBox="1"/>
          <p:nvPr/>
        </p:nvSpPr>
        <p:spPr>
          <a:xfrm>
            <a:off x="9774936" y="2212848"/>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Metrics</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66" name="Item icon"/>
          <p:cNvSpPr/>
          <p:nvPr/>
        </p:nvSpPr>
        <p:spPr>
          <a:xfrm>
            <a:off x="9354312" y="2606040"/>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67" name="Image 11" descr="preencoded.png"/>
          <p:cNvPicPr>
            <a:picLocks noChangeAspect="1"/>
          </p:cNvPicPr>
          <p:nvPr/>
        </p:nvPicPr>
        <p:blipFill>
          <a:blip r:embed="rId14"/>
          <a:stretch>
            <a:fillRect/>
          </a:stretch>
        </p:blipFill>
        <p:spPr>
          <a:xfrm>
            <a:off x="9427464" y="2679192"/>
            <a:ext cx="182880" cy="182880"/>
          </a:xfrm>
          <a:prstGeom prst="rect">
            <a:avLst/>
          </a:prstGeom>
        </p:spPr>
      </p:pic>
      <p:sp>
        <p:nvSpPr>
          <p:cNvPr id="68" name="Text 54"/>
          <p:cNvSpPr txBox="1"/>
          <p:nvPr/>
        </p:nvSpPr>
        <p:spPr>
          <a:xfrm>
            <a:off x="9774936" y="2606040"/>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Benchmarking</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69" name="Item icon"/>
          <p:cNvSpPr/>
          <p:nvPr/>
        </p:nvSpPr>
        <p:spPr>
          <a:xfrm>
            <a:off x="9354312" y="2999232"/>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70" name="Image 12" descr="preencoded.png"/>
          <p:cNvPicPr>
            <a:picLocks noChangeAspect="1"/>
          </p:cNvPicPr>
          <p:nvPr/>
        </p:nvPicPr>
        <p:blipFill>
          <a:blip r:embed="rId15"/>
          <a:stretch>
            <a:fillRect/>
          </a:stretch>
        </p:blipFill>
        <p:spPr>
          <a:xfrm>
            <a:off x="9427464" y="3072384"/>
            <a:ext cx="182880" cy="182880"/>
          </a:xfrm>
          <a:prstGeom prst="rect">
            <a:avLst/>
          </a:prstGeom>
        </p:spPr>
      </p:pic>
      <p:sp>
        <p:nvSpPr>
          <p:cNvPr id="71" name="Text 56"/>
          <p:cNvSpPr txBox="1"/>
          <p:nvPr/>
        </p:nvSpPr>
        <p:spPr>
          <a:xfrm>
            <a:off x="9774936" y="2999232"/>
            <a:ext cx="180136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Observability</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72" name="Text 57"/>
          <p:cNvSpPr txBox="1"/>
          <p:nvPr/>
        </p:nvSpPr>
        <p:spPr>
          <a:xfrm>
            <a:off x="9354312" y="3813048"/>
            <a:ext cx="2212848" cy="6583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Check outputs against known answers and SME judgment, track error patterns, keep every example and rationale for audit.</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73" name="Loop"/>
          <p:cNvSpPr/>
          <p:nvPr/>
        </p:nvSpPr>
        <p:spPr>
          <a:xfrm>
            <a:off x="10442448" y="4517136"/>
            <a:ext cx="0" cy="182880"/>
          </a:xfrm>
          <a:prstGeom prst="line">
            <a:avLst/>
          </a:prstGeom>
          <a:noFill/>
          <a:ln w="1905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4" name="Loop"/>
          <p:cNvSpPr/>
          <p:nvPr/>
        </p:nvSpPr>
        <p:spPr>
          <a:xfrm>
            <a:off x="1746504" y="4700016"/>
            <a:ext cx="8695944" cy="0"/>
          </a:xfrm>
          <a:prstGeom prst="line">
            <a:avLst/>
          </a:prstGeom>
          <a:noFill/>
          <a:ln w="1905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5" name="Loop"/>
          <p:cNvSpPr/>
          <p:nvPr/>
        </p:nvSpPr>
        <p:spPr>
          <a:xfrm>
            <a:off x="1746504" y="4517136"/>
            <a:ext cx="0" cy="182880"/>
          </a:xfrm>
          <a:prstGeom prst="line">
            <a:avLst/>
          </a:prstGeom>
          <a:noFill/>
          <a:ln w="19050">
            <a:solidFill>
              <a:srgbClr val="5069EC"/>
            </a:solidFill>
            <a:prstDash val="solid"/>
            <a:head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6" name="Text 61"/>
          <p:cNvSpPr txBox="1"/>
          <p:nvPr/>
        </p:nvSpPr>
        <p:spPr>
          <a:xfrm>
            <a:off x="3200400" y="4718304"/>
            <a:ext cx="5760720"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5069EC"/>
                </a:solidFill>
                <a:effectLst/>
                <a:uLnTx/>
                <a:uFillTx/>
                <a:latin typeface="Calibri" pitchFamily="34" charset="0"/>
                <a:ea typeface="Calibri" pitchFamily="34" charset="-122"/>
                <a:cs typeface="Calibri" pitchFamily="34" charset="-120"/>
              </a:rPr>
              <a:t>Results and new feedback flow back into the next cycle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77" name="TOOLING  ·  KNOWLEDGE STUDIO"/>
          <p:cNvSpPr/>
          <p:nvPr/>
        </p:nvSpPr>
        <p:spPr>
          <a:xfrm>
            <a:off x="457200" y="5084064"/>
            <a:ext cx="11274552" cy="548640"/>
          </a:xfrm>
          <a:prstGeom prst="roundRect">
            <a:avLst>
              <a:gd name="adj" fmla="val 13333"/>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8" name="Text 63"/>
          <p:cNvSpPr txBox="1"/>
          <p:nvPr/>
        </p:nvSpPr>
        <p:spPr>
          <a:xfrm>
            <a:off x="640080" y="5084064"/>
            <a:ext cx="265176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0D9488"/>
                </a:solidFill>
                <a:effectLst/>
                <a:uLnTx/>
                <a:uFillTx/>
                <a:latin typeface="Calibri" pitchFamily="34" charset="0"/>
                <a:ea typeface="Calibri" pitchFamily="34" charset="-122"/>
                <a:cs typeface="Calibri" pitchFamily="34" charset="-120"/>
              </a:rPr>
              <a:t>TOOLING  ·  KNOWLEDGE STUDIO</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79" name="Feedback curation"/>
          <p:cNvSpPr/>
          <p:nvPr/>
        </p:nvSpPr>
        <p:spPr>
          <a:xfrm>
            <a:off x="3291840" y="5148072"/>
            <a:ext cx="2724912" cy="420624"/>
          </a:xfrm>
          <a:prstGeom prst="roundRect">
            <a:avLst>
              <a:gd name="adj" fmla="val 13043"/>
            </a:avLst>
          </a:prstGeom>
          <a:solidFill>
            <a:srgbClr val="FFFFFF"/>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0" name="Text 65"/>
          <p:cNvSpPr txBox="1"/>
          <p:nvPr/>
        </p:nvSpPr>
        <p:spPr>
          <a:xfrm>
            <a:off x="3364992" y="5148072"/>
            <a:ext cx="2578608"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Feedback curation</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review, group and select what to act on</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81" name="Learning curation"/>
          <p:cNvSpPr/>
          <p:nvPr/>
        </p:nvSpPr>
        <p:spPr>
          <a:xfrm>
            <a:off x="6108192" y="5148072"/>
            <a:ext cx="2724912" cy="420624"/>
          </a:xfrm>
          <a:prstGeom prst="roundRect">
            <a:avLst>
              <a:gd name="adj" fmla="val 13043"/>
            </a:avLst>
          </a:prstGeom>
          <a:solidFill>
            <a:srgbClr val="FFFFFF"/>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2" name="Text 67"/>
          <p:cNvSpPr txBox="1"/>
          <p:nvPr/>
        </p:nvSpPr>
        <p:spPr>
          <a:xfrm>
            <a:off x="6181344" y="5148072"/>
            <a:ext cx="2578608"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Learning curation</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refine, scope and approve lessons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83" name="Learning governance"/>
          <p:cNvSpPr/>
          <p:nvPr/>
        </p:nvSpPr>
        <p:spPr>
          <a:xfrm>
            <a:off x="8924544" y="5148072"/>
            <a:ext cx="2724912" cy="420624"/>
          </a:xfrm>
          <a:prstGeom prst="roundRect">
            <a:avLst>
              <a:gd name="adj" fmla="val 13043"/>
            </a:avLst>
          </a:prstGeom>
          <a:solidFill>
            <a:srgbClr val="FFFFFF"/>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4" name="Text 69"/>
          <p:cNvSpPr txBox="1"/>
          <p:nvPr/>
        </p:nvSpPr>
        <p:spPr>
          <a:xfrm>
            <a:off x="8997696" y="5148072"/>
            <a:ext cx="2578608"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Learning governance</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versions, approvals, audit and rollback</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85" name="PLATFORM SERVICES"/>
          <p:cNvSpPr/>
          <p:nvPr/>
        </p:nvSpPr>
        <p:spPr>
          <a:xfrm>
            <a:off x="457200" y="5705856"/>
            <a:ext cx="11274552" cy="548640"/>
          </a:xfrm>
          <a:prstGeom prst="roundRect">
            <a:avLst>
              <a:gd name="adj" fmla="val 13333"/>
            </a:avLst>
          </a:prstGeom>
          <a:solidFill>
            <a:srgbClr val="1B0065"/>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6" name="Text 71"/>
          <p:cNvSpPr txBox="1"/>
          <p:nvPr/>
        </p:nvSpPr>
        <p:spPr>
          <a:xfrm>
            <a:off x="640080" y="5705856"/>
            <a:ext cx="2651760" cy="5486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03CBA9"/>
                </a:solidFill>
                <a:effectLst/>
                <a:uLnTx/>
                <a:uFillTx/>
                <a:latin typeface="Calibri" pitchFamily="34" charset="0"/>
                <a:ea typeface="Calibri" pitchFamily="34" charset="-122"/>
                <a:cs typeface="Calibri" pitchFamily="34" charset="-120"/>
              </a:rPr>
              <a:t>PLATFORM SERVICES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87" name="Learning Service"/>
          <p:cNvSpPr/>
          <p:nvPr/>
        </p:nvSpPr>
        <p:spPr>
          <a:xfrm>
            <a:off x="3291840" y="5769864"/>
            <a:ext cx="2724912" cy="420624"/>
          </a:xfrm>
          <a:prstGeom prst="roundRect">
            <a:avLst>
              <a:gd name="adj" fmla="val 13043"/>
            </a:avLst>
          </a:prstGeom>
          <a:solidFill>
            <a:srgbClr val="2A1680"/>
          </a:solidFill>
          <a:ln w="9525">
            <a:solidFill>
              <a:srgbClr val="3B2A9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8" name="Text 73"/>
          <p:cNvSpPr txBox="1"/>
          <p:nvPr/>
        </p:nvSpPr>
        <p:spPr>
          <a:xfrm>
            <a:off x="3364992" y="5769864"/>
            <a:ext cx="2578608"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Learning Service</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C9D3FA"/>
                </a:solidFill>
                <a:effectLst/>
                <a:uLnTx/>
                <a:uFillTx/>
                <a:latin typeface="Calibri" pitchFamily="34" charset="0"/>
                <a:ea typeface="Calibri" pitchFamily="34" charset="-122"/>
                <a:cs typeface="Calibri" pitchFamily="34" charset="-120"/>
              </a:rPr>
              <a:t>in context learning, harness learning, RL loop</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89" name="Feedback and Learning framework"/>
          <p:cNvSpPr/>
          <p:nvPr/>
        </p:nvSpPr>
        <p:spPr>
          <a:xfrm>
            <a:off x="6108192" y="5769864"/>
            <a:ext cx="2724912" cy="420624"/>
          </a:xfrm>
          <a:prstGeom prst="roundRect">
            <a:avLst>
              <a:gd name="adj" fmla="val 13043"/>
            </a:avLst>
          </a:prstGeom>
          <a:solidFill>
            <a:srgbClr val="2A1680"/>
          </a:solidFill>
          <a:ln w="9525">
            <a:solidFill>
              <a:srgbClr val="3B2A9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0" name="Text 75"/>
          <p:cNvSpPr txBox="1"/>
          <p:nvPr/>
        </p:nvSpPr>
        <p:spPr>
          <a:xfrm>
            <a:off x="6181344" y="5769864"/>
            <a:ext cx="2578608"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Feedback and Learning framework</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C9D3FA"/>
                </a:solidFill>
                <a:effectLst/>
                <a:uLnTx/>
                <a:uFillTx/>
                <a:latin typeface="Calibri" pitchFamily="34" charset="0"/>
                <a:ea typeface="Calibri" pitchFamily="34" charset="-122"/>
                <a:cs typeface="Calibri" pitchFamily="34" charset="-120"/>
              </a:rPr>
              <a:t>capture, storage and retrieval</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91" name="Evaluation framework"/>
          <p:cNvSpPr/>
          <p:nvPr/>
        </p:nvSpPr>
        <p:spPr>
          <a:xfrm>
            <a:off x="8924544" y="5769864"/>
            <a:ext cx="2724912" cy="420624"/>
          </a:xfrm>
          <a:prstGeom prst="roundRect">
            <a:avLst>
              <a:gd name="adj" fmla="val 13043"/>
            </a:avLst>
          </a:prstGeom>
          <a:solidFill>
            <a:srgbClr val="2A1680"/>
          </a:solidFill>
          <a:ln w="9525">
            <a:solidFill>
              <a:srgbClr val="3B2A9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2" name="Text 77"/>
          <p:cNvSpPr txBox="1"/>
          <p:nvPr/>
        </p:nvSpPr>
        <p:spPr>
          <a:xfrm>
            <a:off x="8997696" y="5769864"/>
            <a:ext cx="2578608" cy="42062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Evaluation framework</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C9D3FA"/>
                </a:solidFill>
                <a:effectLst/>
                <a:uLnTx/>
                <a:uFillTx/>
                <a:latin typeface="Calibri" pitchFamily="34" charset="0"/>
                <a:ea typeface="Calibri" pitchFamily="34" charset="-122"/>
                <a:cs typeface="Calibri" pitchFamily="34" charset="-120"/>
              </a:rPr>
              <a:t>test sets, evaluators, promotion gates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93"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IN CONTEXT LEARNING  ·  HIGH LEVEL DESIGN</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Feedback is structured once, then retrieved whenever a similar request arrives</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High level design of the learning pipeline: the request that produced the feedback, and every request after it</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 5"/>
          <p:cNvSpPr txBox="1"/>
          <p:nvPr/>
        </p:nvSpPr>
        <p:spPr>
          <a:xfrm>
            <a:off x="457200" y="1463040"/>
            <a:ext cx="49377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Initial request</a:t>
            </a:r>
            <a:endParaRPr kumimoji="0" lang="en-US" sz="15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 6"/>
          <p:cNvSpPr txBox="1"/>
          <p:nvPr/>
        </p:nvSpPr>
        <p:spPr>
          <a:xfrm>
            <a:off x="7059168" y="1463040"/>
            <a:ext cx="49377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Future requests</a:t>
            </a:r>
            <a:endParaRPr kumimoji="0" lang="en-US" sz="1500" b="0" i="0" u="none" strike="noStrike" kern="1200" cap="none" spc="0" normalizeH="0" baseline="0" noProof="0">
              <a:ln>
                <a:noFill/>
              </a:ln>
              <a:solidFill>
                <a:prstClr val="black"/>
              </a:solidFill>
              <a:effectLst/>
              <a:uLnTx/>
              <a:uFillTx/>
              <a:latin typeface="Calibri"/>
              <a:ea typeface="+mn-ea"/>
              <a:cs typeface="+mn-cs"/>
            </a:endParaRPr>
          </a:p>
        </p:txBody>
      </p:sp>
      <p:sp>
        <p:nvSpPr>
          <p:cNvPr id="9" name="Divider"/>
          <p:cNvSpPr/>
          <p:nvPr/>
        </p:nvSpPr>
        <p:spPr>
          <a:xfrm>
            <a:off x="6455664" y="1463040"/>
            <a:ext cx="0" cy="1481328"/>
          </a:xfrm>
          <a:prstGeom prst="line">
            <a:avLst/>
          </a:prstGeom>
          <a:noFill/>
          <a:ln w="12700">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Assistant"/>
          <p:cNvSpPr/>
          <p:nvPr/>
        </p:nvSpPr>
        <p:spPr>
          <a:xfrm>
            <a:off x="457200" y="1847088"/>
            <a:ext cx="5394960" cy="1051560"/>
          </a:xfrm>
          <a:prstGeom prst="roundRect">
            <a:avLst>
              <a:gd name="adj" fmla="val 4348"/>
            </a:avLst>
          </a:prstGeom>
          <a:solidFill>
            <a:srgbClr val="FFFFFF"/>
          </a:solidFill>
          <a:ln w="1270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 9"/>
          <p:cNvSpPr txBox="1"/>
          <p:nvPr/>
        </p:nvSpPr>
        <p:spPr>
          <a:xfrm>
            <a:off x="548640" y="1901952"/>
            <a:ext cx="12801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069EC"/>
                </a:solidFill>
                <a:effectLst/>
                <a:uLnTx/>
                <a:uFillTx/>
                <a:latin typeface="Calibri" pitchFamily="34" charset="0"/>
                <a:ea typeface="Calibri" pitchFamily="34" charset="-122"/>
                <a:cs typeface="Calibri" pitchFamily="34" charset="-120"/>
              </a:rPr>
              <a:t>Jazz chat </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12" name="Box"/>
          <p:cNvSpPr/>
          <p:nvPr/>
        </p:nvSpPr>
        <p:spPr>
          <a:xfrm>
            <a:off x="640080" y="2167128"/>
            <a:ext cx="1143000" cy="640080"/>
          </a:xfrm>
          <a:prstGeom prst="roundRect">
            <a:avLst>
              <a:gd name="adj" fmla="val 7143"/>
            </a:avLst>
          </a:prstGeom>
          <a:solidFill>
            <a:srgbClr val="FFFFFF"/>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 11"/>
          <p:cNvSpPr txBox="1"/>
          <p:nvPr/>
        </p:nvSpPr>
        <p:spPr>
          <a:xfrm>
            <a:off x="713232" y="2167128"/>
            <a:ext cx="996696" cy="6400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 agent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14" name="Box"/>
          <p:cNvSpPr/>
          <p:nvPr/>
        </p:nvSpPr>
        <p:spPr>
          <a:xfrm>
            <a:off x="1965960" y="2167128"/>
            <a:ext cx="1600200" cy="640080"/>
          </a:xfrm>
          <a:prstGeom prst="roundRect">
            <a:avLst>
              <a:gd name="adj" fmla="val 7143"/>
            </a:avLst>
          </a:prstGeom>
          <a:solidFill>
            <a:srgbClr val="FFFFFF"/>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Text 13"/>
          <p:cNvSpPr txBox="1"/>
          <p:nvPr/>
        </p:nvSpPr>
        <p:spPr>
          <a:xfrm>
            <a:off x="2039112" y="2167128"/>
            <a:ext cx="1453896" cy="6400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View agent response</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and execution steps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16" name="Box"/>
          <p:cNvSpPr/>
          <p:nvPr/>
        </p:nvSpPr>
        <p:spPr>
          <a:xfrm>
            <a:off x="3749040" y="2121408"/>
            <a:ext cx="1920240" cy="731520"/>
          </a:xfrm>
          <a:prstGeom prst="roundRect">
            <a:avLst>
              <a:gd name="adj" fmla="val 6250"/>
            </a:avLst>
          </a:prstGeom>
          <a:solidFill>
            <a:srgbClr val="E6F8F4"/>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Text 15"/>
          <p:cNvSpPr txBox="1"/>
          <p:nvPr/>
        </p:nvSpPr>
        <p:spPr>
          <a:xfrm>
            <a:off x="3822192" y="2121408"/>
            <a:ext cx="1773936" cy="7315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User gives feedback</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on the whole run or one step</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18" name="Arrow"/>
          <p:cNvSpPr/>
          <p:nvPr/>
        </p:nvSpPr>
        <p:spPr>
          <a:xfrm>
            <a:off x="1783080" y="2487168"/>
            <a:ext cx="182880" cy="0"/>
          </a:xfrm>
          <a:prstGeom prst="line">
            <a:avLst/>
          </a:prstGeom>
          <a:noFill/>
          <a:ln w="19050">
            <a:solidFill>
              <a:srgbClr val="1B00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Arrow"/>
          <p:cNvSpPr/>
          <p:nvPr/>
        </p:nvSpPr>
        <p:spPr>
          <a:xfrm>
            <a:off x="3566160" y="2487168"/>
            <a:ext cx="182880" cy="0"/>
          </a:xfrm>
          <a:prstGeom prst="line">
            <a:avLst/>
          </a:prstGeom>
          <a:noFill/>
          <a:ln w="19050">
            <a:solidFill>
              <a:srgbClr val="1B00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0" name="Kernel"/>
          <p:cNvSpPr/>
          <p:nvPr/>
        </p:nvSpPr>
        <p:spPr>
          <a:xfrm>
            <a:off x="457200" y="3054096"/>
            <a:ext cx="5394960" cy="1920240"/>
          </a:xfrm>
          <a:prstGeom prst="roundRect">
            <a:avLst>
              <a:gd name="adj" fmla="val 2381"/>
            </a:avLst>
          </a:prstGeom>
          <a:solidFill>
            <a:srgbClr val="FFFFFF"/>
          </a:solidFill>
          <a:ln w="1270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 19"/>
          <p:cNvSpPr txBox="1"/>
          <p:nvPr/>
        </p:nvSpPr>
        <p:spPr>
          <a:xfrm>
            <a:off x="548640" y="3108960"/>
            <a:ext cx="12801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069EC"/>
                </a:solidFill>
                <a:effectLst/>
                <a:uLnTx/>
                <a:uFillTx/>
                <a:latin typeface="Calibri" pitchFamily="34" charset="0"/>
                <a:ea typeface="Calibri" pitchFamily="34" charset="-122"/>
                <a:cs typeface="Calibri" pitchFamily="34" charset="-120"/>
              </a:rPr>
              <a:t>Kernel</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22" name="Box"/>
          <p:cNvSpPr/>
          <p:nvPr/>
        </p:nvSpPr>
        <p:spPr>
          <a:xfrm>
            <a:off x="640080" y="3465576"/>
            <a:ext cx="1920240" cy="685800"/>
          </a:xfrm>
          <a:prstGeom prst="roundRect">
            <a:avLst>
              <a:gd name="adj" fmla="val 6667"/>
            </a:avLst>
          </a:prstGeom>
          <a:solidFill>
            <a:srgbClr val="FFFFFF"/>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3" name="Text 21"/>
          <p:cNvSpPr txBox="1"/>
          <p:nvPr/>
        </p:nvSpPr>
        <p:spPr>
          <a:xfrm>
            <a:off x="713232" y="3465576"/>
            <a:ext cx="1773936" cy="6858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Agent execution</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24" name="Feedback processing"/>
          <p:cNvSpPr/>
          <p:nvPr/>
        </p:nvSpPr>
        <p:spPr>
          <a:xfrm>
            <a:off x="2788920" y="3346704"/>
            <a:ext cx="2880360" cy="1499616"/>
          </a:xfrm>
          <a:prstGeom prst="roundRect">
            <a:avLst>
              <a:gd name="adj" fmla="val 3049"/>
            </a:avLst>
          </a:prstGeom>
          <a:solidFill>
            <a:srgbClr val="F3F6FF"/>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 name="Text 23"/>
          <p:cNvSpPr txBox="1"/>
          <p:nvPr/>
        </p:nvSpPr>
        <p:spPr>
          <a:xfrm>
            <a:off x="2880360" y="3401568"/>
            <a:ext cx="2724912" cy="14173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Feedback processing</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127000" marR="0" lvl="0" indent="-127000" algn="l" defTabSz="914400" rtl="0" eaLnBrk="1" fontAlgn="auto" latinLnBrk="0" hangingPunct="1">
              <a:lnSpc>
                <a:spcPct val="100000"/>
              </a:lnSpc>
              <a:spcBef>
                <a:spcPts val="0"/>
              </a:spcBef>
              <a:spcAft>
                <a:spcPts val="200"/>
              </a:spcAft>
              <a:buClrTx/>
              <a:buSzPct val="100000"/>
              <a:buFontTx/>
              <a:buChar char="•"/>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Structure expected behavior or outcome with Juno assistance </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127000" marR="0" lvl="0" indent="-127000" algn="l" defTabSz="914400" rtl="0" eaLnBrk="1" fontAlgn="auto" latinLnBrk="0" hangingPunct="1">
              <a:lnSpc>
                <a:spcPct val="100000"/>
              </a:lnSpc>
              <a:spcBef>
                <a:spcPts val="0"/>
              </a:spcBef>
              <a:spcAft>
                <a:spcPts val="200"/>
              </a:spcAft>
              <a:buClrTx/>
              <a:buSzPct val="100000"/>
              <a:buFontTx/>
              <a:buChar char="•"/>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SME approves, edits or rejects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127000" marR="0" lvl="0" indent="-127000" algn="l" defTabSz="914400" rtl="0" eaLnBrk="1" fontAlgn="auto" latinLnBrk="0" hangingPunct="1">
              <a:lnSpc>
                <a:spcPct val="100000"/>
              </a:lnSpc>
              <a:spcBef>
                <a:spcPts val="0"/>
              </a:spcBef>
              <a:spcAft>
                <a:spcPts val="200"/>
              </a:spcAft>
              <a:buClrTx/>
              <a:buSzPct val="100000"/>
              <a:buFontTx/>
              <a:buChar char="•"/>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Moderation and PII checks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127000" marR="0" lvl="0" indent="-127000" algn="l" defTabSz="914400" rtl="0" eaLnBrk="1" fontAlgn="auto" latinLnBrk="0" hangingPunct="1">
              <a:lnSpc>
                <a:spcPct val="100000"/>
              </a:lnSpc>
              <a:spcBef>
                <a:spcPts val="0"/>
              </a:spcBef>
              <a:spcAft>
                <a:spcPts val="200"/>
              </a:spcAft>
              <a:buClrTx/>
              <a:buSzPct val="100000"/>
              <a:buFontTx/>
              <a:buChar char="•"/>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Create summaries and embeddings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26" name="Conn"/>
          <p:cNvSpPr/>
          <p:nvPr/>
        </p:nvSpPr>
        <p:spPr>
          <a:xfrm>
            <a:off x="1207008" y="2807208"/>
            <a:ext cx="0" cy="658368"/>
          </a:xfrm>
          <a:prstGeom prst="line">
            <a:avLst/>
          </a:prstGeom>
          <a:noFill/>
          <a:ln w="12700">
            <a:solidFill>
              <a:srgbClr val="1B00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 name="Conn"/>
          <p:cNvSpPr/>
          <p:nvPr/>
        </p:nvSpPr>
        <p:spPr>
          <a:xfrm>
            <a:off x="2286000" y="2807208"/>
            <a:ext cx="0" cy="658368"/>
          </a:xfrm>
          <a:prstGeom prst="line">
            <a:avLst/>
          </a:prstGeom>
          <a:noFill/>
          <a:ln w="12700">
            <a:solidFill>
              <a:srgbClr val="1B0065"/>
            </a:solidFill>
            <a:prstDash val="solid"/>
            <a:head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 name="Conn"/>
          <p:cNvSpPr/>
          <p:nvPr/>
        </p:nvSpPr>
        <p:spPr>
          <a:xfrm>
            <a:off x="4709160" y="2852928"/>
            <a:ext cx="0" cy="493776"/>
          </a:xfrm>
          <a:prstGeom prst="line">
            <a:avLst/>
          </a:prstGeom>
          <a:noFill/>
          <a:ln w="12700">
            <a:solidFill>
              <a:srgbClr val="1B0065"/>
            </a:solidFill>
            <a:prstDash val="dash"/>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 name="Summary store"/>
          <p:cNvSpPr/>
          <p:nvPr/>
        </p:nvSpPr>
        <p:spPr>
          <a:xfrm>
            <a:off x="5943600" y="3328416"/>
            <a:ext cx="868680" cy="749808"/>
          </a:xfrm>
          <a:prstGeom prst="can">
            <a:avLst/>
          </a:prstGeom>
          <a:solidFill>
            <a:srgbClr val="FFFFFF"/>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 name="Text 28"/>
          <p:cNvSpPr txBox="1"/>
          <p:nvPr/>
        </p:nvSpPr>
        <p:spPr>
          <a:xfrm>
            <a:off x="5943600" y="3529584"/>
            <a:ext cx="86868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Summary store</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31" name="Embedding store"/>
          <p:cNvSpPr/>
          <p:nvPr/>
        </p:nvSpPr>
        <p:spPr>
          <a:xfrm>
            <a:off x="5943600" y="4114800"/>
            <a:ext cx="868680" cy="749808"/>
          </a:xfrm>
          <a:prstGeom prst="can">
            <a:avLst/>
          </a:prstGeom>
          <a:solidFill>
            <a:srgbClr val="FFFFFF"/>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 name="Text 30"/>
          <p:cNvSpPr txBox="1"/>
          <p:nvPr/>
        </p:nvSpPr>
        <p:spPr>
          <a:xfrm>
            <a:off x="5943600" y="4315968"/>
            <a:ext cx="868680" cy="5029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Embedding store</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33" name="Arrow"/>
          <p:cNvSpPr/>
          <p:nvPr/>
        </p:nvSpPr>
        <p:spPr>
          <a:xfrm>
            <a:off x="5669280" y="4078224"/>
            <a:ext cx="274320" cy="0"/>
          </a:xfrm>
          <a:prstGeom prst="line">
            <a:avLst/>
          </a:prstGeom>
          <a:noFill/>
          <a:ln w="19050">
            <a:solidFill>
              <a:srgbClr val="1B00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 name="Arrow"/>
          <p:cNvSpPr/>
          <p:nvPr/>
        </p:nvSpPr>
        <p:spPr>
          <a:xfrm>
            <a:off x="6812280" y="4078224"/>
            <a:ext cx="246888" cy="0"/>
          </a:xfrm>
          <a:prstGeom prst="line">
            <a:avLst/>
          </a:prstGeom>
          <a:noFill/>
          <a:ln w="19050">
            <a:solidFill>
              <a:srgbClr val="1B00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5" name="Text 33"/>
          <p:cNvSpPr txBox="1"/>
          <p:nvPr/>
        </p:nvSpPr>
        <p:spPr>
          <a:xfrm>
            <a:off x="5760720" y="4873752"/>
            <a:ext cx="1234440" cy="1828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Postgres with pgvector</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36" name="Assistant"/>
          <p:cNvSpPr/>
          <p:nvPr/>
        </p:nvSpPr>
        <p:spPr>
          <a:xfrm>
            <a:off x="7059168" y="1847088"/>
            <a:ext cx="4672584" cy="1051560"/>
          </a:xfrm>
          <a:prstGeom prst="roundRect">
            <a:avLst>
              <a:gd name="adj" fmla="val 4348"/>
            </a:avLst>
          </a:prstGeom>
          <a:solidFill>
            <a:srgbClr val="FFFFFF"/>
          </a:solidFill>
          <a:ln w="1270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 name="Text 35"/>
          <p:cNvSpPr txBox="1"/>
          <p:nvPr/>
        </p:nvSpPr>
        <p:spPr>
          <a:xfrm>
            <a:off x="7150608" y="1901952"/>
            <a:ext cx="12801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069EC"/>
                </a:solidFill>
                <a:effectLst/>
                <a:uLnTx/>
                <a:uFillTx/>
                <a:latin typeface="Calibri" pitchFamily="34" charset="0"/>
                <a:ea typeface="Calibri" pitchFamily="34" charset="-122"/>
                <a:cs typeface="Calibri" pitchFamily="34" charset="-120"/>
              </a:rPr>
              <a:t>Jazz chat</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38" name="Box"/>
          <p:cNvSpPr/>
          <p:nvPr/>
        </p:nvSpPr>
        <p:spPr>
          <a:xfrm>
            <a:off x="7242048" y="2167128"/>
            <a:ext cx="1188720" cy="640080"/>
          </a:xfrm>
          <a:prstGeom prst="roundRect">
            <a:avLst>
              <a:gd name="adj" fmla="val 7143"/>
            </a:avLst>
          </a:prstGeom>
          <a:solidFill>
            <a:srgbClr val="FFFFFF"/>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9" name="Text 37"/>
          <p:cNvSpPr txBox="1"/>
          <p:nvPr/>
        </p:nvSpPr>
        <p:spPr>
          <a:xfrm>
            <a:off x="7315200" y="2167128"/>
            <a:ext cx="1042416" cy="6400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 agent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0" name="Box"/>
          <p:cNvSpPr/>
          <p:nvPr/>
        </p:nvSpPr>
        <p:spPr>
          <a:xfrm>
            <a:off x="9811512" y="2167128"/>
            <a:ext cx="1737360" cy="640080"/>
          </a:xfrm>
          <a:prstGeom prst="roundRect">
            <a:avLst>
              <a:gd name="adj" fmla="val 7143"/>
            </a:avLst>
          </a:prstGeom>
          <a:solidFill>
            <a:srgbClr val="FFFFFF"/>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 39"/>
          <p:cNvSpPr txBox="1"/>
          <p:nvPr/>
        </p:nvSpPr>
        <p:spPr>
          <a:xfrm>
            <a:off x="9884664" y="2167128"/>
            <a:ext cx="1591056" cy="64008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View agent response</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and execution steps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2" name="Kernel"/>
          <p:cNvSpPr/>
          <p:nvPr/>
        </p:nvSpPr>
        <p:spPr>
          <a:xfrm>
            <a:off x="7059168" y="3054096"/>
            <a:ext cx="4672584" cy="1920240"/>
          </a:xfrm>
          <a:prstGeom prst="roundRect">
            <a:avLst>
              <a:gd name="adj" fmla="val 2381"/>
            </a:avLst>
          </a:prstGeom>
          <a:solidFill>
            <a:srgbClr val="FFFFFF"/>
          </a:solidFill>
          <a:ln w="1270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3" name="Text 41"/>
          <p:cNvSpPr txBox="1"/>
          <p:nvPr/>
        </p:nvSpPr>
        <p:spPr>
          <a:xfrm>
            <a:off x="7150608" y="3108960"/>
            <a:ext cx="1280160"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069EC"/>
                </a:solidFill>
                <a:effectLst/>
                <a:uLnTx/>
                <a:uFillTx/>
                <a:latin typeface="Calibri" pitchFamily="34" charset="0"/>
                <a:ea typeface="Calibri" pitchFamily="34" charset="-122"/>
                <a:cs typeface="Calibri" pitchFamily="34" charset="-120"/>
              </a:rPr>
              <a:t>Kernel</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44" name="Retrieval"/>
          <p:cNvSpPr/>
          <p:nvPr/>
        </p:nvSpPr>
        <p:spPr>
          <a:xfrm>
            <a:off x="7242048" y="3346704"/>
            <a:ext cx="2377440" cy="1499616"/>
          </a:xfrm>
          <a:prstGeom prst="roundRect">
            <a:avLst>
              <a:gd name="adj" fmla="val 3049"/>
            </a:avLst>
          </a:prstGeom>
          <a:solidFill>
            <a:srgbClr val="F3F6FF"/>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5" name="Text 43"/>
          <p:cNvSpPr txBox="1"/>
          <p:nvPr/>
        </p:nvSpPr>
        <p:spPr>
          <a:xfrm>
            <a:off x="7315200" y="3401568"/>
            <a:ext cx="2240280" cy="14173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Feedback retrieval</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127000" marR="0" lvl="0" indent="-127000" algn="l" defTabSz="914400" rtl="0" eaLnBrk="1" fontAlgn="auto" latinLnBrk="0" hangingPunct="1">
              <a:lnSpc>
                <a:spcPct val="100000"/>
              </a:lnSpc>
              <a:spcBef>
                <a:spcPts val="0"/>
              </a:spcBef>
              <a:spcAft>
                <a:spcPts val="200"/>
              </a:spcAft>
              <a:buClrTx/>
              <a:buSzPct val="100000"/>
              <a:buFontTx/>
              <a:buChar char="•"/>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Summarize the current request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127000" marR="0" lvl="0" indent="-127000" algn="l" defTabSz="914400" rtl="0" eaLnBrk="1" fontAlgn="auto" latinLnBrk="0" hangingPunct="1">
              <a:lnSpc>
                <a:spcPct val="100000"/>
              </a:lnSpc>
              <a:spcBef>
                <a:spcPts val="0"/>
              </a:spcBef>
              <a:spcAft>
                <a:spcPts val="200"/>
              </a:spcAft>
              <a:buClrTx/>
              <a:buSzPct val="100000"/>
              <a:buFontTx/>
              <a:buChar char="•"/>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Create its embedding</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127000" marR="0" lvl="0" indent="-127000" algn="l" defTabSz="914400" rtl="0" eaLnBrk="1" fontAlgn="auto" latinLnBrk="0" hangingPunct="1">
              <a:lnSpc>
                <a:spcPct val="100000"/>
              </a:lnSpc>
              <a:spcBef>
                <a:spcPts val="0"/>
              </a:spcBef>
              <a:spcAft>
                <a:spcPts val="200"/>
              </a:spcAft>
              <a:buClrTx/>
              <a:buSzPct val="100000"/>
              <a:buFontTx/>
              <a:buChar char="•"/>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Find similar approved lessons by full text and semantic search</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127000" marR="0" lvl="0" indent="-127000" algn="l" defTabSz="914400" rtl="0" eaLnBrk="1" fontAlgn="auto" latinLnBrk="0" hangingPunct="1">
              <a:lnSpc>
                <a:spcPct val="100000"/>
              </a:lnSpc>
              <a:spcBef>
                <a:spcPts val="0"/>
              </a:spcBef>
              <a:spcAft>
                <a:spcPts val="200"/>
              </a:spcAft>
              <a:buClrTx/>
              <a:buSzPct val="100000"/>
              <a:buFontTx/>
              <a:buChar char="•"/>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Keep the top k above a threshold</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6" name="Box"/>
          <p:cNvSpPr/>
          <p:nvPr/>
        </p:nvSpPr>
        <p:spPr>
          <a:xfrm>
            <a:off x="9802368" y="3602736"/>
            <a:ext cx="1737360" cy="950976"/>
          </a:xfrm>
          <a:prstGeom prst="roundRect">
            <a:avLst>
              <a:gd name="adj" fmla="val 4808"/>
            </a:avLst>
          </a:prstGeom>
          <a:solidFill>
            <a:srgbClr val="E6F8F4"/>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 45"/>
          <p:cNvSpPr txBox="1"/>
          <p:nvPr/>
        </p:nvSpPr>
        <p:spPr>
          <a:xfrm>
            <a:off x="9875520" y="3602736"/>
            <a:ext cx="1591056" cy="95097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Agent execution</a:t>
            </a:r>
            <a:endParaRPr kumimoji="0" lang="en-US" sz="1050" b="0" i="0" u="none" strike="noStrike" kern="1200" cap="none" spc="0" normalizeH="0" baseline="0" noProof="0">
              <a:ln>
                <a:noFill/>
              </a:ln>
              <a:solidFill>
                <a:prstClr val="black"/>
              </a:solidFill>
              <a:effectLst/>
              <a:uLnTx/>
              <a:uFillTx/>
              <a:latin typeface="Calibri"/>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with the lessons added to the prompt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8" name="Arrow"/>
          <p:cNvSpPr/>
          <p:nvPr/>
        </p:nvSpPr>
        <p:spPr>
          <a:xfrm>
            <a:off x="9619488" y="4078224"/>
            <a:ext cx="182880" cy="0"/>
          </a:xfrm>
          <a:prstGeom prst="line">
            <a:avLst/>
          </a:prstGeom>
          <a:noFill/>
          <a:ln w="19050">
            <a:solidFill>
              <a:srgbClr val="1B00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 name="Conn"/>
          <p:cNvSpPr/>
          <p:nvPr/>
        </p:nvSpPr>
        <p:spPr>
          <a:xfrm>
            <a:off x="7836408" y="2807208"/>
            <a:ext cx="0" cy="539496"/>
          </a:xfrm>
          <a:prstGeom prst="line">
            <a:avLst/>
          </a:prstGeom>
          <a:noFill/>
          <a:ln w="12700">
            <a:solidFill>
              <a:srgbClr val="1B00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Conn"/>
          <p:cNvSpPr/>
          <p:nvPr/>
        </p:nvSpPr>
        <p:spPr>
          <a:xfrm>
            <a:off x="10680192" y="2807208"/>
            <a:ext cx="0" cy="795528"/>
          </a:xfrm>
          <a:prstGeom prst="line">
            <a:avLst/>
          </a:prstGeom>
          <a:noFill/>
          <a:ln w="12700">
            <a:solidFill>
              <a:srgbClr val="1B0065"/>
            </a:solidFill>
            <a:prstDash val="solid"/>
            <a:head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1" name="Text 49"/>
          <p:cNvSpPr txBox="1"/>
          <p:nvPr/>
        </p:nvSpPr>
        <p:spPr>
          <a:xfrm>
            <a:off x="457200" y="5084064"/>
            <a:ext cx="731520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5B2D8E"/>
                </a:solidFill>
                <a:effectLst/>
                <a:uLnTx/>
                <a:uFillTx/>
                <a:latin typeface="Calibri" pitchFamily="34" charset="0"/>
                <a:ea typeface="Calibri" pitchFamily="34" charset="-122"/>
                <a:cs typeface="Calibri" pitchFamily="34" charset="-120"/>
              </a:rPr>
              <a:t>HOW APPROVED LESSONS REACH THE MODEL</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2" name="Static"/>
          <p:cNvSpPr/>
          <p:nvPr/>
        </p:nvSpPr>
        <p:spPr>
          <a:xfrm>
            <a:off x="457200" y="5330952"/>
            <a:ext cx="3657600" cy="950976"/>
          </a:xfrm>
          <a:prstGeom prst="roundRect">
            <a:avLst>
              <a:gd name="adj" fmla="val 7692"/>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3" name="Text 51"/>
          <p:cNvSpPr txBox="1"/>
          <p:nvPr/>
        </p:nvSpPr>
        <p:spPr>
          <a:xfrm>
            <a:off x="594360" y="5385816"/>
            <a:ext cx="3383280" cy="8595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25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Static   </a:t>
            </a:r>
            <a:r>
              <a:rPr kumimoji="0" lang="en-US" sz="105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Always applied</a:t>
            </a:r>
            <a:endParaRPr kumimoji="0" lang="en-US" sz="10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0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Use for: </a:t>
            </a: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rules that hold on every file</a:t>
            </a:r>
          </a:p>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0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How: </a:t>
            </a: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the SME marks it ‘always use’; it joins the instructions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0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Status: </a:t>
            </a: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live in Jazz chat today (as shown in the demo)</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4" name="Dynamic"/>
          <p:cNvSpPr/>
          <p:nvPr/>
        </p:nvSpPr>
        <p:spPr>
          <a:xfrm>
            <a:off x="4265676" y="5330952"/>
            <a:ext cx="3657600" cy="950976"/>
          </a:xfrm>
          <a:prstGeom prst="roundRect">
            <a:avLst>
              <a:gd name="adj" fmla="val 7692"/>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 53"/>
          <p:cNvSpPr txBox="1"/>
          <p:nvPr/>
        </p:nvSpPr>
        <p:spPr>
          <a:xfrm>
            <a:off x="4402836" y="5385816"/>
            <a:ext cx="3383280" cy="8595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25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Dynamic   </a:t>
            </a:r>
            <a:r>
              <a:rPr kumimoji="0" lang="en-US" sz="105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Applied when relevant</a:t>
            </a:r>
            <a:endParaRPr kumimoji="0" lang="en-US" sz="10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0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Use for: </a:t>
            </a: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lessons for one scenario, such as self-employed income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0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How: </a:t>
            </a: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top k approved lessons by full text and semantic search</a:t>
            </a:r>
            <a:endParaRPr kumimoji="0" lang="en-US" sz="10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0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Status: </a:t>
            </a: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in the platform kernel (coming in Jamaica release)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6" name="Fail safe"/>
          <p:cNvSpPr/>
          <p:nvPr/>
        </p:nvSpPr>
        <p:spPr>
          <a:xfrm>
            <a:off x="8074152" y="5330952"/>
            <a:ext cx="3657600" cy="950976"/>
          </a:xfrm>
          <a:prstGeom prst="roundRect">
            <a:avLst>
              <a:gd name="adj" fmla="val 7692"/>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7" name="Text 55"/>
          <p:cNvSpPr txBox="1"/>
          <p:nvPr/>
        </p:nvSpPr>
        <p:spPr>
          <a:xfrm>
            <a:off x="8211312" y="5385816"/>
            <a:ext cx="3383280" cy="8595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25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Fail safe   </a:t>
            </a:r>
            <a:r>
              <a:rPr kumimoji="0" lang="en-US" sz="105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Never blocks an answer</a:t>
            </a:r>
            <a:endParaRPr kumimoji="0" lang="en-US" sz="10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0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How: </a:t>
            </a: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if retrieval fails, the agent answers without lessons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0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Visibility: </a:t>
            </a: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the miss is logged, so a gap is never silent</a:t>
            </a:r>
            <a:endParaRPr kumimoji="0" lang="en-US" sz="10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100"/>
              </a:spcAft>
              <a:buClrTx/>
              <a:buSzTx/>
              <a:buFontTx/>
              <a:buNone/>
              <a:tabLst/>
              <a:defRPr/>
            </a:pPr>
            <a:r>
              <a:rPr kumimoji="0" lang="en-US" sz="10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Why: </a:t>
            </a: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learning cannot stop a production workflow (in prod)</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8"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IN CONTEXT LEARNING  ·  EVALUATION</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Every learned change is evaluated before it ships, in any component</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The evaluation pipeline after learning, across prompts, agents, reasoners, RAG and processes</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Flow Learned change"/>
          <p:cNvSpPr/>
          <p:nvPr/>
        </p:nvSpPr>
        <p:spPr>
          <a:xfrm>
            <a:off x="457200" y="1499616"/>
            <a:ext cx="1810512" cy="457200"/>
          </a:xfrm>
          <a:prstGeom prst="homePlate">
            <a:avLst/>
          </a:prstGeom>
          <a:solidFill>
            <a:srgbClr val="C9D3FA"/>
          </a:solidFill>
          <a:ln w="12700">
            <a:solidFill>
              <a:srgbClr val="C9D3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 6"/>
          <p:cNvSpPr txBox="1"/>
          <p:nvPr/>
        </p:nvSpPr>
        <p:spPr>
          <a:xfrm>
            <a:off x="594360" y="1499616"/>
            <a:ext cx="1536192"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Learned change</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9" name="Text 7"/>
          <p:cNvSpPr txBox="1"/>
          <p:nvPr/>
        </p:nvSpPr>
        <p:spPr>
          <a:xfrm>
            <a:off x="502920" y="2029968"/>
            <a:ext cx="1673352" cy="566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 lesson, policy edit or recipe update, with the feedback behind it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10" name="Flow Test set"/>
          <p:cNvSpPr/>
          <p:nvPr/>
        </p:nvSpPr>
        <p:spPr>
          <a:xfrm>
            <a:off x="2350008" y="1499616"/>
            <a:ext cx="1810512" cy="457200"/>
          </a:xfrm>
          <a:prstGeom prst="chevron">
            <a:avLst/>
          </a:prstGeom>
          <a:solidFill>
            <a:srgbClr val="C9D3FA"/>
          </a:solidFill>
          <a:ln w="12700">
            <a:solidFill>
              <a:srgbClr val="C9D3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 9"/>
          <p:cNvSpPr txBox="1"/>
          <p:nvPr/>
        </p:nvSpPr>
        <p:spPr>
          <a:xfrm>
            <a:off x="2487168" y="1499616"/>
            <a:ext cx="1536192"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Test set</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 10"/>
          <p:cNvSpPr txBox="1"/>
          <p:nvPr/>
        </p:nvSpPr>
        <p:spPr>
          <a:xfrm>
            <a:off x="2395728" y="2029968"/>
            <a:ext cx="1673352" cy="566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Feedback cases, rewordings, out of scope checks and the golden dataset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13" name="Flow Before and after"/>
          <p:cNvSpPr/>
          <p:nvPr/>
        </p:nvSpPr>
        <p:spPr>
          <a:xfrm>
            <a:off x="4242816" y="1499616"/>
            <a:ext cx="1810512" cy="457200"/>
          </a:xfrm>
          <a:prstGeom prst="chevron">
            <a:avLst/>
          </a:prstGeom>
          <a:solidFill>
            <a:srgbClr val="C9D3FA"/>
          </a:solidFill>
          <a:ln w="12700">
            <a:solidFill>
              <a:srgbClr val="C9D3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 12"/>
          <p:cNvSpPr txBox="1"/>
          <p:nvPr/>
        </p:nvSpPr>
        <p:spPr>
          <a:xfrm>
            <a:off x="4379976" y="1499616"/>
            <a:ext cx="1536192"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Before and after</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5" name="Text 13"/>
          <p:cNvSpPr txBox="1"/>
          <p:nvPr/>
        </p:nvSpPr>
        <p:spPr>
          <a:xfrm>
            <a:off x="4288536" y="2029968"/>
            <a:ext cx="1673352" cy="566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Live and candidate versions run on the same cases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16" name="Flow Evaluators"/>
          <p:cNvSpPr/>
          <p:nvPr/>
        </p:nvSpPr>
        <p:spPr>
          <a:xfrm>
            <a:off x="6135624" y="1499616"/>
            <a:ext cx="1810512" cy="457200"/>
          </a:xfrm>
          <a:prstGeom prst="chevron">
            <a:avLst/>
          </a:prstGeom>
          <a:solidFill>
            <a:srgbClr val="C9D3FA"/>
          </a:solidFill>
          <a:ln w="12700">
            <a:solidFill>
              <a:srgbClr val="C9D3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Text 15"/>
          <p:cNvSpPr txBox="1"/>
          <p:nvPr/>
        </p:nvSpPr>
        <p:spPr>
          <a:xfrm>
            <a:off x="6272784" y="1499616"/>
            <a:ext cx="1536192"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Evaluators</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8" name="Text 16"/>
          <p:cNvSpPr txBox="1"/>
          <p:nvPr/>
        </p:nvSpPr>
        <p:spPr>
          <a:xfrm>
            <a:off x="6181344" y="2029968"/>
            <a:ext cx="1673352" cy="566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Metric instructions with an LLM judge, rule checks and SME review</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19" name="Flow Scores"/>
          <p:cNvSpPr/>
          <p:nvPr/>
        </p:nvSpPr>
        <p:spPr>
          <a:xfrm>
            <a:off x="8028432" y="1499616"/>
            <a:ext cx="1810512" cy="457200"/>
          </a:xfrm>
          <a:prstGeom prst="chevron">
            <a:avLst/>
          </a:prstGeom>
          <a:solidFill>
            <a:srgbClr val="C9D3FA"/>
          </a:solidFill>
          <a:ln w="12700">
            <a:solidFill>
              <a:srgbClr val="C9D3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0" name="Text 18"/>
          <p:cNvSpPr txBox="1"/>
          <p:nvPr/>
        </p:nvSpPr>
        <p:spPr>
          <a:xfrm>
            <a:off x="8165592" y="1499616"/>
            <a:ext cx="1536192"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Scores</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 19"/>
          <p:cNvSpPr txBox="1"/>
          <p:nvPr/>
        </p:nvSpPr>
        <p:spPr>
          <a:xfrm>
            <a:off x="8074152" y="2029968"/>
            <a:ext cx="1673352" cy="566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Resolved, regressed and unchanged, with denominators and cost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22" name="Flow Decision"/>
          <p:cNvSpPr/>
          <p:nvPr/>
        </p:nvSpPr>
        <p:spPr>
          <a:xfrm>
            <a:off x="9921240" y="1499616"/>
            <a:ext cx="1810512" cy="457200"/>
          </a:xfrm>
          <a:prstGeom prst="chevron">
            <a:avLst/>
          </a:prstGeom>
          <a:solidFill>
            <a:srgbClr val="C9D3FA"/>
          </a:solidFill>
          <a:ln w="12700">
            <a:solidFill>
              <a:srgbClr val="C9D3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3" name="Text 21"/>
          <p:cNvSpPr txBox="1"/>
          <p:nvPr/>
        </p:nvSpPr>
        <p:spPr>
          <a:xfrm>
            <a:off x="10058400" y="1499616"/>
            <a:ext cx="1536192" cy="45720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Decision</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24" name="Text 22"/>
          <p:cNvSpPr txBox="1"/>
          <p:nvPr/>
        </p:nvSpPr>
        <p:spPr>
          <a:xfrm>
            <a:off x="9966960" y="2029968"/>
            <a:ext cx="1673352" cy="56692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The SME approves, rejects or sends it back for another iteration</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25" name="Text 23"/>
          <p:cNvSpPr txBox="1"/>
          <p:nvPr/>
        </p:nvSpPr>
        <p:spPr>
          <a:xfrm>
            <a:off x="457200" y="2816352"/>
            <a:ext cx="731520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5B2D8E"/>
                </a:solidFill>
                <a:effectLst/>
                <a:uLnTx/>
                <a:uFillTx/>
                <a:latin typeface="Calibri" pitchFamily="34" charset="0"/>
                <a:ea typeface="Calibri" pitchFamily="34" charset="-122"/>
                <a:cs typeface="Calibri" pitchFamily="34" charset="-120"/>
              </a:rPr>
              <a:t>WHAT WE MEASURE, BY COMPONENT</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26" name="Prompts"/>
          <p:cNvSpPr/>
          <p:nvPr/>
        </p:nvSpPr>
        <p:spPr>
          <a:xfrm>
            <a:off x="457200" y="3072384"/>
            <a:ext cx="2167128" cy="1243584"/>
          </a:xfrm>
          <a:prstGeom prst="roundRect">
            <a:avLst>
              <a:gd name="adj" fmla="val 588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 name="Icon circle"/>
          <p:cNvSpPr/>
          <p:nvPr/>
        </p:nvSpPr>
        <p:spPr>
          <a:xfrm>
            <a:off x="594360" y="3191256"/>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28" name="Image 0" descr="preencoded.png"/>
          <p:cNvPicPr>
            <a:picLocks noChangeAspect="1"/>
          </p:cNvPicPr>
          <p:nvPr/>
        </p:nvPicPr>
        <p:blipFill>
          <a:blip r:embed="rId3"/>
          <a:stretch>
            <a:fillRect/>
          </a:stretch>
        </p:blipFill>
        <p:spPr>
          <a:xfrm>
            <a:off x="672084" y="3268980"/>
            <a:ext cx="173736" cy="173736"/>
          </a:xfrm>
          <a:prstGeom prst="rect">
            <a:avLst/>
          </a:prstGeom>
        </p:spPr>
      </p:pic>
      <p:sp>
        <p:nvSpPr>
          <p:cNvPr id="29" name="Text 26"/>
          <p:cNvSpPr txBox="1"/>
          <p:nvPr/>
        </p:nvSpPr>
        <p:spPr>
          <a:xfrm>
            <a:off x="1005840" y="3191256"/>
            <a:ext cx="152704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Prompts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30" name="Text 27"/>
          <p:cNvSpPr txBox="1"/>
          <p:nvPr/>
        </p:nvSpPr>
        <p:spPr>
          <a:xfrm>
            <a:off x="594360" y="3602736"/>
            <a:ext cx="1892808" cy="6583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Response completeness, relevance, coherence, harmful content in SME authored text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31" name="Agents"/>
          <p:cNvSpPr/>
          <p:nvPr/>
        </p:nvSpPr>
        <p:spPr>
          <a:xfrm>
            <a:off x="2734056" y="3072384"/>
            <a:ext cx="2167128" cy="1243584"/>
          </a:xfrm>
          <a:prstGeom prst="roundRect">
            <a:avLst>
              <a:gd name="adj" fmla="val 588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 name="Icon circle"/>
          <p:cNvSpPr/>
          <p:nvPr/>
        </p:nvSpPr>
        <p:spPr>
          <a:xfrm>
            <a:off x="2871216" y="3191256"/>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33" name="Image 1" descr="preencoded.png"/>
          <p:cNvPicPr>
            <a:picLocks noChangeAspect="1"/>
          </p:cNvPicPr>
          <p:nvPr/>
        </p:nvPicPr>
        <p:blipFill>
          <a:blip r:embed="rId4"/>
          <a:stretch>
            <a:fillRect/>
          </a:stretch>
        </p:blipFill>
        <p:spPr>
          <a:xfrm>
            <a:off x="2948940" y="3268980"/>
            <a:ext cx="173736" cy="173736"/>
          </a:xfrm>
          <a:prstGeom prst="rect">
            <a:avLst/>
          </a:prstGeom>
        </p:spPr>
      </p:pic>
      <p:sp>
        <p:nvSpPr>
          <p:cNvPr id="34" name="Text 30"/>
          <p:cNvSpPr txBox="1"/>
          <p:nvPr/>
        </p:nvSpPr>
        <p:spPr>
          <a:xfrm>
            <a:off x="3282696" y="3191256"/>
            <a:ext cx="152704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Agents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35" name="Text 31"/>
          <p:cNvSpPr txBox="1"/>
          <p:nvPr/>
        </p:nvSpPr>
        <p:spPr>
          <a:xfrm>
            <a:off x="2871216" y="3602736"/>
            <a:ext cx="1892808" cy="6583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Task adherence, intent resolution, tool call accuracy</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36" name="Reasoners"/>
          <p:cNvSpPr/>
          <p:nvPr/>
        </p:nvSpPr>
        <p:spPr>
          <a:xfrm>
            <a:off x="5010912" y="3072384"/>
            <a:ext cx="2167128" cy="1243584"/>
          </a:xfrm>
          <a:prstGeom prst="roundRect">
            <a:avLst>
              <a:gd name="adj" fmla="val 588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 name="Icon circle"/>
          <p:cNvSpPr/>
          <p:nvPr/>
        </p:nvSpPr>
        <p:spPr>
          <a:xfrm>
            <a:off x="5148072" y="3191256"/>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38" name="Image 2" descr="preencoded.png"/>
          <p:cNvPicPr>
            <a:picLocks noChangeAspect="1"/>
          </p:cNvPicPr>
          <p:nvPr/>
        </p:nvPicPr>
        <p:blipFill>
          <a:blip r:embed="rId5"/>
          <a:stretch>
            <a:fillRect/>
          </a:stretch>
        </p:blipFill>
        <p:spPr>
          <a:xfrm>
            <a:off x="5225796" y="3268980"/>
            <a:ext cx="173736" cy="173736"/>
          </a:xfrm>
          <a:prstGeom prst="rect">
            <a:avLst/>
          </a:prstGeom>
        </p:spPr>
      </p:pic>
      <p:sp>
        <p:nvSpPr>
          <p:cNvPr id="39" name="Text 34"/>
          <p:cNvSpPr txBox="1"/>
          <p:nvPr/>
        </p:nvSpPr>
        <p:spPr>
          <a:xfrm>
            <a:off x="5559552" y="3191256"/>
            <a:ext cx="152704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Reasoners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40" name="Text 35"/>
          <p:cNvSpPr txBox="1"/>
          <p:nvPr/>
        </p:nvSpPr>
        <p:spPr>
          <a:xfrm>
            <a:off x="5148072" y="3602736"/>
            <a:ext cx="1892808" cy="6583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Each condition against the SME’s expected result: resolved, unchanged or changed but not resolved</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1" name="RAG"/>
          <p:cNvSpPr/>
          <p:nvPr/>
        </p:nvSpPr>
        <p:spPr>
          <a:xfrm>
            <a:off x="7287768" y="3072384"/>
            <a:ext cx="2167128" cy="1243584"/>
          </a:xfrm>
          <a:prstGeom prst="roundRect">
            <a:avLst>
              <a:gd name="adj" fmla="val 588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2" name="Icon circle"/>
          <p:cNvSpPr/>
          <p:nvPr/>
        </p:nvSpPr>
        <p:spPr>
          <a:xfrm>
            <a:off x="7424928" y="3191256"/>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43" name="Image 3" descr="preencoded.png"/>
          <p:cNvPicPr>
            <a:picLocks noChangeAspect="1"/>
          </p:cNvPicPr>
          <p:nvPr/>
        </p:nvPicPr>
        <p:blipFill>
          <a:blip r:embed="rId6"/>
          <a:stretch>
            <a:fillRect/>
          </a:stretch>
        </p:blipFill>
        <p:spPr>
          <a:xfrm>
            <a:off x="7502652" y="3268980"/>
            <a:ext cx="173736" cy="173736"/>
          </a:xfrm>
          <a:prstGeom prst="rect">
            <a:avLst/>
          </a:prstGeom>
        </p:spPr>
      </p:pic>
      <p:sp>
        <p:nvSpPr>
          <p:cNvPr id="44" name="Text 38"/>
          <p:cNvSpPr txBox="1"/>
          <p:nvPr/>
        </p:nvSpPr>
        <p:spPr>
          <a:xfrm>
            <a:off x="7836408" y="3191256"/>
            <a:ext cx="152704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RAG</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45" name="Text 39"/>
          <p:cNvSpPr txBox="1"/>
          <p:nvPr/>
        </p:nvSpPr>
        <p:spPr>
          <a:xfrm>
            <a:off x="7424928" y="3602736"/>
            <a:ext cx="1892808" cy="6583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Retrieval score, groundedness, ungrounded attributes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6" name="Processes"/>
          <p:cNvSpPr/>
          <p:nvPr/>
        </p:nvSpPr>
        <p:spPr>
          <a:xfrm>
            <a:off x="9564624" y="3072384"/>
            <a:ext cx="2167128" cy="1243584"/>
          </a:xfrm>
          <a:prstGeom prst="roundRect">
            <a:avLst>
              <a:gd name="adj" fmla="val 588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Icon circle"/>
          <p:cNvSpPr/>
          <p:nvPr/>
        </p:nvSpPr>
        <p:spPr>
          <a:xfrm>
            <a:off x="9701784" y="3191256"/>
            <a:ext cx="329184" cy="329184"/>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48" name="Image 4" descr="preencoded.png"/>
          <p:cNvPicPr>
            <a:picLocks noChangeAspect="1"/>
          </p:cNvPicPr>
          <p:nvPr/>
        </p:nvPicPr>
        <p:blipFill>
          <a:blip r:embed="rId7"/>
          <a:stretch>
            <a:fillRect/>
          </a:stretch>
        </p:blipFill>
        <p:spPr>
          <a:xfrm>
            <a:off x="9779508" y="3268980"/>
            <a:ext cx="173736" cy="173736"/>
          </a:xfrm>
          <a:prstGeom prst="rect">
            <a:avLst/>
          </a:prstGeom>
        </p:spPr>
      </p:pic>
      <p:sp>
        <p:nvSpPr>
          <p:cNvPr id="49" name="Text 42"/>
          <p:cNvSpPr txBox="1"/>
          <p:nvPr/>
        </p:nvSpPr>
        <p:spPr>
          <a:xfrm>
            <a:off x="10113264" y="3191256"/>
            <a:ext cx="1527048" cy="3291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Processes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 43"/>
          <p:cNvSpPr txBox="1"/>
          <p:nvPr/>
        </p:nvSpPr>
        <p:spPr>
          <a:xfrm>
            <a:off x="9701784" y="3602736"/>
            <a:ext cx="1892808" cy="65836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Task completion, straight through rate, manual repair rate, extraction accuracy</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1" name="Text 44"/>
          <p:cNvSpPr txBox="1"/>
          <p:nvPr/>
        </p:nvSpPr>
        <p:spPr>
          <a:xfrm>
            <a:off x="457200" y="4407408"/>
            <a:ext cx="640080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5B2D8E"/>
                </a:solidFill>
                <a:effectLst/>
                <a:uLnTx/>
                <a:uFillTx/>
                <a:latin typeface="Calibri" pitchFamily="34" charset="0"/>
                <a:ea typeface="Calibri" pitchFamily="34" charset="-122"/>
                <a:cs typeface="Calibri" pitchFamily="34" charset="-120"/>
              </a:rPr>
              <a:t>ACROSS THE LIFECYCLE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2" name="Before approval"/>
          <p:cNvSpPr/>
          <p:nvPr/>
        </p:nvSpPr>
        <p:spPr>
          <a:xfrm>
            <a:off x="457200" y="4663440"/>
            <a:ext cx="3650285" cy="1005840"/>
          </a:xfrm>
          <a:prstGeom prst="roundRect">
            <a:avLst>
              <a:gd name="adj" fmla="val 7273"/>
            </a:avLst>
          </a:prstGeom>
          <a:solidFill>
            <a:srgbClr val="F3F6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3" name="Text 46"/>
          <p:cNvSpPr txBox="1"/>
          <p:nvPr/>
        </p:nvSpPr>
        <p:spPr>
          <a:xfrm>
            <a:off x="621792" y="4773168"/>
            <a:ext cx="3321101" cy="8229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3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Before approval</a:t>
            </a:r>
            <a:endParaRPr kumimoji="0" lang="en-US" sz="13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Each change runs on its own feedback cases and rewordings, plus a scope check that it does not apply where it should not.</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54" name="Before release"/>
          <p:cNvSpPr/>
          <p:nvPr/>
        </p:nvSpPr>
        <p:spPr>
          <a:xfrm>
            <a:off x="4269334" y="4663440"/>
            <a:ext cx="3650285" cy="1005840"/>
          </a:xfrm>
          <a:prstGeom prst="roundRect">
            <a:avLst>
              <a:gd name="adj" fmla="val 7273"/>
            </a:avLst>
          </a:prstGeom>
          <a:solidFill>
            <a:srgbClr val="E6F8F4"/>
          </a:solidFill>
          <a:ln w="9525">
            <a:solidFill>
              <a:srgbClr val="9FE3D6"/>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 48"/>
          <p:cNvSpPr txBox="1"/>
          <p:nvPr/>
        </p:nvSpPr>
        <p:spPr>
          <a:xfrm>
            <a:off x="4433926" y="4773168"/>
            <a:ext cx="3321101" cy="8229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30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Before release</a:t>
            </a:r>
            <a:endParaRPr kumimoji="0" lang="en-US" sz="13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The lender’s golden dataset runs before and after. Regressions are reported first, always with denominators.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56" name="In production"/>
          <p:cNvSpPr/>
          <p:nvPr/>
        </p:nvSpPr>
        <p:spPr>
          <a:xfrm>
            <a:off x="8081467" y="4663440"/>
            <a:ext cx="3650285" cy="1005840"/>
          </a:xfrm>
          <a:prstGeom prst="roundRect">
            <a:avLst>
              <a:gd name="adj" fmla="val 7273"/>
            </a:avLst>
          </a:prstGeom>
          <a:solidFill>
            <a:srgbClr val="F3F6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7" name="Text 50"/>
          <p:cNvSpPr txBox="1"/>
          <p:nvPr/>
        </p:nvSpPr>
        <p:spPr>
          <a:xfrm>
            <a:off x="8246059" y="4773168"/>
            <a:ext cx="3321101" cy="8229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3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In production</a:t>
            </a:r>
            <a:endParaRPr kumimoji="0" lang="en-US" sz="13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Evaluators score live runs. Traces show which lesson or policy version shaped each result, and any change can be rolled back.</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 51"/>
          <p:cNvSpPr txBox="1"/>
          <p:nvPr/>
        </p:nvSpPr>
        <p:spPr>
          <a:xfrm>
            <a:off x="457200" y="5815584"/>
            <a:ext cx="11274552"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Cost and latency are reported next to accuracy, so a gain that doubles cost is visible. The same evaluation service and golden datasets can serve all learning capabilities.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9"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IN CONTEXT LEARNING  ·  WHAT IS NEXT</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Ongoing work makes every lesson relevant, provable and reusable</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The outcome we are driving, and the initiatives that get us there</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Outcome"/>
          <p:cNvSpPr/>
          <p:nvPr/>
        </p:nvSpPr>
        <p:spPr>
          <a:xfrm>
            <a:off x="457200" y="1463040"/>
            <a:ext cx="11274552" cy="786384"/>
          </a:xfrm>
          <a:prstGeom prst="roundRect">
            <a:avLst>
              <a:gd name="adj" fmla="val 9302"/>
            </a:avLst>
          </a:prstGeom>
          <a:solidFill>
            <a:srgbClr val="1B0065"/>
          </a:solidFill>
          <a:ln w="9525">
            <a:solidFill>
              <a:srgbClr val="1B0065"/>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 6"/>
          <p:cNvSpPr txBox="1"/>
          <p:nvPr/>
        </p:nvSpPr>
        <p:spPr>
          <a:xfrm>
            <a:off x="685800" y="1463040"/>
            <a:ext cx="10881360" cy="78638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00" b="1" i="0" u="none" strike="noStrike" kern="0" cap="none" spc="200" normalizeH="0" baseline="0" noProof="0">
                <a:ln>
                  <a:noFill/>
                </a:ln>
                <a:solidFill>
                  <a:srgbClr val="03CBA9"/>
                </a:solidFill>
                <a:effectLst/>
                <a:uLnTx/>
                <a:uFillTx/>
                <a:latin typeface="Calibri" pitchFamily="34" charset="0"/>
                <a:ea typeface="Calibri" pitchFamily="34" charset="-122"/>
                <a:cs typeface="Calibri" pitchFamily="34" charset="-120"/>
              </a:rPr>
              <a:t>THE OUTCOME   </a:t>
            </a:r>
            <a:r>
              <a:rPr kumimoji="0" lang="en-US" sz="13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Every approved correction improves the later results it applies to, across agents, reasoners and processes, with proof.</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200"/>
              </a:spcAft>
              <a:buClrTx/>
              <a:buSzTx/>
              <a:buFontTx/>
              <a:buNone/>
              <a:tabLst/>
              <a:defRPr/>
            </a:pPr>
            <a:r>
              <a:rPr kumimoji="0" lang="en-US" sz="1150" b="0" i="0" u="none" strike="noStrike" kern="1200" cap="none" spc="0" normalizeH="0" baseline="0" noProof="0">
                <a:ln>
                  <a:noFill/>
                </a:ln>
                <a:solidFill>
                  <a:srgbClr val="C9D3FA"/>
                </a:solidFill>
                <a:effectLst/>
                <a:uLnTx/>
                <a:uFillTx/>
                <a:latin typeface="Calibri" pitchFamily="34" charset="0"/>
                <a:ea typeface="Calibri" pitchFamily="34" charset="-122"/>
                <a:cs typeface="Calibri" pitchFamily="34" charset="-120"/>
              </a:rPr>
              <a:t>Measured by resolution rate, regressions on the golden dataset, and time from feedback to live.</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9" name="Pillar"/>
          <p:cNvSpPr/>
          <p:nvPr/>
        </p:nvSpPr>
        <p:spPr>
          <a:xfrm>
            <a:off x="457200" y="2414016"/>
            <a:ext cx="2697480" cy="365760"/>
          </a:xfrm>
          <a:prstGeom prst="roundRect">
            <a:avLst>
              <a:gd name="adj" fmla="val 20000"/>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 8"/>
          <p:cNvSpPr txBox="1"/>
          <p:nvPr/>
        </p:nvSpPr>
        <p:spPr>
          <a:xfrm>
            <a:off x="457200" y="2414016"/>
            <a:ext cx="269748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Apply the right lesson</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 9"/>
          <p:cNvSpPr txBox="1"/>
          <p:nvPr/>
        </p:nvSpPr>
        <p:spPr>
          <a:xfrm>
            <a:off x="502920" y="2834640"/>
            <a:ext cx="260604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Only lessons that fit the request reach the model</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12" name="Relevance based retrieval for Jazz Assistant"/>
          <p:cNvSpPr/>
          <p:nvPr/>
        </p:nvSpPr>
        <p:spPr>
          <a:xfrm>
            <a:off x="457200" y="3291840"/>
            <a:ext cx="2697480" cy="914400"/>
          </a:xfrm>
          <a:prstGeom prst="roundRect">
            <a:avLst>
              <a:gd name="adj" fmla="val 8000"/>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Text 13"/>
          <p:cNvSpPr txBox="1"/>
          <p:nvPr/>
        </p:nvSpPr>
        <p:spPr>
          <a:xfrm>
            <a:off x="585216" y="3355848"/>
            <a:ext cx="1984248"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Relevance based retrieval for Jazz chat</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 14"/>
          <p:cNvSpPr txBox="1"/>
          <p:nvPr/>
        </p:nvSpPr>
        <p:spPr>
          <a:xfrm>
            <a:off x="585216" y="3712464"/>
            <a:ext cx="2459736"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Retrieve lessons per request instead of applying all of them</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17" name="Rank fusion and reranking"/>
          <p:cNvSpPr/>
          <p:nvPr/>
        </p:nvSpPr>
        <p:spPr>
          <a:xfrm>
            <a:off x="457200" y="4279392"/>
            <a:ext cx="2697480" cy="914400"/>
          </a:xfrm>
          <a:prstGeom prst="roundRect">
            <a:avLst>
              <a:gd name="adj" fmla="val 8000"/>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8" name="Status"/>
          <p:cNvSpPr/>
          <p:nvPr/>
        </p:nvSpPr>
        <p:spPr>
          <a:xfrm>
            <a:off x="2386584" y="4370832"/>
            <a:ext cx="676656" cy="201168"/>
          </a:xfrm>
          <a:prstGeom prst="roundRect">
            <a:avLst>
              <a:gd name="adj" fmla="val 50000"/>
            </a:avLst>
          </a:prstGeom>
          <a:solidFill>
            <a:srgbClr val="C9D3FA"/>
          </a:solidFill>
          <a:ln w="12700">
            <a:solidFill>
              <a:srgbClr val="C9D3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 17"/>
          <p:cNvSpPr txBox="1"/>
          <p:nvPr/>
        </p:nvSpPr>
        <p:spPr>
          <a:xfrm>
            <a:off x="2386584" y="4370832"/>
            <a:ext cx="676656"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PRD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20" name="Text 18"/>
          <p:cNvSpPr txBox="1"/>
          <p:nvPr/>
        </p:nvSpPr>
        <p:spPr>
          <a:xfrm>
            <a:off x="585216" y="4343400"/>
            <a:ext cx="1728216"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Rank fusion and reranking</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 19"/>
          <p:cNvSpPr txBox="1"/>
          <p:nvPr/>
        </p:nvSpPr>
        <p:spPr>
          <a:xfrm>
            <a:off x="585216" y="4700016"/>
            <a:ext cx="2459736"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Catch exact terms such as loan programs and policy codes that similarity search misses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22" name="Lesson scope and review dates"/>
          <p:cNvSpPr/>
          <p:nvPr/>
        </p:nvSpPr>
        <p:spPr>
          <a:xfrm>
            <a:off x="457200" y="5266944"/>
            <a:ext cx="2697480" cy="914400"/>
          </a:xfrm>
          <a:prstGeom prst="roundRect">
            <a:avLst>
              <a:gd name="adj" fmla="val 8000"/>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3" name="Status"/>
          <p:cNvSpPr/>
          <p:nvPr/>
        </p:nvSpPr>
        <p:spPr>
          <a:xfrm>
            <a:off x="2322576" y="5358384"/>
            <a:ext cx="740664" cy="201168"/>
          </a:xfrm>
          <a:prstGeom prst="roundRect">
            <a:avLst>
              <a:gd name="adj" fmla="val 50000"/>
            </a:avLst>
          </a:prstGeom>
          <a:solidFill>
            <a:srgbClr val="C9D3FA"/>
          </a:solidFill>
          <a:ln w="12700">
            <a:solidFill>
              <a:srgbClr val="C9D3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 name="Text 22"/>
          <p:cNvSpPr txBox="1"/>
          <p:nvPr/>
        </p:nvSpPr>
        <p:spPr>
          <a:xfrm>
            <a:off x="2322576" y="5358384"/>
            <a:ext cx="740664"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PRD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25" name="Text 23"/>
          <p:cNvSpPr txBox="1"/>
          <p:nvPr/>
        </p:nvSpPr>
        <p:spPr>
          <a:xfrm>
            <a:off x="585216" y="5330952"/>
            <a:ext cx="1664208"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Lesson scope and review dates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26" name="Text 24"/>
          <p:cNvSpPr txBox="1"/>
          <p:nvPr/>
        </p:nvSpPr>
        <p:spPr>
          <a:xfrm>
            <a:off x="585216" y="5687568"/>
            <a:ext cx="2459736"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Limit a lesson to a lender, loan program or borrower type, and set when it expires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27" name="Pillar"/>
          <p:cNvSpPr/>
          <p:nvPr/>
        </p:nvSpPr>
        <p:spPr>
          <a:xfrm>
            <a:off x="3316529" y="2414016"/>
            <a:ext cx="2697480" cy="365760"/>
          </a:xfrm>
          <a:prstGeom prst="roundRect">
            <a:avLst>
              <a:gd name="adj" fmla="val 20000"/>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8" name="Text 26"/>
          <p:cNvSpPr txBox="1"/>
          <p:nvPr/>
        </p:nvSpPr>
        <p:spPr>
          <a:xfrm>
            <a:off x="3316529" y="2414016"/>
            <a:ext cx="269748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Prove each lesson helps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9" name="Text 27"/>
          <p:cNvSpPr txBox="1"/>
          <p:nvPr/>
        </p:nvSpPr>
        <p:spPr>
          <a:xfrm>
            <a:off x="3362249" y="2834640"/>
            <a:ext cx="260604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No lesson goes live without evidence</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0" name="Before and after test per lesson"/>
          <p:cNvSpPr/>
          <p:nvPr/>
        </p:nvSpPr>
        <p:spPr>
          <a:xfrm>
            <a:off x="3316529" y="3291840"/>
            <a:ext cx="2697480" cy="914400"/>
          </a:xfrm>
          <a:prstGeom prst="roundRect">
            <a:avLst>
              <a:gd name="adj" fmla="val 8000"/>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 name="Status"/>
          <p:cNvSpPr/>
          <p:nvPr/>
        </p:nvSpPr>
        <p:spPr>
          <a:xfrm>
            <a:off x="5245913" y="3383280"/>
            <a:ext cx="676656" cy="201168"/>
          </a:xfrm>
          <a:prstGeom prst="roundRect">
            <a:avLst>
              <a:gd name="adj" fmla="val 50000"/>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 name="Text 30"/>
          <p:cNvSpPr txBox="1"/>
          <p:nvPr/>
        </p:nvSpPr>
        <p:spPr>
          <a:xfrm>
            <a:off x="5245913" y="3383280"/>
            <a:ext cx="676656"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Ibiza</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33" name="Text 31"/>
          <p:cNvSpPr txBox="1"/>
          <p:nvPr/>
        </p:nvSpPr>
        <p:spPr>
          <a:xfrm>
            <a:off x="3444545" y="3355848"/>
            <a:ext cx="1728216"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Before and after test per lesson</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4" name="Text 32"/>
          <p:cNvSpPr txBox="1"/>
          <p:nvPr/>
        </p:nvSpPr>
        <p:spPr>
          <a:xfrm>
            <a:off x="3444545" y="3712464"/>
            <a:ext cx="2459736"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Original question, rewordings and a scope check, side by side for the SME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5" name="Feedback efficacy prediction"/>
          <p:cNvSpPr/>
          <p:nvPr/>
        </p:nvSpPr>
        <p:spPr>
          <a:xfrm>
            <a:off x="3316529" y="4279392"/>
            <a:ext cx="2697480" cy="914400"/>
          </a:xfrm>
          <a:prstGeom prst="roundRect">
            <a:avLst>
              <a:gd name="adj" fmla="val 8000"/>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6" name="Status"/>
          <p:cNvSpPr/>
          <p:nvPr/>
        </p:nvSpPr>
        <p:spPr>
          <a:xfrm>
            <a:off x="5245913" y="4370832"/>
            <a:ext cx="676656" cy="201168"/>
          </a:xfrm>
          <a:prstGeom prst="roundRect">
            <a:avLst>
              <a:gd name="adj" fmla="val 50000"/>
            </a:avLst>
          </a:prstGeom>
          <a:solidFill>
            <a:srgbClr val="E4E6EE"/>
          </a:solidFill>
          <a:ln w="12700">
            <a:solidFill>
              <a:srgbClr val="E4E6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 name="Text 35"/>
          <p:cNvSpPr txBox="1"/>
          <p:nvPr/>
        </p:nvSpPr>
        <p:spPr>
          <a:xfrm>
            <a:off x="5245913" y="4370832"/>
            <a:ext cx="676656"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TBD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 36"/>
          <p:cNvSpPr txBox="1"/>
          <p:nvPr/>
        </p:nvSpPr>
        <p:spPr>
          <a:xfrm>
            <a:off x="3444545" y="4343400"/>
            <a:ext cx="1728216"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Feedback efficacy prediction</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9" name="Text 37"/>
          <p:cNvSpPr txBox="1"/>
          <p:nvPr/>
        </p:nvSpPr>
        <p:spPr>
          <a:xfrm>
            <a:off x="3444545" y="4700016"/>
            <a:ext cx="2459736"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Predict whether feedback will help before it is used, and hold back low-quality signals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40" name="Pillar"/>
          <p:cNvSpPr/>
          <p:nvPr/>
        </p:nvSpPr>
        <p:spPr>
          <a:xfrm>
            <a:off x="6175858" y="2414016"/>
            <a:ext cx="2697480" cy="365760"/>
          </a:xfrm>
          <a:prstGeom prst="roundRect">
            <a:avLst>
              <a:gd name="adj" fmla="val 20000"/>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 39"/>
          <p:cNvSpPr txBox="1"/>
          <p:nvPr/>
        </p:nvSpPr>
        <p:spPr>
          <a:xfrm>
            <a:off x="6175858" y="2414016"/>
            <a:ext cx="269748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Extend to reasoners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42" name="Text 40"/>
          <p:cNvSpPr txBox="1"/>
          <p:nvPr/>
        </p:nvSpPr>
        <p:spPr>
          <a:xfrm>
            <a:off x="6221578" y="2834640"/>
            <a:ext cx="260604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Underwriter feedback improves the reasoning, not only the answer</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43" name="Feedback Hub in Knowledge Studio"/>
          <p:cNvSpPr/>
          <p:nvPr/>
        </p:nvSpPr>
        <p:spPr>
          <a:xfrm>
            <a:off x="6175858" y="3291840"/>
            <a:ext cx="2697480" cy="914400"/>
          </a:xfrm>
          <a:prstGeom prst="roundRect">
            <a:avLst>
              <a:gd name="adj" fmla="val 8000"/>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Status"/>
          <p:cNvSpPr/>
          <p:nvPr/>
        </p:nvSpPr>
        <p:spPr>
          <a:xfrm>
            <a:off x="8041234" y="3383280"/>
            <a:ext cx="740664" cy="201168"/>
          </a:xfrm>
          <a:prstGeom prst="roundRect">
            <a:avLst>
              <a:gd name="adj" fmla="val 50000"/>
            </a:avLst>
          </a:prstGeom>
          <a:solidFill>
            <a:srgbClr val="C9D3FA"/>
          </a:solidFill>
          <a:ln w="12700">
            <a:solidFill>
              <a:srgbClr val="C9D3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5" name="Text 43"/>
          <p:cNvSpPr txBox="1"/>
          <p:nvPr/>
        </p:nvSpPr>
        <p:spPr>
          <a:xfrm>
            <a:off x="8041234" y="3383280"/>
            <a:ext cx="740664"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PRD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46" name="Text 44"/>
          <p:cNvSpPr txBox="1"/>
          <p:nvPr/>
        </p:nvSpPr>
        <p:spPr>
          <a:xfrm>
            <a:off x="6303874" y="3355848"/>
            <a:ext cx="1664208"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Reasoner feedback in Knowledge Studio</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 45"/>
          <p:cNvSpPr txBox="1"/>
          <p:nvPr/>
        </p:nvSpPr>
        <p:spPr>
          <a:xfrm>
            <a:off x="6303874" y="3712464"/>
            <a:ext cx="2459736"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Reasoner feedback captured at the condition and grouped by topic, such as DTI or self-employed income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48" name="Learning Run"/>
          <p:cNvSpPr/>
          <p:nvPr/>
        </p:nvSpPr>
        <p:spPr>
          <a:xfrm>
            <a:off x="6175858" y="4279392"/>
            <a:ext cx="2697480" cy="914400"/>
          </a:xfrm>
          <a:prstGeom prst="roundRect">
            <a:avLst>
              <a:gd name="adj" fmla="val 8000"/>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 name="Status"/>
          <p:cNvSpPr/>
          <p:nvPr/>
        </p:nvSpPr>
        <p:spPr>
          <a:xfrm>
            <a:off x="8041234" y="4370832"/>
            <a:ext cx="740664" cy="201168"/>
          </a:xfrm>
          <a:prstGeom prst="roundRect">
            <a:avLst>
              <a:gd name="adj" fmla="val 50000"/>
            </a:avLst>
          </a:prstGeom>
          <a:solidFill>
            <a:srgbClr val="C9D3FA"/>
          </a:solidFill>
          <a:ln w="12700">
            <a:solidFill>
              <a:srgbClr val="C9D3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 48"/>
          <p:cNvSpPr txBox="1"/>
          <p:nvPr/>
        </p:nvSpPr>
        <p:spPr>
          <a:xfrm>
            <a:off x="8041234" y="4370832"/>
            <a:ext cx="740664"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PRD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51" name="Text 49"/>
          <p:cNvSpPr txBox="1"/>
          <p:nvPr/>
        </p:nvSpPr>
        <p:spPr>
          <a:xfrm>
            <a:off x="6303874" y="4343400"/>
            <a:ext cx="1664208"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Learning Run</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52" name="Text 50"/>
          <p:cNvSpPr txBox="1"/>
          <p:nvPr/>
        </p:nvSpPr>
        <p:spPr>
          <a:xfrm>
            <a:off x="6303874" y="4700016"/>
            <a:ext cx="2459736"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Juno drafts the policy change; before and after on the feedback loans and golden dataset; one SME decision</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3" name="Pillar"/>
          <p:cNvSpPr/>
          <p:nvPr/>
        </p:nvSpPr>
        <p:spPr>
          <a:xfrm>
            <a:off x="9035186" y="2414016"/>
            <a:ext cx="2697480" cy="365760"/>
          </a:xfrm>
          <a:prstGeom prst="roundRect">
            <a:avLst>
              <a:gd name="adj" fmla="val 20000"/>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4" name="Text 52"/>
          <p:cNvSpPr txBox="1"/>
          <p:nvPr/>
        </p:nvSpPr>
        <p:spPr>
          <a:xfrm>
            <a:off x="9035186" y="2414016"/>
            <a:ext cx="2697480" cy="36576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Compound over time</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 53"/>
          <p:cNvSpPr txBox="1"/>
          <p:nvPr/>
        </p:nvSpPr>
        <p:spPr>
          <a:xfrm>
            <a:off x="9080906" y="2834640"/>
            <a:ext cx="260604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Each lender’s lessons keep adding value</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56" name="Policy driven feedback routing"/>
          <p:cNvSpPr/>
          <p:nvPr/>
        </p:nvSpPr>
        <p:spPr>
          <a:xfrm>
            <a:off x="9035186" y="3291840"/>
            <a:ext cx="2697480" cy="914400"/>
          </a:xfrm>
          <a:prstGeom prst="roundRect">
            <a:avLst>
              <a:gd name="adj" fmla="val 8000"/>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7" name="Status"/>
          <p:cNvSpPr/>
          <p:nvPr/>
        </p:nvSpPr>
        <p:spPr>
          <a:xfrm>
            <a:off x="10964570" y="3383280"/>
            <a:ext cx="676656" cy="201168"/>
          </a:xfrm>
          <a:prstGeom prst="roundRect">
            <a:avLst>
              <a:gd name="adj" fmla="val 50000"/>
            </a:avLst>
          </a:prstGeom>
          <a:solidFill>
            <a:srgbClr val="E4E6EE"/>
          </a:solidFill>
          <a:ln w="12700">
            <a:solidFill>
              <a:srgbClr val="E4E6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 56"/>
          <p:cNvSpPr txBox="1"/>
          <p:nvPr/>
        </p:nvSpPr>
        <p:spPr>
          <a:xfrm>
            <a:off x="10964570" y="3383280"/>
            <a:ext cx="676656"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TBD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59" name="Text 57"/>
          <p:cNvSpPr txBox="1"/>
          <p:nvPr/>
        </p:nvSpPr>
        <p:spPr>
          <a:xfrm>
            <a:off x="9163202" y="3355848"/>
            <a:ext cx="1728216"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Policy driven feedback routing</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60" name="Text 58"/>
          <p:cNvSpPr txBox="1"/>
          <p:nvPr/>
        </p:nvSpPr>
        <p:spPr>
          <a:xfrm>
            <a:off x="9163202" y="3712464"/>
            <a:ext cx="2459736"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Promote repeated lessons into reusable lender policy</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61" name="Implicit signals"/>
          <p:cNvSpPr/>
          <p:nvPr/>
        </p:nvSpPr>
        <p:spPr>
          <a:xfrm>
            <a:off x="9035186" y="4279392"/>
            <a:ext cx="2697480" cy="914400"/>
          </a:xfrm>
          <a:prstGeom prst="roundRect">
            <a:avLst>
              <a:gd name="adj" fmla="val 8000"/>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 62"/>
          <p:cNvSpPr txBox="1"/>
          <p:nvPr/>
        </p:nvSpPr>
        <p:spPr>
          <a:xfrm>
            <a:off x="9163202" y="4343400"/>
            <a:ext cx="1920240"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Implicit signals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65" name="Text 63"/>
          <p:cNvSpPr txBox="1"/>
          <p:nvPr/>
        </p:nvSpPr>
        <p:spPr>
          <a:xfrm>
            <a:off x="9163202" y="4700016"/>
            <a:ext cx="2459736"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Learn from what users do, as well as what they say</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66" name="Feedback to fine tuning"/>
          <p:cNvSpPr/>
          <p:nvPr/>
        </p:nvSpPr>
        <p:spPr>
          <a:xfrm>
            <a:off x="9035186" y="5266944"/>
            <a:ext cx="2697480" cy="914400"/>
          </a:xfrm>
          <a:prstGeom prst="roundRect">
            <a:avLst>
              <a:gd name="adj" fmla="val 8000"/>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Status"/>
          <p:cNvSpPr/>
          <p:nvPr/>
        </p:nvSpPr>
        <p:spPr>
          <a:xfrm>
            <a:off x="10964570" y="5358384"/>
            <a:ext cx="676656" cy="201168"/>
          </a:xfrm>
          <a:prstGeom prst="roundRect">
            <a:avLst>
              <a:gd name="adj" fmla="val 50000"/>
            </a:avLst>
          </a:prstGeom>
          <a:solidFill>
            <a:srgbClr val="E4E6EE"/>
          </a:solidFill>
          <a:ln w="12700">
            <a:solidFill>
              <a:srgbClr val="E4E6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8" name="Text 66"/>
          <p:cNvSpPr txBox="1"/>
          <p:nvPr/>
        </p:nvSpPr>
        <p:spPr>
          <a:xfrm>
            <a:off x="10964570" y="5358384"/>
            <a:ext cx="676656"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TBD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69" name="Text 67"/>
          <p:cNvSpPr txBox="1"/>
          <p:nvPr/>
        </p:nvSpPr>
        <p:spPr>
          <a:xfrm>
            <a:off x="9163202" y="5330952"/>
            <a:ext cx="1728216" cy="36576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Feedback to fine tuning</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70" name="Text 68"/>
          <p:cNvSpPr txBox="1"/>
          <p:nvPr/>
        </p:nvSpPr>
        <p:spPr>
          <a:xfrm>
            <a:off x="9163202" y="5687568"/>
            <a:ext cx="2459736"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Use validated, high confidence lessons to tune a model</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71"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
        <p:nvSpPr>
          <p:cNvPr id="73" name="Status">
            <a:extLst>
              <a:ext uri="{FF2B5EF4-FFF2-40B4-BE49-F238E27FC236}">
                <a16:creationId xmlns:a16="http://schemas.microsoft.com/office/drawing/2014/main" id="{423564FD-E5B1-3774-07DC-EFF1BE2CF3E4}"/>
              </a:ext>
            </a:extLst>
          </p:cNvPr>
          <p:cNvSpPr/>
          <p:nvPr/>
        </p:nvSpPr>
        <p:spPr>
          <a:xfrm>
            <a:off x="10987430" y="4389199"/>
            <a:ext cx="676656" cy="201168"/>
          </a:xfrm>
          <a:prstGeom prst="roundRect">
            <a:avLst>
              <a:gd name="adj" fmla="val 50000"/>
            </a:avLst>
          </a:prstGeom>
          <a:solidFill>
            <a:srgbClr val="E4E6EE"/>
          </a:solidFill>
          <a:ln w="12700">
            <a:solidFill>
              <a:srgbClr val="E4E6EE"/>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5" name="Text 56">
            <a:extLst>
              <a:ext uri="{FF2B5EF4-FFF2-40B4-BE49-F238E27FC236}">
                <a16:creationId xmlns:a16="http://schemas.microsoft.com/office/drawing/2014/main" id="{CCDF7567-F54E-5A53-C96F-A40F6C9F27C8}"/>
              </a:ext>
            </a:extLst>
          </p:cNvPr>
          <p:cNvSpPr txBox="1"/>
          <p:nvPr/>
        </p:nvSpPr>
        <p:spPr>
          <a:xfrm>
            <a:off x="10987430" y="4389199"/>
            <a:ext cx="676656"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TBD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77" name="Status">
            <a:extLst>
              <a:ext uri="{FF2B5EF4-FFF2-40B4-BE49-F238E27FC236}">
                <a16:creationId xmlns:a16="http://schemas.microsoft.com/office/drawing/2014/main" id="{835EE513-1344-12FD-2A86-432F65669D84}"/>
              </a:ext>
            </a:extLst>
          </p:cNvPr>
          <p:cNvSpPr/>
          <p:nvPr/>
        </p:nvSpPr>
        <p:spPr>
          <a:xfrm>
            <a:off x="2395532" y="3505358"/>
            <a:ext cx="676656" cy="201168"/>
          </a:xfrm>
          <a:prstGeom prst="roundRect">
            <a:avLst>
              <a:gd name="adj" fmla="val 50000"/>
            </a:avLst>
          </a:prstGeom>
          <a:solidFill>
            <a:srgbClr val="C9D3FA"/>
          </a:solidFill>
          <a:ln w="12700">
            <a:solidFill>
              <a:srgbClr val="C9D3F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9" name="Text 17">
            <a:extLst>
              <a:ext uri="{FF2B5EF4-FFF2-40B4-BE49-F238E27FC236}">
                <a16:creationId xmlns:a16="http://schemas.microsoft.com/office/drawing/2014/main" id="{6711265B-6EB1-7472-4035-FA3CD86AEAD1}"/>
              </a:ext>
            </a:extLst>
          </p:cNvPr>
          <p:cNvSpPr txBox="1"/>
          <p:nvPr/>
        </p:nvSpPr>
        <p:spPr>
          <a:xfrm>
            <a:off x="2395532" y="3505358"/>
            <a:ext cx="676656" cy="20116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PRD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074920" y="4526280"/>
            <a:ext cx="7132320" cy="1920240"/>
          </a:xfrm>
          <a:prstGeom prst="rect">
            <a:avLst/>
          </a:prstGeom>
        </p:spPr>
      </p:pic>
      <p:sp>
        <p:nvSpPr>
          <p:cNvPr id="3" name="Section panel"/>
          <p:cNvSpPr/>
          <p:nvPr/>
        </p:nvSpPr>
        <p:spPr>
          <a:xfrm>
            <a:off x="0" y="1170432"/>
            <a:ext cx="5394960" cy="4114800"/>
          </a:xfrm>
          <a:prstGeom prst="snip1Rect">
            <a:avLst/>
          </a:prstGeom>
          <a:solidFill>
            <a:srgbClr val="5069EC"/>
          </a:solidFill>
          <a:ln w="1270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 name="Text 1"/>
          <p:cNvSpPr txBox="1"/>
          <p:nvPr/>
        </p:nvSpPr>
        <p:spPr>
          <a:xfrm>
            <a:off x="411480" y="2240280"/>
            <a:ext cx="45720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100" normalizeH="0" baseline="0" noProof="0">
                <a:ln>
                  <a:noFill/>
                </a:ln>
                <a:solidFill>
                  <a:srgbClr val="FFFFFF"/>
                </a:solidFill>
                <a:effectLst/>
                <a:uLnTx/>
                <a:uFillTx/>
                <a:latin typeface="Calibri" pitchFamily="34" charset="0"/>
                <a:ea typeface="Calibri" pitchFamily="34" charset="-122"/>
                <a:cs typeface="Calibri" pitchFamily="34" charset="-120"/>
              </a:rPr>
              <a:t>02</a:t>
            </a:r>
            <a:endParaRPr kumimoji="0" lang="en-US" sz="1600" b="0" i="0" u="none" strike="noStrike" kern="1200" cap="none" spc="0" normalizeH="0" baseline="0" noProof="0">
              <a:ln>
                <a:noFill/>
              </a:ln>
              <a:solidFill>
                <a:prstClr val="black"/>
              </a:solidFill>
              <a:effectLst/>
              <a:uLnTx/>
              <a:uFillTx/>
              <a:latin typeface="Calibri"/>
              <a:ea typeface="+mn-ea"/>
              <a:cs typeface="+mn-cs"/>
            </a:endParaRPr>
          </a:p>
        </p:txBody>
      </p:sp>
      <p:sp>
        <p:nvSpPr>
          <p:cNvPr id="5" name="Section title"/>
          <p:cNvSpPr txBox="1"/>
          <p:nvPr/>
        </p:nvSpPr>
        <p:spPr>
          <a:xfrm>
            <a:off x="411480" y="2651760"/>
            <a:ext cx="475488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ROSI</a:t>
            </a:r>
            <a:endParaRPr kumimoji="0" lang="en-US" sz="3600" b="0" i="0" u="none" strike="noStrike" kern="1200" cap="none" spc="0" normalizeH="0" baseline="0" noProof="0">
              <a:ln>
                <a:noFill/>
              </a:ln>
              <a:solidFill>
                <a:prstClr val="black"/>
              </a:solidFill>
              <a:effectLst/>
              <a:uLnTx/>
              <a:uFillTx/>
              <a:latin typeface="Calibri"/>
              <a:ea typeface="+mn-ea"/>
              <a:cs typeface="+mn-cs"/>
            </a:endParaRPr>
          </a:p>
        </p:txBody>
      </p:sp>
      <p:sp>
        <p:nvSpPr>
          <p:cNvPr id="6" name="Text 3"/>
          <p:cNvSpPr txBox="1"/>
          <p:nvPr/>
        </p:nvSpPr>
        <p:spPr>
          <a:xfrm>
            <a:off x="411480" y="3474720"/>
            <a:ext cx="4754880" cy="6858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Recorded Outcomes, Supervised Improvement</a:t>
            </a:r>
            <a:endParaRPr kumimoji="0" lang="en-US" sz="16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 4"/>
          <p:cNvSpPr txBox="1"/>
          <p:nvPr/>
        </p:nvSpPr>
        <p:spPr>
          <a:xfrm>
            <a:off x="6035040" y="2331720"/>
            <a:ext cx="5669280" cy="12801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C9D3FA"/>
                </a:solidFill>
                <a:effectLst/>
                <a:uLnTx/>
                <a:uFillTx/>
                <a:latin typeface="Calibri" pitchFamily="34" charset="0"/>
                <a:ea typeface="Calibri" pitchFamily="34" charset="-122"/>
                <a:cs typeface="Calibri" pitchFamily="34" charset="-120"/>
              </a:rPr>
              <a:t>The platform learns from what happens on real files and proves each change before an SME approves it.</a:t>
            </a:r>
            <a:endParaRPr kumimoji="0" lang="en-US" sz="2000" b="0" i="0" u="none" strike="noStrike" kern="1200" cap="none" spc="0" normalizeH="0" baseline="0" noProof="0">
              <a:ln>
                <a:noFill/>
              </a:ln>
              <a:solidFill>
                <a:prstClr val="black"/>
              </a:solidFill>
              <a:effectLst/>
              <a:uLnTx/>
              <a:uFillTx/>
              <a:latin typeface="Calibri"/>
              <a:ea typeface="+mn-ea"/>
              <a:cs typeface="+mn-cs"/>
            </a:endParaRPr>
          </a:p>
        </p:txBody>
      </p:sp>
      <p:sp>
        <p:nvSpPr>
          <p:cNvPr id="8"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9" name="Footer dot"/>
          <p:cNvSpPr/>
          <p:nvPr/>
        </p:nvSpPr>
        <p:spPr>
          <a:xfrm>
            <a:off x="8814816" y="6533388"/>
            <a:ext cx="82296" cy="82296"/>
          </a:xfrm>
          <a:prstGeom prst="ellipse">
            <a:avLst/>
          </a:prstGeom>
          <a:solidFill>
            <a:srgbClr val="0D9595"/>
          </a:solidFill>
          <a:ln w="12700">
            <a:solidFill>
              <a:srgbClr val="0D959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 7"/>
          <p:cNvSpPr txBox="1"/>
          <p:nvPr/>
        </p:nvSpPr>
        <p:spPr>
          <a:xfrm>
            <a:off x="8961120" y="6437376"/>
            <a:ext cx="25603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Confidential &amp; Proprietary  |  © 2026 JazzX AI</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FFFFFF"/>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FFFFFF"/>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US" sz="900" b="0" i="0" u="none" strike="noStrike" kern="1200" cap="none" spc="0" normalizeH="0" baseline="0" noProof="0">
              <a:ln>
                <a:noFill/>
              </a:ln>
              <a:solidFill>
                <a:srgbClr val="FFFFFF"/>
              </a:solidFill>
              <a:effectLst/>
              <a:uLnTx/>
              <a:uFillTx/>
              <a:latin typeface="Calibri"/>
              <a:ea typeface="Calibri"/>
              <a:cs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ROSI  ·  WHAT IT IS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In context learning learns from </a:t>
            </a:r>
            <a:r>
              <a:rPr lang="en-US" sz="2600" b="1" u="sng">
                <a:solidFill>
                  <a:srgbClr val="3600AD"/>
                </a:solidFill>
                <a:latin typeface="Calibri" pitchFamily="34" charset="0"/>
                <a:ea typeface="Calibri" pitchFamily="34" charset="-122"/>
                <a:cs typeface="Calibri" pitchFamily="34" charset="-120"/>
              </a:rPr>
              <a:t>what people say</a:t>
            </a:r>
            <a:r>
              <a:rPr lang="en-US" sz="2600" b="1">
                <a:solidFill>
                  <a:srgbClr val="3600AD"/>
                </a:solidFill>
                <a:latin typeface="Calibri" pitchFamily="34" charset="0"/>
                <a:ea typeface="Calibri" pitchFamily="34" charset="-122"/>
                <a:cs typeface="Calibri" pitchFamily="34" charset="-120"/>
              </a:rPr>
              <a:t>; ROSI learns from </a:t>
            </a:r>
            <a:r>
              <a:rPr lang="en-US" sz="2600" b="1" u="sng">
                <a:solidFill>
                  <a:srgbClr val="3600AD"/>
                </a:solidFill>
                <a:latin typeface="Calibri" pitchFamily="34" charset="0"/>
                <a:ea typeface="Calibri" pitchFamily="34" charset="-122"/>
                <a:cs typeface="Calibri" pitchFamily="34" charset="-120"/>
              </a:rPr>
              <a:t>what happens</a:t>
            </a:r>
            <a:endParaRPr lang="en-US" sz="2600" u="sng"/>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What is in production today, what ROSI adds, and how the two fit together</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 5"/>
          <p:cNvSpPr txBox="1"/>
          <p:nvPr/>
        </p:nvSpPr>
        <p:spPr>
          <a:xfrm>
            <a:off x="457200" y="1463040"/>
            <a:ext cx="2286000" cy="4389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5B2D8E"/>
                </a:solidFill>
                <a:effectLst/>
                <a:uLnTx/>
                <a:uFillTx/>
                <a:latin typeface="Calibri" pitchFamily="34" charset="0"/>
                <a:ea typeface="Calibri" pitchFamily="34" charset="-122"/>
                <a:cs typeface="Calibri" pitchFamily="34" charset="-120"/>
              </a:rPr>
              <a:t>WHERE AN AGENT CAN LEARN</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8" name="Context"/>
          <p:cNvSpPr/>
          <p:nvPr/>
        </p:nvSpPr>
        <p:spPr>
          <a:xfrm>
            <a:off x="2743200" y="1463040"/>
            <a:ext cx="2926080" cy="438912"/>
          </a:xfrm>
          <a:prstGeom prst="roundRect">
            <a:avLst>
              <a:gd name="adj" fmla="val 16667"/>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Text 7"/>
          <p:cNvSpPr txBox="1"/>
          <p:nvPr/>
        </p:nvSpPr>
        <p:spPr>
          <a:xfrm>
            <a:off x="2852928" y="1463040"/>
            <a:ext cx="1595628" cy="4389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Context  </a:t>
            </a:r>
            <a:r>
              <a:rPr kumimoji="0" lang="en-US" sz="100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prompts, lessons</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0" name="Pill"/>
          <p:cNvSpPr/>
          <p:nvPr/>
        </p:nvSpPr>
        <p:spPr>
          <a:xfrm>
            <a:off x="4521708" y="1572768"/>
            <a:ext cx="1056132" cy="219456"/>
          </a:xfrm>
          <a:prstGeom prst="roundRect">
            <a:avLst>
              <a:gd name="adj" fmla="val 50000"/>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 9"/>
          <p:cNvSpPr txBox="1"/>
          <p:nvPr/>
        </p:nvSpPr>
        <p:spPr>
          <a:xfrm>
            <a:off x="4521708" y="1572768"/>
            <a:ext cx="1056132" cy="21945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In production</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12" name="Harness"/>
          <p:cNvSpPr/>
          <p:nvPr/>
        </p:nvSpPr>
        <p:spPr>
          <a:xfrm>
            <a:off x="5760720" y="1463040"/>
            <a:ext cx="2926080" cy="438912"/>
          </a:xfrm>
          <a:prstGeom prst="roundRect">
            <a:avLst>
              <a:gd name="adj" fmla="val 16667"/>
            </a:avLst>
          </a:prstGeom>
          <a:solidFill>
            <a:srgbClr val="F3F6FF"/>
          </a:solidFill>
          <a:ln w="9525">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 11"/>
          <p:cNvSpPr txBox="1"/>
          <p:nvPr/>
        </p:nvSpPr>
        <p:spPr>
          <a:xfrm>
            <a:off x="5870448" y="1463040"/>
            <a:ext cx="2212848" cy="4389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Harness  </a:t>
            </a:r>
            <a:r>
              <a:rPr kumimoji="0" lang="en-US" sz="100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rules, templates, tools, code</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4" name="Pill"/>
          <p:cNvSpPr/>
          <p:nvPr/>
        </p:nvSpPr>
        <p:spPr>
          <a:xfrm>
            <a:off x="8156448" y="1572768"/>
            <a:ext cx="438912" cy="219456"/>
          </a:xfrm>
          <a:prstGeom prst="roundRect">
            <a:avLst>
              <a:gd name="adj" fmla="val 50000"/>
            </a:avLst>
          </a:prstGeom>
          <a:solidFill>
            <a:srgbClr val="5069EC"/>
          </a:solidFill>
          <a:ln w="1270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Text 13"/>
          <p:cNvSpPr txBox="1"/>
          <p:nvPr/>
        </p:nvSpPr>
        <p:spPr>
          <a:xfrm>
            <a:off x="8156448" y="1572768"/>
            <a:ext cx="438912" cy="21945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ROSI</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16" name="Model"/>
          <p:cNvSpPr/>
          <p:nvPr/>
        </p:nvSpPr>
        <p:spPr>
          <a:xfrm>
            <a:off x="8778240" y="1463040"/>
            <a:ext cx="2926080" cy="438912"/>
          </a:xfrm>
          <a:prstGeom prst="roundRect">
            <a:avLst>
              <a:gd name="adj" fmla="val 16667"/>
            </a:avLst>
          </a:prstGeom>
          <a:solidFill>
            <a:srgbClr val="F4F5F8"/>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Text 15"/>
          <p:cNvSpPr txBox="1"/>
          <p:nvPr/>
        </p:nvSpPr>
        <p:spPr>
          <a:xfrm>
            <a:off x="8887968" y="1463040"/>
            <a:ext cx="1664208" cy="43891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Model  </a:t>
            </a:r>
            <a:r>
              <a:rPr kumimoji="0" lang="en-US" sz="100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the weights</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18" name="Pill"/>
          <p:cNvSpPr/>
          <p:nvPr/>
        </p:nvSpPr>
        <p:spPr>
          <a:xfrm>
            <a:off x="10625328" y="1572768"/>
            <a:ext cx="987552" cy="219456"/>
          </a:xfrm>
          <a:prstGeom prst="roundRect">
            <a:avLst>
              <a:gd name="adj" fmla="val 50000"/>
            </a:avLst>
          </a:prstGeom>
          <a:solidFill>
            <a:srgbClr val="DDE1EA"/>
          </a:solidFill>
          <a:ln w="12700">
            <a:solidFill>
              <a:srgbClr val="DDE1EA"/>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 17"/>
          <p:cNvSpPr txBox="1"/>
          <p:nvPr/>
        </p:nvSpPr>
        <p:spPr>
          <a:xfrm>
            <a:off x="10625328" y="1572768"/>
            <a:ext cx="987552" cy="21945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00" b="1"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Not in scope</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20" name="ICL header"/>
          <p:cNvSpPr/>
          <p:nvPr/>
        </p:nvSpPr>
        <p:spPr>
          <a:xfrm>
            <a:off x="2103120" y="2084832"/>
            <a:ext cx="4069080" cy="566928"/>
          </a:xfrm>
          <a:prstGeom prst="roundRect">
            <a:avLst>
              <a:gd name="adj" fmla="val 12903"/>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 19"/>
          <p:cNvSpPr txBox="1"/>
          <p:nvPr/>
        </p:nvSpPr>
        <p:spPr>
          <a:xfrm>
            <a:off x="2267712" y="2084832"/>
            <a:ext cx="3794760"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200" normalizeH="0" baseline="0" noProof="0">
                <a:ln>
                  <a:noFill/>
                </a:ln>
                <a:solidFill>
                  <a:srgbClr val="0D9488"/>
                </a:solidFill>
                <a:effectLst/>
                <a:uLnTx/>
                <a:uFillTx/>
                <a:latin typeface="Calibri" pitchFamily="34" charset="0"/>
                <a:ea typeface="Calibri" pitchFamily="34" charset="-122"/>
                <a:cs typeface="Calibri" pitchFamily="34" charset="-120"/>
              </a:rPr>
              <a:t>IN PRODUCTION</a:t>
            </a:r>
            <a:endParaRPr kumimoji="0" lang="en-US" sz="95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In context learning</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22" name="ROSI header"/>
          <p:cNvSpPr/>
          <p:nvPr/>
        </p:nvSpPr>
        <p:spPr>
          <a:xfrm>
            <a:off x="6263640" y="2084832"/>
            <a:ext cx="5468112" cy="566928"/>
          </a:xfrm>
          <a:prstGeom prst="roundRect">
            <a:avLst>
              <a:gd name="adj" fmla="val 12903"/>
            </a:avLst>
          </a:prstGeom>
          <a:solidFill>
            <a:srgbClr val="1B0065"/>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3" name="Text 21"/>
          <p:cNvSpPr txBox="1"/>
          <p:nvPr/>
        </p:nvSpPr>
        <p:spPr>
          <a:xfrm>
            <a:off x="6428232" y="2084832"/>
            <a:ext cx="5193792" cy="56692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0" cap="none" spc="200" normalizeH="0" baseline="0" noProof="0">
                <a:ln>
                  <a:noFill/>
                </a:ln>
                <a:solidFill>
                  <a:srgbClr val="03CBA9"/>
                </a:solidFill>
                <a:effectLst/>
                <a:uLnTx/>
                <a:uFillTx/>
                <a:latin typeface="Calibri" pitchFamily="34" charset="0"/>
                <a:ea typeface="Calibri" pitchFamily="34" charset="-122"/>
                <a:cs typeface="Calibri" pitchFamily="34" charset="-120"/>
              </a:rPr>
              <a:t>PROPOSAL, PROTOTYPE RUNNING</a:t>
            </a:r>
            <a:endParaRPr kumimoji="0" lang="en-US" sz="95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5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ROSI: Recorded Outcomes, Supervised Improvement</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24" name="Text 22"/>
          <p:cNvSpPr txBox="1"/>
          <p:nvPr/>
        </p:nvSpPr>
        <p:spPr>
          <a:xfrm>
            <a:off x="457200" y="2715768"/>
            <a:ext cx="155448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Learns from</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25" name="Row rule"/>
          <p:cNvSpPr/>
          <p:nvPr/>
        </p:nvSpPr>
        <p:spPr>
          <a:xfrm>
            <a:off x="457200" y="3099816"/>
            <a:ext cx="11274552" cy="0"/>
          </a:xfrm>
          <a:prstGeom prst="line">
            <a:avLst/>
          </a:prstGeom>
          <a:no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 name="Text 24"/>
          <p:cNvSpPr txBox="1"/>
          <p:nvPr/>
        </p:nvSpPr>
        <p:spPr>
          <a:xfrm>
            <a:off x="2267712" y="2715768"/>
            <a:ext cx="37947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What people tell it: a thumbs down, a correction, an SME edit</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27" name="Text 25"/>
          <p:cNvSpPr txBox="1"/>
          <p:nvPr/>
        </p:nvSpPr>
        <p:spPr>
          <a:xfrm>
            <a:off x="6428232" y="2715768"/>
            <a:ext cx="5193792"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What happens across many files: feedback, plus retries, overrides, conditions cleared, manual rework and outcomes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28" name="Text 26"/>
          <p:cNvSpPr txBox="1"/>
          <p:nvPr/>
        </p:nvSpPr>
        <p:spPr>
          <a:xfrm>
            <a:off x="457200" y="3118104"/>
            <a:ext cx="155448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Finds the cause</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29" name="Row rule"/>
          <p:cNvSpPr/>
          <p:nvPr/>
        </p:nvSpPr>
        <p:spPr>
          <a:xfrm>
            <a:off x="457200" y="3502152"/>
            <a:ext cx="11274552" cy="0"/>
          </a:xfrm>
          <a:prstGeom prst="line">
            <a:avLst/>
          </a:prstGeom>
          <a:no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0" name="Text 28"/>
          <p:cNvSpPr txBox="1"/>
          <p:nvPr/>
        </p:nvSpPr>
        <p:spPr>
          <a:xfrm>
            <a:off x="2267712" y="3118104"/>
            <a:ext cx="37947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The person giving the feedback, from experience</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1" name="Text 29"/>
          <p:cNvSpPr txBox="1"/>
          <p:nvPr/>
        </p:nvSpPr>
        <p:spPr>
          <a:xfrm>
            <a:off x="6428232" y="3118104"/>
            <a:ext cx="5193792"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Attribution traces the symptom to the component at fault and names the test that would confirm it</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2" name="Text 30"/>
          <p:cNvSpPr txBox="1"/>
          <p:nvPr/>
        </p:nvSpPr>
        <p:spPr>
          <a:xfrm>
            <a:off x="457200" y="3520440"/>
            <a:ext cx="155448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What changes</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33" name="Row rule"/>
          <p:cNvSpPr/>
          <p:nvPr/>
        </p:nvSpPr>
        <p:spPr>
          <a:xfrm>
            <a:off x="457200" y="3904488"/>
            <a:ext cx="11274552" cy="0"/>
          </a:xfrm>
          <a:prstGeom prst="line">
            <a:avLst/>
          </a:prstGeom>
          <a:no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4" name="Text 32"/>
          <p:cNvSpPr txBox="1"/>
          <p:nvPr/>
        </p:nvSpPr>
        <p:spPr>
          <a:xfrm>
            <a:off x="2267712" y="3520440"/>
            <a:ext cx="37947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Guidance in the prompt of an agent, reasoner or process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5" name="Text 33"/>
          <p:cNvSpPr txBox="1"/>
          <p:nvPr/>
        </p:nvSpPr>
        <p:spPr>
          <a:xfrm>
            <a:off x="6428232" y="3520440"/>
            <a:ext cx="5193792"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The component itself: a policy rule, overlay, document template, retrieval setting, tool or code</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6" name="Text 34"/>
          <p:cNvSpPr txBox="1"/>
          <p:nvPr/>
        </p:nvSpPr>
        <p:spPr>
          <a:xfrm>
            <a:off x="457200" y="3922776"/>
            <a:ext cx="155448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Proven by</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37" name="Row rule"/>
          <p:cNvSpPr/>
          <p:nvPr/>
        </p:nvSpPr>
        <p:spPr>
          <a:xfrm>
            <a:off x="457200" y="4306824"/>
            <a:ext cx="11274552" cy="0"/>
          </a:xfrm>
          <a:prstGeom prst="line">
            <a:avLst/>
          </a:prstGeom>
          <a:no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Text 36"/>
          <p:cNvSpPr txBox="1"/>
          <p:nvPr/>
        </p:nvSpPr>
        <p:spPr>
          <a:xfrm>
            <a:off x="2267712" y="3922776"/>
            <a:ext cx="37947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SME review; before and after test on the lesson, in build</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9" name="Text 37"/>
          <p:cNvSpPr txBox="1"/>
          <p:nvPr/>
        </p:nvSpPr>
        <p:spPr>
          <a:xfrm>
            <a:off x="6428232" y="3922776"/>
            <a:ext cx="5193792"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Replay on recorded cases next to the live version, held out cases, regressions and cost</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40" name="Text 38"/>
          <p:cNvSpPr txBox="1"/>
          <p:nvPr/>
        </p:nvSpPr>
        <p:spPr>
          <a:xfrm>
            <a:off x="457200" y="4325112"/>
            <a:ext cx="155448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Decided by</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41" name="Row rule"/>
          <p:cNvSpPr/>
          <p:nvPr/>
        </p:nvSpPr>
        <p:spPr>
          <a:xfrm>
            <a:off x="457200" y="4709160"/>
            <a:ext cx="11274552" cy="0"/>
          </a:xfrm>
          <a:prstGeom prst="line">
            <a:avLst/>
          </a:prstGeom>
          <a:no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2" name="Text 40"/>
          <p:cNvSpPr txBox="1"/>
          <p:nvPr/>
        </p:nvSpPr>
        <p:spPr>
          <a:xfrm>
            <a:off x="2267712" y="4325112"/>
            <a:ext cx="379476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An SME approves each lesson</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43" name="Text 41"/>
          <p:cNvSpPr txBox="1"/>
          <p:nvPr/>
        </p:nvSpPr>
        <p:spPr>
          <a:xfrm>
            <a:off x="6428232" y="4325112"/>
            <a:ext cx="5193792"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An SME approves the exact version, which ships with a rollback point</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 42"/>
          <p:cNvSpPr txBox="1"/>
          <p:nvPr/>
        </p:nvSpPr>
        <p:spPr>
          <a:xfrm>
            <a:off x="457200" y="4782312"/>
            <a:ext cx="155448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Example</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45" name="ICL example"/>
          <p:cNvSpPr/>
          <p:nvPr/>
        </p:nvSpPr>
        <p:spPr>
          <a:xfrm>
            <a:off x="2103120" y="4782312"/>
            <a:ext cx="4069080" cy="822960"/>
          </a:xfrm>
          <a:prstGeom prst="roundRect">
            <a:avLst>
              <a:gd name="adj" fmla="val 8889"/>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6" name="Text 44"/>
          <p:cNvSpPr txBox="1"/>
          <p:nvPr/>
        </p:nvSpPr>
        <p:spPr>
          <a:xfrm>
            <a:off x="2267712" y="4782312"/>
            <a:ext cx="3794760"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An underwriter flags that Jazz listed paystub and W‑2 figures without reconciling them. The SME approves the correction, and from the next question on, Jazz does the math.</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7" name="ROSI example"/>
          <p:cNvSpPr/>
          <p:nvPr/>
        </p:nvSpPr>
        <p:spPr>
          <a:xfrm>
            <a:off x="6263640" y="4782312"/>
            <a:ext cx="5468112" cy="822960"/>
          </a:xfrm>
          <a:prstGeom prst="roundRect">
            <a:avLst>
              <a:gd name="adj" fmla="val 8889"/>
            </a:avLst>
          </a:prstGeom>
          <a:solidFill>
            <a:srgbClr val="F3F6FF"/>
          </a:solidFill>
          <a:ln w="9525">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8" name="Text 46"/>
          <p:cNvSpPr txBox="1"/>
          <p:nvPr/>
        </p:nvSpPr>
        <p:spPr>
          <a:xfrm>
            <a:off x="6428232" y="4782312"/>
            <a:ext cx="5193792" cy="8229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Underwriters at one lender keep clearing the same reserves condition on primary residence files, and nobody files feedback. ROSI finds the pattern, traces it to a reserves rule applied to the wrong occupancy type, drafts the rule change, replays it on funded loans and sends it to the lender’s SME.</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9" name="Fit"/>
          <p:cNvSpPr/>
          <p:nvPr/>
        </p:nvSpPr>
        <p:spPr>
          <a:xfrm>
            <a:off x="457200" y="5715000"/>
            <a:ext cx="11274552" cy="576072"/>
          </a:xfrm>
          <a:prstGeom prst="roundRect">
            <a:avLst>
              <a:gd name="adj" fmla="val 12698"/>
            </a:avLst>
          </a:prstGeom>
          <a:solidFill>
            <a:srgbClr val="1B0065"/>
          </a:solidFill>
          <a:ln w="9525">
            <a:solidFill>
              <a:srgbClr val="1B0065"/>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 48"/>
          <p:cNvSpPr txBox="1"/>
          <p:nvPr/>
        </p:nvSpPr>
        <p:spPr>
          <a:xfrm>
            <a:off x="685800" y="5715000"/>
            <a:ext cx="10881360" cy="5760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200" normalizeH="0" baseline="0" noProof="0">
                <a:ln>
                  <a:noFill/>
                </a:ln>
                <a:solidFill>
                  <a:srgbClr val="03CBA9"/>
                </a:solidFill>
                <a:effectLst/>
                <a:uLnTx/>
                <a:uFillTx/>
                <a:latin typeface="Calibri" pitchFamily="34" charset="0"/>
                <a:ea typeface="Calibri" pitchFamily="34" charset="-122"/>
                <a:cs typeface="Calibri" pitchFamily="34" charset="-120"/>
              </a:rPr>
              <a:t>HOW THEY FIT   </a:t>
            </a:r>
            <a:r>
              <a:rPr kumimoji="0" lang="en-US" sz="120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ROSI builds on what is in production: feedback capture, reflection, in context learning and evaluation. It also ranks and governs what enters the context, so in context learning can also get better over time.</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1"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ROSI  ·  USE CASES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ROSI targets the costly problems repeating across </a:t>
            </a:r>
            <a:r>
              <a:rPr lang="en-US"/>
              <a:t>loan </a:t>
            </a:r>
            <a:r>
              <a:rPr lang="en-US" sz="2600" b="1">
                <a:solidFill>
                  <a:srgbClr val="3600AD"/>
                </a:solidFill>
                <a:latin typeface="Calibri" pitchFamily="34" charset="0"/>
                <a:ea typeface="Calibri" pitchFamily="34" charset="-122"/>
                <a:cs typeface="Calibri" pitchFamily="34" charset="-120"/>
              </a:rPr>
              <a:t>files</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In each case the cause sits away from where the problem shows up, so finding it takes evidence from many files</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Conditions the lender pays for twice"/>
          <p:cNvSpPr/>
          <p:nvPr/>
        </p:nvSpPr>
        <p:spPr>
          <a:xfrm>
            <a:off x="457200" y="1463040"/>
            <a:ext cx="2697480" cy="4828032"/>
          </a:xfrm>
          <a:prstGeom prst="roundRect">
            <a:avLst>
              <a:gd name="adj" fmla="val 271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Icon circle"/>
          <p:cNvSpPr/>
          <p:nvPr/>
        </p:nvSpPr>
        <p:spPr>
          <a:xfrm>
            <a:off x="603504" y="1581912"/>
            <a:ext cx="347472" cy="347472"/>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9" name="Image 0" descr="preencoded.png"/>
          <p:cNvPicPr>
            <a:picLocks noChangeAspect="1"/>
          </p:cNvPicPr>
          <p:nvPr/>
        </p:nvPicPr>
        <p:blipFill>
          <a:blip r:embed="rId3"/>
          <a:stretch>
            <a:fillRect/>
          </a:stretch>
        </p:blipFill>
        <p:spPr>
          <a:xfrm>
            <a:off x="690372" y="1668780"/>
            <a:ext cx="173736" cy="173736"/>
          </a:xfrm>
          <a:prstGeom prst="rect">
            <a:avLst/>
          </a:prstGeom>
        </p:spPr>
      </p:pic>
      <p:sp>
        <p:nvSpPr>
          <p:cNvPr id="10" name="Text 7"/>
          <p:cNvSpPr txBox="1"/>
          <p:nvPr/>
        </p:nvSpPr>
        <p:spPr>
          <a:xfrm>
            <a:off x="1024128" y="1581912"/>
            <a:ext cx="1984248"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069EC"/>
                </a:solidFill>
                <a:effectLst/>
                <a:uLnTx/>
                <a:uFillTx/>
                <a:latin typeface="Calibri" pitchFamily="34" charset="0"/>
                <a:ea typeface="Calibri" pitchFamily="34" charset="-122"/>
                <a:cs typeface="Calibri" pitchFamily="34" charset="-120"/>
              </a:rPr>
              <a:t>RESIDENTIAL MORTGAGE</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 8"/>
          <p:cNvSpPr txBox="1"/>
          <p:nvPr/>
        </p:nvSpPr>
        <p:spPr>
          <a:xfrm>
            <a:off x="603504" y="1993392"/>
            <a:ext cx="2404872" cy="42062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Conditions the lender pays for twice</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 9"/>
          <p:cNvSpPr txBox="1"/>
          <p:nvPr/>
        </p:nvSpPr>
        <p:spPr>
          <a:xfrm>
            <a:off x="603504" y="2441448"/>
            <a:ext cx="2404872"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Underwriters clear the same conditions file after file, and the system raises them again next month.</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13" name="Pattern"/>
          <p:cNvSpPr/>
          <p:nvPr/>
        </p:nvSpPr>
        <p:spPr>
          <a:xfrm>
            <a:off x="530352" y="2944368"/>
            <a:ext cx="2551176" cy="914400"/>
          </a:xfrm>
          <a:prstGeom prst="roundRect">
            <a:avLst>
              <a:gd name="adj" fmla="val 6000"/>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 11"/>
          <p:cNvSpPr txBox="1"/>
          <p:nvPr/>
        </p:nvSpPr>
        <p:spPr>
          <a:xfrm>
            <a:off x="603504" y="3008376"/>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069EC"/>
                </a:solidFill>
                <a:effectLst/>
                <a:uLnTx/>
                <a:uFillTx/>
                <a:latin typeface="Calibri" pitchFamily="34" charset="0"/>
                <a:ea typeface="Calibri" pitchFamily="34" charset="-122"/>
                <a:cs typeface="Calibri" pitchFamily="34" charset="-120"/>
              </a:rPr>
              <a:t>A PATTERN ROSI WOULD FIND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15" name="Text 12"/>
          <p:cNvSpPr txBox="1"/>
          <p:nvPr/>
        </p:nvSpPr>
        <p:spPr>
          <a:xfrm>
            <a:off x="603504" y="3191256"/>
            <a:ext cx="2404872" cy="6309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Self employment conditions cleared for borrowers with a year in business and prior years in the same line. </a:t>
            </a:r>
            <a:r>
              <a:rPr kumimoji="0" lang="en-US" sz="100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Cause: </a:t>
            </a:r>
            <a:r>
              <a:rPr kumimoji="0" lang="en-US" sz="10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 rule with no exception for that history.</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16" name="Customer outcome"/>
          <p:cNvSpPr/>
          <p:nvPr/>
        </p:nvSpPr>
        <p:spPr>
          <a:xfrm>
            <a:off x="530352" y="3931920"/>
            <a:ext cx="2551176" cy="1207008"/>
          </a:xfrm>
          <a:prstGeom prst="roundRect">
            <a:avLst>
              <a:gd name="adj" fmla="val 4545"/>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Text 14"/>
          <p:cNvSpPr txBox="1"/>
          <p:nvPr/>
        </p:nvSpPr>
        <p:spPr>
          <a:xfrm>
            <a:off x="603504" y="3995928"/>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0D9488"/>
                </a:solidFill>
                <a:effectLst/>
                <a:uLnTx/>
                <a:uFillTx/>
                <a:latin typeface="Calibri" pitchFamily="34" charset="0"/>
                <a:ea typeface="Calibri" pitchFamily="34" charset="-122"/>
                <a:cs typeface="Calibri" pitchFamily="34" charset="-120"/>
              </a:rPr>
              <a:t>WHAT THE CUSTOMER SEES</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18" name="Text 15"/>
          <p:cNvSpPr txBox="1"/>
          <p:nvPr/>
        </p:nvSpPr>
        <p:spPr>
          <a:xfrm>
            <a:off x="603504" y="4187952"/>
            <a:ext cx="2404872" cy="914400"/>
          </a:xfrm>
          <a:prstGeom prst="rect">
            <a:avLst/>
          </a:prstGeom>
          <a:noFill/>
          <a:ln/>
        </p:spPr>
        <p:txBody>
          <a:bodyPr wrap="square" lIns="0" tIns="0" rIns="0" bIns="0" rtlCol="0" anchor="t"/>
          <a:lstStyle/>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Only the conditions this lender would issue</a:t>
            </a:r>
            <a:endParaRPr kumimoji="0" lang="en-US" sz="9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Fewer borrower requests on every later file</a:t>
            </a:r>
            <a:endParaRPr kumimoji="0" lang="en-US" sz="9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Lower cost per funded loan, with a record of each rule change</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 16"/>
          <p:cNvSpPr txBox="1"/>
          <p:nvPr/>
        </p:nvSpPr>
        <p:spPr>
          <a:xfrm>
            <a:off x="603504" y="5212080"/>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B2D8E"/>
                </a:solidFill>
                <a:effectLst/>
                <a:uLnTx/>
                <a:uFillTx/>
                <a:latin typeface="Calibri" pitchFamily="34" charset="0"/>
                <a:ea typeface="Calibri" pitchFamily="34" charset="-122"/>
                <a:cs typeface="Calibri" pitchFamily="34" charset="-120"/>
              </a:rPr>
              <a:t>WHAT ROSI CHANGES</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20" name="Text 17"/>
          <p:cNvSpPr txBox="1"/>
          <p:nvPr/>
        </p:nvSpPr>
        <p:spPr>
          <a:xfrm>
            <a:off x="603504" y="5394960"/>
            <a:ext cx="2404872"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Overlays, thresholds, exceptions, condition wording</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 18"/>
          <p:cNvSpPr txBox="1"/>
          <p:nvPr/>
        </p:nvSpPr>
        <p:spPr>
          <a:xfrm>
            <a:off x="603504" y="5888736"/>
            <a:ext cx="2404872" cy="34747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Measured by: </a:t>
            </a:r>
            <a:r>
              <a:rPr kumimoji="0" lang="en-US" sz="95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Conditions cleared without action, borrower requests, review time</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22" name="Straight through processing that quietly slips"/>
          <p:cNvSpPr/>
          <p:nvPr/>
        </p:nvSpPr>
        <p:spPr>
          <a:xfrm>
            <a:off x="3316529" y="1463040"/>
            <a:ext cx="2697480" cy="4828032"/>
          </a:xfrm>
          <a:prstGeom prst="roundRect">
            <a:avLst>
              <a:gd name="adj" fmla="val 271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3" name="Icon circle"/>
          <p:cNvSpPr/>
          <p:nvPr/>
        </p:nvSpPr>
        <p:spPr>
          <a:xfrm>
            <a:off x="3462833" y="1581912"/>
            <a:ext cx="347472" cy="347472"/>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24" name="Image 1" descr="preencoded.png"/>
          <p:cNvPicPr>
            <a:picLocks noChangeAspect="1"/>
          </p:cNvPicPr>
          <p:nvPr/>
        </p:nvPicPr>
        <p:blipFill>
          <a:blip r:embed="rId4"/>
          <a:stretch>
            <a:fillRect/>
          </a:stretch>
        </p:blipFill>
        <p:spPr>
          <a:xfrm>
            <a:off x="3549701" y="1668780"/>
            <a:ext cx="173736" cy="173736"/>
          </a:xfrm>
          <a:prstGeom prst="rect">
            <a:avLst/>
          </a:prstGeom>
        </p:spPr>
      </p:pic>
      <p:sp>
        <p:nvSpPr>
          <p:cNvPr id="25" name="Text 21"/>
          <p:cNvSpPr txBox="1"/>
          <p:nvPr/>
        </p:nvSpPr>
        <p:spPr>
          <a:xfrm>
            <a:off x="3883457" y="1581912"/>
            <a:ext cx="1984248"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069EC"/>
                </a:solidFill>
                <a:effectLst/>
                <a:uLnTx/>
                <a:uFillTx/>
                <a:latin typeface="Calibri" pitchFamily="34" charset="0"/>
                <a:ea typeface="Calibri" pitchFamily="34" charset="-122"/>
                <a:cs typeface="Calibri" pitchFamily="34" charset="-120"/>
              </a:rPr>
              <a:t>LOAN SETUP AND FULFILLMENT</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26" name="Text 22"/>
          <p:cNvSpPr txBox="1"/>
          <p:nvPr/>
        </p:nvSpPr>
        <p:spPr>
          <a:xfrm>
            <a:off x="3462833" y="1993392"/>
            <a:ext cx="2404872" cy="42062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Straight through processing that quietly slips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7" name="Text 23"/>
          <p:cNvSpPr txBox="1"/>
          <p:nvPr/>
        </p:nvSpPr>
        <p:spPr>
          <a:xfrm>
            <a:off x="3462833" y="2441448"/>
            <a:ext cx="2404872"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Files that used to clear setup on their own land in the exception queue, and nobody knows why.</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28" name="Pattern"/>
          <p:cNvSpPr/>
          <p:nvPr/>
        </p:nvSpPr>
        <p:spPr>
          <a:xfrm>
            <a:off x="3389681" y="2944368"/>
            <a:ext cx="2551176" cy="914400"/>
          </a:xfrm>
          <a:prstGeom prst="roundRect">
            <a:avLst>
              <a:gd name="adj" fmla="val 6000"/>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 name="Text 25"/>
          <p:cNvSpPr txBox="1"/>
          <p:nvPr/>
        </p:nvSpPr>
        <p:spPr>
          <a:xfrm>
            <a:off x="3462833" y="3008376"/>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069EC"/>
                </a:solidFill>
                <a:effectLst/>
                <a:uLnTx/>
                <a:uFillTx/>
                <a:latin typeface="Calibri" pitchFamily="34" charset="0"/>
                <a:ea typeface="Calibri" pitchFamily="34" charset="-122"/>
                <a:cs typeface="Calibri" pitchFamily="34" charset="-120"/>
              </a:rPr>
              <a:t>A PATTERN ROSI WOULD FIND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30" name="Text 26"/>
          <p:cNvSpPr txBox="1"/>
          <p:nvPr/>
        </p:nvSpPr>
        <p:spPr>
          <a:xfrm>
            <a:off x="3462833" y="3191256"/>
            <a:ext cx="2404872" cy="6309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Since one title company changed its commitment layout, vesting and legal description are missed. </a:t>
            </a:r>
            <a:r>
              <a:rPr kumimoji="0" lang="en-US" sz="100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Cause: </a:t>
            </a:r>
            <a:r>
              <a:rPr kumimoji="0" lang="en-US" sz="10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no template for the new form variant.</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1" name="Customer outcome"/>
          <p:cNvSpPr/>
          <p:nvPr/>
        </p:nvSpPr>
        <p:spPr>
          <a:xfrm>
            <a:off x="3389681" y="3931920"/>
            <a:ext cx="2551176" cy="1207008"/>
          </a:xfrm>
          <a:prstGeom prst="roundRect">
            <a:avLst>
              <a:gd name="adj" fmla="val 4545"/>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 name="Text 28"/>
          <p:cNvSpPr txBox="1"/>
          <p:nvPr/>
        </p:nvSpPr>
        <p:spPr>
          <a:xfrm>
            <a:off x="3462833" y="3995928"/>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0D9488"/>
                </a:solidFill>
                <a:effectLst/>
                <a:uLnTx/>
                <a:uFillTx/>
                <a:latin typeface="Calibri" pitchFamily="34" charset="0"/>
                <a:ea typeface="Calibri" pitchFamily="34" charset="-122"/>
                <a:cs typeface="Calibri" pitchFamily="34" charset="-120"/>
              </a:rPr>
              <a:t>WHAT THE CUSTOMER SEES</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33" name="Text 29"/>
          <p:cNvSpPr txBox="1"/>
          <p:nvPr/>
        </p:nvSpPr>
        <p:spPr>
          <a:xfrm>
            <a:off x="3462833" y="4187952"/>
            <a:ext cx="2404872" cy="914400"/>
          </a:xfrm>
          <a:prstGeom prst="rect">
            <a:avLst/>
          </a:prstGeom>
          <a:noFill/>
          <a:ln/>
        </p:spPr>
        <p:txBody>
          <a:bodyPr wrap="square" lIns="0" tIns="0" rIns="0" bIns="0" rtlCol="0" anchor="t"/>
          <a:lstStyle/>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Straight through rate held, with drift flagged the week it starts</a:t>
            </a:r>
            <a:endParaRPr kumimoji="0" lang="en-US" sz="9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One template change instead of repeated manual fixes</a:t>
            </a:r>
            <a:endParaRPr kumimoji="0" lang="en-US" sz="9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One fix for every lender that receives that form</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34" name="Text 30"/>
          <p:cNvSpPr txBox="1"/>
          <p:nvPr/>
        </p:nvSpPr>
        <p:spPr>
          <a:xfrm>
            <a:off x="3462833" y="5212080"/>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B2D8E"/>
                </a:solidFill>
                <a:effectLst/>
                <a:uLnTx/>
                <a:uFillTx/>
                <a:latin typeface="Calibri" pitchFamily="34" charset="0"/>
                <a:ea typeface="Calibri" pitchFamily="34" charset="-122"/>
                <a:cs typeface="Calibri" pitchFamily="34" charset="-120"/>
              </a:rPr>
              <a:t>WHAT ROSI CHANGES</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35" name="Text 31"/>
          <p:cNvSpPr txBox="1"/>
          <p:nvPr/>
        </p:nvSpPr>
        <p:spPr>
          <a:xfrm>
            <a:off x="3462833" y="5394960"/>
            <a:ext cx="2404872"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Templates, classifier thresholds, field mapping, required documents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6" name="Text 32"/>
          <p:cNvSpPr txBox="1"/>
          <p:nvPr/>
        </p:nvSpPr>
        <p:spPr>
          <a:xfrm>
            <a:off x="3462833" y="5888736"/>
            <a:ext cx="2404872" cy="34747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Measured by: </a:t>
            </a:r>
            <a:r>
              <a:rPr kumimoji="0" lang="en-US" sz="95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Manual repair rate, setup completion, extraction accuracy</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37" name="Senior credit time spent redoing spreads"/>
          <p:cNvSpPr/>
          <p:nvPr/>
        </p:nvSpPr>
        <p:spPr>
          <a:xfrm>
            <a:off x="6175858" y="1463040"/>
            <a:ext cx="2697480" cy="4828032"/>
          </a:xfrm>
          <a:prstGeom prst="roundRect">
            <a:avLst>
              <a:gd name="adj" fmla="val 271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8" name="Icon circle"/>
          <p:cNvSpPr/>
          <p:nvPr/>
        </p:nvSpPr>
        <p:spPr>
          <a:xfrm>
            <a:off x="6322162" y="1581912"/>
            <a:ext cx="347472" cy="347472"/>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39" name="Image 2" descr="preencoded.png"/>
          <p:cNvPicPr>
            <a:picLocks noChangeAspect="1"/>
          </p:cNvPicPr>
          <p:nvPr/>
        </p:nvPicPr>
        <p:blipFill>
          <a:blip r:embed="rId5"/>
          <a:stretch>
            <a:fillRect/>
          </a:stretch>
        </p:blipFill>
        <p:spPr>
          <a:xfrm>
            <a:off x="6409030" y="1668780"/>
            <a:ext cx="173736" cy="173736"/>
          </a:xfrm>
          <a:prstGeom prst="rect">
            <a:avLst/>
          </a:prstGeom>
        </p:spPr>
      </p:pic>
      <p:sp>
        <p:nvSpPr>
          <p:cNvPr id="40" name="Text 35"/>
          <p:cNvSpPr txBox="1"/>
          <p:nvPr/>
        </p:nvSpPr>
        <p:spPr>
          <a:xfrm>
            <a:off x="6742786" y="1581912"/>
            <a:ext cx="1984248"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069EC"/>
                </a:solidFill>
                <a:effectLst/>
                <a:uLnTx/>
                <a:uFillTx/>
                <a:latin typeface="Calibri" pitchFamily="34" charset="0"/>
                <a:ea typeface="Calibri" pitchFamily="34" charset="-122"/>
                <a:cs typeface="Calibri" pitchFamily="34" charset="-120"/>
              </a:rPr>
              <a:t>COMMERCIAL AND CRE LENDING</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 36"/>
          <p:cNvSpPr txBox="1"/>
          <p:nvPr/>
        </p:nvSpPr>
        <p:spPr>
          <a:xfrm>
            <a:off x="6322162" y="1993392"/>
            <a:ext cx="2404872" cy="42062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Senior credit time spent redoing spreads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42" name="Text 37"/>
          <p:cNvSpPr txBox="1"/>
          <p:nvPr/>
        </p:nvSpPr>
        <p:spPr>
          <a:xfrm>
            <a:off x="6322162" y="2441448"/>
            <a:ext cx="2404872"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Analysts correct the spread on almost every deal, and the same correction returns on the next one.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43" name="Pattern"/>
          <p:cNvSpPr/>
          <p:nvPr/>
        </p:nvSpPr>
        <p:spPr>
          <a:xfrm>
            <a:off x="6249010" y="2944368"/>
            <a:ext cx="2551176" cy="914400"/>
          </a:xfrm>
          <a:prstGeom prst="roundRect">
            <a:avLst>
              <a:gd name="adj" fmla="val 6000"/>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Text 39"/>
          <p:cNvSpPr txBox="1"/>
          <p:nvPr/>
        </p:nvSpPr>
        <p:spPr>
          <a:xfrm>
            <a:off x="6322162" y="3008376"/>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069EC"/>
                </a:solidFill>
                <a:effectLst/>
                <a:uLnTx/>
                <a:uFillTx/>
                <a:latin typeface="Calibri" pitchFamily="34" charset="0"/>
                <a:ea typeface="Calibri" pitchFamily="34" charset="-122"/>
                <a:cs typeface="Calibri" pitchFamily="34" charset="-120"/>
              </a:rPr>
              <a:t>A PATTERN ROSI WOULD FIND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45" name="Text 40"/>
          <p:cNvSpPr txBox="1"/>
          <p:nvPr/>
        </p:nvSpPr>
        <p:spPr>
          <a:xfrm>
            <a:off x="6322162" y="3191256"/>
            <a:ext cx="2404872" cy="6309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On multifamily deals, analysts add replacement reserves and set management fees to market. </a:t>
            </a:r>
            <a:r>
              <a:rPr kumimoji="0" lang="en-US" sz="100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Cause: </a:t>
            </a:r>
            <a:r>
              <a:rPr kumimoji="0" lang="en-US" sz="10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no normalization rule for that property type.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46" name="Customer outcome"/>
          <p:cNvSpPr/>
          <p:nvPr/>
        </p:nvSpPr>
        <p:spPr>
          <a:xfrm>
            <a:off x="6249010" y="3931920"/>
            <a:ext cx="2551176" cy="1207008"/>
          </a:xfrm>
          <a:prstGeom prst="roundRect">
            <a:avLst>
              <a:gd name="adj" fmla="val 4545"/>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 42"/>
          <p:cNvSpPr txBox="1"/>
          <p:nvPr/>
        </p:nvSpPr>
        <p:spPr>
          <a:xfrm>
            <a:off x="6322162" y="3995928"/>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0D9488"/>
                </a:solidFill>
                <a:effectLst/>
                <a:uLnTx/>
                <a:uFillTx/>
                <a:latin typeface="Calibri" pitchFamily="34" charset="0"/>
                <a:ea typeface="Calibri" pitchFamily="34" charset="-122"/>
                <a:cs typeface="Calibri" pitchFamily="34" charset="-120"/>
              </a:rPr>
              <a:t>WHAT THE CUSTOMER SEES</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48" name="Text 43"/>
          <p:cNvSpPr txBox="1"/>
          <p:nvPr/>
        </p:nvSpPr>
        <p:spPr>
          <a:xfrm>
            <a:off x="6322162" y="4187952"/>
            <a:ext cx="2404872" cy="914400"/>
          </a:xfrm>
          <a:prstGeom prst="rect">
            <a:avLst/>
          </a:prstGeom>
          <a:noFill/>
          <a:ln/>
        </p:spPr>
        <p:txBody>
          <a:bodyPr wrap="square" lIns="0" tIns="0" rIns="0" bIns="0" rtlCol="0" anchor="t"/>
          <a:lstStyle/>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Draft spreads that match how the credit team normalizes</a:t>
            </a:r>
            <a:endParaRPr kumimoji="0" lang="en-US" sz="9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Review instead of rework, so the team carries more deals</a:t>
            </a:r>
            <a:endParaRPr kumimoji="0" lang="en-US" sz="9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Consistent treatment across analysts, written down</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49" name="Text 44"/>
          <p:cNvSpPr txBox="1"/>
          <p:nvPr/>
        </p:nvSpPr>
        <p:spPr>
          <a:xfrm>
            <a:off x="6322162" y="5212080"/>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B2D8E"/>
                </a:solidFill>
                <a:effectLst/>
                <a:uLnTx/>
                <a:uFillTx/>
                <a:latin typeface="Calibri" pitchFamily="34" charset="0"/>
                <a:ea typeface="Calibri" pitchFamily="34" charset="-122"/>
                <a:cs typeface="Calibri" pitchFamily="34" charset="-120"/>
              </a:rPr>
              <a:t>WHAT ROSI CHANGES</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50" name="Text 45"/>
          <p:cNvSpPr txBox="1"/>
          <p:nvPr/>
        </p:nvSpPr>
        <p:spPr>
          <a:xfrm>
            <a:off x="6322162" y="5394960"/>
            <a:ext cx="2404872"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Account mapping, normalization rules by property type, layout recognition</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1" name="Text 46"/>
          <p:cNvSpPr txBox="1"/>
          <p:nvPr/>
        </p:nvSpPr>
        <p:spPr>
          <a:xfrm>
            <a:off x="6322162" y="5888736"/>
            <a:ext cx="2404872" cy="34747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Measured by: </a:t>
            </a:r>
            <a:r>
              <a:rPr kumimoji="0" lang="en-US" sz="95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Rework per spread, accuracy by property type, review time</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52" name="Customer solutions that drift after go live"/>
          <p:cNvSpPr/>
          <p:nvPr/>
        </p:nvSpPr>
        <p:spPr>
          <a:xfrm>
            <a:off x="9035186" y="1463040"/>
            <a:ext cx="2697480" cy="4828032"/>
          </a:xfrm>
          <a:prstGeom prst="roundRect">
            <a:avLst>
              <a:gd name="adj" fmla="val 2712"/>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3" name="Icon circle"/>
          <p:cNvSpPr/>
          <p:nvPr/>
        </p:nvSpPr>
        <p:spPr>
          <a:xfrm>
            <a:off x="9181490" y="1581912"/>
            <a:ext cx="347472" cy="347472"/>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54" name="Image 3" descr="preencoded.png"/>
          <p:cNvPicPr>
            <a:picLocks noChangeAspect="1"/>
          </p:cNvPicPr>
          <p:nvPr/>
        </p:nvPicPr>
        <p:blipFill>
          <a:blip r:embed="rId6"/>
          <a:stretch>
            <a:fillRect/>
          </a:stretch>
        </p:blipFill>
        <p:spPr>
          <a:xfrm>
            <a:off x="9268358" y="1668780"/>
            <a:ext cx="173736" cy="173736"/>
          </a:xfrm>
          <a:prstGeom prst="rect">
            <a:avLst/>
          </a:prstGeom>
        </p:spPr>
      </p:pic>
      <p:sp>
        <p:nvSpPr>
          <p:cNvPr id="55" name="Text 49"/>
          <p:cNvSpPr txBox="1"/>
          <p:nvPr/>
        </p:nvSpPr>
        <p:spPr>
          <a:xfrm>
            <a:off x="9602114" y="1581912"/>
            <a:ext cx="1984248" cy="34747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069EC"/>
                </a:solidFill>
                <a:effectLst/>
                <a:uLnTx/>
                <a:uFillTx/>
                <a:latin typeface="Calibri" pitchFamily="34" charset="0"/>
                <a:ea typeface="Calibri" pitchFamily="34" charset="-122"/>
                <a:cs typeface="Calibri" pitchFamily="34" charset="-120"/>
              </a:rPr>
              <a:t>CUSTOMER SOLUTIONS &amp; BESPOKE APPS</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56" name="Text 50"/>
          <p:cNvSpPr txBox="1"/>
          <p:nvPr/>
        </p:nvSpPr>
        <p:spPr>
          <a:xfrm>
            <a:off x="9181490" y="1993392"/>
            <a:ext cx="2404872" cy="420624"/>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Customer solutions that drift after go live</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57" name="Text 51"/>
          <p:cNvSpPr txBox="1"/>
          <p:nvPr/>
        </p:nvSpPr>
        <p:spPr>
          <a:xfrm>
            <a:off x="9181490" y="2441448"/>
            <a:ext cx="2404872"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When a customer’s system changes, integration failures arrive as tickets an engineer reproduces by hand.</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8" name="Pattern"/>
          <p:cNvSpPr/>
          <p:nvPr/>
        </p:nvSpPr>
        <p:spPr>
          <a:xfrm>
            <a:off x="9108338" y="2944368"/>
            <a:ext cx="2551176" cy="914400"/>
          </a:xfrm>
          <a:prstGeom prst="roundRect">
            <a:avLst>
              <a:gd name="adj" fmla="val 6000"/>
            </a:avLst>
          </a:prstGeom>
          <a:solidFill>
            <a:srgbClr val="F3F6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9" name="Text 53"/>
          <p:cNvSpPr txBox="1"/>
          <p:nvPr/>
        </p:nvSpPr>
        <p:spPr>
          <a:xfrm>
            <a:off x="9181490" y="3008376"/>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069EC"/>
                </a:solidFill>
                <a:effectLst/>
                <a:uLnTx/>
                <a:uFillTx/>
                <a:latin typeface="Calibri" pitchFamily="34" charset="0"/>
                <a:ea typeface="Calibri" pitchFamily="34" charset="-122"/>
                <a:cs typeface="Calibri" pitchFamily="34" charset="-120"/>
              </a:rPr>
              <a:t>A PATTERN ROSI WOULD FIND</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60" name="Text 54"/>
          <p:cNvSpPr txBox="1"/>
          <p:nvPr/>
        </p:nvSpPr>
        <p:spPr>
          <a:xfrm>
            <a:off x="9181490" y="3191256"/>
            <a:ext cx="2404872" cy="6309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After an LOS field update, write back fails for one loan type at one customer, and no user reports it. </a:t>
            </a:r>
            <a:r>
              <a:rPr kumimoji="0" lang="en-US" sz="100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Cause: </a:t>
            </a:r>
            <a:r>
              <a:rPr kumimoji="0" lang="en-US" sz="10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 stale field mapping.</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61" name="Customer outcome"/>
          <p:cNvSpPr/>
          <p:nvPr/>
        </p:nvSpPr>
        <p:spPr>
          <a:xfrm>
            <a:off x="9108338" y="3931920"/>
            <a:ext cx="2551176" cy="1207008"/>
          </a:xfrm>
          <a:prstGeom prst="roundRect">
            <a:avLst>
              <a:gd name="adj" fmla="val 4545"/>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2" name="Text 56"/>
          <p:cNvSpPr txBox="1"/>
          <p:nvPr/>
        </p:nvSpPr>
        <p:spPr>
          <a:xfrm>
            <a:off x="9181490" y="3995928"/>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0D9488"/>
                </a:solidFill>
                <a:effectLst/>
                <a:uLnTx/>
                <a:uFillTx/>
                <a:latin typeface="Calibri" pitchFamily="34" charset="0"/>
                <a:ea typeface="Calibri" pitchFamily="34" charset="-122"/>
                <a:cs typeface="Calibri" pitchFamily="34" charset="-120"/>
              </a:rPr>
              <a:t>WHAT THE CUSTOMER SEES</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63" name="Text 57"/>
          <p:cNvSpPr txBox="1"/>
          <p:nvPr/>
        </p:nvSpPr>
        <p:spPr>
          <a:xfrm>
            <a:off x="9181490" y="4187952"/>
            <a:ext cx="2404872" cy="914400"/>
          </a:xfrm>
          <a:prstGeom prst="rect">
            <a:avLst/>
          </a:prstGeom>
          <a:noFill/>
          <a:ln/>
        </p:spPr>
        <p:txBody>
          <a:bodyPr wrap="square" lIns="0" tIns="0" rIns="0" bIns="0" rtlCol="0" anchor="t"/>
          <a:lstStyle/>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Failures reproduced from the recorded run and fixed with a test</a:t>
            </a:r>
            <a:endParaRPr kumimoji="0" lang="en-US" sz="9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Each fix sent to engineering review and CI with its evidence</a:t>
            </a:r>
            <a:endParaRPr kumimoji="0" lang="en-US" sz="9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200"/>
              </a:spcAft>
              <a:buClrTx/>
              <a:buSzPct val="100000"/>
              <a:buFontTx/>
              <a:buChar char="•"/>
              <a:tabLst/>
              <a:defRPr/>
            </a:pPr>
            <a:r>
              <a:rPr kumimoji="0" lang="en-US" sz="9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Each new deployment starts from what the last one learned</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 58"/>
          <p:cNvSpPr txBox="1"/>
          <p:nvPr/>
        </p:nvSpPr>
        <p:spPr>
          <a:xfrm>
            <a:off x="9181490" y="5212080"/>
            <a:ext cx="2404872" cy="16459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850" b="1" i="0" u="none" strike="noStrike" kern="0" cap="none" spc="100" normalizeH="0" baseline="0" noProof="0">
                <a:ln>
                  <a:noFill/>
                </a:ln>
                <a:solidFill>
                  <a:srgbClr val="5B2D8E"/>
                </a:solidFill>
                <a:effectLst/>
                <a:uLnTx/>
                <a:uFillTx/>
                <a:latin typeface="Calibri" pitchFamily="34" charset="0"/>
                <a:ea typeface="Calibri" pitchFamily="34" charset="-122"/>
                <a:cs typeface="Calibri" pitchFamily="34" charset="-120"/>
              </a:rPr>
              <a:t>WHAT ROSI CHANGES</a:t>
            </a:r>
            <a:endParaRPr kumimoji="0" lang="en-US" sz="850" b="0" i="0" u="none" strike="noStrike" kern="1200" cap="none" spc="0" normalizeH="0" baseline="0" noProof="0">
              <a:ln>
                <a:noFill/>
              </a:ln>
              <a:solidFill>
                <a:prstClr val="black"/>
              </a:solidFill>
              <a:effectLst/>
              <a:uLnTx/>
              <a:uFillTx/>
              <a:latin typeface="Calibri"/>
              <a:ea typeface="+mn-ea"/>
              <a:cs typeface="+mn-cs"/>
            </a:endParaRPr>
          </a:p>
        </p:txBody>
      </p:sp>
      <p:sp>
        <p:nvSpPr>
          <p:cNvPr id="65" name="Text 59"/>
          <p:cNvSpPr txBox="1"/>
          <p:nvPr/>
        </p:nvSpPr>
        <p:spPr>
          <a:xfrm>
            <a:off x="9181490" y="5394960"/>
            <a:ext cx="2404872" cy="40233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Field mappings, workflow configuration, API contracts, skills, code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66" name="Text 60"/>
          <p:cNvSpPr txBox="1"/>
          <p:nvPr/>
        </p:nvSpPr>
        <p:spPr>
          <a:xfrm>
            <a:off x="9181490" y="5888736"/>
            <a:ext cx="2404872" cy="34747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Measured by: </a:t>
            </a:r>
            <a:r>
              <a:rPr kumimoji="0" lang="en-US" sz="950" b="0" i="0"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Repeat incidents, time to fix, regression coverage</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ROSI  ·  CUSTOMER VALUE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Lenders stop paying for the same mistakes, and every fix arrives with proof</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What the lender lives with today, and what changes when the loop closes</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Text 5"/>
          <p:cNvSpPr txBox="1"/>
          <p:nvPr/>
        </p:nvSpPr>
        <p:spPr>
          <a:xfrm>
            <a:off x="3063240" y="1499616"/>
            <a:ext cx="416052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5B6472"/>
                </a:solidFill>
                <a:effectLst/>
                <a:uLnTx/>
                <a:uFillTx/>
                <a:latin typeface="Calibri" pitchFamily="34" charset="0"/>
                <a:ea typeface="Calibri" pitchFamily="34" charset="-122"/>
                <a:cs typeface="Calibri" pitchFamily="34" charset="-120"/>
              </a:rPr>
              <a:t>WHAT THE LENDER LIVES WITH TODAY</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 6"/>
          <p:cNvSpPr txBox="1"/>
          <p:nvPr/>
        </p:nvSpPr>
        <p:spPr>
          <a:xfrm>
            <a:off x="7360920" y="1499616"/>
            <a:ext cx="450799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0D9488"/>
                </a:solidFill>
                <a:effectLst/>
                <a:uLnTx/>
                <a:uFillTx/>
                <a:latin typeface="Calibri" pitchFamily="34" charset="0"/>
                <a:ea typeface="Calibri" pitchFamily="34" charset="-122"/>
                <a:cs typeface="Calibri" pitchFamily="34" charset="-120"/>
              </a:rPr>
              <a:t>WITH ROSI</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9" name="Icon circle"/>
          <p:cNvSpPr/>
          <p:nvPr/>
        </p:nvSpPr>
        <p:spPr>
          <a:xfrm>
            <a:off x="457200" y="1892808"/>
            <a:ext cx="384048" cy="384048"/>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10" name="Image 0" descr="preencoded.png"/>
          <p:cNvPicPr>
            <a:picLocks noChangeAspect="1"/>
          </p:cNvPicPr>
          <p:nvPr/>
        </p:nvPicPr>
        <p:blipFill>
          <a:blip r:embed="rId3"/>
          <a:stretch>
            <a:fillRect/>
          </a:stretch>
        </p:blipFill>
        <p:spPr>
          <a:xfrm>
            <a:off x="557784" y="1993392"/>
            <a:ext cx="182880" cy="182880"/>
          </a:xfrm>
          <a:prstGeom prst="rect">
            <a:avLst/>
          </a:prstGeom>
        </p:spPr>
      </p:pic>
      <p:sp>
        <p:nvSpPr>
          <p:cNvPr id="11" name="Text 8"/>
          <p:cNvSpPr txBox="1"/>
          <p:nvPr/>
        </p:nvSpPr>
        <p:spPr>
          <a:xfrm>
            <a:off x="960120" y="1783080"/>
            <a:ext cx="18288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Underwriter judgment</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12" name="Today"/>
          <p:cNvSpPr/>
          <p:nvPr/>
        </p:nvSpPr>
        <p:spPr>
          <a:xfrm>
            <a:off x="2926080" y="1783080"/>
            <a:ext cx="4160520" cy="603504"/>
          </a:xfrm>
          <a:prstGeom prst="roundRect">
            <a:avLst>
              <a:gd name="adj" fmla="val 12121"/>
            </a:avLst>
          </a:prstGeom>
          <a:solidFill>
            <a:srgbClr val="EEF0F5"/>
          </a:solidFill>
          <a:ln w="9525">
            <a:solidFill>
              <a:srgbClr val="EEF0F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 10"/>
          <p:cNvSpPr txBox="1"/>
          <p:nvPr/>
        </p:nvSpPr>
        <p:spPr>
          <a:xfrm>
            <a:off x="3063240" y="1783080"/>
            <a:ext cx="38862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An underwriter’s correction stays on that loan. The next similar file gets the same mistake.</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14" name="With ROSI"/>
          <p:cNvSpPr/>
          <p:nvPr/>
        </p:nvSpPr>
        <p:spPr>
          <a:xfrm>
            <a:off x="7223760" y="1783080"/>
            <a:ext cx="4507992" cy="603504"/>
          </a:xfrm>
          <a:prstGeom prst="roundRect">
            <a:avLst>
              <a:gd name="adj" fmla="val 12121"/>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Text 12"/>
          <p:cNvSpPr txBox="1"/>
          <p:nvPr/>
        </p:nvSpPr>
        <p:spPr>
          <a:xfrm>
            <a:off x="7360920" y="1783080"/>
            <a:ext cx="4233672"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Repeated corrections become a rule change for this lender, tested and approved, so later files get it right.</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16" name="Arrow"/>
          <p:cNvSpPr/>
          <p:nvPr/>
        </p:nvSpPr>
        <p:spPr>
          <a:xfrm>
            <a:off x="7104888" y="2084832"/>
            <a:ext cx="100584"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Icon circle"/>
          <p:cNvSpPr/>
          <p:nvPr/>
        </p:nvSpPr>
        <p:spPr>
          <a:xfrm>
            <a:off x="457200" y="2569464"/>
            <a:ext cx="384048" cy="384048"/>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18" name="Image 1" descr="preencoded.png"/>
          <p:cNvPicPr>
            <a:picLocks noChangeAspect="1"/>
          </p:cNvPicPr>
          <p:nvPr/>
        </p:nvPicPr>
        <p:blipFill>
          <a:blip r:embed="rId4"/>
          <a:stretch>
            <a:fillRect/>
          </a:stretch>
        </p:blipFill>
        <p:spPr>
          <a:xfrm>
            <a:off x="557784" y="2670048"/>
            <a:ext cx="182880" cy="182880"/>
          </a:xfrm>
          <a:prstGeom prst="rect">
            <a:avLst/>
          </a:prstGeom>
        </p:spPr>
      </p:pic>
      <p:sp>
        <p:nvSpPr>
          <p:cNvPr id="19" name="Text 15"/>
          <p:cNvSpPr txBox="1"/>
          <p:nvPr/>
        </p:nvSpPr>
        <p:spPr>
          <a:xfrm>
            <a:off x="960120" y="2459736"/>
            <a:ext cx="18288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Time to fix</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0" name="Today"/>
          <p:cNvSpPr/>
          <p:nvPr/>
        </p:nvSpPr>
        <p:spPr>
          <a:xfrm>
            <a:off x="2926080" y="2459736"/>
            <a:ext cx="4160520" cy="603504"/>
          </a:xfrm>
          <a:prstGeom prst="roundRect">
            <a:avLst>
              <a:gd name="adj" fmla="val 12121"/>
            </a:avLst>
          </a:prstGeom>
          <a:solidFill>
            <a:srgbClr val="EEF0F5"/>
          </a:solidFill>
          <a:ln w="9525">
            <a:solidFill>
              <a:srgbClr val="EEF0F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 17"/>
          <p:cNvSpPr txBox="1"/>
          <p:nvPr/>
        </p:nvSpPr>
        <p:spPr>
          <a:xfrm>
            <a:off x="3063240" y="2459736"/>
            <a:ext cx="38862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Fixes wait for the vendor’s next release, weeks after the problem was reported.</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22" name="With ROSI"/>
          <p:cNvSpPr/>
          <p:nvPr/>
        </p:nvSpPr>
        <p:spPr>
          <a:xfrm>
            <a:off x="7223760" y="2459736"/>
            <a:ext cx="4507992" cy="603504"/>
          </a:xfrm>
          <a:prstGeom prst="roundRect">
            <a:avLst>
              <a:gd name="adj" fmla="val 12121"/>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3" name="Text 19"/>
          <p:cNvSpPr txBox="1"/>
          <p:nvPr/>
        </p:nvSpPr>
        <p:spPr>
          <a:xfrm>
            <a:off x="7360920" y="2459736"/>
            <a:ext cx="4233672"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 proven fix reaches the lender’s SME the same week the pattern appears and goes live on approval.</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24" name="Arrow"/>
          <p:cNvSpPr/>
          <p:nvPr/>
        </p:nvSpPr>
        <p:spPr>
          <a:xfrm>
            <a:off x="7104888" y="2761488"/>
            <a:ext cx="100584"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 name="Icon circle"/>
          <p:cNvSpPr/>
          <p:nvPr/>
        </p:nvSpPr>
        <p:spPr>
          <a:xfrm>
            <a:off x="457200" y="3246120"/>
            <a:ext cx="384048" cy="384048"/>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26" name="Image 2" descr="preencoded.png"/>
          <p:cNvPicPr>
            <a:picLocks noChangeAspect="1"/>
          </p:cNvPicPr>
          <p:nvPr/>
        </p:nvPicPr>
        <p:blipFill>
          <a:blip r:embed="rId5"/>
          <a:stretch>
            <a:fillRect/>
          </a:stretch>
        </p:blipFill>
        <p:spPr>
          <a:xfrm>
            <a:off x="557784" y="3346704"/>
            <a:ext cx="182880" cy="182880"/>
          </a:xfrm>
          <a:prstGeom prst="rect">
            <a:avLst/>
          </a:prstGeom>
        </p:spPr>
      </p:pic>
      <p:sp>
        <p:nvSpPr>
          <p:cNvPr id="27" name="Text 22"/>
          <p:cNvSpPr txBox="1"/>
          <p:nvPr/>
        </p:nvSpPr>
        <p:spPr>
          <a:xfrm>
            <a:off x="960120" y="3136392"/>
            <a:ext cx="18288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Confidence before go live</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8" name="Today"/>
          <p:cNvSpPr/>
          <p:nvPr/>
        </p:nvSpPr>
        <p:spPr>
          <a:xfrm>
            <a:off x="2926080" y="3136392"/>
            <a:ext cx="4160520" cy="603504"/>
          </a:xfrm>
          <a:prstGeom prst="roundRect">
            <a:avLst>
              <a:gd name="adj" fmla="val 12121"/>
            </a:avLst>
          </a:prstGeom>
          <a:solidFill>
            <a:srgbClr val="EEF0F5"/>
          </a:solidFill>
          <a:ln w="9525">
            <a:solidFill>
              <a:srgbClr val="EEF0F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 name="Text 24"/>
          <p:cNvSpPr txBox="1"/>
          <p:nvPr/>
        </p:nvSpPr>
        <p:spPr>
          <a:xfrm>
            <a:off x="3063240" y="3136392"/>
            <a:ext cx="38862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Testing a change means pulling files, rerunning them and comparing results by hand.</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30" name="With ROSI"/>
          <p:cNvSpPr/>
          <p:nvPr/>
        </p:nvSpPr>
        <p:spPr>
          <a:xfrm>
            <a:off x="7223760" y="3136392"/>
            <a:ext cx="4507992" cy="603504"/>
          </a:xfrm>
          <a:prstGeom prst="roundRect">
            <a:avLst>
              <a:gd name="adj" fmla="val 12121"/>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 name="Text 26"/>
          <p:cNvSpPr txBox="1"/>
          <p:nvPr/>
        </p:nvSpPr>
        <p:spPr>
          <a:xfrm>
            <a:off x="7360920" y="3136392"/>
            <a:ext cx="4233672"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Each change arrives tested on the lender’s own past loans, showing what it fixes and what else it moves.</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32" name="Arrow"/>
          <p:cNvSpPr/>
          <p:nvPr/>
        </p:nvSpPr>
        <p:spPr>
          <a:xfrm>
            <a:off x="7104888" y="3438144"/>
            <a:ext cx="100584"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 name="Icon circle"/>
          <p:cNvSpPr/>
          <p:nvPr/>
        </p:nvSpPr>
        <p:spPr>
          <a:xfrm>
            <a:off x="457200" y="3922776"/>
            <a:ext cx="384048" cy="384048"/>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34" name="Image 3" descr="preencoded.png"/>
          <p:cNvPicPr>
            <a:picLocks noChangeAspect="1"/>
          </p:cNvPicPr>
          <p:nvPr/>
        </p:nvPicPr>
        <p:blipFill>
          <a:blip r:embed="rId6"/>
          <a:stretch>
            <a:fillRect/>
          </a:stretch>
        </p:blipFill>
        <p:spPr>
          <a:xfrm>
            <a:off x="557784" y="4023360"/>
            <a:ext cx="182880" cy="182880"/>
          </a:xfrm>
          <a:prstGeom prst="rect">
            <a:avLst/>
          </a:prstGeom>
        </p:spPr>
      </p:pic>
      <p:sp>
        <p:nvSpPr>
          <p:cNvPr id="35" name="Text 29"/>
          <p:cNvSpPr txBox="1"/>
          <p:nvPr/>
        </p:nvSpPr>
        <p:spPr>
          <a:xfrm>
            <a:off x="960120" y="3813048"/>
            <a:ext cx="18288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Audit readiness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36" name="Today"/>
          <p:cNvSpPr/>
          <p:nvPr/>
        </p:nvSpPr>
        <p:spPr>
          <a:xfrm>
            <a:off x="2926080" y="3813048"/>
            <a:ext cx="4160520" cy="603504"/>
          </a:xfrm>
          <a:prstGeom prst="roundRect">
            <a:avLst>
              <a:gd name="adj" fmla="val 12121"/>
            </a:avLst>
          </a:prstGeom>
          <a:solidFill>
            <a:srgbClr val="EEF0F5"/>
          </a:solidFill>
          <a:ln w="9525">
            <a:solidFill>
              <a:srgbClr val="EEF0F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 name="Text 31"/>
          <p:cNvSpPr txBox="1"/>
          <p:nvPr/>
        </p:nvSpPr>
        <p:spPr>
          <a:xfrm>
            <a:off x="3063240" y="3813048"/>
            <a:ext cx="38862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Why the system’s behavior changed is spread across tickets and email.</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38" name="With ROSI"/>
          <p:cNvSpPr/>
          <p:nvPr/>
        </p:nvSpPr>
        <p:spPr>
          <a:xfrm>
            <a:off x="7223760" y="3813048"/>
            <a:ext cx="4507992" cy="603504"/>
          </a:xfrm>
          <a:prstGeom prst="roundRect">
            <a:avLst>
              <a:gd name="adj" fmla="val 12121"/>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9" name="Text 33"/>
          <p:cNvSpPr txBox="1"/>
          <p:nvPr/>
        </p:nvSpPr>
        <p:spPr>
          <a:xfrm>
            <a:off x="7360920" y="3813048"/>
            <a:ext cx="4233672"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Every change carries its evidence, approver, version and rollback point, ready for an auditor or examiner.</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40" name="Arrow"/>
          <p:cNvSpPr/>
          <p:nvPr/>
        </p:nvSpPr>
        <p:spPr>
          <a:xfrm>
            <a:off x="7104888" y="4114800"/>
            <a:ext cx="100584"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Icon circle"/>
          <p:cNvSpPr/>
          <p:nvPr/>
        </p:nvSpPr>
        <p:spPr>
          <a:xfrm>
            <a:off x="457200" y="4599432"/>
            <a:ext cx="384048" cy="384048"/>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42" name="Image 4" descr="preencoded.png"/>
          <p:cNvPicPr>
            <a:picLocks noChangeAspect="1"/>
          </p:cNvPicPr>
          <p:nvPr/>
        </p:nvPicPr>
        <p:blipFill>
          <a:blip r:embed="rId7"/>
          <a:stretch>
            <a:fillRect/>
          </a:stretch>
        </p:blipFill>
        <p:spPr>
          <a:xfrm>
            <a:off x="557784" y="4700016"/>
            <a:ext cx="182880" cy="182880"/>
          </a:xfrm>
          <a:prstGeom prst="rect">
            <a:avLst/>
          </a:prstGeom>
        </p:spPr>
      </p:pic>
      <p:sp>
        <p:nvSpPr>
          <p:cNvPr id="43" name="Text 36"/>
          <p:cNvSpPr txBox="1"/>
          <p:nvPr/>
        </p:nvSpPr>
        <p:spPr>
          <a:xfrm>
            <a:off x="960120" y="4489704"/>
            <a:ext cx="18288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Know how that stays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44" name="Today"/>
          <p:cNvSpPr/>
          <p:nvPr/>
        </p:nvSpPr>
        <p:spPr>
          <a:xfrm>
            <a:off x="2926080" y="4489704"/>
            <a:ext cx="4160520" cy="603504"/>
          </a:xfrm>
          <a:prstGeom prst="roundRect">
            <a:avLst>
              <a:gd name="adj" fmla="val 12121"/>
            </a:avLst>
          </a:prstGeom>
          <a:solidFill>
            <a:srgbClr val="EEF0F5"/>
          </a:solidFill>
          <a:ln w="9525">
            <a:solidFill>
              <a:srgbClr val="EEF0F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5" name="Text 38"/>
          <p:cNvSpPr txBox="1"/>
          <p:nvPr/>
        </p:nvSpPr>
        <p:spPr>
          <a:xfrm>
            <a:off x="3063240" y="4489704"/>
            <a:ext cx="38862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When an experienced underwriter leaves, their judgment leaves with them.</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46" name="With ROSI"/>
          <p:cNvSpPr/>
          <p:nvPr/>
        </p:nvSpPr>
        <p:spPr>
          <a:xfrm>
            <a:off x="7223760" y="4489704"/>
            <a:ext cx="4507992" cy="603504"/>
          </a:xfrm>
          <a:prstGeom prst="roundRect">
            <a:avLst>
              <a:gd name="adj" fmla="val 12121"/>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 40"/>
          <p:cNvSpPr txBox="1"/>
          <p:nvPr/>
        </p:nvSpPr>
        <p:spPr>
          <a:xfrm>
            <a:off x="7360920" y="4489704"/>
            <a:ext cx="4233672"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Their corrections live in the lender’s own configuration and keep applying after they move on.</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48" name="Arrow"/>
          <p:cNvSpPr/>
          <p:nvPr/>
        </p:nvSpPr>
        <p:spPr>
          <a:xfrm>
            <a:off x="7104888" y="4791456"/>
            <a:ext cx="100584"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 name="Icon circle"/>
          <p:cNvSpPr/>
          <p:nvPr/>
        </p:nvSpPr>
        <p:spPr>
          <a:xfrm>
            <a:off x="457200" y="5276088"/>
            <a:ext cx="384048" cy="384048"/>
          </a:xfrm>
          <a:prstGeom prst="ellipse">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pic>
        <p:nvPicPr>
          <p:cNvPr id="50" name="Image 5" descr="preencoded.png"/>
          <p:cNvPicPr>
            <a:picLocks noChangeAspect="1"/>
          </p:cNvPicPr>
          <p:nvPr/>
        </p:nvPicPr>
        <p:blipFill>
          <a:blip r:embed="rId8"/>
          <a:stretch>
            <a:fillRect/>
          </a:stretch>
        </p:blipFill>
        <p:spPr>
          <a:xfrm>
            <a:off x="557784" y="5376672"/>
            <a:ext cx="182880" cy="182880"/>
          </a:xfrm>
          <a:prstGeom prst="rect">
            <a:avLst/>
          </a:prstGeom>
        </p:spPr>
      </p:pic>
      <p:sp>
        <p:nvSpPr>
          <p:cNvPr id="51" name="Text 43"/>
          <p:cNvSpPr txBox="1"/>
          <p:nvPr/>
        </p:nvSpPr>
        <p:spPr>
          <a:xfrm>
            <a:off x="960120" y="5166360"/>
            <a:ext cx="18288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Knowing what worked</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52" name="Today"/>
          <p:cNvSpPr/>
          <p:nvPr/>
        </p:nvSpPr>
        <p:spPr>
          <a:xfrm>
            <a:off x="2926080" y="5166360"/>
            <a:ext cx="4160520" cy="603504"/>
          </a:xfrm>
          <a:prstGeom prst="roundRect">
            <a:avLst>
              <a:gd name="adj" fmla="val 12121"/>
            </a:avLst>
          </a:prstGeom>
          <a:solidFill>
            <a:srgbClr val="EEF0F5"/>
          </a:solidFill>
          <a:ln w="9525">
            <a:solidFill>
              <a:srgbClr val="EEF0F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3" name="Text 45"/>
          <p:cNvSpPr txBox="1"/>
          <p:nvPr/>
        </p:nvSpPr>
        <p:spPr>
          <a:xfrm>
            <a:off x="3063240" y="5166360"/>
            <a:ext cx="3886200"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Cost per loan and accuracy move, but nobody can tie the movement to a specific change.</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54" name="With ROSI"/>
          <p:cNvSpPr/>
          <p:nvPr/>
        </p:nvSpPr>
        <p:spPr>
          <a:xfrm>
            <a:off x="7223760" y="5166360"/>
            <a:ext cx="4507992" cy="603504"/>
          </a:xfrm>
          <a:prstGeom prst="roundRect">
            <a:avLst>
              <a:gd name="adj" fmla="val 12121"/>
            </a:avLst>
          </a:prstGeom>
          <a:solidFill>
            <a:srgbClr val="E6F8F4"/>
          </a:solidFill>
          <a:ln w="9525">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 47"/>
          <p:cNvSpPr txBox="1"/>
          <p:nvPr/>
        </p:nvSpPr>
        <p:spPr>
          <a:xfrm>
            <a:off x="7360920" y="5166360"/>
            <a:ext cx="4233672" cy="60350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Each change is tied to the files it touched and to its result in production.</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56" name="Arrow"/>
          <p:cNvSpPr/>
          <p:nvPr/>
        </p:nvSpPr>
        <p:spPr>
          <a:xfrm>
            <a:off x="7104888" y="5468112"/>
            <a:ext cx="100584"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7" name="Why now"/>
          <p:cNvSpPr/>
          <p:nvPr/>
        </p:nvSpPr>
        <p:spPr>
          <a:xfrm>
            <a:off x="457200" y="5897880"/>
            <a:ext cx="11274552" cy="457200"/>
          </a:xfrm>
          <a:prstGeom prst="roundRect">
            <a:avLst>
              <a:gd name="adj" fmla="val 16000"/>
            </a:avLst>
          </a:prstGeom>
          <a:solidFill>
            <a:srgbClr val="1B0065"/>
          </a:solidFill>
          <a:ln w="9525">
            <a:solidFill>
              <a:srgbClr val="1B0065"/>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8" name="Text 50"/>
          <p:cNvSpPr txBox="1"/>
          <p:nvPr/>
        </p:nvSpPr>
        <p:spPr>
          <a:xfrm>
            <a:off x="685800" y="5897880"/>
            <a:ext cx="10881360" cy="45720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0" cap="none" spc="200" normalizeH="0" baseline="0" noProof="0">
                <a:ln>
                  <a:noFill/>
                </a:ln>
                <a:solidFill>
                  <a:srgbClr val="03CBA9"/>
                </a:solidFill>
                <a:effectLst/>
                <a:uLnTx/>
                <a:uFillTx/>
                <a:latin typeface="Calibri" pitchFamily="34" charset="0"/>
                <a:ea typeface="Calibri" pitchFamily="34" charset="-122"/>
                <a:cs typeface="Calibri" pitchFamily="34" charset="-120"/>
              </a:rPr>
              <a:t>WHY NOW   </a:t>
            </a:r>
            <a:r>
              <a:rPr kumimoji="0" lang="en-US" sz="12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Mortgage is going into production with our first lenders. Every file they run is evidence the platform can learn from.</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9"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ROSI  ·  HOW IT WORKS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A governed loop turns recorded outcomes into tested, approved changes</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Each stage leaves a record the next one can check, from the first signal to the rollback point</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Learn from outcomes"/>
          <p:cNvSpPr/>
          <p:nvPr/>
        </p:nvSpPr>
        <p:spPr>
          <a:xfrm>
            <a:off x="457200" y="1508760"/>
            <a:ext cx="2578608" cy="2788920"/>
          </a:xfrm>
          <a:prstGeom prst="roundRect">
            <a:avLst>
              <a:gd name="adj" fmla="val 2837"/>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Number"/>
          <p:cNvSpPr/>
          <p:nvPr/>
        </p:nvSpPr>
        <p:spPr>
          <a:xfrm>
            <a:off x="640080" y="1691640"/>
            <a:ext cx="384048" cy="384048"/>
          </a:xfrm>
          <a:prstGeom prst="ellipse">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 name="Text 7"/>
          <p:cNvSpPr txBox="1"/>
          <p:nvPr/>
        </p:nvSpPr>
        <p:spPr>
          <a:xfrm>
            <a:off x="640080" y="1691640"/>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1</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10" name="Stage pill"/>
          <p:cNvSpPr/>
          <p:nvPr/>
        </p:nvSpPr>
        <p:spPr>
          <a:xfrm>
            <a:off x="1115568" y="1691640"/>
            <a:ext cx="1737360" cy="384048"/>
          </a:xfrm>
          <a:prstGeom prst="roundRect">
            <a:avLst>
              <a:gd name="adj" fmla="val 19048"/>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 9"/>
          <p:cNvSpPr txBox="1"/>
          <p:nvPr/>
        </p:nvSpPr>
        <p:spPr>
          <a:xfrm>
            <a:off x="1115568" y="1691640"/>
            <a:ext cx="173736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Learn from outcomes</a:t>
            </a:r>
            <a:endParaRPr kumimoji="0" lang="en-US" sz="125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 10"/>
          <p:cNvSpPr txBox="1"/>
          <p:nvPr/>
        </p:nvSpPr>
        <p:spPr>
          <a:xfrm>
            <a:off x="640080" y="2221992"/>
            <a:ext cx="2212848"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Feedback is evidence, not a verdict</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13" name="Text 11"/>
          <p:cNvSpPr txBox="1"/>
          <p:nvPr/>
        </p:nvSpPr>
        <p:spPr>
          <a:xfrm>
            <a:off x="640080" y="2752344"/>
            <a:ext cx="2249424" cy="1463040"/>
          </a:xfrm>
          <a:prstGeom prst="rect">
            <a:avLst/>
          </a:prstGeom>
          <a:noFill/>
          <a:ln/>
        </p:spPr>
        <p:txBody>
          <a:bodyPr wrap="square" lIns="0" tIns="0" rIns="0" bIns="0" rtlCol="0" anchor="t"/>
          <a:lstStyle/>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Explicit: conditions, corrections, escalations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Implicit: retries, undo, abandonment, verified completion</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Each signal weighed for polarity and confidence before it counts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14" name="Arrow"/>
          <p:cNvSpPr/>
          <p:nvPr/>
        </p:nvSpPr>
        <p:spPr>
          <a:xfrm>
            <a:off x="3063240" y="1883664"/>
            <a:ext cx="265176"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 name="Investigate the cause"/>
          <p:cNvSpPr/>
          <p:nvPr/>
        </p:nvSpPr>
        <p:spPr>
          <a:xfrm>
            <a:off x="3355848" y="1508760"/>
            <a:ext cx="2578608" cy="2788920"/>
          </a:xfrm>
          <a:prstGeom prst="roundRect">
            <a:avLst>
              <a:gd name="adj" fmla="val 2837"/>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Number"/>
          <p:cNvSpPr/>
          <p:nvPr/>
        </p:nvSpPr>
        <p:spPr>
          <a:xfrm>
            <a:off x="3538728" y="1691640"/>
            <a:ext cx="384048" cy="384048"/>
          </a:xfrm>
          <a:prstGeom prst="ellipse">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7" name="Text 15"/>
          <p:cNvSpPr txBox="1"/>
          <p:nvPr/>
        </p:nvSpPr>
        <p:spPr>
          <a:xfrm>
            <a:off x="3538728" y="1691640"/>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2</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18" name="Stage pill"/>
          <p:cNvSpPr/>
          <p:nvPr/>
        </p:nvSpPr>
        <p:spPr>
          <a:xfrm>
            <a:off x="4014216" y="1691640"/>
            <a:ext cx="1737360" cy="384048"/>
          </a:xfrm>
          <a:prstGeom prst="roundRect">
            <a:avLst>
              <a:gd name="adj" fmla="val 19048"/>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 17"/>
          <p:cNvSpPr txBox="1"/>
          <p:nvPr/>
        </p:nvSpPr>
        <p:spPr>
          <a:xfrm>
            <a:off x="4014216" y="1691640"/>
            <a:ext cx="173736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Investigate the cause</a:t>
            </a:r>
            <a:endParaRPr kumimoji="0" lang="en-US" sz="1250" b="0" i="0" u="none" strike="noStrike" kern="1200" cap="none" spc="0" normalizeH="0" baseline="0" noProof="0">
              <a:ln>
                <a:noFill/>
              </a:ln>
              <a:solidFill>
                <a:prstClr val="black"/>
              </a:solidFill>
              <a:effectLst/>
              <a:uLnTx/>
              <a:uFillTx/>
              <a:latin typeface="Calibri"/>
              <a:ea typeface="+mn-ea"/>
              <a:cs typeface="+mn-cs"/>
            </a:endParaRPr>
          </a:p>
        </p:txBody>
      </p:sp>
      <p:sp>
        <p:nvSpPr>
          <p:cNvPr id="20" name="Text 18"/>
          <p:cNvSpPr txBox="1"/>
          <p:nvPr/>
        </p:nvSpPr>
        <p:spPr>
          <a:xfrm>
            <a:off x="3538728" y="2221992"/>
            <a:ext cx="2212848"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From the symptom to the component at fault</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 19"/>
          <p:cNvSpPr txBox="1"/>
          <p:nvPr/>
        </p:nvSpPr>
        <p:spPr>
          <a:xfrm>
            <a:off x="3538728" y="2752344"/>
            <a:ext cx="2249424" cy="1463040"/>
          </a:xfrm>
          <a:prstGeom prst="rect">
            <a:avLst/>
          </a:prstGeom>
          <a:noFill/>
          <a:ln/>
        </p:spPr>
        <p:txBody>
          <a:bodyPr wrap="square" lIns="0" tIns="0" rIns="0" bIns="0" rtlCol="0" anchor="t"/>
          <a:lstStyle/>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Candidates: a rule or overlay, extraction, retrieval, the recipe, the format or the model</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Evidence for and against, with alternatives kept visible</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Each hypothesis carries the test that would settle it</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22" name="Arrow"/>
          <p:cNvSpPr/>
          <p:nvPr/>
        </p:nvSpPr>
        <p:spPr>
          <a:xfrm>
            <a:off x="5961888" y="1883664"/>
            <a:ext cx="265176"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3" name="Prove and approve"/>
          <p:cNvSpPr/>
          <p:nvPr/>
        </p:nvSpPr>
        <p:spPr>
          <a:xfrm>
            <a:off x="6254496" y="1508760"/>
            <a:ext cx="2578608" cy="2788920"/>
          </a:xfrm>
          <a:prstGeom prst="roundRect">
            <a:avLst>
              <a:gd name="adj" fmla="val 2837"/>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4" name="Number"/>
          <p:cNvSpPr/>
          <p:nvPr/>
        </p:nvSpPr>
        <p:spPr>
          <a:xfrm>
            <a:off x="6437376" y="1691640"/>
            <a:ext cx="384048" cy="384048"/>
          </a:xfrm>
          <a:prstGeom prst="ellipse">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 name="Text 23"/>
          <p:cNvSpPr txBox="1"/>
          <p:nvPr/>
        </p:nvSpPr>
        <p:spPr>
          <a:xfrm>
            <a:off x="6437376" y="1691640"/>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3</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6" name="Stage pill"/>
          <p:cNvSpPr/>
          <p:nvPr/>
        </p:nvSpPr>
        <p:spPr>
          <a:xfrm>
            <a:off x="6912864" y="1691640"/>
            <a:ext cx="1737360" cy="384048"/>
          </a:xfrm>
          <a:prstGeom prst="roundRect">
            <a:avLst>
              <a:gd name="adj" fmla="val 19048"/>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 name="Text 25"/>
          <p:cNvSpPr txBox="1"/>
          <p:nvPr/>
        </p:nvSpPr>
        <p:spPr>
          <a:xfrm>
            <a:off x="6912864" y="1691640"/>
            <a:ext cx="173736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Prove and approve</a:t>
            </a:r>
            <a:endParaRPr kumimoji="0" lang="en-US" sz="1250" b="0" i="0" u="none" strike="noStrike" kern="1200" cap="none" spc="0" normalizeH="0" baseline="0" noProof="0">
              <a:ln>
                <a:noFill/>
              </a:ln>
              <a:solidFill>
                <a:prstClr val="black"/>
              </a:solidFill>
              <a:effectLst/>
              <a:uLnTx/>
              <a:uFillTx/>
              <a:latin typeface="Calibri"/>
              <a:ea typeface="+mn-ea"/>
              <a:cs typeface="+mn-cs"/>
            </a:endParaRPr>
          </a:p>
        </p:txBody>
      </p:sp>
      <p:sp>
        <p:nvSpPr>
          <p:cNvPr id="28" name="Text 26"/>
          <p:cNvSpPr txBox="1"/>
          <p:nvPr/>
        </p:nvSpPr>
        <p:spPr>
          <a:xfrm>
            <a:off x="6437376" y="2221992"/>
            <a:ext cx="2212848"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A change earns release on recorded cases</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29" name="Text 27"/>
          <p:cNvSpPr txBox="1"/>
          <p:nvPr/>
        </p:nvSpPr>
        <p:spPr>
          <a:xfrm>
            <a:off x="6437376" y="2752344"/>
            <a:ext cx="2249424" cy="1463040"/>
          </a:xfrm>
          <a:prstGeom prst="rect">
            <a:avLst/>
          </a:prstGeom>
          <a:noFill/>
          <a:ln/>
        </p:spPr>
        <p:txBody>
          <a:bodyPr wrap="square" lIns="0" tIns="0" rIns="0" bIns="0" rtlCol="0" anchor="t"/>
          <a:lstStyle/>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Replay the change next to the current version on the same cases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Held out cases and regressions by cohort, with cost and latency</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An SME approves the exact version, with a rollback point</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0" name="Arrow"/>
          <p:cNvSpPr/>
          <p:nvPr/>
        </p:nvSpPr>
        <p:spPr>
          <a:xfrm>
            <a:off x="8860536" y="1883664"/>
            <a:ext cx="265176" cy="0"/>
          </a:xfrm>
          <a:prstGeom prst="line">
            <a:avLst/>
          </a:prstGeom>
          <a:noFill/>
          <a:ln w="19050">
            <a:solidFill>
              <a:srgbClr val="0D9488"/>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 name="Remember and adapt"/>
          <p:cNvSpPr/>
          <p:nvPr/>
        </p:nvSpPr>
        <p:spPr>
          <a:xfrm>
            <a:off x="9153144" y="1508760"/>
            <a:ext cx="2578608" cy="2788920"/>
          </a:xfrm>
          <a:prstGeom prst="roundRect">
            <a:avLst>
              <a:gd name="adj" fmla="val 2837"/>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2" name="Number"/>
          <p:cNvSpPr/>
          <p:nvPr/>
        </p:nvSpPr>
        <p:spPr>
          <a:xfrm>
            <a:off x="9336024" y="1691640"/>
            <a:ext cx="384048" cy="384048"/>
          </a:xfrm>
          <a:prstGeom prst="ellipse">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 name="Text 31"/>
          <p:cNvSpPr txBox="1"/>
          <p:nvPr/>
        </p:nvSpPr>
        <p:spPr>
          <a:xfrm>
            <a:off x="9336024" y="1691640"/>
            <a:ext cx="384048"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4</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34" name="Stage pill"/>
          <p:cNvSpPr/>
          <p:nvPr/>
        </p:nvSpPr>
        <p:spPr>
          <a:xfrm>
            <a:off x="9811512" y="1691640"/>
            <a:ext cx="1737360" cy="384048"/>
          </a:xfrm>
          <a:prstGeom prst="roundRect">
            <a:avLst>
              <a:gd name="adj" fmla="val 19048"/>
            </a:avLst>
          </a:prstGeom>
          <a:solidFill>
            <a:srgbClr val="03CBA9"/>
          </a:solidFill>
          <a:ln w="12700">
            <a:solidFill>
              <a:srgbClr val="03CBA9"/>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5" name="Text 33"/>
          <p:cNvSpPr txBox="1"/>
          <p:nvPr/>
        </p:nvSpPr>
        <p:spPr>
          <a:xfrm>
            <a:off x="9811512" y="1691640"/>
            <a:ext cx="1737360" cy="384048"/>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Remember and adapt</a:t>
            </a:r>
            <a:endParaRPr kumimoji="0" lang="en-US" sz="1250" b="0" i="0" u="none" strike="noStrike" kern="1200" cap="none" spc="0" normalizeH="0" baseline="0" noProof="0">
              <a:ln>
                <a:noFill/>
              </a:ln>
              <a:solidFill>
                <a:prstClr val="black"/>
              </a:solidFill>
              <a:effectLst/>
              <a:uLnTx/>
              <a:uFillTx/>
              <a:latin typeface="Calibri"/>
              <a:ea typeface="+mn-ea"/>
              <a:cs typeface="+mn-cs"/>
            </a:endParaRPr>
          </a:p>
        </p:txBody>
      </p:sp>
      <p:sp>
        <p:nvSpPr>
          <p:cNvPr id="36" name="Text 34"/>
          <p:cNvSpPr txBox="1"/>
          <p:nvPr/>
        </p:nvSpPr>
        <p:spPr>
          <a:xfrm>
            <a:off x="9336024" y="2221992"/>
            <a:ext cx="2212848" cy="4572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3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Every attempt informs the next cycle</a:t>
            </a:r>
            <a:endParaRPr kumimoji="0" lang="en-US" sz="1300" b="0" i="0" u="none" strike="noStrike" kern="1200" cap="none" spc="0" normalizeH="0" baseline="0" noProof="0">
              <a:ln>
                <a:noFill/>
              </a:ln>
              <a:solidFill>
                <a:prstClr val="black"/>
              </a:solidFill>
              <a:effectLst/>
              <a:uLnTx/>
              <a:uFillTx/>
              <a:latin typeface="Calibri"/>
              <a:ea typeface="+mn-ea"/>
              <a:cs typeface="+mn-cs"/>
            </a:endParaRPr>
          </a:p>
        </p:txBody>
      </p:sp>
      <p:sp>
        <p:nvSpPr>
          <p:cNvPr id="37" name="Text 35"/>
          <p:cNvSpPr txBox="1"/>
          <p:nvPr/>
        </p:nvSpPr>
        <p:spPr>
          <a:xfrm>
            <a:off x="9336024" y="2752344"/>
            <a:ext cx="2249424" cy="1463040"/>
          </a:xfrm>
          <a:prstGeom prst="rect">
            <a:avLst/>
          </a:prstGeom>
          <a:noFill/>
          <a:ln/>
        </p:spPr>
        <p:txBody>
          <a:bodyPr wrap="square" lIns="0" tIns="0" rIns="0" bIns="0" rtlCol="0" anchor="t"/>
          <a:lstStyle/>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Episodes, lessons and failed attempts kept with their dates and versions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Lessons confirmed, narrowed, superseded or retired</a:t>
            </a:r>
            <a:endParaRPr kumimoji="0" lang="en-US" sz="1100" b="0" i="0" u="none" strike="noStrike" kern="1200" cap="none" spc="0" normalizeH="0" baseline="0" noProof="0">
              <a:ln>
                <a:noFill/>
              </a:ln>
              <a:solidFill>
                <a:prstClr val="black"/>
              </a:solidFill>
              <a:effectLst/>
              <a:uLnTx/>
              <a:uFillTx/>
              <a:latin typeface="Calibri"/>
              <a:ea typeface="+mn-ea"/>
              <a:cs typeface="+mn-cs"/>
            </a:endParaRPr>
          </a:p>
          <a:p>
            <a:pPr marL="152400" marR="0" lvl="0" indent="-152400" algn="l" defTabSz="914400" rtl="0" eaLnBrk="1" fontAlgn="auto" latinLnBrk="0" hangingPunct="1">
              <a:lnSpc>
                <a:spcPct val="100000"/>
              </a:lnSpc>
              <a:spcBef>
                <a:spcPts val="0"/>
              </a:spcBef>
              <a:spcAft>
                <a:spcPts val="500"/>
              </a:spcAft>
              <a:buClrTx/>
              <a:buSzPct val="100000"/>
              <a:buFontTx/>
              <a:buChar char="•"/>
              <a:tabLst/>
              <a:defRPr/>
            </a:pPr>
            <a:r>
              <a:rPr kumimoji="0" lang="en-US" sz="11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The learner improves how it picks cases and tests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8" name="Loop"/>
          <p:cNvSpPr/>
          <p:nvPr/>
        </p:nvSpPr>
        <p:spPr>
          <a:xfrm>
            <a:off x="10442448" y="4297680"/>
            <a:ext cx="0" cy="182880"/>
          </a:xfrm>
          <a:prstGeom prst="line">
            <a:avLst/>
          </a:prstGeom>
          <a:noFill/>
          <a:ln w="1905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9" name="Loop"/>
          <p:cNvSpPr/>
          <p:nvPr/>
        </p:nvSpPr>
        <p:spPr>
          <a:xfrm>
            <a:off x="1746504" y="4480560"/>
            <a:ext cx="8695944" cy="0"/>
          </a:xfrm>
          <a:prstGeom prst="line">
            <a:avLst/>
          </a:prstGeom>
          <a:noFill/>
          <a:ln w="1905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0" name="Loop"/>
          <p:cNvSpPr/>
          <p:nvPr/>
        </p:nvSpPr>
        <p:spPr>
          <a:xfrm>
            <a:off x="1746504" y="4297680"/>
            <a:ext cx="0" cy="182880"/>
          </a:xfrm>
          <a:prstGeom prst="line">
            <a:avLst/>
          </a:prstGeom>
          <a:noFill/>
          <a:ln w="19050">
            <a:solidFill>
              <a:srgbClr val="5069EC"/>
            </a:solidFill>
            <a:prstDash val="solid"/>
            <a:head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Text 39"/>
          <p:cNvSpPr txBox="1"/>
          <p:nvPr/>
        </p:nvSpPr>
        <p:spPr>
          <a:xfrm>
            <a:off x="3200400" y="4498848"/>
            <a:ext cx="5760720"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5069EC"/>
                </a:solidFill>
                <a:effectLst/>
                <a:uLnTx/>
                <a:uFillTx/>
                <a:latin typeface="Calibri" pitchFamily="34" charset="0"/>
                <a:ea typeface="Calibri" pitchFamily="34" charset="-122"/>
                <a:cs typeface="Calibri" pitchFamily="34" charset="-120"/>
              </a:rPr>
              <a:t>Measured outcomes update memory and guide the next cycle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42" name="BUILDS ON WHAT IS LIVE"/>
          <p:cNvSpPr/>
          <p:nvPr/>
        </p:nvSpPr>
        <p:spPr>
          <a:xfrm>
            <a:off x="457200" y="4846320"/>
            <a:ext cx="5559552" cy="960120"/>
          </a:xfrm>
          <a:prstGeom prst="roundRect">
            <a:avLst>
              <a:gd name="adj" fmla="val 7619"/>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3" name="Text 41"/>
          <p:cNvSpPr txBox="1"/>
          <p:nvPr/>
        </p:nvSpPr>
        <p:spPr>
          <a:xfrm>
            <a:off x="640080" y="4956048"/>
            <a:ext cx="5193792"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5B2D8E"/>
                </a:solidFill>
                <a:effectLst/>
                <a:uLnTx/>
                <a:uFillTx/>
                <a:latin typeface="Calibri" pitchFamily="34" charset="0"/>
                <a:ea typeface="Calibri" pitchFamily="34" charset="-122"/>
                <a:cs typeface="Calibri" pitchFamily="34" charset="-120"/>
              </a:rPr>
              <a:t>BUILDS ON WHAT IS LIVE</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44" name="Chip"/>
          <p:cNvSpPr/>
          <p:nvPr/>
        </p:nvSpPr>
        <p:spPr>
          <a:xfrm>
            <a:off x="640080" y="5248656"/>
            <a:ext cx="1327709" cy="237744"/>
          </a:xfrm>
          <a:prstGeom prst="roundRect">
            <a:avLst>
              <a:gd name="adj" fmla="val 50000"/>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5" name="Text 43"/>
          <p:cNvSpPr txBox="1"/>
          <p:nvPr/>
        </p:nvSpPr>
        <p:spPr>
          <a:xfrm>
            <a:off x="640080" y="5248656"/>
            <a:ext cx="1327709"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Feedback Manager</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6" name="Chip"/>
          <p:cNvSpPr/>
          <p:nvPr/>
        </p:nvSpPr>
        <p:spPr>
          <a:xfrm>
            <a:off x="2059229" y="5248656"/>
            <a:ext cx="1261872" cy="237744"/>
          </a:xfrm>
          <a:prstGeom prst="roundRect">
            <a:avLst>
              <a:gd name="adj" fmla="val 50000"/>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 45"/>
          <p:cNvSpPr txBox="1"/>
          <p:nvPr/>
        </p:nvSpPr>
        <p:spPr>
          <a:xfrm>
            <a:off x="2059229" y="5248656"/>
            <a:ext cx="1261872"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Self reflection*</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48" name="Chip"/>
          <p:cNvSpPr/>
          <p:nvPr/>
        </p:nvSpPr>
        <p:spPr>
          <a:xfrm>
            <a:off x="3412541" y="5248656"/>
            <a:ext cx="1525219" cy="237744"/>
          </a:xfrm>
          <a:prstGeom prst="roundRect">
            <a:avLst>
              <a:gd name="adj" fmla="val 50000"/>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 name="Text 47"/>
          <p:cNvSpPr txBox="1"/>
          <p:nvPr/>
        </p:nvSpPr>
        <p:spPr>
          <a:xfrm>
            <a:off x="3412541" y="5248656"/>
            <a:ext cx="1525219"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In context learning</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0" name="Chip"/>
          <p:cNvSpPr/>
          <p:nvPr/>
        </p:nvSpPr>
        <p:spPr>
          <a:xfrm>
            <a:off x="640080" y="5522976"/>
            <a:ext cx="1459382" cy="237744"/>
          </a:xfrm>
          <a:prstGeom prst="roundRect">
            <a:avLst>
              <a:gd name="adj" fmla="val 50000"/>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1" name="Text 49"/>
          <p:cNvSpPr txBox="1"/>
          <p:nvPr/>
        </p:nvSpPr>
        <p:spPr>
          <a:xfrm>
            <a:off x="640080" y="5522976"/>
            <a:ext cx="1459382"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Evaluation service</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2" name="Chip"/>
          <p:cNvSpPr/>
          <p:nvPr/>
        </p:nvSpPr>
        <p:spPr>
          <a:xfrm>
            <a:off x="2190902" y="5522976"/>
            <a:ext cx="866851" cy="237744"/>
          </a:xfrm>
          <a:prstGeom prst="roundRect">
            <a:avLst>
              <a:gd name="adj" fmla="val 50000"/>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3" name="Text 51"/>
          <p:cNvSpPr txBox="1"/>
          <p:nvPr/>
        </p:nvSpPr>
        <p:spPr>
          <a:xfrm>
            <a:off x="2190902" y="5522976"/>
            <a:ext cx="866851"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JazzX SDK*</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4" name="ROSI ADDS"/>
          <p:cNvSpPr/>
          <p:nvPr/>
        </p:nvSpPr>
        <p:spPr>
          <a:xfrm>
            <a:off x="6172200" y="4846320"/>
            <a:ext cx="5559552" cy="960120"/>
          </a:xfrm>
          <a:prstGeom prst="roundRect">
            <a:avLst>
              <a:gd name="adj" fmla="val 7619"/>
            </a:avLst>
          </a:prstGeom>
          <a:solidFill>
            <a:srgbClr val="E6F8F4"/>
          </a:solidFill>
          <a:ln w="9525">
            <a:solidFill>
              <a:srgbClr val="9FE3D6"/>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 53"/>
          <p:cNvSpPr txBox="1"/>
          <p:nvPr/>
        </p:nvSpPr>
        <p:spPr>
          <a:xfrm>
            <a:off x="6355080" y="4956048"/>
            <a:ext cx="5193792" cy="20116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0D9488"/>
                </a:solidFill>
                <a:effectLst/>
                <a:uLnTx/>
                <a:uFillTx/>
                <a:latin typeface="Calibri" pitchFamily="34" charset="0"/>
                <a:ea typeface="Calibri" pitchFamily="34" charset="-122"/>
                <a:cs typeface="Calibri" pitchFamily="34" charset="-120"/>
              </a:rPr>
              <a:t>ROSI ADDS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6" name="Chip"/>
          <p:cNvSpPr/>
          <p:nvPr/>
        </p:nvSpPr>
        <p:spPr>
          <a:xfrm>
            <a:off x="6355080" y="5248656"/>
            <a:ext cx="2710282" cy="237744"/>
          </a:xfrm>
          <a:prstGeom prst="roundRect">
            <a:avLst>
              <a:gd name="adj" fmla="val 50000"/>
            </a:avLst>
          </a:prstGeom>
          <a:solidFill>
            <a:srgbClr val="FFFFFF"/>
          </a:solidFill>
          <a:ln w="12700">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7" name="Text 55"/>
          <p:cNvSpPr txBox="1"/>
          <p:nvPr/>
        </p:nvSpPr>
        <p:spPr>
          <a:xfrm>
            <a:off x="6355080" y="5248656"/>
            <a:ext cx="2710282"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Periodic analysis that finds patterns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8" name="Chip"/>
          <p:cNvSpPr/>
          <p:nvPr/>
        </p:nvSpPr>
        <p:spPr>
          <a:xfrm>
            <a:off x="9156802" y="5248656"/>
            <a:ext cx="2315261" cy="237744"/>
          </a:xfrm>
          <a:prstGeom prst="roundRect">
            <a:avLst>
              <a:gd name="adj" fmla="val 50000"/>
            </a:avLst>
          </a:prstGeom>
          <a:solidFill>
            <a:srgbClr val="FFFFFF"/>
          </a:solidFill>
          <a:ln w="12700">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9" name="Text 57"/>
          <p:cNvSpPr txBox="1"/>
          <p:nvPr/>
        </p:nvSpPr>
        <p:spPr>
          <a:xfrm>
            <a:off x="9156802" y="5248656"/>
            <a:ext cx="2315261"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Shared evidence across services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60" name="Chip"/>
          <p:cNvSpPr/>
          <p:nvPr/>
        </p:nvSpPr>
        <p:spPr>
          <a:xfrm>
            <a:off x="6355080" y="5522976"/>
            <a:ext cx="2776118" cy="237744"/>
          </a:xfrm>
          <a:prstGeom prst="roundRect">
            <a:avLst>
              <a:gd name="adj" fmla="val 50000"/>
            </a:avLst>
          </a:prstGeom>
          <a:solidFill>
            <a:srgbClr val="FFFFFF"/>
          </a:solidFill>
          <a:ln w="12700">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1" name="Text 59"/>
          <p:cNvSpPr txBox="1"/>
          <p:nvPr/>
        </p:nvSpPr>
        <p:spPr>
          <a:xfrm>
            <a:off x="6355080" y="5522976"/>
            <a:ext cx="2776118"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Memory can track when a lesson holds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62" name="Chip"/>
          <p:cNvSpPr/>
          <p:nvPr/>
        </p:nvSpPr>
        <p:spPr>
          <a:xfrm>
            <a:off x="9222638" y="5522976"/>
            <a:ext cx="2051914" cy="237744"/>
          </a:xfrm>
          <a:prstGeom prst="roundRect">
            <a:avLst>
              <a:gd name="adj" fmla="val 50000"/>
            </a:avLst>
          </a:prstGeom>
          <a:solidFill>
            <a:srgbClr val="FFFFFF"/>
          </a:solidFill>
          <a:ln w="12700">
            <a:solidFill>
              <a:srgbClr val="9FE3D6"/>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3" name="Text 61"/>
          <p:cNvSpPr txBox="1"/>
          <p:nvPr/>
        </p:nvSpPr>
        <p:spPr>
          <a:xfrm>
            <a:off x="9222638" y="5522976"/>
            <a:ext cx="2051914"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An accountable release path</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64" name="Text 62"/>
          <p:cNvSpPr txBox="1"/>
          <p:nvPr/>
        </p:nvSpPr>
        <p:spPr>
          <a:xfrm>
            <a:off x="457200" y="5980176"/>
            <a:ext cx="11274552"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If a pattern cannot be tied to a component with a test, the loop stops at diagnosis. A run with no usable change is still a result.</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050" i="1">
              <a:solidFill>
                <a:srgbClr val="5B6472"/>
              </a:solidFill>
              <a:latin typeface="Calibri" pitchFamily="34" charset="0"/>
              <a:ea typeface="Calibri" pitchFamily="34" charset="-122"/>
              <a:cs typeface="Calibri" pitchFamily="34" charset="-120"/>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050" i="1">
                <a:solidFill>
                  <a:srgbClr val="5B6472"/>
                </a:solidFill>
                <a:latin typeface="Calibri" pitchFamily="34" charset="0"/>
                <a:ea typeface="Calibri" pitchFamily="34" charset="-122"/>
                <a:cs typeface="Calibri" pitchFamily="34" charset="-120"/>
              </a:rPr>
              <a:t>* In beta or under development (not in production yet)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6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ROSI  ·  INSIDE THE LOOP</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3" name="Text 1"/>
          <p:cNvSpPr>
            <a:spLocks noGrp="1"/>
          </p:cNvSpPr>
          <p:nvPr>
            <p:ph type="title" idx="101" hasCustomPrompt="1"/>
          </p:nvPr>
        </p:nvSpPr>
        <p:spPr>
          <a:xfrm>
            <a:off x="457200" y="502920"/>
            <a:ext cx="11274552" cy="566928"/>
          </a:xfrm>
          <a:prstGeom prst="rect">
            <a:avLst/>
          </a:prstGeom>
          <a:noFill/>
          <a:ln/>
        </p:spPr>
        <p:txBody>
          <a:bodyPr wrap="square" lIns="0" tIns="0" rIns="0" bIns="0" rtlCol="0" anchor="t"/>
          <a:lstStyle/>
          <a:p>
            <a:pPr marL="0" indent="0" algn="l">
              <a:buNone/>
            </a:pPr>
            <a:r>
              <a:rPr lang="en-US" sz="2600" b="1">
                <a:solidFill>
                  <a:srgbClr val="3600AD"/>
                </a:solidFill>
                <a:latin typeface="Calibri" pitchFamily="34" charset="0"/>
                <a:ea typeface="Calibri" pitchFamily="34" charset="-122"/>
                <a:cs typeface="Calibri" pitchFamily="34" charset="-120"/>
              </a:rPr>
              <a:t>Every service joins the loop through the SDK, and SMEs decide what changes</a:t>
            </a:r>
            <a:endParaRPr lang="en-US" sz="2600"/>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Where the JazzX SDK connects services to the learning agents, and where a person is in the loop</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Services"/>
          <p:cNvSpPr/>
          <p:nvPr/>
        </p:nvSpPr>
        <p:spPr>
          <a:xfrm>
            <a:off x="457200" y="1499616"/>
            <a:ext cx="2103120" cy="2011680"/>
          </a:xfrm>
          <a:prstGeom prst="roundRect">
            <a:avLst>
              <a:gd name="adj" fmla="val 3636"/>
            </a:avLst>
          </a:prstGeom>
          <a:solidFill>
            <a:srgbClr val="F3F6FF"/>
          </a:solidFill>
          <a:ln w="12700">
            <a:solidFill>
              <a:srgbClr val="5069EC"/>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 6"/>
          <p:cNvSpPr txBox="1"/>
          <p:nvPr/>
        </p:nvSpPr>
        <p:spPr>
          <a:xfrm>
            <a:off x="585216" y="1572768"/>
            <a:ext cx="1847088"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Services on the JazzX SDK</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9" name="Jazz Assistant"/>
          <p:cNvSpPr/>
          <p:nvPr/>
        </p:nvSpPr>
        <p:spPr>
          <a:xfrm>
            <a:off x="585216" y="1901952"/>
            <a:ext cx="1847088" cy="274320"/>
          </a:xfrm>
          <a:prstGeom prst="roundRect">
            <a:avLst>
              <a:gd name="adj" fmla="val 20000"/>
            </a:avLst>
          </a:prstGeom>
          <a:solidFill>
            <a:srgbClr val="FFFF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Text 8"/>
          <p:cNvSpPr txBox="1"/>
          <p:nvPr/>
        </p:nvSpPr>
        <p:spPr>
          <a:xfrm>
            <a:off x="585216" y="1901952"/>
            <a:ext cx="1847088"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JazzX Co Workers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11" name="Reasoners"/>
          <p:cNvSpPr/>
          <p:nvPr/>
        </p:nvSpPr>
        <p:spPr>
          <a:xfrm>
            <a:off x="585216" y="2231136"/>
            <a:ext cx="1847088" cy="274320"/>
          </a:xfrm>
          <a:prstGeom prst="roundRect">
            <a:avLst>
              <a:gd name="adj" fmla="val 20000"/>
            </a:avLst>
          </a:prstGeom>
          <a:solidFill>
            <a:srgbClr val="FFFF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Text 10"/>
          <p:cNvSpPr txBox="1"/>
          <p:nvPr/>
        </p:nvSpPr>
        <p:spPr>
          <a:xfrm>
            <a:off x="585216" y="2231136"/>
            <a:ext cx="1847088"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Reasoners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13" name="Process agents"/>
          <p:cNvSpPr/>
          <p:nvPr/>
        </p:nvSpPr>
        <p:spPr>
          <a:xfrm>
            <a:off x="585216" y="2560320"/>
            <a:ext cx="1847088" cy="274320"/>
          </a:xfrm>
          <a:prstGeom prst="roundRect">
            <a:avLst>
              <a:gd name="adj" fmla="val 20000"/>
            </a:avLst>
          </a:prstGeom>
          <a:solidFill>
            <a:srgbClr val="FFFF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4" name="Text 12"/>
          <p:cNvSpPr txBox="1"/>
          <p:nvPr/>
        </p:nvSpPr>
        <p:spPr>
          <a:xfrm>
            <a:off x="585216" y="2560320"/>
            <a:ext cx="1847088"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Process agents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15" name="Customer solutions"/>
          <p:cNvSpPr/>
          <p:nvPr/>
        </p:nvSpPr>
        <p:spPr>
          <a:xfrm>
            <a:off x="585216" y="2889504"/>
            <a:ext cx="1847088" cy="274320"/>
          </a:xfrm>
          <a:prstGeom prst="roundRect">
            <a:avLst>
              <a:gd name="adj" fmla="val 20000"/>
            </a:avLst>
          </a:prstGeom>
          <a:solidFill>
            <a:srgbClr val="FFFF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6" name="Text 14"/>
          <p:cNvSpPr txBox="1"/>
          <p:nvPr/>
        </p:nvSpPr>
        <p:spPr>
          <a:xfrm>
            <a:off x="585216" y="2889504"/>
            <a:ext cx="1847088"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Customer solutions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17" name="Text 15"/>
          <p:cNvSpPr txBox="1"/>
          <p:nvPr/>
        </p:nvSpPr>
        <p:spPr>
          <a:xfrm>
            <a:off x="585216" y="3200400"/>
            <a:ext cx="1847088" cy="292608"/>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Each submits feedback and traces, and explains its own runs on request</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18" name="Feedback Manager"/>
          <p:cNvSpPr/>
          <p:nvPr/>
        </p:nvSpPr>
        <p:spPr>
          <a:xfrm>
            <a:off x="2816352" y="1499616"/>
            <a:ext cx="1645920" cy="2011680"/>
          </a:xfrm>
          <a:prstGeom prst="roundRect">
            <a:avLst>
              <a:gd name="adj" fmla="val 4444"/>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9" name="Text 17"/>
          <p:cNvSpPr txBox="1"/>
          <p:nvPr/>
        </p:nvSpPr>
        <p:spPr>
          <a:xfrm>
            <a:off x="2926080" y="1591056"/>
            <a:ext cx="1426464" cy="18288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2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Feedback Manager</a:t>
            </a:r>
            <a:endParaRPr kumimoji="0" lang="en-US" sz="12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System of record. Links each signal to its run and evidence and asks the service to explain what happened.</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20" name="Learning agents"/>
          <p:cNvSpPr/>
          <p:nvPr/>
        </p:nvSpPr>
        <p:spPr>
          <a:xfrm>
            <a:off x="4718304" y="1499616"/>
            <a:ext cx="3566160" cy="2011680"/>
          </a:xfrm>
          <a:prstGeom prst="roundRect">
            <a:avLst>
              <a:gd name="adj" fmla="val 3636"/>
            </a:avLst>
          </a:prstGeom>
          <a:solidFill>
            <a:srgbClr val="F3F6FF"/>
          </a:solidFill>
          <a:ln w="12700">
            <a:solidFill>
              <a:srgbClr val="5069EC"/>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1" name="Text 19"/>
          <p:cNvSpPr txBox="1"/>
          <p:nvPr/>
        </p:nvSpPr>
        <p:spPr>
          <a:xfrm>
            <a:off x="4846320" y="1572768"/>
            <a:ext cx="3310128" cy="256032"/>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Learning agents  </a:t>
            </a:r>
            <a:r>
              <a:rPr kumimoji="0" lang="en-US" sz="950" b="0" i="1" u="none" strike="noStrike" kern="1200" cap="none" spc="0" normalizeH="0" baseline="0" noProof="0">
                <a:ln>
                  <a:noFill/>
                </a:ln>
                <a:solidFill>
                  <a:srgbClr val="5B6472"/>
                </a:solidFill>
                <a:effectLst/>
                <a:uLnTx/>
                <a:uFillTx/>
                <a:latin typeface="Calibri" pitchFamily="34" charset="0"/>
                <a:ea typeface="Calibri" pitchFamily="34" charset="-122"/>
                <a:cs typeface="Calibri" pitchFamily="34" charset="-120"/>
              </a:rPr>
              <a:t>on the SDK harness, in a sandbox</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22" name="Attribution agent"/>
          <p:cNvSpPr/>
          <p:nvPr/>
        </p:nvSpPr>
        <p:spPr>
          <a:xfrm>
            <a:off x="4992624" y="1883664"/>
            <a:ext cx="3163824" cy="384048"/>
          </a:xfrm>
          <a:prstGeom prst="roundRect">
            <a:avLst>
              <a:gd name="adj" fmla="val 14286"/>
            </a:avLst>
          </a:prstGeom>
          <a:solidFill>
            <a:srgbClr val="FFFF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3" name="Text 21"/>
          <p:cNvSpPr txBox="1"/>
          <p:nvPr/>
        </p:nvSpPr>
        <p:spPr>
          <a:xfrm>
            <a:off x="5102352" y="1883664"/>
            <a:ext cx="2962656"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Attribution agent  </a:t>
            </a:r>
            <a:r>
              <a:rPr kumimoji="0" lang="en-US" sz="9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explains one run and names the likely cause</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24" name="Periodic analyzer"/>
          <p:cNvSpPr/>
          <p:nvPr/>
        </p:nvSpPr>
        <p:spPr>
          <a:xfrm>
            <a:off x="4992624" y="2322576"/>
            <a:ext cx="3163824" cy="384048"/>
          </a:xfrm>
          <a:prstGeom prst="roundRect">
            <a:avLst>
              <a:gd name="adj" fmla="val 14286"/>
            </a:avLst>
          </a:prstGeom>
          <a:solidFill>
            <a:srgbClr val="FFFF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5" name="Text 23"/>
          <p:cNvSpPr txBox="1"/>
          <p:nvPr/>
        </p:nvSpPr>
        <p:spPr>
          <a:xfrm>
            <a:off x="5102352" y="2322576"/>
            <a:ext cx="2962656"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Periodic analyzer  </a:t>
            </a:r>
            <a:r>
              <a:rPr kumimoji="0" lang="en-US" sz="9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finds patterns across runs and drafts hypotheses</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26" name="Experiment learner"/>
          <p:cNvSpPr/>
          <p:nvPr/>
        </p:nvSpPr>
        <p:spPr>
          <a:xfrm>
            <a:off x="4992624" y="2761488"/>
            <a:ext cx="3163824" cy="384048"/>
          </a:xfrm>
          <a:prstGeom prst="roundRect">
            <a:avLst>
              <a:gd name="adj" fmla="val 14286"/>
            </a:avLst>
          </a:prstGeom>
          <a:solidFill>
            <a:srgbClr val="FFFFFF"/>
          </a:solidFill>
          <a:ln w="9525">
            <a:solidFill>
              <a:srgbClr val="D6DDF3"/>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 name="Text 25"/>
          <p:cNvSpPr txBox="1"/>
          <p:nvPr/>
        </p:nvSpPr>
        <p:spPr>
          <a:xfrm>
            <a:off x="5102352" y="2761488"/>
            <a:ext cx="2962656" cy="38404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Experiment learner  </a:t>
            </a:r>
            <a:r>
              <a:rPr kumimoji="0" lang="en-US" sz="9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tests candidate fixes within the goal and budget</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28" name="Memory"/>
          <p:cNvSpPr/>
          <p:nvPr/>
        </p:nvSpPr>
        <p:spPr>
          <a:xfrm>
            <a:off x="4992624" y="3218688"/>
            <a:ext cx="3163824" cy="237744"/>
          </a:xfrm>
          <a:prstGeom prst="roundRect">
            <a:avLst>
              <a:gd name="adj" fmla="val 23077"/>
            </a:avLst>
          </a:prstGeom>
          <a:solidFill>
            <a:srgbClr val="E4E9FD"/>
          </a:solidFill>
          <a:ln w="12700">
            <a:solidFill>
              <a:srgbClr val="E4E9FD"/>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 name="Text 27"/>
          <p:cNvSpPr txBox="1"/>
          <p:nvPr/>
        </p:nvSpPr>
        <p:spPr>
          <a:xfrm>
            <a:off x="4992624" y="3218688"/>
            <a:ext cx="3163824" cy="237744"/>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95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Governed memory: diagnoses, failed attempts, SME decisions</a:t>
            </a:r>
            <a:endParaRPr kumimoji="0" lang="en-US" sz="950" b="0" i="0" u="none" strike="noStrike" kern="1200" cap="none" spc="0" normalizeH="0" baseline="0" noProof="0">
              <a:ln>
                <a:noFill/>
              </a:ln>
              <a:solidFill>
                <a:prstClr val="black"/>
              </a:solidFill>
              <a:effectLst/>
              <a:uLnTx/>
              <a:uFillTx/>
              <a:latin typeface="Calibri"/>
              <a:ea typeface="+mn-ea"/>
              <a:cs typeface="+mn-cs"/>
            </a:endParaRPr>
          </a:p>
        </p:txBody>
      </p:sp>
      <p:sp>
        <p:nvSpPr>
          <p:cNvPr id="30" name="Human 2"/>
          <p:cNvSpPr/>
          <p:nvPr/>
        </p:nvSpPr>
        <p:spPr>
          <a:xfrm>
            <a:off x="4773168" y="1938528"/>
            <a:ext cx="274320" cy="274320"/>
          </a:xfrm>
          <a:prstGeom prst="ellipse">
            <a:avLst/>
          </a:prstGeom>
          <a:solidFill>
            <a:srgbClr val="FF592C"/>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1" name="Text 29"/>
          <p:cNvSpPr txBox="1"/>
          <p:nvPr/>
        </p:nvSpPr>
        <p:spPr>
          <a:xfrm>
            <a:off x="4773168" y="1938528"/>
            <a:ext cx="2743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2</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2" name="Human 1"/>
          <p:cNvSpPr/>
          <p:nvPr/>
        </p:nvSpPr>
        <p:spPr>
          <a:xfrm>
            <a:off x="4773168" y="2816352"/>
            <a:ext cx="274320" cy="274320"/>
          </a:xfrm>
          <a:prstGeom prst="ellipse">
            <a:avLst/>
          </a:prstGeom>
          <a:solidFill>
            <a:srgbClr val="FF592C"/>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3" name="Text 31"/>
          <p:cNvSpPr txBox="1"/>
          <p:nvPr/>
        </p:nvSpPr>
        <p:spPr>
          <a:xfrm>
            <a:off x="4773168" y="2816352"/>
            <a:ext cx="2743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1</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34" name="Evaluation service"/>
          <p:cNvSpPr/>
          <p:nvPr/>
        </p:nvSpPr>
        <p:spPr>
          <a:xfrm>
            <a:off x="8540496" y="1499616"/>
            <a:ext cx="1481328" cy="2011680"/>
          </a:xfrm>
          <a:prstGeom prst="roundRect">
            <a:avLst>
              <a:gd name="adj" fmla="val 4938"/>
            </a:avLst>
          </a:prstGeom>
          <a:solidFill>
            <a:srgbClr val="FFFFFF"/>
          </a:solidFill>
          <a:ln w="9525">
            <a:solidFill>
              <a:srgbClr val="D6DDF3"/>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5" name="Text 33"/>
          <p:cNvSpPr txBox="1"/>
          <p:nvPr/>
        </p:nvSpPr>
        <p:spPr>
          <a:xfrm>
            <a:off x="8650224" y="1591056"/>
            <a:ext cx="1261872" cy="182880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200" b="1" i="0" u="none" strike="noStrike" kern="1200" cap="none" spc="0" normalizeH="0" baseline="0" noProof="0">
                <a:ln>
                  <a:noFill/>
                </a:ln>
                <a:solidFill>
                  <a:srgbClr val="3600AD"/>
                </a:solidFill>
                <a:effectLst/>
                <a:uLnTx/>
                <a:uFillTx/>
                <a:latin typeface="Calibri" pitchFamily="34" charset="0"/>
                <a:ea typeface="Calibri" pitchFamily="34" charset="-122"/>
                <a:cs typeface="Calibri" pitchFamily="34" charset="-120"/>
              </a:rPr>
              <a:t>Evaluation service</a:t>
            </a:r>
            <a:endParaRPr kumimoji="0" lang="en-US" sz="12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Independent of the learner. Replays the candidate and the live version on the same cases, plus held out cases, and reports regressions and cost.</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36" name="SME review"/>
          <p:cNvSpPr/>
          <p:nvPr/>
        </p:nvSpPr>
        <p:spPr>
          <a:xfrm>
            <a:off x="10277856" y="1499616"/>
            <a:ext cx="1453896" cy="2011680"/>
          </a:xfrm>
          <a:prstGeom prst="roundRect">
            <a:avLst>
              <a:gd name="adj" fmla="val 5031"/>
            </a:avLst>
          </a:prstGeom>
          <a:solidFill>
            <a:srgbClr val="E6F8F4"/>
          </a:solidFill>
          <a:ln w="9525">
            <a:solidFill>
              <a:srgbClr val="9FE3D6"/>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7" name="Text 35"/>
          <p:cNvSpPr txBox="1"/>
          <p:nvPr/>
        </p:nvSpPr>
        <p:spPr>
          <a:xfrm>
            <a:off x="10387584" y="1828800"/>
            <a:ext cx="1234440" cy="159105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200" b="1" i="0"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SME review</a:t>
            </a:r>
            <a:endParaRPr kumimoji="0" lang="en-US" sz="120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400"/>
              </a:spcAft>
              <a:buClrTx/>
              <a:buSzTx/>
              <a:buFontTx/>
              <a:buNone/>
              <a:tabLst/>
              <a:defRPr/>
            </a:pPr>
            <a:r>
              <a:rPr kumimoji="0" lang="en-US" sz="1000" b="0"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The lender’s SME approves or rejects the exact version. Code changes also pass engineering review and CI.</a:t>
            </a:r>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38" name="Human 3"/>
          <p:cNvSpPr/>
          <p:nvPr/>
        </p:nvSpPr>
        <p:spPr>
          <a:xfrm>
            <a:off x="10369296" y="1554480"/>
            <a:ext cx="274320" cy="274320"/>
          </a:xfrm>
          <a:prstGeom prst="ellipse">
            <a:avLst/>
          </a:prstGeom>
          <a:solidFill>
            <a:srgbClr val="FF592C"/>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9" name="Text 37"/>
          <p:cNvSpPr txBox="1"/>
          <p:nvPr/>
        </p:nvSpPr>
        <p:spPr>
          <a:xfrm>
            <a:off x="10369296" y="1554480"/>
            <a:ext cx="2743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3</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40" name="Arrow"/>
          <p:cNvSpPr/>
          <p:nvPr/>
        </p:nvSpPr>
        <p:spPr>
          <a:xfrm>
            <a:off x="2578608" y="2505456"/>
            <a:ext cx="219456" cy="0"/>
          </a:xfrm>
          <a:prstGeom prst="line">
            <a:avLst/>
          </a:prstGeom>
          <a:noFill/>
          <a:ln w="19050">
            <a:solidFill>
              <a:srgbClr val="1B00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Arrow"/>
          <p:cNvSpPr/>
          <p:nvPr/>
        </p:nvSpPr>
        <p:spPr>
          <a:xfrm>
            <a:off x="4480560" y="2505456"/>
            <a:ext cx="219456" cy="0"/>
          </a:xfrm>
          <a:prstGeom prst="line">
            <a:avLst/>
          </a:prstGeom>
          <a:noFill/>
          <a:ln w="19050">
            <a:solidFill>
              <a:srgbClr val="1B00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2" name="Arrow"/>
          <p:cNvSpPr/>
          <p:nvPr/>
        </p:nvSpPr>
        <p:spPr>
          <a:xfrm>
            <a:off x="8302752" y="2505456"/>
            <a:ext cx="219456" cy="0"/>
          </a:xfrm>
          <a:prstGeom prst="line">
            <a:avLst/>
          </a:prstGeom>
          <a:noFill/>
          <a:ln w="19050">
            <a:solidFill>
              <a:srgbClr val="1B00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3" name="Arrow"/>
          <p:cNvSpPr/>
          <p:nvPr/>
        </p:nvSpPr>
        <p:spPr>
          <a:xfrm>
            <a:off x="10040112" y="2505456"/>
            <a:ext cx="219456" cy="0"/>
          </a:xfrm>
          <a:prstGeom prst="line">
            <a:avLst/>
          </a:prstGeom>
          <a:noFill/>
          <a:ln w="19050">
            <a:solidFill>
              <a:srgbClr val="1B0065"/>
            </a:solidFill>
            <a:prstDash val="solid"/>
            <a:tail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4" name="Release"/>
          <p:cNvSpPr/>
          <p:nvPr/>
        </p:nvSpPr>
        <p:spPr>
          <a:xfrm>
            <a:off x="11004804" y="3511296"/>
            <a:ext cx="0" cy="155448"/>
          </a:xfrm>
          <a:prstGeom prst="line">
            <a:avLst/>
          </a:prstGeom>
          <a:noFill/>
          <a:ln w="19050">
            <a:solidFill>
              <a:srgbClr val="0D948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5" name="Release"/>
          <p:cNvSpPr/>
          <p:nvPr/>
        </p:nvSpPr>
        <p:spPr>
          <a:xfrm>
            <a:off x="1508760" y="3666744"/>
            <a:ext cx="9496044" cy="0"/>
          </a:xfrm>
          <a:prstGeom prst="line">
            <a:avLst/>
          </a:prstGeom>
          <a:noFill/>
          <a:ln w="19050">
            <a:solidFill>
              <a:srgbClr val="0D9488"/>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6" name="Release"/>
          <p:cNvSpPr/>
          <p:nvPr/>
        </p:nvSpPr>
        <p:spPr>
          <a:xfrm>
            <a:off x="1508760" y="3511296"/>
            <a:ext cx="0" cy="155448"/>
          </a:xfrm>
          <a:prstGeom prst="line">
            <a:avLst/>
          </a:prstGeom>
          <a:noFill/>
          <a:ln w="19050">
            <a:solidFill>
              <a:srgbClr val="0D9488"/>
            </a:solidFill>
            <a:prstDash val="solid"/>
            <a:headEnd type="triangle"/>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7" name="Text 45"/>
          <p:cNvSpPr txBox="1"/>
          <p:nvPr/>
        </p:nvSpPr>
        <p:spPr>
          <a:xfrm>
            <a:off x="2743200" y="3694176"/>
            <a:ext cx="6583680" cy="219456"/>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000" b="0" i="1" u="none" strike="noStrike" kern="1200" cap="none" spc="0" normalizeH="0" baseline="0" noProof="0">
                <a:ln>
                  <a:noFill/>
                </a:ln>
                <a:solidFill>
                  <a:srgbClr val="0D9488"/>
                </a:solidFill>
                <a:effectLst/>
                <a:uLnTx/>
                <a:uFillTx/>
                <a:latin typeface="Calibri" pitchFamily="34" charset="0"/>
                <a:ea typeface="Calibri" pitchFamily="34" charset="-122"/>
                <a:cs typeface="Calibri" pitchFamily="34" charset="-120"/>
              </a:rPr>
              <a:t>Approved change ships to the service as a new pinned release, with a rollback point</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48" name="Human 4"/>
          <p:cNvSpPr/>
          <p:nvPr/>
        </p:nvSpPr>
        <p:spPr>
          <a:xfrm>
            <a:off x="9464040" y="3529584"/>
            <a:ext cx="274320" cy="274320"/>
          </a:xfrm>
          <a:prstGeom prst="ellipse">
            <a:avLst/>
          </a:prstGeom>
          <a:solidFill>
            <a:srgbClr val="FF592C"/>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 name="Text 47"/>
          <p:cNvSpPr txBox="1"/>
          <p:nvPr/>
        </p:nvSpPr>
        <p:spPr>
          <a:xfrm>
            <a:off x="9464040" y="3529584"/>
            <a:ext cx="2743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4</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50" name="SDK"/>
          <p:cNvSpPr/>
          <p:nvPr/>
        </p:nvSpPr>
        <p:spPr>
          <a:xfrm>
            <a:off x="457200" y="4014216"/>
            <a:ext cx="11274552" cy="420624"/>
          </a:xfrm>
          <a:prstGeom prst="roundRect">
            <a:avLst>
              <a:gd name="adj" fmla="val 17391"/>
            </a:avLst>
          </a:prstGeom>
          <a:solidFill>
            <a:srgbClr val="1B0065"/>
          </a:solidFill>
          <a:ln w="9525">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1" name="Text 49"/>
          <p:cNvSpPr txBox="1"/>
          <p:nvPr/>
        </p:nvSpPr>
        <p:spPr>
          <a:xfrm>
            <a:off x="640080" y="4014216"/>
            <a:ext cx="10972800" cy="420624"/>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150" b="1" i="0" u="none" strike="noStrike" kern="1200" cap="none" spc="0" normalizeH="0" baseline="0" noProof="0">
                <a:ln>
                  <a:noFill/>
                </a:ln>
                <a:solidFill>
                  <a:srgbClr val="03CBA9"/>
                </a:solidFill>
                <a:effectLst/>
                <a:uLnTx/>
                <a:uFillTx/>
                <a:latin typeface="Calibri" pitchFamily="34" charset="0"/>
                <a:ea typeface="Calibri" pitchFamily="34" charset="-122"/>
                <a:cs typeface="Calibri" pitchFamily="34" charset="-120"/>
              </a:rPr>
              <a:t>JazzX SDK   </a:t>
            </a:r>
            <a:r>
              <a:rPr kumimoji="0" lang="en-US" sz="105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One contract to submit feedback and register a reflection handler, and a shared harness to run agents with memory and instructions. A service adopts it once and joins the loop, with no separate learning stack.</a:t>
            </a:r>
            <a:endParaRPr kumimoji="0" lang="en-US" sz="1150" b="0" i="0" u="none" strike="noStrike" kern="1200" cap="none" spc="0" normalizeH="0" baseline="0" noProof="0">
              <a:ln>
                <a:noFill/>
              </a:ln>
              <a:solidFill>
                <a:prstClr val="black"/>
              </a:solidFill>
              <a:effectLst/>
              <a:uLnTx/>
              <a:uFillTx/>
              <a:latin typeface="Calibri"/>
              <a:ea typeface="+mn-ea"/>
              <a:cs typeface="+mn-cs"/>
            </a:endParaRPr>
          </a:p>
        </p:txBody>
      </p:sp>
      <p:sp>
        <p:nvSpPr>
          <p:cNvPr id="52" name="Text 50"/>
          <p:cNvSpPr txBox="1"/>
          <p:nvPr/>
        </p:nvSpPr>
        <p:spPr>
          <a:xfrm>
            <a:off x="457200" y="4535424"/>
            <a:ext cx="7315200"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200" normalizeH="0" baseline="0" noProof="0">
                <a:ln>
                  <a:noFill/>
                </a:ln>
                <a:solidFill>
                  <a:srgbClr val="FF592C"/>
                </a:solidFill>
                <a:effectLst/>
                <a:uLnTx/>
                <a:uFillTx/>
                <a:latin typeface="Calibri" pitchFamily="34" charset="0"/>
                <a:ea typeface="Calibri" pitchFamily="34" charset="-122"/>
                <a:cs typeface="Calibri" pitchFamily="34" charset="-120"/>
              </a:rPr>
              <a:t>WHERE A PERSON IS IN THE LOOP</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3" name="Set the mandate"/>
          <p:cNvSpPr/>
          <p:nvPr/>
        </p:nvSpPr>
        <p:spPr>
          <a:xfrm>
            <a:off x="457200" y="4782312"/>
            <a:ext cx="2697480" cy="1508760"/>
          </a:xfrm>
          <a:prstGeom prst="roundRect">
            <a:avLst>
              <a:gd name="adj" fmla="val 4848"/>
            </a:avLst>
          </a:prstGeom>
          <a:solidFill>
            <a:srgbClr val="FFFFFF"/>
          </a:solidFill>
          <a:ln w="9525">
            <a:solidFill>
              <a:srgbClr val="F6C3B2"/>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4" name="Human 1"/>
          <p:cNvSpPr/>
          <p:nvPr/>
        </p:nvSpPr>
        <p:spPr>
          <a:xfrm>
            <a:off x="585216" y="4892040"/>
            <a:ext cx="274320" cy="274320"/>
          </a:xfrm>
          <a:prstGeom prst="ellipse">
            <a:avLst/>
          </a:prstGeom>
          <a:solidFill>
            <a:srgbClr val="FF592C"/>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Text 53"/>
          <p:cNvSpPr txBox="1"/>
          <p:nvPr/>
        </p:nvSpPr>
        <p:spPr>
          <a:xfrm>
            <a:off x="585216" y="4892040"/>
            <a:ext cx="2743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1</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56" name="Text 54"/>
          <p:cNvSpPr txBox="1"/>
          <p:nvPr/>
        </p:nvSpPr>
        <p:spPr>
          <a:xfrm>
            <a:off x="950976" y="4855464"/>
            <a:ext cx="2093976" cy="43891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Set the mandate</a:t>
            </a:r>
            <a:endParaRPr kumimoji="0" lang="en-US" sz="125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SME or product owner</a:t>
            </a:r>
            <a:endParaRPr kumimoji="0" lang="en-US" sz="1250" b="0" i="0" u="none" strike="noStrike" kern="1200" cap="none" spc="0" normalizeH="0" baseline="0" noProof="0">
              <a:ln>
                <a:noFill/>
              </a:ln>
              <a:solidFill>
                <a:prstClr val="black"/>
              </a:solidFill>
              <a:effectLst/>
              <a:uLnTx/>
              <a:uFillTx/>
              <a:latin typeface="Calibri"/>
              <a:ea typeface="+mn-ea"/>
              <a:cs typeface="+mn-cs"/>
            </a:endParaRPr>
          </a:p>
        </p:txBody>
      </p:sp>
      <p:sp>
        <p:nvSpPr>
          <p:cNvPr id="57" name="Text 55"/>
          <p:cNvSpPr txBox="1"/>
          <p:nvPr/>
        </p:nvSpPr>
        <p:spPr>
          <a:xfrm>
            <a:off x="585216" y="5330952"/>
            <a:ext cx="2441448" cy="90525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Chooses which hypothesis to pursue, and sets the goal, what may change and the budget for trials.</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58" name="Check the diagnosis"/>
          <p:cNvSpPr/>
          <p:nvPr/>
        </p:nvSpPr>
        <p:spPr>
          <a:xfrm>
            <a:off x="3316529" y="4782312"/>
            <a:ext cx="2697480" cy="1508760"/>
          </a:xfrm>
          <a:prstGeom prst="roundRect">
            <a:avLst>
              <a:gd name="adj" fmla="val 4848"/>
            </a:avLst>
          </a:prstGeom>
          <a:solidFill>
            <a:srgbClr val="FFFFFF"/>
          </a:solidFill>
          <a:ln w="9525">
            <a:solidFill>
              <a:srgbClr val="F6C3B2"/>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9" name="Human 2"/>
          <p:cNvSpPr/>
          <p:nvPr/>
        </p:nvSpPr>
        <p:spPr>
          <a:xfrm>
            <a:off x="3444545" y="4892040"/>
            <a:ext cx="274320" cy="274320"/>
          </a:xfrm>
          <a:prstGeom prst="ellipse">
            <a:avLst/>
          </a:prstGeom>
          <a:solidFill>
            <a:srgbClr val="FF592C"/>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0" name="Text 58"/>
          <p:cNvSpPr txBox="1"/>
          <p:nvPr/>
        </p:nvSpPr>
        <p:spPr>
          <a:xfrm>
            <a:off x="3444545" y="4892040"/>
            <a:ext cx="2743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2</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61" name="Text 59"/>
          <p:cNvSpPr txBox="1"/>
          <p:nvPr/>
        </p:nvSpPr>
        <p:spPr>
          <a:xfrm>
            <a:off x="3810305" y="4855464"/>
            <a:ext cx="2093976" cy="43891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Check the diagnosis</a:t>
            </a:r>
            <a:endParaRPr kumimoji="0" lang="en-US" sz="125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SME</a:t>
            </a:r>
            <a:endParaRPr kumimoji="0" lang="en-US" sz="1250" b="0" i="0" u="none" strike="noStrike" kern="1200" cap="none" spc="0" normalizeH="0" baseline="0" noProof="0">
              <a:ln>
                <a:noFill/>
              </a:ln>
              <a:solidFill>
                <a:prstClr val="black"/>
              </a:solidFill>
              <a:effectLst/>
              <a:uLnTx/>
              <a:uFillTx/>
              <a:latin typeface="Calibri"/>
              <a:ea typeface="+mn-ea"/>
              <a:cs typeface="+mn-cs"/>
            </a:endParaRPr>
          </a:p>
        </p:txBody>
      </p:sp>
      <p:sp>
        <p:nvSpPr>
          <p:cNvPr id="62" name="Text 60"/>
          <p:cNvSpPr txBox="1"/>
          <p:nvPr/>
        </p:nvSpPr>
        <p:spPr>
          <a:xfrm>
            <a:off x="3444545" y="5330952"/>
            <a:ext cx="2441448" cy="90525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Samples attributed findings before any fix is drafted and confirms or corrects the cause.</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63" name="Approve the release"/>
          <p:cNvSpPr/>
          <p:nvPr/>
        </p:nvSpPr>
        <p:spPr>
          <a:xfrm>
            <a:off x="6175858" y="4782312"/>
            <a:ext cx="2697480" cy="1508760"/>
          </a:xfrm>
          <a:prstGeom prst="roundRect">
            <a:avLst>
              <a:gd name="adj" fmla="val 4848"/>
            </a:avLst>
          </a:prstGeom>
          <a:solidFill>
            <a:srgbClr val="FFFFFF"/>
          </a:solidFill>
          <a:ln w="9525">
            <a:solidFill>
              <a:srgbClr val="F6C3B2"/>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4" name="Human 3"/>
          <p:cNvSpPr/>
          <p:nvPr/>
        </p:nvSpPr>
        <p:spPr>
          <a:xfrm>
            <a:off x="6303874" y="4892040"/>
            <a:ext cx="274320" cy="274320"/>
          </a:xfrm>
          <a:prstGeom prst="ellipse">
            <a:avLst/>
          </a:prstGeom>
          <a:solidFill>
            <a:srgbClr val="FF592C"/>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5" name="Text 63"/>
          <p:cNvSpPr txBox="1"/>
          <p:nvPr/>
        </p:nvSpPr>
        <p:spPr>
          <a:xfrm>
            <a:off x="6303874" y="4892040"/>
            <a:ext cx="2743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3</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66" name="Text 64"/>
          <p:cNvSpPr txBox="1"/>
          <p:nvPr/>
        </p:nvSpPr>
        <p:spPr>
          <a:xfrm>
            <a:off x="6669634" y="4855464"/>
            <a:ext cx="2093976" cy="43891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Approve the release</a:t>
            </a:r>
            <a:endParaRPr kumimoji="0" lang="en-US" sz="125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The lender’s SME</a:t>
            </a:r>
            <a:endParaRPr kumimoji="0" lang="en-US" sz="1250" b="0" i="0" u="none" strike="noStrike" kern="1200" cap="none" spc="0" normalizeH="0" baseline="0" noProof="0">
              <a:ln>
                <a:noFill/>
              </a:ln>
              <a:solidFill>
                <a:prstClr val="black"/>
              </a:solidFill>
              <a:effectLst/>
              <a:uLnTx/>
              <a:uFillTx/>
              <a:latin typeface="Calibri"/>
              <a:ea typeface="+mn-ea"/>
              <a:cs typeface="+mn-cs"/>
            </a:endParaRPr>
          </a:p>
        </p:txBody>
      </p:sp>
      <p:sp>
        <p:nvSpPr>
          <p:cNvPr id="67" name="Text 65"/>
          <p:cNvSpPr txBox="1"/>
          <p:nvPr/>
        </p:nvSpPr>
        <p:spPr>
          <a:xfrm>
            <a:off x="6303874" y="5330952"/>
            <a:ext cx="2441448" cy="90525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Sees the diff, evidence, before and after on recorded cases, regressions, cost and who it touches. Approves, rejects, asks for more evidence or runs a bounded test.</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68" name="Watch and roll back"/>
          <p:cNvSpPr/>
          <p:nvPr/>
        </p:nvSpPr>
        <p:spPr>
          <a:xfrm>
            <a:off x="9035186" y="4782312"/>
            <a:ext cx="2697480" cy="1508760"/>
          </a:xfrm>
          <a:prstGeom prst="roundRect">
            <a:avLst>
              <a:gd name="adj" fmla="val 4848"/>
            </a:avLst>
          </a:prstGeom>
          <a:solidFill>
            <a:srgbClr val="FFFFFF"/>
          </a:solidFill>
          <a:ln w="9525">
            <a:solidFill>
              <a:srgbClr val="F6C3B2"/>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9" name="Human 4"/>
          <p:cNvSpPr/>
          <p:nvPr/>
        </p:nvSpPr>
        <p:spPr>
          <a:xfrm>
            <a:off x="9163202" y="4892040"/>
            <a:ext cx="274320" cy="274320"/>
          </a:xfrm>
          <a:prstGeom prst="ellipse">
            <a:avLst/>
          </a:prstGeom>
          <a:solidFill>
            <a:srgbClr val="FF592C"/>
          </a:solidFill>
          <a:ln w="12700">
            <a:solidFill>
              <a:srgbClr val="FFFFFF"/>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0" name="Text 68"/>
          <p:cNvSpPr txBox="1"/>
          <p:nvPr/>
        </p:nvSpPr>
        <p:spPr>
          <a:xfrm>
            <a:off x="9163202" y="4892040"/>
            <a:ext cx="274320" cy="274320"/>
          </a:xfrm>
          <a:prstGeom prst="rect">
            <a:avLst/>
          </a:prstGeom>
          <a:noFill/>
          <a:ln/>
        </p:spPr>
        <p:txBody>
          <a:bodyPr wrap="square"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1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4</a:t>
            </a:r>
            <a:endParaRPr kumimoji="0" lang="en-US" sz="1100" b="0" i="0" u="none" strike="noStrike" kern="1200" cap="none" spc="0" normalizeH="0" baseline="0" noProof="0">
              <a:ln>
                <a:noFill/>
              </a:ln>
              <a:solidFill>
                <a:prstClr val="black"/>
              </a:solidFill>
              <a:effectLst/>
              <a:uLnTx/>
              <a:uFillTx/>
              <a:latin typeface="Calibri"/>
              <a:ea typeface="+mn-ea"/>
              <a:cs typeface="+mn-cs"/>
            </a:endParaRPr>
          </a:p>
        </p:txBody>
      </p:sp>
      <p:sp>
        <p:nvSpPr>
          <p:cNvPr id="71" name="Text 69"/>
          <p:cNvSpPr txBox="1"/>
          <p:nvPr/>
        </p:nvSpPr>
        <p:spPr>
          <a:xfrm>
            <a:off x="9528962" y="4855464"/>
            <a:ext cx="2093976" cy="43891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5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Watch and roll back</a:t>
            </a:r>
            <a:endParaRPr kumimoji="0" lang="en-US" sz="1250" b="0" i="0" u="none" strike="noStrike" kern="1200" cap="none" spc="0" normalizeH="0" baseline="0" noProof="0">
              <a:ln>
                <a:noFill/>
              </a:ln>
              <a:solidFill>
                <a:prstClr val="black"/>
              </a:solidFill>
              <a:effectLst/>
              <a:uLnTx/>
              <a:uFillTx/>
              <a:latin typeface="Calibri"/>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5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SME and operations</a:t>
            </a:r>
            <a:endParaRPr kumimoji="0" lang="en-US" sz="1250" b="0" i="0" u="none" strike="noStrike" kern="1200" cap="none" spc="0" normalizeH="0" baseline="0" noProof="0">
              <a:ln>
                <a:noFill/>
              </a:ln>
              <a:solidFill>
                <a:prstClr val="black"/>
              </a:solidFill>
              <a:effectLst/>
              <a:uLnTx/>
              <a:uFillTx/>
              <a:latin typeface="Calibri"/>
              <a:ea typeface="+mn-ea"/>
              <a:cs typeface="+mn-cs"/>
            </a:endParaRPr>
          </a:p>
        </p:txBody>
      </p:sp>
      <p:sp>
        <p:nvSpPr>
          <p:cNvPr id="72" name="Text 70"/>
          <p:cNvSpPr txBox="1"/>
          <p:nvPr/>
        </p:nvSpPr>
        <p:spPr>
          <a:xfrm>
            <a:off x="9163202" y="5330952"/>
            <a:ext cx="2441448" cy="905256"/>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50" b="0" i="0" u="none" strike="noStrike" kern="1200" cap="none" spc="0" normalizeH="0" baseline="0" noProof="0">
                <a:ln>
                  <a:noFill/>
                </a:ln>
                <a:solidFill>
                  <a:srgbClr val="1E293B"/>
                </a:solidFill>
                <a:effectLst/>
                <a:uLnTx/>
                <a:uFillTx/>
                <a:latin typeface="Calibri" pitchFamily="34" charset="0"/>
                <a:ea typeface="Calibri" pitchFamily="34" charset="-122"/>
                <a:cs typeface="Calibri" pitchFamily="34" charset="-120"/>
              </a:rPr>
              <a:t>A version in production reverts automatically on a breach, and any version can be rolled back.</a:t>
            </a:r>
            <a:endParaRPr kumimoji="0" lang="en-US" sz="1050" b="0" i="0" u="none" strike="noStrike" kern="1200" cap="none" spc="0" normalizeH="0" baseline="0" noProof="0">
              <a:ln>
                <a:noFill/>
              </a:ln>
              <a:solidFill>
                <a:prstClr val="black"/>
              </a:solidFill>
              <a:effectLst/>
              <a:uLnTx/>
              <a:uFillTx/>
              <a:latin typeface="Calibri"/>
              <a:ea typeface="+mn-ea"/>
              <a:cs typeface="+mn-cs"/>
            </a:endParaRPr>
          </a:p>
        </p:txBody>
      </p:sp>
      <p:sp>
        <p:nvSpPr>
          <p:cNvPr id="73"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187-text-Nightly learning">
            <a:extLst>
              <a:ext uri="{FF2B5EF4-FFF2-40B4-BE49-F238E27FC236}">
                <a16:creationId xmlns:a16="http://schemas.microsoft.com/office/drawing/2014/main" id="{AB0DC704-7641-4527-BD40-97B0AB162E06}"/>
              </a:ext>
            </a:extLst>
          </p:cNvPr>
          <p:cNvSpPr>
            <a:spLocks noGrp="1"/>
          </p:cNvSpPr>
          <p:nvPr/>
        </p:nvSpPr>
        <p:spPr>
          <a:xfrm>
            <a:off x="457200" y="502920"/>
            <a:ext cx="11274552" cy="566928"/>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500" b="1">
                <a:solidFill>
                  <a:srgbClr val="1B0065"/>
                </a:solidFill>
                <a:latin typeface="Calibri"/>
                <a:ea typeface="Calibri"/>
                <a:cs typeface="Calibri"/>
              </a:defRPr>
            </a:pPr>
            <a:r>
              <a:rPr kumimoji="0" lang="en-US" sz="2600" b="1" i="0" u="none" strike="noStrike" kern="1200" cap="none" spc="0" normalizeH="0" baseline="0" noProof="0">
                <a:ln>
                  <a:noFill/>
                </a:ln>
                <a:solidFill>
                  <a:srgbClr val="3600AD"/>
                </a:solidFill>
                <a:effectLst/>
                <a:uLnTx/>
                <a:uFillTx/>
                <a:latin typeface="Calibri"/>
                <a:ea typeface="Calibri"/>
                <a:cs typeface="Calibri"/>
              </a:rPr>
              <a:t>Feedback and Attribution Analyzer &amp; </a:t>
            </a:r>
            <a:r>
              <a:rPr kumimoji="0" lang="en-US" sz="2600" b="1" i="0" u="none" strike="noStrike" kern="1200" cap="none" spc="0" normalizeH="0" baseline="0" noProof="0">
                <a:ln>
                  <a:noFill/>
                </a:ln>
                <a:solidFill>
                  <a:srgbClr val="3600AD"/>
                </a:solidFill>
                <a:effectLst/>
                <a:uLnTx/>
                <a:uFillTx/>
                <a:latin typeface="Calibri"/>
              </a:rPr>
              <a:t>Hypothesizer</a:t>
            </a:r>
            <a:endParaRPr kumimoji="0" lang="en-US" sz="2600" b="1" i="0" u="none" strike="noStrike" kern="1200" cap="none" spc="0" normalizeH="0" baseline="0" noProof="0" err="1">
              <a:ln>
                <a:noFill/>
              </a:ln>
              <a:solidFill>
                <a:srgbClr val="3600AD"/>
              </a:solidFill>
              <a:effectLst/>
              <a:uLnTx/>
              <a:uFillTx/>
              <a:latin typeface="Calibri"/>
              <a:ea typeface="Calibri"/>
              <a:cs typeface="Calibri"/>
            </a:endParaRPr>
          </a:p>
        </p:txBody>
      </p:sp>
      <p:sp>
        <p:nvSpPr>
          <p:cNvPr id="2" name="188-text-New evidence and remembered outcomes determine what deserves">
            <a:extLst>
              <a:ext uri="{FF2B5EF4-FFF2-40B4-BE49-F238E27FC236}">
                <a16:creationId xmlns:a16="http://schemas.microsoft.com/office/drawing/2014/main" id="{285C4961-9810-4894-A078-8E883CFA3481}"/>
              </a:ext>
            </a:extLst>
          </p:cNvPr>
          <p:cNvSpPr>
            <a:spLocks noGrp="1"/>
          </p:cNvSpPr>
          <p:nvPr/>
        </p:nvSpPr>
        <p:spPr>
          <a:xfrm>
            <a:off x="457200" y="1069848"/>
            <a:ext cx="11274552" cy="292608"/>
          </a:xfrm>
          <a:prstGeom prst="rect">
            <a:avLst/>
          </a:prstGeom>
          <a:noFill/>
          <a:ln w="0">
            <a:noFill/>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300" b="0">
                <a:solidFill>
                  <a:srgbClr val="1E293B"/>
                </a:solidFill>
                <a:latin typeface="Calibri"/>
                <a:ea typeface="Calibri"/>
                <a:cs typeface="Calibri"/>
              </a:defRPr>
            </a:pPr>
            <a:r>
              <a:rPr kumimoji="0" sz="1400" b="0" i="1" u="none" strike="noStrike" kern="1200" cap="none" spc="0" normalizeH="0" baseline="0" noProof="0">
                <a:ln>
                  <a:noFill/>
                </a:ln>
                <a:solidFill>
                  <a:srgbClr val="5B2D8E"/>
                </a:solidFill>
                <a:effectLst/>
                <a:uLnTx/>
                <a:uFillTx/>
                <a:latin typeface="Calibri"/>
                <a:ea typeface="Calibri"/>
                <a:cs typeface="Calibri"/>
              </a:rPr>
              <a:t>New findings and remembered outcomes determine what deserves another experiment.</a:t>
            </a:r>
          </a:p>
        </p:txBody>
      </p:sp>
      <p:sp>
        <p:nvSpPr>
          <p:cNvPr id="7" name="193-text-Nightly trigger">
            <a:extLst>
              <a:ext uri="{FF2B5EF4-FFF2-40B4-BE49-F238E27FC236}">
                <a16:creationId xmlns:a16="http://schemas.microsoft.com/office/drawing/2014/main" id="{17A1E9B0-045F-47DC-9FB3-8FA17BE7F969}"/>
              </a:ext>
            </a:extLst>
          </p:cNvPr>
          <p:cNvSpPr>
            <a:spLocks noGrp="1"/>
          </p:cNvSpPr>
          <p:nvPr/>
        </p:nvSpPr>
        <p:spPr>
          <a:xfrm>
            <a:off x="619125" y="1752600"/>
            <a:ext cx="2105025" cy="2667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b="1">
                <a:solidFill>
                  <a:srgbClr val="5069EC"/>
                </a:solidFill>
                <a:latin typeface="Calibri"/>
                <a:ea typeface="Calibri"/>
                <a:cs typeface="Calibri"/>
              </a:defRPr>
            </a:pPr>
            <a:r>
              <a:rPr kumimoji="0" lang="en-US" sz="1200" b="1" i="0" u="none" strike="noStrike" kern="1200" cap="none" spc="0" normalizeH="0" baseline="0" noProof="0">
                <a:ln>
                  <a:noFill/>
                </a:ln>
                <a:solidFill>
                  <a:srgbClr val="5069EC"/>
                </a:solidFill>
                <a:effectLst/>
                <a:uLnTx/>
                <a:uFillTx/>
                <a:latin typeface="Calibri"/>
                <a:ea typeface="Calibri"/>
                <a:cs typeface="Calibri"/>
              </a:rPr>
              <a:t>Periodic</a:t>
            </a:r>
            <a:r>
              <a:rPr kumimoji="0" sz="1200" b="1" i="0" u="none" strike="noStrike" kern="1200" cap="none" spc="0" normalizeH="0" baseline="0" noProof="0">
                <a:ln>
                  <a:noFill/>
                </a:ln>
                <a:solidFill>
                  <a:srgbClr val="5069EC"/>
                </a:solidFill>
                <a:effectLst/>
                <a:uLnTx/>
                <a:uFillTx/>
                <a:latin typeface="Calibri"/>
                <a:ea typeface="Calibri"/>
                <a:cs typeface="Calibri"/>
              </a:rPr>
              <a:t> trigger</a:t>
            </a:r>
          </a:p>
        </p:txBody>
      </p:sp>
      <p:sp>
        <p:nvSpPr>
          <p:cNvPr id="8" name="194-text-Learner synthesis">
            <a:extLst>
              <a:ext uri="{FF2B5EF4-FFF2-40B4-BE49-F238E27FC236}">
                <a16:creationId xmlns:a16="http://schemas.microsoft.com/office/drawing/2014/main" id="{4BBD38BD-30AD-4D73-A170-E2FFC64AFC20}"/>
              </a:ext>
            </a:extLst>
          </p:cNvPr>
          <p:cNvSpPr>
            <a:spLocks noGrp="1"/>
          </p:cNvSpPr>
          <p:nvPr/>
        </p:nvSpPr>
        <p:spPr>
          <a:xfrm>
            <a:off x="3228975" y="1752600"/>
            <a:ext cx="5248275" cy="2667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b="1">
                <a:solidFill>
                  <a:srgbClr val="0D9488"/>
                </a:solidFill>
                <a:latin typeface="Calibri"/>
                <a:ea typeface="Calibri"/>
                <a:cs typeface="Calibri"/>
              </a:defRPr>
            </a:pPr>
            <a:r>
              <a:rPr kumimoji="0" lang="en-US" sz="1200" b="1" i="0" u="none" strike="noStrike" kern="1200" cap="none" spc="0" normalizeH="0" baseline="0" noProof="0">
                <a:ln>
                  <a:noFill/>
                </a:ln>
                <a:solidFill>
                  <a:srgbClr val="0D9488"/>
                </a:solidFill>
                <a:effectLst/>
                <a:uLnTx/>
                <a:uFillTx/>
                <a:latin typeface="Calibri"/>
                <a:ea typeface="Calibri"/>
                <a:cs typeface="Calibri"/>
              </a:rPr>
              <a:t>Periodic</a:t>
            </a:r>
            <a:r>
              <a:rPr kumimoji="0" sz="1200" b="1" i="0" u="none" strike="noStrike" kern="1200" cap="none" spc="0" normalizeH="0" baseline="0" noProof="0">
                <a:ln>
                  <a:noFill/>
                </a:ln>
                <a:solidFill>
                  <a:srgbClr val="0D9488"/>
                </a:solidFill>
                <a:effectLst/>
                <a:uLnTx/>
                <a:uFillTx/>
                <a:latin typeface="Calibri"/>
                <a:ea typeface="Calibri"/>
                <a:cs typeface="Calibri"/>
              </a:rPr>
              <a:t> learner</a:t>
            </a:r>
          </a:p>
        </p:txBody>
      </p:sp>
      <p:sp>
        <p:nvSpPr>
          <p:cNvPr id="9" name="195-text-Human authorization">
            <a:extLst>
              <a:ext uri="{FF2B5EF4-FFF2-40B4-BE49-F238E27FC236}">
                <a16:creationId xmlns:a16="http://schemas.microsoft.com/office/drawing/2014/main" id="{D357103A-4062-4D61-93B5-7EE8E52EFE6F}"/>
              </a:ext>
            </a:extLst>
          </p:cNvPr>
          <p:cNvSpPr>
            <a:spLocks noGrp="1"/>
          </p:cNvSpPr>
          <p:nvPr/>
        </p:nvSpPr>
        <p:spPr>
          <a:xfrm>
            <a:off x="9058275" y="1752600"/>
            <a:ext cx="2505075" cy="2667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b="1">
                <a:solidFill>
                  <a:srgbClr val="FF592C"/>
                </a:solidFill>
                <a:latin typeface="Calibri"/>
                <a:ea typeface="Calibri"/>
                <a:cs typeface="Calibri"/>
              </a:defRPr>
            </a:pPr>
            <a:r>
              <a:rPr kumimoji="0" sz="1200" b="1" i="0" u="none" strike="noStrike" kern="1200" cap="none" spc="0" normalizeH="0" baseline="0" noProof="0">
                <a:ln>
                  <a:noFill/>
                </a:ln>
                <a:solidFill>
                  <a:srgbClr val="FF592C"/>
                </a:solidFill>
                <a:effectLst/>
                <a:uLnTx/>
                <a:uFillTx/>
                <a:latin typeface="Calibri"/>
                <a:ea typeface="Calibri"/>
                <a:cs typeface="Calibri"/>
              </a:rPr>
              <a:t>Human authorization</a:t>
            </a:r>
          </a:p>
        </p:txBody>
      </p:sp>
      <p:sp>
        <p:nvSpPr>
          <p:cNvPr id="10" name="196-New evidence">
            <a:extLst>
              <a:ext uri="{FF2B5EF4-FFF2-40B4-BE49-F238E27FC236}">
                <a16:creationId xmlns:a16="http://schemas.microsoft.com/office/drawing/2014/main" id="{7EC03D1D-938D-4415-ADED-80B743C6E3A6}"/>
              </a:ext>
            </a:extLst>
          </p:cNvPr>
          <p:cNvSpPr>
            <a:spLocks noGrp="1"/>
          </p:cNvSpPr>
          <p:nvPr/>
        </p:nvSpPr>
        <p:spPr>
          <a:xfrm>
            <a:off x="609600" y="2219325"/>
            <a:ext cx="2076450" cy="1028700"/>
          </a:xfrm>
          <a:prstGeom prst="roundRect">
            <a:avLst>
              <a:gd name="adj" fmla="val 6000"/>
            </a:avLst>
          </a:prstGeom>
          <a:solidFill>
            <a:srgbClr val="F3F6FF"/>
          </a:solidFill>
          <a:ln w="12700">
            <a:solidFill>
              <a:srgbClr val="5069EC"/>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11" name="197-text-New evidence">
            <a:extLst>
              <a:ext uri="{FF2B5EF4-FFF2-40B4-BE49-F238E27FC236}">
                <a16:creationId xmlns:a16="http://schemas.microsoft.com/office/drawing/2014/main" id="{E527B9F4-BC2E-4A0A-A44F-F8C77F8F6F0C}"/>
              </a:ext>
            </a:extLst>
          </p:cNvPr>
          <p:cNvSpPr>
            <a:spLocks noGrp="1"/>
          </p:cNvSpPr>
          <p:nvPr/>
        </p:nvSpPr>
        <p:spPr>
          <a:xfrm>
            <a:off x="790575" y="2371725"/>
            <a:ext cx="1714500" cy="3429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400" b="1">
                <a:solidFill>
                  <a:srgbClr val="1B0065"/>
                </a:solidFill>
                <a:latin typeface="Calibri"/>
                <a:ea typeface="Calibri"/>
                <a:cs typeface="Calibri"/>
              </a:defRPr>
            </a:pPr>
            <a:r>
              <a:rPr kumimoji="0" sz="1400" b="1" i="0" u="none" strike="noStrike" kern="1200" cap="none" spc="0" normalizeH="0" baseline="0" noProof="0">
                <a:ln>
                  <a:noFill/>
                </a:ln>
                <a:solidFill>
                  <a:srgbClr val="1B0065"/>
                </a:solidFill>
                <a:effectLst/>
                <a:uLnTx/>
                <a:uFillTx/>
                <a:latin typeface="Calibri"/>
                <a:ea typeface="Calibri"/>
                <a:cs typeface="Calibri"/>
              </a:rPr>
              <a:t>New evidence</a:t>
            </a:r>
          </a:p>
        </p:txBody>
      </p:sp>
      <p:sp>
        <p:nvSpPr>
          <p:cNvPr id="12" name="198-text-Window + checkpoint">
            <a:extLst>
              <a:ext uri="{FF2B5EF4-FFF2-40B4-BE49-F238E27FC236}">
                <a16:creationId xmlns:a16="http://schemas.microsoft.com/office/drawing/2014/main" id="{E9BA95BB-7632-4A4A-9441-7760262401E1}"/>
              </a:ext>
            </a:extLst>
          </p:cNvPr>
          <p:cNvSpPr>
            <a:spLocks noGrp="1"/>
          </p:cNvSpPr>
          <p:nvPr/>
        </p:nvSpPr>
        <p:spPr>
          <a:xfrm>
            <a:off x="790575" y="2771775"/>
            <a:ext cx="1714500" cy="3810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100" b="0">
                <a:solidFill>
                  <a:srgbClr val="1E293B"/>
                </a:solidFill>
                <a:latin typeface="Calibri"/>
                <a:ea typeface="Calibri"/>
                <a:cs typeface="Calibri"/>
              </a:defRPr>
            </a:pPr>
            <a:r>
              <a:rPr kumimoji="0" sz="1100" b="0" i="0" u="none" strike="noStrike" kern="1200" cap="none" spc="0" normalizeH="0" baseline="0" noProof="0">
                <a:ln>
                  <a:noFill/>
                </a:ln>
                <a:solidFill>
                  <a:srgbClr val="1E293B"/>
                </a:solidFill>
                <a:effectLst/>
                <a:uLnTx/>
                <a:uFillTx/>
                <a:latin typeface="Calibri"/>
                <a:ea typeface="Calibri"/>
                <a:cs typeface="Calibri"/>
              </a:rPr>
              <a:t>New findings + lineage</a:t>
            </a:r>
          </a:p>
        </p:txBody>
      </p:sp>
      <p:sp>
        <p:nvSpPr>
          <p:cNvPr id="13" name="199-Compare cohorts">
            <a:extLst>
              <a:ext uri="{FF2B5EF4-FFF2-40B4-BE49-F238E27FC236}">
                <a16:creationId xmlns:a16="http://schemas.microsoft.com/office/drawing/2014/main" id="{178900CA-9D2A-4EC0-BB3B-EAF30BE8CC19}"/>
              </a:ext>
            </a:extLst>
          </p:cNvPr>
          <p:cNvSpPr>
            <a:spLocks noGrp="1"/>
          </p:cNvSpPr>
          <p:nvPr/>
        </p:nvSpPr>
        <p:spPr>
          <a:xfrm>
            <a:off x="3228975" y="2219325"/>
            <a:ext cx="2457450" cy="1028700"/>
          </a:xfrm>
          <a:prstGeom prst="roundRect">
            <a:avLst>
              <a:gd name="adj" fmla="val 6000"/>
            </a:avLst>
          </a:prstGeom>
          <a:solidFill>
            <a:srgbClr val="E6F8F4"/>
          </a:solidFill>
          <a:ln w="12700">
            <a:solidFill>
              <a:srgbClr val="0D9488"/>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14" name="200-text-Compare cohorts">
            <a:extLst>
              <a:ext uri="{FF2B5EF4-FFF2-40B4-BE49-F238E27FC236}">
                <a16:creationId xmlns:a16="http://schemas.microsoft.com/office/drawing/2014/main" id="{BDCCCB93-59DF-4B20-AAD4-770F640ED13C}"/>
              </a:ext>
            </a:extLst>
          </p:cNvPr>
          <p:cNvSpPr>
            <a:spLocks noGrp="1"/>
          </p:cNvSpPr>
          <p:nvPr/>
        </p:nvSpPr>
        <p:spPr>
          <a:xfrm>
            <a:off x="3409950" y="2371725"/>
            <a:ext cx="2095500" cy="3429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400" b="1">
                <a:solidFill>
                  <a:srgbClr val="1B0065"/>
                </a:solidFill>
                <a:latin typeface="Calibri"/>
                <a:ea typeface="Calibri"/>
                <a:cs typeface="Calibri"/>
              </a:defRPr>
            </a:pPr>
            <a:r>
              <a:rPr kumimoji="0" sz="1400" b="1" i="0" u="none" strike="noStrike" kern="1200" cap="none" spc="0" normalizeH="0" baseline="0" noProof="0">
                <a:ln>
                  <a:noFill/>
                </a:ln>
                <a:solidFill>
                  <a:srgbClr val="1B0065"/>
                </a:solidFill>
                <a:effectLst/>
                <a:uLnTx/>
                <a:uFillTx/>
                <a:latin typeface="Calibri"/>
                <a:ea typeface="Calibri"/>
                <a:cs typeface="Calibri"/>
              </a:rPr>
              <a:t>Compare cohorts</a:t>
            </a:r>
          </a:p>
        </p:txBody>
      </p:sp>
      <p:sp>
        <p:nvSpPr>
          <p:cNvPr id="15" name="201-text-Scope, deduplicate, attribute">
            <a:extLst>
              <a:ext uri="{FF2B5EF4-FFF2-40B4-BE49-F238E27FC236}">
                <a16:creationId xmlns:a16="http://schemas.microsoft.com/office/drawing/2014/main" id="{7BD89BAA-B155-4888-B9C4-F1572870E160}"/>
              </a:ext>
            </a:extLst>
          </p:cNvPr>
          <p:cNvSpPr>
            <a:spLocks noGrp="1"/>
          </p:cNvSpPr>
          <p:nvPr/>
        </p:nvSpPr>
        <p:spPr>
          <a:xfrm>
            <a:off x="3409950" y="2771775"/>
            <a:ext cx="2095500" cy="3810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100" b="0">
                <a:solidFill>
                  <a:srgbClr val="1E293B"/>
                </a:solidFill>
                <a:latin typeface="Calibri"/>
                <a:ea typeface="Calibri"/>
                <a:cs typeface="Calibri"/>
              </a:defRPr>
            </a:pPr>
            <a:r>
              <a:rPr kumimoji="0" sz="1100" b="0" i="0" u="none" strike="noStrike" kern="1200" cap="none" spc="0" normalizeH="0" baseline="0" noProof="0">
                <a:ln>
                  <a:noFill/>
                </a:ln>
                <a:solidFill>
                  <a:srgbClr val="1E293B"/>
                </a:solidFill>
                <a:effectLst/>
                <a:uLnTx/>
                <a:uFillTx/>
                <a:latin typeface="Calibri"/>
                <a:ea typeface="Calibri"/>
                <a:cs typeface="Calibri"/>
              </a:rPr>
              <a:t>Compare attributed</a:t>
            </a:r>
          </a:p>
          <a:p>
            <a:pPr marL="0" marR="0" lvl="0" indent="0" algn="ctr" defTabSz="914400" rtl="0" eaLnBrk="1" fontAlgn="auto" latinLnBrk="0" hangingPunct="1">
              <a:lnSpc>
                <a:spcPct val="100000"/>
              </a:lnSpc>
              <a:spcBef>
                <a:spcPts val="0"/>
              </a:spcBef>
              <a:spcAft>
                <a:spcPts val="0"/>
              </a:spcAft>
              <a:buClrTx/>
              <a:buSzTx/>
              <a:buFontTx/>
              <a:buNone/>
              <a:tabLst/>
              <a:defRPr sz="1100" b="0">
                <a:solidFill>
                  <a:srgbClr val="1E293B"/>
                </a:solidFill>
                <a:latin typeface="Calibri"/>
                <a:ea typeface="Calibri"/>
                <a:cs typeface="Calibri"/>
              </a:defRPr>
            </a:pPr>
            <a:r>
              <a:rPr kumimoji="0" sz="1100" b="0" i="0" u="none" strike="noStrike" kern="1200" cap="none" spc="0" normalizeH="0" baseline="0" noProof="0">
                <a:ln>
                  <a:noFill/>
                </a:ln>
                <a:solidFill>
                  <a:srgbClr val="1E293B"/>
                </a:solidFill>
                <a:effectLst/>
                <a:uLnTx/>
                <a:uFillTx/>
                <a:latin typeface="Calibri"/>
                <a:ea typeface="Calibri"/>
                <a:cs typeface="Calibri"/>
              </a:rPr>
              <a:t>patterns within scope</a:t>
            </a:r>
          </a:p>
        </p:txBody>
      </p:sp>
      <p:sp>
        <p:nvSpPr>
          <p:cNvPr id="16" name="202-Draft hypotheses">
            <a:extLst>
              <a:ext uri="{FF2B5EF4-FFF2-40B4-BE49-F238E27FC236}">
                <a16:creationId xmlns:a16="http://schemas.microsoft.com/office/drawing/2014/main" id="{618F4860-84ED-4241-8EAC-4789D9841B22}"/>
              </a:ext>
            </a:extLst>
          </p:cNvPr>
          <p:cNvSpPr>
            <a:spLocks noGrp="1"/>
          </p:cNvSpPr>
          <p:nvPr/>
        </p:nvSpPr>
        <p:spPr>
          <a:xfrm>
            <a:off x="6229350" y="2219325"/>
            <a:ext cx="2286000" cy="1028700"/>
          </a:xfrm>
          <a:prstGeom prst="roundRect">
            <a:avLst>
              <a:gd name="adj" fmla="val 6000"/>
            </a:avLst>
          </a:prstGeom>
          <a:solidFill>
            <a:srgbClr val="E6F8F4"/>
          </a:solidFill>
          <a:ln w="12700">
            <a:solidFill>
              <a:srgbClr val="0D9488"/>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17" name="203-text-Draft hypotheses">
            <a:extLst>
              <a:ext uri="{FF2B5EF4-FFF2-40B4-BE49-F238E27FC236}">
                <a16:creationId xmlns:a16="http://schemas.microsoft.com/office/drawing/2014/main" id="{0E7DE104-3D45-45C1-BB81-DFB63ECF083D}"/>
              </a:ext>
            </a:extLst>
          </p:cNvPr>
          <p:cNvSpPr>
            <a:spLocks noGrp="1"/>
          </p:cNvSpPr>
          <p:nvPr/>
        </p:nvSpPr>
        <p:spPr>
          <a:xfrm>
            <a:off x="6410325" y="2371725"/>
            <a:ext cx="1924050" cy="3429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400" b="1">
                <a:solidFill>
                  <a:srgbClr val="1B0065"/>
                </a:solidFill>
                <a:latin typeface="Calibri"/>
                <a:ea typeface="Calibri"/>
                <a:cs typeface="Calibri"/>
              </a:defRPr>
            </a:pPr>
            <a:r>
              <a:rPr kumimoji="0" sz="1400" b="1" i="0" u="none" strike="noStrike" kern="1200" cap="none" spc="0" normalizeH="0" baseline="0" noProof="0">
                <a:ln>
                  <a:noFill/>
                </a:ln>
                <a:solidFill>
                  <a:srgbClr val="1B0065"/>
                </a:solidFill>
                <a:effectLst/>
                <a:uLnTx/>
                <a:uFillTx/>
                <a:latin typeface="Calibri"/>
                <a:ea typeface="Calibri"/>
                <a:cs typeface="Calibri"/>
              </a:rPr>
              <a:t>Draft hypotheses</a:t>
            </a:r>
          </a:p>
        </p:txBody>
      </p:sp>
      <p:sp>
        <p:nvSpPr>
          <p:cNvPr id="18" name="204-text-Target + evidence + goal">
            <a:extLst>
              <a:ext uri="{FF2B5EF4-FFF2-40B4-BE49-F238E27FC236}">
                <a16:creationId xmlns:a16="http://schemas.microsoft.com/office/drawing/2014/main" id="{80128848-C0B4-4726-A0C9-F18E099F4FF0}"/>
              </a:ext>
            </a:extLst>
          </p:cNvPr>
          <p:cNvSpPr>
            <a:spLocks noGrp="1"/>
          </p:cNvSpPr>
          <p:nvPr/>
        </p:nvSpPr>
        <p:spPr>
          <a:xfrm>
            <a:off x="6410325" y="2771775"/>
            <a:ext cx="1924050" cy="3810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100" b="0">
                <a:solidFill>
                  <a:srgbClr val="1E293B"/>
                </a:solidFill>
                <a:latin typeface="Calibri"/>
                <a:ea typeface="Calibri"/>
                <a:cs typeface="Calibri"/>
              </a:defRPr>
            </a:pPr>
            <a:r>
              <a:rPr kumimoji="0" sz="1100" b="0" i="0" u="none" strike="noStrike" kern="1200" cap="none" spc="0" normalizeH="0" baseline="0" noProof="0">
                <a:ln>
                  <a:noFill/>
                </a:ln>
                <a:solidFill>
                  <a:srgbClr val="1E293B"/>
                </a:solidFill>
                <a:effectLst/>
                <a:uLnTx/>
                <a:uFillTx/>
                <a:latin typeface="Calibri"/>
                <a:ea typeface="Calibri"/>
                <a:cs typeface="Calibri"/>
              </a:rPr>
              <a:t>Target + evidence + goal</a:t>
            </a:r>
          </a:p>
        </p:txBody>
      </p:sp>
      <p:sp>
        <p:nvSpPr>
          <p:cNvPr id="19" name="205-Review queue">
            <a:extLst>
              <a:ext uri="{FF2B5EF4-FFF2-40B4-BE49-F238E27FC236}">
                <a16:creationId xmlns:a16="http://schemas.microsoft.com/office/drawing/2014/main" id="{87234E21-6FE7-4D55-B239-DAD1BCD25E16}"/>
              </a:ext>
            </a:extLst>
          </p:cNvPr>
          <p:cNvSpPr>
            <a:spLocks noGrp="1"/>
          </p:cNvSpPr>
          <p:nvPr/>
        </p:nvSpPr>
        <p:spPr>
          <a:xfrm>
            <a:off x="9058275" y="2219325"/>
            <a:ext cx="2505075" cy="1028700"/>
          </a:xfrm>
          <a:prstGeom prst="roundRect">
            <a:avLst>
              <a:gd name="adj" fmla="val 6000"/>
            </a:avLst>
          </a:prstGeom>
          <a:solidFill>
            <a:srgbClr val="FFF1EC"/>
          </a:solidFill>
          <a:ln w="12700">
            <a:solidFill>
              <a:srgbClr val="FF592C"/>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20" name="206-text-Review queue">
            <a:extLst>
              <a:ext uri="{FF2B5EF4-FFF2-40B4-BE49-F238E27FC236}">
                <a16:creationId xmlns:a16="http://schemas.microsoft.com/office/drawing/2014/main" id="{D74D4E85-34E7-4A3C-9016-5E77E48E8382}"/>
              </a:ext>
            </a:extLst>
          </p:cNvPr>
          <p:cNvSpPr>
            <a:spLocks noGrp="1"/>
          </p:cNvSpPr>
          <p:nvPr/>
        </p:nvSpPr>
        <p:spPr>
          <a:xfrm>
            <a:off x="9239250" y="2371725"/>
            <a:ext cx="2143125" cy="3429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400" b="1">
                <a:solidFill>
                  <a:srgbClr val="1B0065"/>
                </a:solidFill>
                <a:latin typeface="Calibri"/>
                <a:ea typeface="Calibri"/>
                <a:cs typeface="Calibri"/>
              </a:defRPr>
            </a:pPr>
            <a:r>
              <a:rPr kumimoji="0" sz="1400" b="1" i="0" u="none" strike="noStrike" kern="1200" cap="none" spc="0" normalizeH="0" baseline="0" noProof="0">
                <a:ln>
                  <a:noFill/>
                </a:ln>
                <a:solidFill>
                  <a:srgbClr val="1B0065"/>
                </a:solidFill>
                <a:effectLst/>
                <a:uLnTx/>
                <a:uFillTx/>
                <a:latin typeface="Calibri"/>
                <a:ea typeface="Calibri"/>
                <a:cs typeface="Calibri"/>
              </a:rPr>
              <a:t>Review queue</a:t>
            </a:r>
          </a:p>
        </p:txBody>
      </p:sp>
      <p:sp>
        <p:nvSpPr>
          <p:cNvPr id="21" name="207-text-Priority, scope, budget">
            <a:extLst>
              <a:ext uri="{FF2B5EF4-FFF2-40B4-BE49-F238E27FC236}">
                <a16:creationId xmlns:a16="http://schemas.microsoft.com/office/drawing/2014/main" id="{5175ADFC-35F5-4619-B05E-5A6048F5998E}"/>
              </a:ext>
            </a:extLst>
          </p:cNvPr>
          <p:cNvSpPr>
            <a:spLocks noGrp="1"/>
          </p:cNvSpPr>
          <p:nvPr/>
        </p:nvSpPr>
        <p:spPr>
          <a:xfrm>
            <a:off x="9239250" y="2771775"/>
            <a:ext cx="2143125" cy="3810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150" b="0">
                <a:solidFill>
                  <a:srgbClr val="1E293B"/>
                </a:solidFill>
                <a:latin typeface="Calibri"/>
                <a:ea typeface="Calibri"/>
                <a:cs typeface="Calibri"/>
              </a:defRPr>
            </a:pPr>
            <a:r>
              <a:rPr kumimoji="0" sz="1150" b="0" i="0" u="none" strike="noStrike" kern="1200" cap="none" spc="0" normalizeH="0" baseline="0" noProof="0">
                <a:ln>
                  <a:noFill/>
                </a:ln>
                <a:solidFill>
                  <a:srgbClr val="1E293B"/>
                </a:solidFill>
                <a:effectLst/>
                <a:uLnTx/>
                <a:uFillTx/>
                <a:latin typeface="Calibri"/>
                <a:ea typeface="Calibri"/>
                <a:cs typeface="Calibri"/>
              </a:rPr>
              <a:t>Priority, scope, budget</a:t>
            </a:r>
          </a:p>
        </p:txBody>
      </p:sp>
      <p:sp>
        <p:nvSpPr>
          <p:cNvPr id="22" name="208-anchor">
            <a:extLst>
              <a:ext uri="{FF2B5EF4-FFF2-40B4-BE49-F238E27FC236}">
                <a16:creationId xmlns:a16="http://schemas.microsoft.com/office/drawing/2014/main" id="{1B9A6ABE-F51B-4ACB-A65E-9534F6EF52E7}"/>
              </a:ext>
            </a:extLst>
          </p:cNvPr>
          <p:cNvSpPr>
            <a:spLocks noGrp="1"/>
          </p:cNvSpPr>
          <p:nvPr/>
        </p:nvSpPr>
        <p:spPr>
          <a:xfrm>
            <a:off x="2686050" y="2733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23" name="209-anchor">
            <a:extLst>
              <a:ext uri="{FF2B5EF4-FFF2-40B4-BE49-F238E27FC236}">
                <a16:creationId xmlns:a16="http://schemas.microsoft.com/office/drawing/2014/main" id="{97FE083E-2374-4204-81C8-B2700F2E166A}"/>
              </a:ext>
            </a:extLst>
          </p:cNvPr>
          <p:cNvSpPr>
            <a:spLocks noGrp="1"/>
          </p:cNvSpPr>
          <p:nvPr/>
        </p:nvSpPr>
        <p:spPr>
          <a:xfrm>
            <a:off x="3228975" y="2733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256" name="Straight Arrow Connector 141"/>
          <p:cNvCxnSpPr>
            <a:stCxn id="22" idx="3"/>
            <a:endCxn id="23" idx="1"/>
          </p:cNvCxnSpPr>
          <p:nvPr/>
        </p:nvCxnSpPr>
        <p:spPr>
          <a:xfrm>
            <a:off x="2687955" y="2734628"/>
            <a:ext cx="541020" cy="0"/>
          </a:xfrm>
          <a:prstGeom prst="straightConnector1">
            <a:avLst/>
          </a:prstGeom>
          <a:ln w="19050">
            <a:solidFill>
              <a:srgbClr val="5069EC"/>
            </a:solidFill>
            <a:prstDash val="solid"/>
            <a:headEnd type="none" w="med" len="med"/>
            <a:tailEnd type="triangle" w="med" len="med"/>
          </a:ln>
        </p:spPr>
      </p:cxnSp>
      <p:sp>
        <p:nvSpPr>
          <p:cNvPr id="25" name="210-anchor">
            <a:extLst>
              <a:ext uri="{FF2B5EF4-FFF2-40B4-BE49-F238E27FC236}">
                <a16:creationId xmlns:a16="http://schemas.microsoft.com/office/drawing/2014/main" id="{A1395852-4009-45E5-8B9D-C2D2BD913B77}"/>
              </a:ext>
            </a:extLst>
          </p:cNvPr>
          <p:cNvSpPr>
            <a:spLocks noGrp="1"/>
          </p:cNvSpPr>
          <p:nvPr/>
        </p:nvSpPr>
        <p:spPr>
          <a:xfrm>
            <a:off x="5686425" y="2733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26" name="211-anchor">
            <a:extLst>
              <a:ext uri="{FF2B5EF4-FFF2-40B4-BE49-F238E27FC236}">
                <a16:creationId xmlns:a16="http://schemas.microsoft.com/office/drawing/2014/main" id="{49FECAA5-31F1-4972-8ABA-EE73DA8E1903}"/>
              </a:ext>
            </a:extLst>
          </p:cNvPr>
          <p:cNvSpPr>
            <a:spLocks noGrp="1"/>
          </p:cNvSpPr>
          <p:nvPr/>
        </p:nvSpPr>
        <p:spPr>
          <a:xfrm>
            <a:off x="6229350" y="2733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259" name="Straight Arrow Connector 144"/>
          <p:cNvCxnSpPr>
            <a:stCxn id="25" idx="3"/>
            <a:endCxn id="26" idx="1"/>
          </p:cNvCxnSpPr>
          <p:nvPr/>
        </p:nvCxnSpPr>
        <p:spPr>
          <a:xfrm>
            <a:off x="5688330" y="2734628"/>
            <a:ext cx="541020" cy="0"/>
          </a:xfrm>
          <a:prstGeom prst="straightConnector1">
            <a:avLst/>
          </a:prstGeom>
          <a:ln w="19050">
            <a:solidFill>
              <a:srgbClr val="0D9488"/>
            </a:solidFill>
            <a:prstDash val="solid"/>
            <a:headEnd type="none" w="med" len="med"/>
            <a:tailEnd type="triangle" w="med" len="med"/>
          </a:ln>
        </p:spPr>
      </p:cxnSp>
      <p:sp>
        <p:nvSpPr>
          <p:cNvPr id="28" name="212-anchor">
            <a:extLst>
              <a:ext uri="{FF2B5EF4-FFF2-40B4-BE49-F238E27FC236}">
                <a16:creationId xmlns:a16="http://schemas.microsoft.com/office/drawing/2014/main" id="{E775D828-A257-474E-937C-6448DE6EF784}"/>
              </a:ext>
            </a:extLst>
          </p:cNvPr>
          <p:cNvSpPr>
            <a:spLocks noGrp="1"/>
          </p:cNvSpPr>
          <p:nvPr/>
        </p:nvSpPr>
        <p:spPr>
          <a:xfrm>
            <a:off x="8515350" y="2733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29" name="213-anchor">
            <a:extLst>
              <a:ext uri="{FF2B5EF4-FFF2-40B4-BE49-F238E27FC236}">
                <a16:creationId xmlns:a16="http://schemas.microsoft.com/office/drawing/2014/main" id="{BE953CC4-28CE-437B-8BE0-BD73E4EB668A}"/>
              </a:ext>
            </a:extLst>
          </p:cNvPr>
          <p:cNvSpPr>
            <a:spLocks noGrp="1"/>
          </p:cNvSpPr>
          <p:nvPr/>
        </p:nvSpPr>
        <p:spPr>
          <a:xfrm>
            <a:off x="9058275" y="2733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262" name="Straight Arrow Connector 147"/>
          <p:cNvCxnSpPr>
            <a:stCxn id="28" idx="3"/>
            <a:endCxn id="29" idx="1"/>
          </p:cNvCxnSpPr>
          <p:nvPr/>
        </p:nvCxnSpPr>
        <p:spPr>
          <a:xfrm>
            <a:off x="8517255" y="2734628"/>
            <a:ext cx="541020" cy="0"/>
          </a:xfrm>
          <a:prstGeom prst="straightConnector1">
            <a:avLst/>
          </a:prstGeom>
          <a:ln w="19050">
            <a:solidFill>
              <a:srgbClr val="0D9488"/>
            </a:solidFill>
            <a:prstDash val="solid"/>
            <a:headEnd type="none" w="med" len="med"/>
            <a:tailEnd type="triangle" w="med" len="med"/>
          </a:ln>
        </p:spPr>
      </p:cxnSp>
      <p:sp>
        <p:nvSpPr>
          <p:cNvPr id="31" name="214-Run state">
            <a:extLst>
              <a:ext uri="{FF2B5EF4-FFF2-40B4-BE49-F238E27FC236}">
                <a16:creationId xmlns:a16="http://schemas.microsoft.com/office/drawing/2014/main" id="{CE91EBE1-A311-4CF9-A78B-9329BC9865E2}"/>
              </a:ext>
            </a:extLst>
          </p:cNvPr>
          <p:cNvSpPr>
            <a:spLocks noGrp="1"/>
          </p:cNvSpPr>
          <p:nvPr/>
        </p:nvSpPr>
        <p:spPr>
          <a:xfrm>
            <a:off x="609600" y="4448175"/>
            <a:ext cx="2076450" cy="1066800"/>
          </a:xfrm>
          <a:prstGeom prst="roundRect">
            <a:avLst>
              <a:gd name="adj" fmla="val 6000"/>
            </a:avLst>
          </a:prstGeom>
          <a:solidFill>
            <a:srgbClr val="FFFFFF"/>
          </a:solidFill>
          <a:ln w="12700">
            <a:solidFill>
              <a:srgbClr val="5069EC"/>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32" name="215-text-Run state">
            <a:extLst>
              <a:ext uri="{FF2B5EF4-FFF2-40B4-BE49-F238E27FC236}">
                <a16:creationId xmlns:a16="http://schemas.microsoft.com/office/drawing/2014/main" id="{EE84B6F9-8E05-4B89-8900-5AE19DC5BA5D}"/>
              </a:ext>
            </a:extLst>
          </p:cNvPr>
          <p:cNvSpPr>
            <a:spLocks noGrp="1"/>
          </p:cNvSpPr>
          <p:nvPr/>
        </p:nvSpPr>
        <p:spPr>
          <a:xfrm>
            <a:off x="790575" y="4600575"/>
            <a:ext cx="1714500" cy="3429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400" b="1">
                <a:solidFill>
                  <a:srgbClr val="1B0065"/>
                </a:solidFill>
                <a:latin typeface="Calibri"/>
                <a:ea typeface="Calibri"/>
                <a:cs typeface="Calibri"/>
              </a:defRPr>
            </a:pPr>
            <a:r>
              <a:rPr kumimoji="0" sz="1400" b="1" i="0" u="none" strike="noStrike" kern="1200" cap="none" spc="0" normalizeH="0" baseline="0" noProof="0">
                <a:ln>
                  <a:noFill/>
                </a:ln>
                <a:solidFill>
                  <a:srgbClr val="1B0065"/>
                </a:solidFill>
                <a:effectLst/>
                <a:uLnTx/>
                <a:uFillTx/>
                <a:latin typeface="Calibri"/>
                <a:ea typeface="Calibri"/>
                <a:cs typeface="Calibri"/>
              </a:rPr>
              <a:t>Run state</a:t>
            </a:r>
          </a:p>
        </p:txBody>
      </p:sp>
      <p:sp>
        <p:nvSpPr>
          <p:cNvPr id="33" name="216-text-Checkpoint&#10;Retry / quarantine">
            <a:extLst>
              <a:ext uri="{FF2B5EF4-FFF2-40B4-BE49-F238E27FC236}">
                <a16:creationId xmlns:a16="http://schemas.microsoft.com/office/drawing/2014/main" id="{134285A8-5CBB-4D11-B90A-9BA9E5B52AAF}"/>
              </a:ext>
            </a:extLst>
          </p:cNvPr>
          <p:cNvSpPr>
            <a:spLocks noGrp="1"/>
          </p:cNvSpPr>
          <p:nvPr/>
        </p:nvSpPr>
        <p:spPr>
          <a:xfrm>
            <a:off x="790575" y="4972050"/>
            <a:ext cx="1714500" cy="447675"/>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200" b="0">
                <a:solidFill>
                  <a:srgbClr val="1E293B"/>
                </a:solidFill>
                <a:latin typeface="Calibri"/>
                <a:ea typeface="Calibri"/>
                <a:cs typeface="Calibri"/>
              </a:defRPr>
            </a:pPr>
            <a:r>
              <a:rPr kumimoji="0" sz="1200" b="0" i="0" u="none" strike="noStrike" kern="1200" cap="none" spc="0" normalizeH="0" baseline="0" noProof="0">
                <a:ln>
                  <a:noFill/>
                </a:ln>
                <a:solidFill>
                  <a:srgbClr val="1E293B"/>
                </a:solidFill>
                <a:effectLst/>
                <a:uLnTx/>
                <a:uFillTx/>
                <a:latin typeface="Calibri"/>
                <a:ea typeface="Calibri"/>
                <a:cs typeface="Calibri"/>
              </a:rPr>
              <a:t>Checkpoint</a:t>
            </a:r>
          </a:p>
          <a:p>
            <a:pPr marL="0" marR="0" lvl="0" indent="0" algn="ctr" defTabSz="914400" rtl="0" eaLnBrk="1" fontAlgn="auto" latinLnBrk="0" hangingPunct="1">
              <a:lnSpc>
                <a:spcPct val="100000"/>
              </a:lnSpc>
              <a:spcBef>
                <a:spcPts val="0"/>
              </a:spcBef>
              <a:spcAft>
                <a:spcPts val="0"/>
              </a:spcAft>
              <a:buClrTx/>
              <a:buSzTx/>
              <a:buFontTx/>
              <a:buNone/>
              <a:tabLst/>
              <a:defRPr sz="1200" b="0">
                <a:solidFill>
                  <a:srgbClr val="1E293B"/>
                </a:solidFill>
                <a:latin typeface="Calibri"/>
                <a:ea typeface="Calibri"/>
                <a:cs typeface="Calibri"/>
              </a:defRPr>
            </a:pPr>
            <a:r>
              <a:rPr kumimoji="0" sz="1200" b="0" i="0" u="none" strike="noStrike" kern="1200" cap="none" spc="0" normalizeH="0" baseline="0" noProof="0">
                <a:ln>
                  <a:noFill/>
                </a:ln>
                <a:solidFill>
                  <a:srgbClr val="1E293B"/>
                </a:solidFill>
                <a:effectLst/>
                <a:uLnTx/>
                <a:uFillTx/>
                <a:latin typeface="Calibri"/>
                <a:ea typeface="Calibri"/>
                <a:cs typeface="Calibri"/>
              </a:rPr>
              <a:t>Retry / quarantine</a:t>
            </a:r>
          </a:p>
        </p:txBody>
      </p:sp>
      <p:sp>
        <p:nvSpPr>
          <p:cNvPr id="34" name="217-anchor">
            <a:extLst>
              <a:ext uri="{FF2B5EF4-FFF2-40B4-BE49-F238E27FC236}">
                <a16:creationId xmlns:a16="http://schemas.microsoft.com/office/drawing/2014/main" id="{1890B0AF-4FEF-46AD-9824-0D0F48E1B401}"/>
              </a:ext>
            </a:extLst>
          </p:cNvPr>
          <p:cNvSpPr>
            <a:spLocks noGrp="1"/>
          </p:cNvSpPr>
          <p:nvPr/>
        </p:nvSpPr>
        <p:spPr>
          <a:xfrm>
            <a:off x="1638300" y="44481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35" name="218-anchor">
            <a:extLst>
              <a:ext uri="{FF2B5EF4-FFF2-40B4-BE49-F238E27FC236}">
                <a16:creationId xmlns:a16="http://schemas.microsoft.com/office/drawing/2014/main" id="{2D7B4A7A-9F4F-46E5-BCFB-2B1C75DC59FE}"/>
              </a:ext>
            </a:extLst>
          </p:cNvPr>
          <p:cNvSpPr>
            <a:spLocks noGrp="1"/>
          </p:cNvSpPr>
          <p:nvPr/>
        </p:nvSpPr>
        <p:spPr>
          <a:xfrm>
            <a:off x="1638300" y="324802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268" name="Straight Arrow Connector 153"/>
          <p:cNvCxnSpPr>
            <a:stCxn id="34" idx="0"/>
            <a:endCxn id="35" idx="2"/>
          </p:cNvCxnSpPr>
          <p:nvPr/>
        </p:nvCxnSpPr>
        <p:spPr>
          <a:xfrm flipV="1">
            <a:off x="1639253" y="3249930"/>
            <a:ext cx="0" cy="1198245"/>
          </a:xfrm>
          <a:prstGeom prst="straightConnector1">
            <a:avLst/>
          </a:prstGeom>
          <a:ln w="19050">
            <a:solidFill>
              <a:srgbClr val="5069EC"/>
            </a:solidFill>
            <a:prstDash val="solid"/>
            <a:headEnd type="none" w="med" len="med"/>
            <a:tailEnd type="triangle" w="med" len="med"/>
          </a:ln>
        </p:spPr>
      </p:cxnSp>
      <p:sp>
        <p:nvSpPr>
          <p:cNvPr id="37" name="219-text-Resume&#10;window">
            <a:extLst>
              <a:ext uri="{FF2B5EF4-FFF2-40B4-BE49-F238E27FC236}">
                <a16:creationId xmlns:a16="http://schemas.microsoft.com/office/drawing/2014/main" id="{2595431A-07FB-4652-B404-ED8D85D2AB61}"/>
              </a:ext>
            </a:extLst>
          </p:cNvPr>
          <p:cNvSpPr>
            <a:spLocks noGrp="1"/>
          </p:cNvSpPr>
          <p:nvPr/>
        </p:nvSpPr>
        <p:spPr>
          <a:xfrm>
            <a:off x="657225" y="3629025"/>
            <a:ext cx="857250" cy="552450"/>
          </a:xfrm>
          <a:prstGeom prst="rect">
            <a:avLst/>
          </a:prstGeom>
          <a:noFill/>
          <a:ln w="0">
            <a:noFill/>
          </a:ln>
        </p:spPr>
        <p:txBody>
          <a:bodyPr wrap="square" lIns="0" tIns="0" rIns="0" bIns="0" anchor="t">
            <a:noAutofit/>
          </a:bodyPr>
          <a:lstStyle/>
          <a:p>
            <a:pPr marL="0" marR="0" lvl="0" indent="0" algn="r" defTabSz="914400" rtl="0" eaLnBrk="1" fontAlgn="auto" latinLnBrk="0" hangingPunct="1">
              <a:lnSpc>
                <a:spcPct val="100000"/>
              </a:lnSpc>
              <a:spcBef>
                <a:spcPts val="0"/>
              </a:spcBef>
              <a:spcAft>
                <a:spcPts val="0"/>
              </a:spcAft>
              <a:buClrTx/>
              <a:buSzTx/>
              <a:buFontTx/>
              <a:buNone/>
              <a:tabLst/>
              <a:defRPr sz="1100" b="1">
                <a:solidFill>
                  <a:srgbClr val="5069EC"/>
                </a:solidFill>
                <a:latin typeface="Calibri"/>
                <a:ea typeface="Calibri"/>
                <a:cs typeface="Calibri"/>
              </a:defRPr>
            </a:pPr>
            <a:r>
              <a:rPr kumimoji="0" sz="1100" b="1" i="0" u="none" strike="noStrike" kern="1200" cap="none" spc="0" normalizeH="0" baseline="0" noProof="0">
                <a:ln>
                  <a:noFill/>
                </a:ln>
                <a:solidFill>
                  <a:srgbClr val="5069EC"/>
                </a:solidFill>
                <a:effectLst/>
                <a:uLnTx/>
                <a:uFillTx/>
                <a:latin typeface="Calibri"/>
                <a:ea typeface="Calibri"/>
                <a:cs typeface="Calibri"/>
              </a:rPr>
              <a:t>Resume</a:t>
            </a:r>
          </a:p>
          <a:p>
            <a:pPr marL="0" marR="0" lvl="0" indent="0" algn="r" defTabSz="914400" rtl="0" eaLnBrk="1" fontAlgn="auto" latinLnBrk="0" hangingPunct="1">
              <a:lnSpc>
                <a:spcPct val="100000"/>
              </a:lnSpc>
              <a:spcBef>
                <a:spcPts val="0"/>
              </a:spcBef>
              <a:spcAft>
                <a:spcPts val="0"/>
              </a:spcAft>
              <a:buClrTx/>
              <a:buSzTx/>
              <a:buFontTx/>
              <a:buNone/>
              <a:tabLst/>
              <a:defRPr sz="1100" b="1">
                <a:solidFill>
                  <a:srgbClr val="5069EC"/>
                </a:solidFill>
                <a:latin typeface="Calibri"/>
                <a:ea typeface="Calibri"/>
                <a:cs typeface="Calibri"/>
              </a:defRPr>
            </a:pPr>
            <a:r>
              <a:rPr kumimoji="0" sz="1100" b="1" i="0" u="none" strike="noStrike" kern="1200" cap="none" spc="0" normalizeH="0" baseline="0" noProof="0">
                <a:ln>
                  <a:noFill/>
                </a:ln>
                <a:solidFill>
                  <a:srgbClr val="5069EC"/>
                </a:solidFill>
                <a:effectLst/>
                <a:uLnTx/>
                <a:uFillTx/>
                <a:latin typeface="Calibri"/>
                <a:ea typeface="Calibri"/>
                <a:cs typeface="Calibri"/>
              </a:rPr>
              <a:t>window</a:t>
            </a:r>
          </a:p>
        </p:txBody>
      </p:sp>
      <p:sp>
        <p:nvSpPr>
          <p:cNvPr id="38" name="220-Persistent cohort memory">
            <a:extLst>
              <a:ext uri="{FF2B5EF4-FFF2-40B4-BE49-F238E27FC236}">
                <a16:creationId xmlns:a16="http://schemas.microsoft.com/office/drawing/2014/main" id="{F95DA959-A018-4B54-BEE1-8AA9527ED069}"/>
              </a:ext>
            </a:extLst>
          </p:cNvPr>
          <p:cNvSpPr>
            <a:spLocks noGrp="1"/>
          </p:cNvSpPr>
          <p:nvPr/>
        </p:nvSpPr>
        <p:spPr>
          <a:xfrm>
            <a:off x="3228975" y="4448175"/>
            <a:ext cx="5286375" cy="1066800"/>
          </a:xfrm>
          <a:prstGeom prst="roundRect">
            <a:avLst>
              <a:gd name="adj" fmla="val 6000"/>
            </a:avLst>
          </a:prstGeom>
          <a:solidFill>
            <a:srgbClr val="FFFFFF"/>
          </a:solidFill>
          <a:ln w="12700">
            <a:solidFill>
              <a:srgbClr val="0D9488"/>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39" name="221-text-Persistent cohort memory">
            <a:extLst>
              <a:ext uri="{FF2B5EF4-FFF2-40B4-BE49-F238E27FC236}">
                <a16:creationId xmlns:a16="http://schemas.microsoft.com/office/drawing/2014/main" id="{C6053194-328A-44CA-8456-1B19F9DA64BD}"/>
              </a:ext>
            </a:extLst>
          </p:cNvPr>
          <p:cNvSpPr>
            <a:spLocks noGrp="1"/>
          </p:cNvSpPr>
          <p:nvPr/>
        </p:nvSpPr>
        <p:spPr>
          <a:xfrm>
            <a:off x="3409950" y="4600575"/>
            <a:ext cx="4924425" cy="3429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500" b="1">
                <a:solidFill>
                  <a:srgbClr val="1B0065"/>
                </a:solidFill>
                <a:latin typeface="Calibri"/>
                <a:ea typeface="Calibri"/>
                <a:cs typeface="Calibri"/>
              </a:defRPr>
            </a:pPr>
            <a:r>
              <a:rPr kumimoji="0" sz="1500" b="1" i="0" u="none" strike="noStrike" kern="1200" cap="none" spc="0" normalizeH="0" baseline="0" noProof="0">
                <a:ln>
                  <a:noFill/>
                </a:ln>
                <a:solidFill>
                  <a:srgbClr val="1B0065"/>
                </a:solidFill>
                <a:effectLst/>
                <a:uLnTx/>
                <a:uFillTx/>
                <a:latin typeface="Calibri"/>
                <a:ea typeface="Calibri"/>
                <a:cs typeface="Calibri"/>
              </a:rPr>
              <a:t>Domain Pack memory + cohort journal</a:t>
            </a:r>
          </a:p>
        </p:txBody>
      </p:sp>
      <p:sp>
        <p:nvSpPr>
          <p:cNvPr id="40" name="222-text-Patterns, rejected ideas and reopening conditions">
            <a:extLst>
              <a:ext uri="{FF2B5EF4-FFF2-40B4-BE49-F238E27FC236}">
                <a16:creationId xmlns:a16="http://schemas.microsoft.com/office/drawing/2014/main" id="{7BDB83F2-2CAF-458F-8E5B-F8FB0B589DEC}"/>
              </a:ext>
            </a:extLst>
          </p:cNvPr>
          <p:cNvSpPr>
            <a:spLocks noGrp="1"/>
          </p:cNvSpPr>
          <p:nvPr/>
        </p:nvSpPr>
        <p:spPr>
          <a:xfrm>
            <a:off x="3409950" y="5019675"/>
            <a:ext cx="4924425" cy="40005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200" b="0">
                <a:solidFill>
                  <a:srgbClr val="1E293B"/>
                </a:solidFill>
                <a:latin typeface="Calibri"/>
                <a:ea typeface="Calibri"/>
                <a:cs typeface="Calibri"/>
              </a:defRPr>
            </a:pPr>
            <a:r>
              <a:rPr kumimoji="0" sz="1200" b="0" i="0" u="none" strike="noStrike" kern="1200" cap="none" spc="0" normalizeH="0" baseline="0" noProof="0">
                <a:ln>
                  <a:noFill/>
                </a:ln>
                <a:solidFill>
                  <a:srgbClr val="1E293B"/>
                </a:solidFill>
                <a:effectLst/>
                <a:uLnTx/>
                <a:uFillTx/>
                <a:latin typeface="Calibri"/>
                <a:ea typeface="Calibri"/>
                <a:cs typeface="Calibri"/>
              </a:rPr>
              <a:t>Patterns, rejected ideas and reopening conditions</a:t>
            </a:r>
          </a:p>
        </p:txBody>
      </p:sp>
      <p:sp>
        <p:nvSpPr>
          <p:cNvPr id="41" name="223-anchor">
            <a:extLst>
              <a:ext uri="{FF2B5EF4-FFF2-40B4-BE49-F238E27FC236}">
                <a16:creationId xmlns:a16="http://schemas.microsoft.com/office/drawing/2014/main" id="{5B259C73-8F8C-4760-AD67-0BD5205A4F37}"/>
              </a:ext>
            </a:extLst>
          </p:cNvPr>
          <p:cNvSpPr>
            <a:spLocks noGrp="1"/>
          </p:cNvSpPr>
          <p:nvPr/>
        </p:nvSpPr>
        <p:spPr>
          <a:xfrm>
            <a:off x="4391025" y="44481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42" name="224-anchor">
            <a:extLst>
              <a:ext uri="{FF2B5EF4-FFF2-40B4-BE49-F238E27FC236}">
                <a16:creationId xmlns:a16="http://schemas.microsoft.com/office/drawing/2014/main" id="{C460B178-232A-4EB2-9A2E-53CF1A5A45EA}"/>
              </a:ext>
            </a:extLst>
          </p:cNvPr>
          <p:cNvSpPr>
            <a:spLocks noGrp="1"/>
          </p:cNvSpPr>
          <p:nvPr/>
        </p:nvSpPr>
        <p:spPr>
          <a:xfrm>
            <a:off x="4391025" y="324802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275" name="Straight Arrow Connector 160"/>
          <p:cNvCxnSpPr>
            <a:stCxn id="41" idx="0"/>
            <a:endCxn id="42" idx="2"/>
          </p:cNvCxnSpPr>
          <p:nvPr/>
        </p:nvCxnSpPr>
        <p:spPr>
          <a:xfrm flipV="1">
            <a:off x="4391978" y="3249930"/>
            <a:ext cx="0" cy="1198245"/>
          </a:xfrm>
          <a:prstGeom prst="straightConnector1">
            <a:avLst/>
          </a:prstGeom>
          <a:ln w="19050">
            <a:solidFill>
              <a:srgbClr val="0D9488"/>
            </a:solidFill>
            <a:prstDash val="solid"/>
            <a:headEnd type="none" w="med" len="med"/>
            <a:tailEnd type="triangle" w="med" len="med"/>
          </a:ln>
        </p:spPr>
      </p:cxnSp>
      <p:sp>
        <p:nvSpPr>
          <p:cNvPr id="44" name="225-text-Recall">
            <a:extLst>
              <a:ext uri="{FF2B5EF4-FFF2-40B4-BE49-F238E27FC236}">
                <a16:creationId xmlns:a16="http://schemas.microsoft.com/office/drawing/2014/main" id="{A6AF68A8-AC6E-4220-AB1A-2DA26903C31B}"/>
              </a:ext>
            </a:extLst>
          </p:cNvPr>
          <p:cNvSpPr>
            <a:spLocks noGrp="1"/>
          </p:cNvSpPr>
          <p:nvPr/>
        </p:nvSpPr>
        <p:spPr>
          <a:xfrm>
            <a:off x="3438525" y="3733800"/>
            <a:ext cx="819150" cy="2667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00" b="1">
                <a:solidFill>
                  <a:srgbClr val="0D9488"/>
                </a:solidFill>
                <a:latin typeface="Calibri"/>
                <a:ea typeface="Calibri"/>
                <a:cs typeface="Calibri"/>
              </a:defRPr>
            </a:pPr>
            <a:r>
              <a:rPr kumimoji="0" sz="1200" b="1" i="0" u="none" strike="noStrike" kern="1200" cap="none" spc="0" normalizeH="0" baseline="0" noProof="0">
                <a:ln>
                  <a:noFill/>
                </a:ln>
                <a:solidFill>
                  <a:srgbClr val="0D9488"/>
                </a:solidFill>
                <a:effectLst/>
                <a:uLnTx/>
                <a:uFillTx/>
                <a:latin typeface="Calibri"/>
                <a:ea typeface="Calibri"/>
                <a:cs typeface="Calibri"/>
              </a:rPr>
              <a:t>Recall</a:t>
            </a:r>
          </a:p>
        </p:txBody>
      </p:sp>
      <p:sp>
        <p:nvSpPr>
          <p:cNvPr id="45" name="226-anchor">
            <a:extLst>
              <a:ext uri="{FF2B5EF4-FFF2-40B4-BE49-F238E27FC236}">
                <a16:creationId xmlns:a16="http://schemas.microsoft.com/office/drawing/2014/main" id="{07F3CBC5-EBD2-4020-9F8B-1641D41012EF}"/>
              </a:ext>
            </a:extLst>
          </p:cNvPr>
          <p:cNvSpPr>
            <a:spLocks noGrp="1"/>
          </p:cNvSpPr>
          <p:nvPr/>
        </p:nvSpPr>
        <p:spPr>
          <a:xfrm>
            <a:off x="7353300" y="324802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46" name="227-anchor">
            <a:extLst>
              <a:ext uri="{FF2B5EF4-FFF2-40B4-BE49-F238E27FC236}">
                <a16:creationId xmlns:a16="http://schemas.microsoft.com/office/drawing/2014/main" id="{BB922B8F-BFC1-42AA-A21D-BFE6AB890D2E}"/>
              </a:ext>
            </a:extLst>
          </p:cNvPr>
          <p:cNvSpPr>
            <a:spLocks noGrp="1"/>
          </p:cNvSpPr>
          <p:nvPr/>
        </p:nvSpPr>
        <p:spPr>
          <a:xfrm>
            <a:off x="7353300" y="44481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279" name="Straight Arrow Connector 164"/>
          <p:cNvCxnSpPr>
            <a:stCxn id="45" idx="3"/>
            <a:endCxn id="46" idx="1"/>
          </p:cNvCxnSpPr>
          <p:nvPr/>
        </p:nvCxnSpPr>
        <p:spPr>
          <a:xfrm flipH="1">
            <a:off x="7353300" y="3248978"/>
            <a:ext cx="1905" cy="1200150"/>
          </a:xfrm>
          <a:prstGeom prst="straightConnector1">
            <a:avLst/>
          </a:prstGeom>
          <a:ln w="19050">
            <a:solidFill>
              <a:srgbClr val="0D9488"/>
            </a:solidFill>
            <a:prstDash val="solid"/>
            <a:headEnd type="none" w="med" len="med"/>
            <a:tailEnd type="triangle" w="med" len="med"/>
          </a:ln>
        </p:spPr>
      </p:cxnSp>
      <p:sp>
        <p:nvSpPr>
          <p:cNvPr id="48" name="228-text-Retain evidence">
            <a:extLst>
              <a:ext uri="{FF2B5EF4-FFF2-40B4-BE49-F238E27FC236}">
                <a16:creationId xmlns:a16="http://schemas.microsoft.com/office/drawing/2014/main" id="{150CE277-2FC1-4E8C-A0C3-3C45B68D6BAC}"/>
              </a:ext>
            </a:extLst>
          </p:cNvPr>
          <p:cNvSpPr>
            <a:spLocks noGrp="1"/>
          </p:cNvSpPr>
          <p:nvPr/>
        </p:nvSpPr>
        <p:spPr>
          <a:xfrm>
            <a:off x="7448550" y="3695700"/>
            <a:ext cx="1247775" cy="4953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100" b="1">
                <a:solidFill>
                  <a:srgbClr val="0D9488"/>
                </a:solidFill>
                <a:latin typeface="Calibri"/>
                <a:ea typeface="Calibri"/>
                <a:cs typeface="Calibri"/>
              </a:defRPr>
            </a:pPr>
            <a:r>
              <a:rPr kumimoji="0" sz="1100" b="1" i="0" u="none" strike="noStrike" kern="1200" cap="none" spc="0" normalizeH="0" baseline="0" noProof="0">
                <a:ln>
                  <a:noFill/>
                </a:ln>
                <a:solidFill>
                  <a:srgbClr val="0D9488"/>
                </a:solidFill>
                <a:effectLst/>
                <a:uLnTx/>
                <a:uFillTx/>
                <a:latin typeface="Calibri"/>
                <a:ea typeface="Calibri"/>
                <a:cs typeface="Calibri"/>
              </a:rPr>
              <a:t>Retain evidence</a:t>
            </a:r>
          </a:p>
        </p:txBody>
      </p:sp>
      <p:sp>
        <p:nvSpPr>
          <p:cNvPr id="49" name="229-Funded experiments">
            <a:extLst>
              <a:ext uri="{FF2B5EF4-FFF2-40B4-BE49-F238E27FC236}">
                <a16:creationId xmlns:a16="http://schemas.microsoft.com/office/drawing/2014/main" id="{916719CE-062C-4B2A-A6F1-14906CF90453}"/>
              </a:ext>
            </a:extLst>
          </p:cNvPr>
          <p:cNvSpPr>
            <a:spLocks noGrp="1"/>
          </p:cNvSpPr>
          <p:nvPr/>
        </p:nvSpPr>
        <p:spPr>
          <a:xfrm>
            <a:off x="9058275" y="4448175"/>
            <a:ext cx="2505075" cy="1066800"/>
          </a:xfrm>
          <a:prstGeom prst="roundRect">
            <a:avLst>
              <a:gd name="adj" fmla="val 6000"/>
            </a:avLst>
          </a:prstGeom>
          <a:solidFill>
            <a:srgbClr val="E6F8F4"/>
          </a:solidFill>
          <a:ln w="12700">
            <a:solidFill>
              <a:srgbClr val="0D9488"/>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50" name="230-text-Funded experiments">
            <a:extLst>
              <a:ext uri="{FF2B5EF4-FFF2-40B4-BE49-F238E27FC236}">
                <a16:creationId xmlns:a16="http://schemas.microsoft.com/office/drawing/2014/main" id="{73FC8915-68B6-40E0-A6DF-EDE23C121759}"/>
              </a:ext>
            </a:extLst>
          </p:cNvPr>
          <p:cNvSpPr>
            <a:spLocks noGrp="1"/>
          </p:cNvSpPr>
          <p:nvPr/>
        </p:nvSpPr>
        <p:spPr>
          <a:xfrm>
            <a:off x="9239250" y="4600575"/>
            <a:ext cx="2143125" cy="3429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400" b="1">
                <a:solidFill>
                  <a:srgbClr val="1B0065"/>
                </a:solidFill>
                <a:latin typeface="Calibri"/>
                <a:ea typeface="Calibri"/>
                <a:cs typeface="Calibri"/>
              </a:defRPr>
            </a:pPr>
            <a:r>
              <a:rPr kumimoji="0" lang="en-US" sz="1400" b="1" i="0" u="none" strike="noStrike" kern="1200" cap="none" spc="0" normalizeH="0" baseline="0" noProof="0">
                <a:ln>
                  <a:noFill/>
                </a:ln>
                <a:solidFill>
                  <a:srgbClr val="1B0065"/>
                </a:solidFill>
                <a:effectLst/>
                <a:uLnTx/>
                <a:uFillTx/>
                <a:latin typeface="Calibri"/>
                <a:ea typeface="Calibri"/>
                <a:cs typeface="Calibri"/>
              </a:rPr>
              <a:t>Approved</a:t>
            </a:r>
            <a:r>
              <a:rPr kumimoji="0" sz="1400" b="1" i="0" u="none" strike="noStrike" kern="1200" cap="none" spc="0" normalizeH="0" baseline="0" noProof="0">
                <a:ln>
                  <a:noFill/>
                </a:ln>
                <a:solidFill>
                  <a:srgbClr val="1B0065"/>
                </a:solidFill>
                <a:effectLst/>
                <a:uLnTx/>
                <a:uFillTx/>
                <a:latin typeface="Calibri"/>
                <a:ea typeface="Calibri"/>
                <a:cs typeface="Calibri"/>
              </a:rPr>
              <a:t> experiments</a:t>
            </a:r>
          </a:p>
        </p:txBody>
      </p:sp>
      <p:sp>
        <p:nvSpPr>
          <p:cNvPr id="51" name="231-text-Results return to the case">
            <a:extLst>
              <a:ext uri="{FF2B5EF4-FFF2-40B4-BE49-F238E27FC236}">
                <a16:creationId xmlns:a16="http://schemas.microsoft.com/office/drawing/2014/main" id="{E4C62B69-AE93-478F-A90E-8330572C503C}"/>
              </a:ext>
            </a:extLst>
          </p:cNvPr>
          <p:cNvSpPr>
            <a:spLocks noGrp="1"/>
          </p:cNvSpPr>
          <p:nvPr/>
        </p:nvSpPr>
        <p:spPr>
          <a:xfrm>
            <a:off x="9239250" y="5020310"/>
            <a:ext cx="2143125" cy="40005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150" b="0">
                <a:solidFill>
                  <a:srgbClr val="1E293B"/>
                </a:solidFill>
                <a:latin typeface="Calibri"/>
                <a:ea typeface="Calibri"/>
                <a:cs typeface="Calibri"/>
              </a:defRPr>
            </a:pPr>
            <a:r>
              <a:rPr kumimoji="0" sz="1150" b="0" i="0" u="none" strike="noStrike" kern="1200" cap="none" spc="0" normalizeH="0" baseline="0" noProof="0">
                <a:ln>
                  <a:noFill/>
                </a:ln>
                <a:solidFill>
                  <a:srgbClr val="1E293B"/>
                </a:solidFill>
                <a:effectLst/>
                <a:uLnTx/>
                <a:uFillTx/>
                <a:latin typeface="Calibri"/>
                <a:ea typeface="Calibri"/>
                <a:cs typeface="Calibri"/>
              </a:rPr>
              <a:t>Results return to the case</a:t>
            </a:r>
          </a:p>
        </p:txBody>
      </p:sp>
      <p:sp>
        <p:nvSpPr>
          <p:cNvPr id="52" name="232-anchor">
            <a:extLst>
              <a:ext uri="{FF2B5EF4-FFF2-40B4-BE49-F238E27FC236}">
                <a16:creationId xmlns:a16="http://schemas.microsoft.com/office/drawing/2014/main" id="{A0A480D1-ABC0-4D03-B8F9-5C557B70D15D}"/>
              </a:ext>
            </a:extLst>
          </p:cNvPr>
          <p:cNvSpPr>
            <a:spLocks noGrp="1"/>
          </p:cNvSpPr>
          <p:nvPr/>
        </p:nvSpPr>
        <p:spPr>
          <a:xfrm>
            <a:off x="10296525" y="324802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53" name="233-anchor">
            <a:extLst>
              <a:ext uri="{FF2B5EF4-FFF2-40B4-BE49-F238E27FC236}">
                <a16:creationId xmlns:a16="http://schemas.microsoft.com/office/drawing/2014/main" id="{60CF8AD3-3E9C-4512-B4A0-C5F2043889C5}"/>
              </a:ext>
            </a:extLst>
          </p:cNvPr>
          <p:cNvSpPr>
            <a:spLocks noGrp="1"/>
          </p:cNvSpPr>
          <p:nvPr/>
        </p:nvSpPr>
        <p:spPr>
          <a:xfrm>
            <a:off x="10296525" y="44481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286" name="Straight Arrow Connector 171"/>
          <p:cNvCxnSpPr>
            <a:stCxn id="52" idx="3"/>
            <a:endCxn id="53" idx="1"/>
          </p:cNvCxnSpPr>
          <p:nvPr/>
        </p:nvCxnSpPr>
        <p:spPr>
          <a:xfrm flipH="1">
            <a:off x="10296525" y="3248978"/>
            <a:ext cx="1905" cy="1200150"/>
          </a:xfrm>
          <a:prstGeom prst="straightConnector1">
            <a:avLst/>
          </a:prstGeom>
          <a:ln w="19050">
            <a:solidFill>
              <a:srgbClr val="FF592C"/>
            </a:solidFill>
            <a:prstDash val="solid"/>
            <a:headEnd type="none" w="med" len="med"/>
            <a:tailEnd type="triangle" w="med" len="med"/>
          </a:ln>
        </p:spPr>
      </p:cxnSp>
      <p:sp>
        <p:nvSpPr>
          <p:cNvPr id="55" name="234-text-Approved&#10;mandate">
            <a:extLst>
              <a:ext uri="{FF2B5EF4-FFF2-40B4-BE49-F238E27FC236}">
                <a16:creationId xmlns:a16="http://schemas.microsoft.com/office/drawing/2014/main" id="{0DCF066D-39B3-4A99-BE1F-40584B6AA418}"/>
              </a:ext>
            </a:extLst>
          </p:cNvPr>
          <p:cNvSpPr>
            <a:spLocks noGrp="1"/>
          </p:cNvSpPr>
          <p:nvPr/>
        </p:nvSpPr>
        <p:spPr>
          <a:xfrm>
            <a:off x="10401300" y="3629025"/>
            <a:ext cx="1152525" cy="5524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100" b="1">
                <a:solidFill>
                  <a:srgbClr val="FF592C"/>
                </a:solidFill>
                <a:latin typeface="Calibri"/>
                <a:ea typeface="Calibri"/>
                <a:cs typeface="Calibri"/>
              </a:defRPr>
            </a:pPr>
            <a:r>
              <a:rPr kumimoji="0" sz="1100" b="1" i="0" u="none" strike="noStrike" kern="1200" cap="none" spc="0" normalizeH="0" baseline="0" noProof="0">
                <a:ln>
                  <a:noFill/>
                </a:ln>
                <a:solidFill>
                  <a:srgbClr val="FF592C"/>
                </a:solidFill>
                <a:effectLst/>
                <a:uLnTx/>
                <a:uFillTx/>
                <a:latin typeface="Calibri"/>
                <a:ea typeface="Calibri"/>
                <a:cs typeface="Calibri"/>
              </a:rPr>
              <a:t>Approved</a:t>
            </a:r>
          </a:p>
          <a:p>
            <a:pPr marL="0" marR="0" lvl="0" indent="0" algn="l" defTabSz="914400" rtl="0" eaLnBrk="1" fontAlgn="auto" latinLnBrk="0" hangingPunct="1">
              <a:lnSpc>
                <a:spcPct val="100000"/>
              </a:lnSpc>
              <a:spcBef>
                <a:spcPts val="0"/>
              </a:spcBef>
              <a:spcAft>
                <a:spcPts val="0"/>
              </a:spcAft>
              <a:buClrTx/>
              <a:buSzTx/>
              <a:buFontTx/>
              <a:buNone/>
              <a:tabLst/>
              <a:defRPr sz="1100" b="1">
                <a:solidFill>
                  <a:srgbClr val="FF592C"/>
                </a:solidFill>
                <a:latin typeface="Calibri"/>
                <a:ea typeface="Calibri"/>
                <a:cs typeface="Calibri"/>
              </a:defRPr>
            </a:pPr>
            <a:r>
              <a:rPr kumimoji="0" sz="1100" b="1" i="0" u="none" strike="noStrike" kern="1200" cap="none" spc="0" normalizeH="0" baseline="0" noProof="0">
                <a:ln>
                  <a:noFill/>
                </a:ln>
                <a:solidFill>
                  <a:srgbClr val="FF592C"/>
                </a:solidFill>
                <a:effectLst/>
                <a:uLnTx/>
                <a:uFillTx/>
                <a:latin typeface="Calibri"/>
                <a:ea typeface="Calibri"/>
                <a:cs typeface="Calibri"/>
              </a:rPr>
              <a:t>mandate</a:t>
            </a:r>
          </a:p>
        </p:txBody>
      </p:sp>
      <p:sp>
        <p:nvSpPr>
          <p:cNvPr id="56" name="235-anchor">
            <a:extLst>
              <a:ext uri="{FF2B5EF4-FFF2-40B4-BE49-F238E27FC236}">
                <a16:creationId xmlns:a16="http://schemas.microsoft.com/office/drawing/2014/main" id="{523482E8-722E-4DD4-A45B-C7B9A218E5B7}"/>
              </a:ext>
            </a:extLst>
          </p:cNvPr>
          <p:cNvSpPr>
            <a:spLocks noGrp="1"/>
          </p:cNvSpPr>
          <p:nvPr/>
        </p:nvSpPr>
        <p:spPr>
          <a:xfrm>
            <a:off x="9058275" y="49815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57" name="236-anchor">
            <a:extLst>
              <a:ext uri="{FF2B5EF4-FFF2-40B4-BE49-F238E27FC236}">
                <a16:creationId xmlns:a16="http://schemas.microsoft.com/office/drawing/2014/main" id="{475CEFAE-DBFB-450A-B747-2DA1D1B400BE}"/>
              </a:ext>
            </a:extLst>
          </p:cNvPr>
          <p:cNvSpPr>
            <a:spLocks noGrp="1"/>
          </p:cNvSpPr>
          <p:nvPr/>
        </p:nvSpPr>
        <p:spPr>
          <a:xfrm>
            <a:off x="8515350" y="49815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290" name="Straight Arrow Connector 175"/>
          <p:cNvCxnSpPr>
            <a:stCxn id="56" idx="1"/>
            <a:endCxn id="57" idx="3"/>
          </p:cNvCxnSpPr>
          <p:nvPr/>
        </p:nvCxnSpPr>
        <p:spPr>
          <a:xfrm flipH="1">
            <a:off x="8517255" y="4982528"/>
            <a:ext cx="541020" cy="0"/>
          </a:xfrm>
          <a:prstGeom prst="straightConnector1">
            <a:avLst/>
          </a:prstGeom>
          <a:ln w="19050">
            <a:solidFill>
              <a:srgbClr val="0D9488"/>
            </a:solidFill>
            <a:prstDash val="solid"/>
            <a:headEnd type="none" w="med" len="med"/>
            <a:tailEnd type="triangle" w="med" len="med"/>
          </a:ln>
        </p:spPr>
      </p:cxnSp>
      <p:sp>
        <p:nvSpPr>
          <p:cNvPr id="59" name="237-boundary">
            <a:extLst>
              <a:ext uri="{FF2B5EF4-FFF2-40B4-BE49-F238E27FC236}">
                <a16:creationId xmlns:a16="http://schemas.microsoft.com/office/drawing/2014/main" id="{01024C2E-6041-4869-849C-274F64D22A89}"/>
              </a:ext>
            </a:extLst>
          </p:cNvPr>
          <p:cNvSpPr>
            <a:spLocks noGrp="1"/>
          </p:cNvSpPr>
          <p:nvPr/>
        </p:nvSpPr>
        <p:spPr>
          <a:xfrm>
            <a:off x="495300" y="5842000"/>
            <a:ext cx="11201400" cy="406400"/>
          </a:xfrm>
          <a:prstGeom prst="roundRect">
            <a:avLst>
              <a:gd name="adj" fmla="val 6000"/>
            </a:avLst>
          </a:prstGeom>
          <a:solidFill>
            <a:srgbClr val="1B0065"/>
          </a:solidFill>
          <a:ln w="12700">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60" name="238-text-A repeated signal reuses the existing case unless new eviden">
            <a:extLst>
              <a:ext uri="{FF2B5EF4-FFF2-40B4-BE49-F238E27FC236}">
                <a16:creationId xmlns:a16="http://schemas.microsoft.com/office/drawing/2014/main" id="{BEE0EC54-1B29-4811-833F-9C7FEFD39F91}"/>
              </a:ext>
            </a:extLst>
          </p:cNvPr>
          <p:cNvSpPr>
            <a:spLocks noGrp="1"/>
          </p:cNvSpPr>
          <p:nvPr/>
        </p:nvSpPr>
        <p:spPr>
          <a:xfrm>
            <a:off x="695325" y="5842000"/>
            <a:ext cx="10801350" cy="406400"/>
          </a:xfrm>
          <a:prstGeom prst="rect">
            <a:avLst/>
          </a:prstGeom>
          <a:noFill/>
          <a:ln w="0">
            <a:noFill/>
          </a:ln>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250" b="1">
                <a:solidFill>
                  <a:srgbClr val="FFFFFF"/>
                </a:solidFill>
                <a:latin typeface="Calibri"/>
                <a:ea typeface="Calibri"/>
                <a:cs typeface="Calibri"/>
              </a:defRPr>
            </a:pPr>
            <a:r>
              <a:rPr kumimoji="0" sz="1250" b="1" i="0" u="none" strike="noStrike" kern="1200" cap="none" spc="0" normalizeH="0" baseline="0" noProof="0">
                <a:ln>
                  <a:noFill/>
                </a:ln>
                <a:solidFill>
                  <a:srgbClr val="FFFFFF"/>
                </a:solidFill>
                <a:effectLst/>
                <a:uLnTx/>
                <a:uFillTx/>
                <a:latin typeface="Calibri"/>
                <a:ea typeface="Calibri"/>
                <a:cs typeface="Calibri"/>
              </a:rPr>
              <a:t>A repeated signal reuses the existing case unless new evidence justifies reopening it.</a:t>
            </a:r>
          </a:p>
        </p:txBody>
      </p:sp>
      <p:sp>
        <p:nvSpPr>
          <p:cNvPr id="901" name="Kicker"/>
          <p:cNvSpPr txBox="1"/>
          <p:nvPr/>
        </p:nvSpPr>
        <p:spPr>
          <a:xfrm>
            <a:off x="457200" y="256032"/>
            <a:ext cx="11274552" cy="219456"/>
          </a:xfrm>
          <a:prstGeom prst="rect">
            <a:avLst/>
          </a:prstGeom>
          <a:noFill/>
        </p:spPr>
        <p:txBody>
          <a:bodyPr wrap="square" lIns="0" tIns="0" rIns="0" bIns="0" rtlCol="0" anchor="ctr"/>
          <a:lstStyle/>
          <a:p>
            <a:pPr algn="l">
              <a:buNone/>
            </a:pPr>
            <a:r>
              <a:rPr lang="en-US" sz="1000" b="1" kern="0" spc="300">
                <a:solidFill>
                  <a:srgbClr val="5069EC"/>
                </a:solidFill>
                <a:latin typeface="Calibri"/>
              </a:rPr>
              <a:t>ROSI  ·  HOW IT LEARNS</a:t>
            </a:r>
          </a:p>
        </p:txBody>
      </p:sp>
      <p:sp>
        <p:nvSpPr>
          <p:cNvPr id="902" name="Wordmark"/>
          <p:cNvSpPr txBox="1"/>
          <p:nvPr/>
        </p:nvSpPr>
        <p:spPr>
          <a:xfrm>
            <a:off x="411480" y="6419088"/>
            <a:ext cx="1280160" cy="292608"/>
          </a:xfrm>
          <a:prstGeom prst="rect">
            <a:avLst/>
          </a:prstGeom>
          <a:noFill/>
        </p:spPr>
        <p:txBody>
          <a:bodyPr wrap="square" lIns="0" tIns="0" rIns="0" bIns="0" rtlCol="0" anchor="ctr"/>
          <a:lstStyle/>
          <a:p>
            <a:pPr algn="l">
              <a:buNone/>
            </a:pPr>
            <a:r>
              <a:rPr lang="en-US" sz="1400" b="1">
                <a:solidFill>
                  <a:srgbClr val="1B0065"/>
                </a:solidFill>
                <a:latin typeface="Calibri"/>
              </a:rPr>
              <a:t>Jazz</a:t>
            </a:r>
            <a:r>
              <a:rPr lang="en-US" sz="1400" b="1">
                <a:solidFill>
                  <a:srgbClr val="FF592C"/>
                </a:solidFill>
                <a:latin typeface="Calibri"/>
              </a:rPr>
              <a:t>X</a:t>
            </a:r>
            <a:r>
              <a:rPr lang="en-US" sz="1400" b="1">
                <a:solidFill>
                  <a:srgbClr val="1B0065"/>
                </a:solidFill>
                <a:latin typeface="Calibri"/>
              </a:rPr>
              <a:t> AI</a:t>
            </a:r>
          </a:p>
        </p:txBody>
      </p:sp>
      <p:sp>
        <p:nvSpPr>
          <p:cNvPr id="903" name="Footer dot"/>
          <p:cNvSpPr/>
          <p:nvPr/>
        </p:nvSpPr>
        <p:spPr>
          <a:xfrm>
            <a:off x="8814816" y="6533388"/>
            <a:ext cx="82296" cy="82296"/>
          </a:xfrm>
          <a:prstGeom prst="ellipse">
            <a:avLst/>
          </a:prstGeom>
          <a:solidFill>
            <a:srgbClr val="FF0000"/>
          </a:solidFill>
          <a:ln w="12700">
            <a:solidFill>
              <a:srgbClr val="FF0000"/>
            </a:solidFill>
          </a:ln>
        </p:spPr>
        <p:txBody>
          <a:bodyPr/>
          <a:lstStyle/>
          <a:p>
            <a:endParaRPr lang="en-US"/>
          </a:p>
        </p:txBody>
      </p:sp>
      <p:sp>
        <p:nvSpPr>
          <p:cNvPr id="904" name="Slide Number Placeholder 0"/>
          <p:cNvSpPr>
            <a:spLocks noGrp="1"/>
          </p:cNvSpPr>
          <p:nvPr>
            <p:ph type="sldNum" sz="quarter" idx="4294967295"/>
          </p:nvPr>
        </p:nvSpPr>
        <p:spPr>
          <a:xfrm>
            <a:off x="11430000" y="6437376"/>
            <a:ext cx="301752" cy="274320"/>
          </a:xfrm>
          <a:prstGeom prst="rect">
            <a:avLst/>
          </a:prstGeom>
        </p:spPr>
        <p:txBody>
          <a:bodyPr/>
          <a:lstStyle/>
          <a:p>
            <a:pPr algn="r">
              <a:buNone/>
            </a:pPr>
            <a:fld id="{F7021451-1387-4CA6-816F-3879F97B5CBC}" type="slidenum">
              <a:rPr lang="en-US" sz="900" b="0">
                <a:solidFill>
                  <a:srgbClr val="1B0065"/>
                </a:solidFill>
                <a:latin typeface="Calibri"/>
              </a:rPr>
              <a:t>27</a:t>
            </a:fld>
            <a:endParaRPr lang="en-US" sz="900" b="0">
              <a:solidFill>
                <a:srgbClr val="1B0065"/>
              </a:solidFill>
              <a:latin typeface="Calibri"/>
            </a:endParaRPr>
          </a:p>
        </p:txBody>
      </p:sp>
    </p:spTree>
    <p:extLst>
      <p:ext uri="{BB962C8B-B14F-4D97-AF65-F5344CB8AC3E}">
        <p14:creationId xmlns:p14="http://schemas.microsoft.com/office/powerpoint/2010/main" val="138035104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120-text-Testing a change">
            <a:extLst>
              <a:ext uri="{FF2B5EF4-FFF2-40B4-BE49-F238E27FC236}">
                <a16:creationId xmlns:a16="http://schemas.microsoft.com/office/drawing/2014/main" id="{13547C7D-1AFE-41D7-9C2E-30807AA57A19}"/>
              </a:ext>
            </a:extLst>
          </p:cNvPr>
          <p:cNvSpPr>
            <a:spLocks noGrp="1"/>
          </p:cNvSpPr>
          <p:nvPr/>
        </p:nvSpPr>
        <p:spPr>
          <a:xfrm>
            <a:off x="457200" y="502920"/>
            <a:ext cx="11274552" cy="566928"/>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3000" b="1">
                <a:solidFill>
                  <a:srgbClr val="1B0065"/>
                </a:solidFill>
                <a:latin typeface="Calibri"/>
                <a:ea typeface="Calibri"/>
                <a:cs typeface="Calibri"/>
              </a:defRPr>
            </a:pPr>
            <a:r>
              <a:rPr kumimoji="0" lang="en-US" sz="2600" b="1" i="0" u="none" strike="noStrike" kern="1200" cap="none" spc="0" normalizeH="0" baseline="0" noProof="0">
                <a:ln>
                  <a:noFill/>
                </a:ln>
                <a:solidFill>
                  <a:srgbClr val="3600AD"/>
                </a:solidFill>
                <a:effectLst/>
                <a:uLnTx/>
                <a:uFillTx/>
                <a:latin typeface="Calibri"/>
                <a:ea typeface="Calibri"/>
                <a:cs typeface="Calibri"/>
              </a:rPr>
              <a:t>Experimentation Framework </a:t>
            </a:r>
            <a:endParaRPr kumimoji="0" sz="2600" b="1" i="0" u="none" strike="noStrike" kern="1200" cap="none" spc="0" normalizeH="0" baseline="0" noProof="0">
              <a:ln>
                <a:noFill/>
              </a:ln>
              <a:solidFill>
                <a:srgbClr val="3600AD"/>
              </a:solidFill>
              <a:effectLst/>
              <a:uLnTx/>
              <a:uFillTx/>
              <a:latin typeface="Calibri"/>
              <a:ea typeface="Calibri"/>
              <a:cs typeface="Calibri"/>
            </a:endParaRPr>
          </a:p>
        </p:txBody>
      </p:sp>
      <p:sp>
        <p:nvSpPr>
          <p:cNvPr id="2" name="121-text-A person sets the goal and limits. Each result guides the ne">
            <a:extLst>
              <a:ext uri="{FF2B5EF4-FFF2-40B4-BE49-F238E27FC236}">
                <a16:creationId xmlns:a16="http://schemas.microsoft.com/office/drawing/2014/main" id="{AAAC520C-F0CF-40D3-83CF-1B8EEB0601D7}"/>
              </a:ext>
            </a:extLst>
          </p:cNvPr>
          <p:cNvSpPr>
            <a:spLocks noGrp="1"/>
          </p:cNvSpPr>
          <p:nvPr/>
        </p:nvSpPr>
        <p:spPr>
          <a:xfrm>
            <a:off x="457200" y="1069848"/>
            <a:ext cx="11274552" cy="292608"/>
          </a:xfrm>
          <a:prstGeom prst="rect">
            <a:avLst/>
          </a:prstGeom>
          <a:noFill/>
          <a:ln w="0">
            <a:noFill/>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400" b="0">
                <a:solidFill>
                  <a:srgbClr val="1E293B"/>
                </a:solidFill>
                <a:latin typeface="Calibri"/>
                <a:ea typeface="Calibri"/>
                <a:cs typeface="Calibri"/>
              </a:defRPr>
            </a:pPr>
            <a:r>
              <a:rPr kumimoji="0" sz="1400" b="0" i="1" u="none" strike="noStrike" kern="1200" cap="none" spc="0" normalizeH="0" baseline="0" noProof="0">
                <a:ln>
                  <a:noFill/>
                </a:ln>
                <a:solidFill>
                  <a:srgbClr val="5B2D8E"/>
                </a:solidFill>
                <a:effectLst/>
                <a:uLnTx/>
                <a:uFillTx/>
                <a:latin typeface="Calibri"/>
                <a:ea typeface="Calibri"/>
                <a:cs typeface="Calibri"/>
              </a:rPr>
              <a:t>A person sets the goal and limits. Each result guides the next attempt</a:t>
            </a:r>
            <a:r>
              <a:rPr kumimoji="0" lang="en-US" sz="1400" b="0" i="1" u="none" strike="noStrike" kern="1200" cap="none" spc="0" normalizeH="0" baseline="0" noProof="0">
                <a:ln>
                  <a:noFill/>
                </a:ln>
                <a:solidFill>
                  <a:srgbClr val="5B2D8E"/>
                </a:solidFill>
                <a:effectLst/>
                <a:uLnTx/>
                <a:uFillTx/>
                <a:latin typeface="Calibri"/>
                <a:ea typeface="Calibri"/>
                <a:cs typeface="Calibri"/>
              </a:rPr>
              <a:t> for experiments using </a:t>
            </a:r>
            <a:r>
              <a:rPr kumimoji="0" lang="en-US" sz="1400" b="0" i="1" u="none" strike="noStrike" kern="1200" cap="none" spc="0" normalizeH="0" baseline="0" noProof="0" err="1">
                <a:ln>
                  <a:noFill/>
                </a:ln>
                <a:solidFill>
                  <a:srgbClr val="5B2D8E"/>
                </a:solidFill>
                <a:effectLst/>
                <a:uLnTx/>
                <a:uFillTx/>
                <a:latin typeface="Calibri"/>
                <a:ea typeface="Calibri"/>
                <a:cs typeface="Calibri"/>
              </a:rPr>
              <a:t>replayable</a:t>
            </a:r>
            <a:r>
              <a:rPr kumimoji="0" lang="en-US" sz="1400" b="0" i="1" u="none" strike="noStrike" kern="1200" cap="none" spc="0" normalizeH="0" baseline="0" noProof="0">
                <a:ln>
                  <a:noFill/>
                </a:ln>
                <a:solidFill>
                  <a:srgbClr val="5B2D8E"/>
                </a:solidFill>
                <a:effectLst/>
                <a:uLnTx/>
                <a:uFillTx/>
                <a:latin typeface="Calibri"/>
                <a:ea typeface="Calibri"/>
                <a:cs typeface="Calibri"/>
              </a:rPr>
              <a:t> datasets</a:t>
            </a:r>
            <a:r>
              <a:rPr kumimoji="0" sz="1400" b="0" i="1" u="none" strike="noStrike" kern="1200" cap="none" spc="0" normalizeH="0" baseline="0" noProof="0">
                <a:ln>
                  <a:noFill/>
                </a:ln>
                <a:solidFill>
                  <a:srgbClr val="5B2D8E"/>
                </a:solidFill>
                <a:effectLst/>
                <a:uLnTx/>
                <a:uFillTx/>
                <a:latin typeface="Calibri"/>
                <a:ea typeface="Calibri"/>
                <a:cs typeface="Calibri"/>
              </a:rPr>
              <a:t>.</a:t>
            </a:r>
          </a:p>
        </p:txBody>
      </p:sp>
      <p:sp>
        <p:nvSpPr>
          <p:cNvPr id="7" name="126-boundary">
            <a:extLst>
              <a:ext uri="{FF2B5EF4-FFF2-40B4-BE49-F238E27FC236}">
                <a16:creationId xmlns:a16="http://schemas.microsoft.com/office/drawing/2014/main" id="{2E5BEAF2-450C-4A37-9D8D-DAF0F3906E99}"/>
              </a:ext>
            </a:extLst>
          </p:cNvPr>
          <p:cNvSpPr>
            <a:spLocks noGrp="1"/>
          </p:cNvSpPr>
          <p:nvPr/>
        </p:nvSpPr>
        <p:spPr>
          <a:xfrm>
            <a:off x="495300" y="1676400"/>
            <a:ext cx="11201400" cy="809625"/>
          </a:xfrm>
          <a:prstGeom prst="roundRect">
            <a:avLst>
              <a:gd name="adj" fmla="val 6000"/>
            </a:avLst>
          </a:prstGeom>
          <a:solidFill>
            <a:srgbClr val="FFF1EC"/>
          </a:solidFill>
          <a:ln w="12700">
            <a:solidFill>
              <a:srgbClr val="FF592C"/>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8" name="127-text-Goal">
            <a:extLst>
              <a:ext uri="{FF2B5EF4-FFF2-40B4-BE49-F238E27FC236}">
                <a16:creationId xmlns:a16="http://schemas.microsoft.com/office/drawing/2014/main" id="{91FAC248-D03D-445F-9247-257865465FD6}"/>
              </a:ext>
            </a:extLst>
          </p:cNvPr>
          <p:cNvSpPr>
            <a:spLocks noGrp="1"/>
          </p:cNvSpPr>
          <p:nvPr/>
        </p:nvSpPr>
        <p:spPr>
          <a:xfrm>
            <a:off x="695325" y="1790700"/>
            <a:ext cx="3267075" cy="2857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400" b="1">
                <a:solidFill>
                  <a:srgbClr val="1B0065"/>
                </a:solidFill>
                <a:latin typeface="Calibri"/>
                <a:ea typeface="Calibri"/>
                <a:cs typeface="Calibri"/>
              </a:defRPr>
            </a:pPr>
            <a:r>
              <a:rPr kumimoji="0" sz="1400" b="1" i="0" u="none" strike="noStrike" kern="1200" cap="none" spc="0" normalizeH="0" baseline="0" noProof="0">
                <a:ln>
                  <a:noFill/>
                </a:ln>
                <a:solidFill>
                  <a:srgbClr val="1B0065"/>
                </a:solidFill>
                <a:effectLst/>
                <a:uLnTx/>
                <a:uFillTx/>
                <a:latin typeface="Calibri"/>
                <a:ea typeface="Calibri"/>
                <a:cs typeface="Calibri"/>
              </a:rPr>
              <a:t>Goal</a:t>
            </a:r>
          </a:p>
        </p:txBody>
      </p:sp>
      <p:sp>
        <p:nvSpPr>
          <p:cNvPr id="9" name="128-text-Better results, no new failures">
            <a:extLst>
              <a:ext uri="{FF2B5EF4-FFF2-40B4-BE49-F238E27FC236}">
                <a16:creationId xmlns:a16="http://schemas.microsoft.com/office/drawing/2014/main" id="{1931A09F-BD71-4CFB-AE06-182387C992EA}"/>
              </a:ext>
            </a:extLst>
          </p:cNvPr>
          <p:cNvSpPr>
            <a:spLocks noGrp="1"/>
          </p:cNvSpPr>
          <p:nvPr/>
        </p:nvSpPr>
        <p:spPr>
          <a:xfrm>
            <a:off x="695325" y="2171700"/>
            <a:ext cx="3267075" cy="2667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50" b="0">
                <a:solidFill>
                  <a:srgbClr val="1B0065"/>
                </a:solidFill>
                <a:latin typeface="Calibri"/>
                <a:ea typeface="Calibri"/>
                <a:cs typeface="Calibri"/>
              </a:defRPr>
            </a:pPr>
            <a:r>
              <a:rPr kumimoji="0" sz="1250" b="0" i="0" u="none" strike="noStrike" kern="1200" cap="none" spc="0" normalizeH="0" baseline="0" noProof="0">
                <a:ln>
                  <a:noFill/>
                </a:ln>
                <a:solidFill>
                  <a:srgbClr val="1B0065"/>
                </a:solidFill>
                <a:effectLst/>
                <a:uLnTx/>
                <a:uFillTx/>
                <a:latin typeface="Calibri"/>
                <a:ea typeface="Calibri"/>
                <a:cs typeface="Calibri"/>
              </a:rPr>
              <a:t>Better results, no new failures</a:t>
            </a:r>
          </a:p>
        </p:txBody>
      </p:sp>
      <p:sp>
        <p:nvSpPr>
          <p:cNvPr id="10" name="129-text-Limits">
            <a:extLst>
              <a:ext uri="{FF2B5EF4-FFF2-40B4-BE49-F238E27FC236}">
                <a16:creationId xmlns:a16="http://schemas.microsoft.com/office/drawing/2014/main" id="{9BF6D0F7-82F1-49B3-A860-95877177A29B}"/>
              </a:ext>
            </a:extLst>
          </p:cNvPr>
          <p:cNvSpPr>
            <a:spLocks noGrp="1"/>
          </p:cNvSpPr>
          <p:nvPr/>
        </p:nvSpPr>
        <p:spPr>
          <a:xfrm>
            <a:off x="4476750" y="1790700"/>
            <a:ext cx="3124200" cy="2857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400" b="1">
                <a:solidFill>
                  <a:srgbClr val="1B0065"/>
                </a:solidFill>
                <a:latin typeface="Calibri"/>
                <a:ea typeface="Calibri"/>
                <a:cs typeface="Calibri"/>
              </a:defRPr>
            </a:pPr>
            <a:r>
              <a:rPr kumimoji="0" sz="1400" b="1" i="0" u="none" strike="noStrike" kern="1200" cap="none" spc="0" normalizeH="0" baseline="0" noProof="0">
                <a:ln>
                  <a:noFill/>
                </a:ln>
                <a:solidFill>
                  <a:srgbClr val="1B0065"/>
                </a:solidFill>
                <a:effectLst/>
                <a:uLnTx/>
                <a:uFillTx/>
                <a:latin typeface="Calibri"/>
                <a:ea typeface="Calibri"/>
                <a:cs typeface="Calibri"/>
              </a:rPr>
              <a:t>Limits</a:t>
            </a:r>
          </a:p>
        </p:txBody>
      </p:sp>
      <p:sp>
        <p:nvSpPr>
          <p:cNvPr id="11" name="130-text-Cost, attempts and time">
            <a:extLst>
              <a:ext uri="{FF2B5EF4-FFF2-40B4-BE49-F238E27FC236}">
                <a16:creationId xmlns:a16="http://schemas.microsoft.com/office/drawing/2014/main" id="{FECDD023-7FBA-4B8A-A88F-DED4372DF3C2}"/>
              </a:ext>
            </a:extLst>
          </p:cNvPr>
          <p:cNvSpPr>
            <a:spLocks noGrp="1"/>
          </p:cNvSpPr>
          <p:nvPr/>
        </p:nvSpPr>
        <p:spPr>
          <a:xfrm>
            <a:off x="4476750" y="2171700"/>
            <a:ext cx="3124200" cy="2667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50" b="0">
                <a:solidFill>
                  <a:srgbClr val="1B0065"/>
                </a:solidFill>
                <a:latin typeface="Calibri"/>
                <a:ea typeface="Calibri"/>
                <a:cs typeface="Calibri"/>
              </a:defRPr>
            </a:pPr>
            <a:r>
              <a:rPr kumimoji="0" sz="1250" b="0" i="0" u="none" strike="noStrike" kern="1200" cap="none" spc="0" normalizeH="0" baseline="0" noProof="0">
                <a:ln>
                  <a:noFill/>
                </a:ln>
                <a:solidFill>
                  <a:srgbClr val="1B0065"/>
                </a:solidFill>
                <a:effectLst/>
                <a:uLnTx/>
                <a:uFillTx/>
                <a:latin typeface="Calibri"/>
                <a:ea typeface="Calibri"/>
                <a:cs typeface="Calibri"/>
              </a:rPr>
              <a:t>Cost, attempts and time</a:t>
            </a:r>
          </a:p>
        </p:txBody>
      </p:sp>
      <p:sp>
        <p:nvSpPr>
          <p:cNvPr id="12" name="131-text-Fixed test cases">
            <a:extLst>
              <a:ext uri="{FF2B5EF4-FFF2-40B4-BE49-F238E27FC236}">
                <a16:creationId xmlns:a16="http://schemas.microsoft.com/office/drawing/2014/main" id="{2000DFF8-7960-4C05-9703-41D3E6F91CA8}"/>
              </a:ext>
            </a:extLst>
          </p:cNvPr>
          <p:cNvSpPr>
            <a:spLocks noGrp="1"/>
          </p:cNvSpPr>
          <p:nvPr/>
        </p:nvSpPr>
        <p:spPr>
          <a:xfrm>
            <a:off x="8181975" y="1790700"/>
            <a:ext cx="3314700" cy="28575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400" b="1">
                <a:solidFill>
                  <a:srgbClr val="1B0065"/>
                </a:solidFill>
                <a:latin typeface="Calibri"/>
                <a:ea typeface="Calibri"/>
                <a:cs typeface="Calibri"/>
              </a:defRPr>
            </a:pPr>
            <a:r>
              <a:rPr kumimoji="0" sz="1400" b="1" i="0" u="none" strike="noStrike" kern="1200" cap="none" spc="0" normalizeH="0" baseline="0" noProof="0">
                <a:ln>
                  <a:noFill/>
                </a:ln>
                <a:solidFill>
                  <a:srgbClr val="1B0065"/>
                </a:solidFill>
                <a:effectLst/>
                <a:uLnTx/>
                <a:uFillTx/>
                <a:latin typeface="Calibri"/>
                <a:ea typeface="Calibri"/>
                <a:cs typeface="Calibri"/>
              </a:rPr>
              <a:t>Fixed test cases</a:t>
            </a:r>
          </a:p>
        </p:txBody>
      </p:sp>
      <p:sp>
        <p:nvSpPr>
          <p:cNvPr id="13" name="132-text-Same inputs, versions and rules">
            <a:extLst>
              <a:ext uri="{FF2B5EF4-FFF2-40B4-BE49-F238E27FC236}">
                <a16:creationId xmlns:a16="http://schemas.microsoft.com/office/drawing/2014/main" id="{16EAA077-5754-4DC4-8401-3DFDCB8D63F7}"/>
              </a:ext>
            </a:extLst>
          </p:cNvPr>
          <p:cNvSpPr>
            <a:spLocks noGrp="1"/>
          </p:cNvSpPr>
          <p:nvPr/>
        </p:nvSpPr>
        <p:spPr>
          <a:xfrm>
            <a:off x="8181975" y="2171700"/>
            <a:ext cx="3314700" cy="266700"/>
          </a:xfrm>
          <a:prstGeom prst="rect">
            <a:avLst/>
          </a:prstGeom>
          <a:noFill/>
          <a:ln w="0">
            <a:noFill/>
          </a:ln>
        </p:spPr>
        <p:txBody>
          <a:bodyPr wrap="square" lIns="0" tIns="0" rIns="0" bIns="0" anchor="t">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250" b="0">
                <a:solidFill>
                  <a:srgbClr val="1B0065"/>
                </a:solidFill>
                <a:latin typeface="Calibri"/>
                <a:ea typeface="Calibri"/>
                <a:cs typeface="Calibri"/>
              </a:defRPr>
            </a:pPr>
            <a:r>
              <a:rPr kumimoji="0" sz="1250" b="0" i="0" u="none" strike="noStrike" kern="1200" cap="none" spc="0" normalizeH="0" baseline="0" noProof="0">
                <a:ln>
                  <a:noFill/>
                </a:ln>
                <a:solidFill>
                  <a:srgbClr val="1B0065"/>
                </a:solidFill>
                <a:effectLst/>
                <a:uLnTx/>
                <a:uFillTx/>
                <a:latin typeface="Calibri"/>
                <a:ea typeface="Calibri"/>
                <a:cs typeface="Calibri"/>
              </a:rPr>
              <a:t>Same inputs, versions and rules</a:t>
            </a:r>
          </a:p>
        </p:txBody>
      </p:sp>
      <p:sp>
        <p:nvSpPr>
          <p:cNvPr id="14" name="133-boundary">
            <a:extLst>
              <a:ext uri="{FF2B5EF4-FFF2-40B4-BE49-F238E27FC236}">
                <a16:creationId xmlns:a16="http://schemas.microsoft.com/office/drawing/2014/main" id="{FC414BCB-C613-49AB-A17E-D710345EBDB6}"/>
              </a:ext>
            </a:extLst>
          </p:cNvPr>
          <p:cNvSpPr>
            <a:spLocks noGrp="1"/>
          </p:cNvSpPr>
          <p:nvPr/>
        </p:nvSpPr>
        <p:spPr>
          <a:xfrm>
            <a:off x="495300" y="3038475"/>
            <a:ext cx="2428875" cy="1685925"/>
          </a:xfrm>
          <a:prstGeom prst="roundRect">
            <a:avLst>
              <a:gd name="adj" fmla="val 6000"/>
            </a:avLst>
          </a:prstGeom>
          <a:solidFill>
            <a:srgbClr val="E6F8F4"/>
          </a:solidFill>
          <a:ln w="12700">
            <a:solidFill>
              <a:srgbClr val="0D9488"/>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15" name="134-text-Propose&#10;a change">
            <a:extLst>
              <a:ext uri="{FF2B5EF4-FFF2-40B4-BE49-F238E27FC236}">
                <a16:creationId xmlns:a16="http://schemas.microsoft.com/office/drawing/2014/main" id="{3B854664-4FB2-4637-8BB9-625C250EE1BF}"/>
              </a:ext>
            </a:extLst>
          </p:cNvPr>
          <p:cNvSpPr>
            <a:spLocks noGrp="1"/>
          </p:cNvSpPr>
          <p:nvPr/>
        </p:nvSpPr>
        <p:spPr>
          <a:xfrm>
            <a:off x="657225" y="3219450"/>
            <a:ext cx="2105025" cy="6477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500" b="1">
                <a:solidFill>
                  <a:srgbClr val="1B0065"/>
                </a:solidFill>
                <a:latin typeface="Calibri"/>
                <a:ea typeface="Calibri"/>
                <a:cs typeface="Calibri"/>
              </a:defRPr>
            </a:pPr>
            <a:r>
              <a:rPr kumimoji="0" sz="1500" b="1" i="0" u="none" strike="noStrike" kern="1200" cap="none" spc="0" normalizeH="0" baseline="0" noProof="0">
                <a:ln>
                  <a:noFill/>
                </a:ln>
                <a:solidFill>
                  <a:srgbClr val="1B0065"/>
                </a:solidFill>
                <a:effectLst/>
                <a:uLnTx/>
                <a:uFillTx/>
                <a:latin typeface="Calibri"/>
                <a:ea typeface="Calibri"/>
                <a:cs typeface="Calibri"/>
              </a:rPr>
              <a:t>Propose</a:t>
            </a:r>
          </a:p>
          <a:p>
            <a:pPr marL="0" marR="0" lvl="0" indent="0" algn="ctr" defTabSz="914400" rtl="0" eaLnBrk="1" fontAlgn="auto" latinLnBrk="0" hangingPunct="1">
              <a:lnSpc>
                <a:spcPct val="100000"/>
              </a:lnSpc>
              <a:spcBef>
                <a:spcPts val="0"/>
              </a:spcBef>
              <a:spcAft>
                <a:spcPts val="0"/>
              </a:spcAft>
              <a:buClrTx/>
              <a:buSzTx/>
              <a:buFontTx/>
              <a:buNone/>
              <a:tabLst/>
              <a:defRPr sz="1500" b="1">
                <a:solidFill>
                  <a:srgbClr val="1B0065"/>
                </a:solidFill>
                <a:latin typeface="Calibri"/>
                <a:ea typeface="Calibri"/>
                <a:cs typeface="Calibri"/>
              </a:defRPr>
            </a:pPr>
            <a:r>
              <a:rPr kumimoji="0" sz="1500" b="1" i="0" u="none" strike="noStrike" kern="1200" cap="none" spc="0" normalizeH="0" baseline="0" noProof="0">
                <a:ln>
                  <a:noFill/>
                </a:ln>
                <a:solidFill>
                  <a:srgbClr val="1B0065"/>
                </a:solidFill>
                <a:effectLst/>
                <a:uLnTx/>
                <a:uFillTx/>
                <a:latin typeface="Calibri"/>
                <a:ea typeface="Calibri"/>
                <a:cs typeface="Calibri"/>
              </a:rPr>
              <a:t>a change</a:t>
            </a:r>
          </a:p>
        </p:txBody>
      </p:sp>
      <p:sp>
        <p:nvSpPr>
          <p:cNvPr id="16" name="135-text-Instructions, a tool&#10;or the workflow">
            <a:extLst>
              <a:ext uri="{FF2B5EF4-FFF2-40B4-BE49-F238E27FC236}">
                <a16:creationId xmlns:a16="http://schemas.microsoft.com/office/drawing/2014/main" id="{C849EA33-5095-4140-A04C-2417143F4C00}"/>
              </a:ext>
            </a:extLst>
          </p:cNvPr>
          <p:cNvSpPr>
            <a:spLocks noGrp="1"/>
          </p:cNvSpPr>
          <p:nvPr/>
        </p:nvSpPr>
        <p:spPr>
          <a:xfrm>
            <a:off x="657225" y="4038600"/>
            <a:ext cx="2105025" cy="542925"/>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300" b="0">
                <a:solidFill>
                  <a:srgbClr val="1E293B"/>
                </a:solidFill>
                <a:latin typeface="Calibri"/>
                <a:ea typeface="Calibri"/>
                <a:cs typeface="Calibri"/>
              </a:defRPr>
            </a:pPr>
            <a:r>
              <a:rPr kumimoji="0" sz="1300" b="0" i="0" u="none" strike="noStrike" kern="1200" cap="none" spc="0" normalizeH="0" baseline="0" noProof="0">
                <a:ln>
                  <a:noFill/>
                </a:ln>
                <a:solidFill>
                  <a:srgbClr val="1E293B"/>
                </a:solidFill>
                <a:effectLst/>
                <a:uLnTx/>
                <a:uFillTx/>
                <a:latin typeface="Calibri"/>
                <a:ea typeface="Calibri"/>
                <a:cs typeface="Calibri"/>
              </a:rPr>
              <a:t>Instructions, a tool</a:t>
            </a:r>
          </a:p>
          <a:p>
            <a:pPr marL="0" marR="0" lvl="0" indent="0" algn="ctr" defTabSz="914400" rtl="0" eaLnBrk="1" fontAlgn="auto" latinLnBrk="0" hangingPunct="1">
              <a:lnSpc>
                <a:spcPct val="100000"/>
              </a:lnSpc>
              <a:spcBef>
                <a:spcPts val="0"/>
              </a:spcBef>
              <a:spcAft>
                <a:spcPts val="0"/>
              </a:spcAft>
              <a:buClrTx/>
              <a:buSzTx/>
              <a:buFontTx/>
              <a:buNone/>
              <a:tabLst/>
              <a:defRPr sz="1300" b="0">
                <a:solidFill>
                  <a:srgbClr val="1E293B"/>
                </a:solidFill>
                <a:latin typeface="Calibri"/>
                <a:ea typeface="Calibri"/>
                <a:cs typeface="Calibri"/>
              </a:defRPr>
            </a:pPr>
            <a:r>
              <a:rPr kumimoji="0" sz="1300" b="0" i="0" u="none" strike="noStrike" kern="1200" cap="none" spc="0" normalizeH="0" baseline="0" noProof="0">
                <a:ln>
                  <a:noFill/>
                </a:ln>
                <a:solidFill>
                  <a:srgbClr val="1E293B"/>
                </a:solidFill>
                <a:effectLst/>
                <a:uLnTx/>
                <a:uFillTx/>
                <a:latin typeface="Calibri"/>
                <a:ea typeface="Calibri"/>
                <a:cs typeface="Calibri"/>
              </a:rPr>
              <a:t>or the workflow</a:t>
            </a:r>
          </a:p>
        </p:txBody>
      </p:sp>
      <p:sp>
        <p:nvSpPr>
          <p:cNvPr id="17" name="136-boundary">
            <a:extLst>
              <a:ext uri="{FF2B5EF4-FFF2-40B4-BE49-F238E27FC236}">
                <a16:creationId xmlns:a16="http://schemas.microsoft.com/office/drawing/2014/main" id="{EEAAA43A-541B-479F-9242-B0D84BA8428D}"/>
              </a:ext>
            </a:extLst>
          </p:cNvPr>
          <p:cNvSpPr>
            <a:spLocks noGrp="1"/>
          </p:cNvSpPr>
          <p:nvPr/>
        </p:nvSpPr>
        <p:spPr>
          <a:xfrm>
            <a:off x="3419475" y="3038475"/>
            <a:ext cx="2428875" cy="1685925"/>
          </a:xfrm>
          <a:prstGeom prst="roundRect">
            <a:avLst>
              <a:gd name="adj" fmla="val 6000"/>
            </a:avLst>
          </a:prstGeom>
          <a:solidFill>
            <a:srgbClr val="F3F6FF"/>
          </a:solidFill>
          <a:ln w="12700">
            <a:solidFill>
              <a:srgbClr val="5069EC"/>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18" name="137-text-Compare&#10;versions">
            <a:extLst>
              <a:ext uri="{FF2B5EF4-FFF2-40B4-BE49-F238E27FC236}">
                <a16:creationId xmlns:a16="http://schemas.microsoft.com/office/drawing/2014/main" id="{316E6C55-EE4E-4891-B67A-2050A865EADD}"/>
              </a:ext>
            </a:extLst>
          </p:cNvPr>
          <p:cNvSpPr>
            <a:spLocks noGrp="1"/>
          </p:cNvSpPr>
          <p:nvPr/>
        </p:nvSpPr>
        <p:spPr>
          <a:xfrm>
            <a:off x="3581400" y="3219450"/>
            <a:ext cx="2105025" cy="6477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500" b="1">
                <a:solidFill>
                  <a:srgbClr val="1B0065"/>
                </a:solidFill>
                <a:latin typeface="Calibri"/>
                <a:ea typeface="Calibri"/>
                <a:cs typeface="Calibri"/>
              </a:defRPr>
            </a:pPr>
            <a:r>
              <a:rPr kumimoji="0" sz="1500" b="1" i="0" u="none" strike="noStrike" kern="1200" cap="none" spc="0" normalizeH="0" baseline="0" noProof="0">
                <a:ln>
                  <a:noFill/>
                </a:ln>
                <a:solidFill>
                  <a:srgbClr val="1B0065"/>
                </a:solidFill>
                <a:effectLst/>
                <a:uLnTx/>
                <a:uFillTx/>
                <a:latin typeface="Calibri"/>
                <a:ea typeface="Calibri"/>
                <a:cs typeface="Calibri"/>
              </a:rPr>
              <a:t>Compare</a:t>
            </a:r>
          </a:p>
          <a:p>
            <a:pPr marL="0" marR="0" lvl="0" indent="0" algn="ctr" defTabSz="914400" rtl="0" eaLnBrk="1" fontAlgn="auto" latinLnBrk="0" hangingPunct="1">
              <a:lnSpc>
                <a:spcPct val="100000"/>
              </a:lnSpc>
              <a:spcBef>
                <a:spcPts val="0"/>
              </a:spcBef>
              <a:spcAft>
                <a:spcPts val="0"/>
              </a:spcAft>
              <a:buClrTx/>
              <a:buSzTx/>
              <a:buFontTx/>
              <a:buNone/>
              <a:tabLst/>
              <a:defRPr sz="1500" b="1">
                <a:solidFill>
                  <a:srgbClr val="1B0065"/>
                </a:solidFill>
                <a:latin typeface="Calibri"/>
                <a:ea typeface="Calibri"/>
                <a:cs typeface="Calibri"/>
              </a:defRPr>
            </a:pPr>
            <a:r>
              <a:rPr kumimoji="0" sz="1500" b="1" i="0" u="none" strike="noStrike" kern="1200" cap="none" spc="0" normalizeH="0" baseline="0" noProof="0">
                <a:ln>
                  <a:noFill/>
                </a:ln>
                <a:solidFill>
                  <a:srgbClr val="1B0065"/>
                </a:solidFill>
                <a:effectLst/>
                <a:uLnTx/>
                <a:uFillTx/>
                <a:latin typeface="Calibri"/>
                <a:ea typeface="Calibri"/>
                <a:cs typeface="Calibri"/>
              </a:rPr>
              <a:t>versions</a:t>
            </a:r>
          </a:p>
        </p:txBody>
      </p:sp>
      <p:sp>
        <p:nvSpPr>
          <p:cNvPr id="19" name="138-text-Current vs new&#10;Same saved cases">
            <a:extLst>
              <a:ext uri="{FF2B5EF4-FFF2-40B4-BE49-F238E27FC236}">
                <a16:creationId xmlns:a16="http://schemas.microsoft.com/office/drawing/2014/main" id="{64FD45A5-AD5C-4877-A131-F3C56092167D}"/>
              </a:ext>
            </a:extLst>
          </p:cNvPr>
          <p:cNvSpPr>
            <a:spLocks noGrp="1"/>
          </p:cNvSpPr>
          <p:nvPr/>
        </p:nvSpPr>
        <p:spPr>
          <a:xfrm>
            <a:off x="3581400" y="4038600"/>
            <a:ext cx="2105025" cy="542925"/>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300" b="0">
                <a:solidFill>
                  <a:srgbClr val="1E293B"/>
                </a:solidFill>
                <a:latin typeface="Calibri"/>
                <a:ea typeface="Calibri"/>
                <a:cs typeface="Calibri"/>
              </a:defRPr>
            </a:pPr>
            <a:r>
              <a:rPr kumimoji="0" sz="1300" b="0" i="0" u="none" strike="noStrike" kern="1200" cap="none" spc="0" normalizeH="0" baseline="0" noProof="0">
                <a:ln>
                  <a:noFill/>
                </a:ln>
                <a:solidFill>
                  <a:srgbClr val="1E293B"/>
                </a:solidFill>
                <a:effectLst/>
                <a:uLnTx/>
                <a:uFillTx/>
                <a:latin typeface="Calibri"/>
                <a:ea typeface="Calibri"/>
                <a:cs typeface="Calibri"/>
              </a:rPr>
              <a:t>Current vs new</a:t>
            </a:r>
          </a:p>
          <a:p>
            <a:pPr marL="0" marR="0" lvl="0" indent="0" algn="ctr" defTabSz="914400" rtl="0" eaLnBrk="1" fontAlgn="auto" latinLnBrk="0" hangingPunct="1">
              <a:lnSpc>
                <a:spcPct val="100000"/>
              </a:lnSpc>
              <a:spcBef>
                <a:spcPts val="0"/>
              </a:spcBef>
              <a:spcAft>
                <a:spcPts val="0"/>
              </a:spcAft>
              <a:buClrTx/>
              <a:buSzTx/>
              <a:buFontTx/>
              <a:buNone/>
              <a:tabLst/>
              <a:defRPr sz="1300" b="0">
                <a:solidFill>
                  <a:srgbClr val="1E293B"/>
                </a:solidFill>
                <a:latin typeface="Calibri"/>
                <a:ea typeface="Calibri"/>
                <a:cs typeface="Calibri"/>
              </a:defRPr>
            </a:pPr>
            <a:r>
              <a:rPr kumimoji="0" sz="1300" b="0" i="0" u="none" strike="noStrike" kern="1200" cap="none" spc="0" normalizeH="0" baseline="0" noProof="0">
                <a:ln>
                  <a:noFill/>
                </a:ln>
                <a:solidFill>
                  <a:srgbClr val="1E293B"/>
                </a:solidFill>
                <a:effectLst/>
                <a:uLnTx/>
                <a:uFillTx/>
                <a:latin typeface="Calibri"/>
                <a:ea typeface="Calibri"/>
                <a:cs typeface="Calibri"/>
              </a:rPr>
              <a:t>Same saved cases</a:t>
            </a:r>
          </a:p>
        </p:txBody>
      </p:sp>
      <p:sp>
        <p:nvSpPr>
          <p:cNvPr id="20" name="139-boundary">
            <a:extLst>
              <a:ext uri="{FF2B5EF4-FFF2-40B4-BE49-F238E27FC236}">
                <a16:creationId xmlns:a16="http://schemas.microsoft.com/office/drawing/2014/main" id="{2B6202AD-780D-4304-AD0B-6F8D603018EC}"/>
              </a:ext>
            </a:extLst>
          </p:cNvPr>
          <p:cNvSpPr>
            <a:spLocks noGrp="1"/>
          </p:cNvSpPr>
          <p:nvPr/>
        </p:nvSpPr>
        <p:spPr>
          <a:xfrm>
            <a:off x="6343650" y="3038475"/>
            <a:ext cx="2428875" cy="1685925"/>
          </a:xfrm>
          <a:prstGeom prst="roundRect">
            <a:avLst>
              <a:gd name="adj" fmla="val 6000"/>
            </a:avLst>
          </a:prstGeom>
          <a:solidFill>
            <a:srgbClr val="E6F8F4"/>
          </a:solidFill>
          <a:ln w="12700">
            <a:solidFill>
              <a:srgbClr val="0D9488"/>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21" name="140-text-Read&#10;the result">
            <a:extLst>
              <a:ext uri="{FF2B5EF4-FFF2-40B4-BE49-F238E27FC236}">
                <a16:creationId xmlns:a16="http://schemas.microsoft.com/office/drawing/2014/main" id="{4EE77C28-A58E-47AA-9110-831AD75C3C1A}"/>
              </a:ext>
            </a:extLst>
          </p:cNvPr>
          <p:cNvSpPr>
            <a:spLocks noGrp="1"/>
          </p:cNvSpPr>
          <p:nvPr/>
        </p:nvSpPr>
        <p:spPr>
          <a:xfrm>
            <a:off x="6505575" y="3219450"/>
            <a:ext cx="2105025" cy="6477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500" b="1">
                <a:solidFill>
                  <a:srgbClr val="1B0065"/>
                </a:solidFill>
                <a:latin typeface="Calibri"/>
                <a:ea typeface="Calibri"/>
                <a:cs typeface="Calibri"/>
              </a:defRPr>
            </a:pPr>
            <a:r>
              <a:rPr kumimoji="0" sz="1500" b="1" i="0" u="none" strike="noStrike" kern="1200" cap="none" spc="0" normalizeH="0" baseline="0" noProof="0">
                <a:ln>
                  <a:noFill/>
                </a:ln>
                <a:solidFill>
                  <a:srgbClr val="1B0065"/>
                </a:solidFill>
                <a:effectLst/>
                <a:uLnTx/>
                <a:uFillTx/>
                <a:latin typeface="Calibri"/>
                <a:ea typeface="Calibri"/>
                <a:cs typeface="Calibri"/>
              </a:rPr>
              <a:t>Read</a:t>
            </a:r>
          </a:p>
          <a:p>
            <a:pPr marL="0" marR="0" lvl="0" indent="0" algn="ctr" defTabSz="914400" rtl="0" eaLnBrk="1" fontAlgn="auto" latinLnBrk="0" hangingPunct="1">
              <a:lnSpc>
                <a:spcPct val="100000"/>
              </a:lnSpc>
              <a:spcBef>
                <a:spcPts val="0"/>
              </a:spcBef>
              <a:spcAft>
                <a:spcPts val="0"/>
              </a:spcAft>
              <a:buClrTx/>
              <a:buSzTx/>
              <a:buFontTx/>
              <a:buNone/>
              <a:tabLst/>
              <a:defRPr sz="1500" b="1">
                <a:solidFill>
                  <a:srgbClr val="1B0065"/>
                </a:solidFill>
                <a:latin typeface="Calibri"/>
                <a:ea typeface="Calibri"/>
                <a:cs typeface="Calibri"/>
              </a:defRPr>
            </a:pPr>
            <a:r>
              <a:rPr kumimoji="0" sz="1500" b="1" i="0" u="none" strike="noStrike" kern="1200" cap="none" spc="0" normalizeH="0" baseline="0" noProof="0">
                <a:ln>
                  <a:noFill/>
                </a:ln>
                <a:solidFill>
                  <a:srgbClr val="1B0065"/>
                </a:solidFill>
                <a:effectLst/>
                <a:uLnTx/>
                <a:uFillTx/>
                <a:latin typeface="Calibri"/>
                <a:ea typeface="Calibri"/>
                <a:cs typeface="Calibri"/>
              </a:rPr>
              <a:t>the result</a:t>
            </a:r>
          </a:p>
        </p:txBody>
      </p:sp>
      <p:sp>
        <p:nvSpPr>
          <p:cNvPr id="22" name="141-text-Better results?&#10;Any new failures?">
            <a:extLst>
              <a:ext uri="{FF2B5EF4-FFF2-40B4-BE49-F238E27FC236}">
                <a16:creationId xmlns:a16="http://schemas.microsoft.com/office/drawing/2014/main" id="{CD0426A9-691B-4FBC-A70E-18686A05DCE1}"/>
              </a:ext>
            </a:extLst>
          </p:cNvPr>
          <p:cNvSpPr>
            <a:spLocks noGrp="1"/>
          </p:cNvSpPr>
          <p:nvPr/>
        </p:nvSpPr>
        <p:spPr>
          <a:xfrm>
            <a:off x="6505575" y="4038600"/>
            <a:ext cx="2105025" cy="542925"/>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300" b="0">
                <a:solidFill>
                  <a:srgbClr val="1E293B"/>
                </a:solidFill>
                <a:latin typeface="Calibri"/>
                <a:ea typeface="Calibri"/>
                <a:cs typeface="Calibri"/>
              </a:defRPr>
            </a:pPr>
            <a:r>
              <a:rPr kumimoji="0" sz="1300" b="0" i="0" u="none" strike="noStrike" kern="1200" cap="none" spc="0" normalizeH="0" baseline="0" noProof="0">
                <a:ln>
                  <a:noFill/>
                </a:ln>
                <a:solidFill>
                  <a:srgbClr val="1E293B"/>
                </a:solidFill>
                <a:effectLst/>
                <a:uLnTx/>
                <a:uFillTx/>
                <a:latin typeface="Calibri"/>
                <a:ea typeface="Calibri"/>
                <a:cs typeface="Calibri"/>
              </a:rPr>
              <a:t>Better results?</a:t>
            </a:r>
          </a:p>
          <a:p>
            <a:pPr marL="0" marR="0" lvl="0" indent="0" algn="ctr" defTabSz="914400" rtl="0" eaLnBrk="1" fontAlgn="auto" latinLnBrk="0" hangingPunct="1">
              <a:lnSpc>
                <a:spcPct val="100000"/>
              </a:lnSpc>
              <a:spcBef>
                <a:spcPts val="0"/>
              </a:spcBef>
              <a:spcAft>
                <a:spcPts val="0"/>
              </a:spcAft>
              <a:buClrTx/>
              <a:buSzTx/>
              <a:buFontTx/>
              <a:buNone/>
              <a:tabLst/>
              <a:defRPr sz="1300" b="0">
                <a:solidFill>
                  <a:srgbClr val="1E293B"/>
                </a:solidFill>
                <a:latin typeface="Calibri"/>
                <a:ea typeface="Calibri"/>
                <a:cs typeface="Calibri"/>
              </a:defRPr>
            </a:pPr>
            <a:r>
              <a:rPr kumimoji="0" sz="1300" b="0" i="0" u="none" strike="noStrike" kern="1200" cap="none" spc="0" normalizeH="0" baseline="0" noProof="0">
                <a:ln>
                  <a:noFill/>
                </a:ln>
                <a:solidFill>
                  <a:srgbClr val="1E293B"/>
                </a:solidFill>
                <a:effectLst/>
                <a:uLnTx/>
                <a:uFillTx/>
                <a:latin typeface="Calibri"/>
                <a:ea typeface="Calibri"/>
                <a:cs typeface="Calibri"/>
              </a:rPr>
              <a:t>Any new failures?</a:t>
            </a:r>
          </a:p>
        </p:txBody>
      </p:sp>
      <p:sp>
        <p:nvSpPr>
          <p:cNvPr id="23" name="142-boundary">
            <a:extLst>
              <a:ext uri="{FF2B5EF4-FFF2-40B4-BE49-F238E27FC236}">
                <a16:creationId xmlns:a16="http://schemas.microsoft.com/office/drawing/2014/main" id="{9E0F4A32-E1FD-40EC-A1B6-B95EC46558CC}"/>
              </a:ext>
            </a:extLst>
          </p:cNvPr>
          <p:cNvSpPr>
            <a:spLocks noGrp="1"/>
          </p:cNvSpPr>
          <p:nvPr/>
        </p:nvSpPr>
        <p:spPr>
          <a:xfrm>
            <a:off x="9267825" y="3038475"/>
            <a:ext cx="2428875" cy="1685925"/>
          </a:xfrm>
          <a:prstGeom prst="roundRect">
            <a:avLst>
              <a:gd name="adj" fmla="val 6000"/>
            </a:avLst>
          </a:prstGeom>
          <a:solidFill>
            <a:srgbClr val="FFFFFF"/>
          </a:solidFill>
          <a:ln w="12700">
            <a:solidFill>
              <a:srgbClr val="5069EC"/>
            </a:solidFill>
            <a:prstDash val="solid"/>
          </a:ln>
          <a:effectLst>
            <a:outerShdw blurRad="76200" dist="19050" dir="5400000" algn="bl" rotWithShape="0">
              <a:srgbClr val="1B0065">
                <a:alpha val="8000"/>
              </a:srgbClr>
            </a:outerShdw>
          </a:effectLst>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24" name="143-text-Separate&#10;final check">
            <a:extLst>
              <a:ext uri="{FF2B5EF4-FFF2-40B4-BE49-F238E27FC236}">
                <a16:creationId xmlns:a16="http://schemas.microsoft.com/office/drawing/2014/main" id="{1766EFD8-BC74-42E3-935C-C3F5026888FD}"/>
              </a:ext>
            </a:extLst>
          </p:cNvPr>
          <p:cNvSpPr>
            <a:spLocks noGrp="1"/>
          </p:cNvSpPr>
          <p:nvPr/>
        </p:nvSpPr>
        <p:spPr>
          <a:xfrm>
            <a:off x="9429750" y="3219450"/>
            <a:ext cx="2105025" cy="6477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500" b="1">
                <a:solidFill>
                  <a:srgbClr val="1B0065"/>
                </a:solidFill>
                <a:latin typeface="Calibri"/>
                <a:ea typeface="Calibri"/>
                <a:cs typeface="Calibri"/>
              </a:defRPr>
            </a:pPr>
            <a:r>
              <a:rPr kumimoji="0" sz="1500" b="1" i="0" u="none" strike="noStrike" kern="1200" cap="none" spc="0" normalizeH="0" baseline="0" noProof="0">
                <a:ln>
                  <a:noFill/>
                </a:ln>
                <a:solidFill>
                  <a:srgbClr val="1B0065"/>
                </a:solidFill>
                <a:effectLst/>
                <a:uLnTx/>
                <a:uFillTx/>
                <a:latin typeface="Calibri"/>
                <a:ea typeface="Calibri"/>
                <a:cs typeface="Calibri"/>
              </a:rPr>
              <a:t>Separate</a:t>
            </a:r>
          </a:p>
          <a:p>
            <a:pPr marL="0" marR="0" lvl="0" indent="0" algn="ctr" defTabSz="914400" rtl="0" eaLnBrk="1" fontAlgn="auto" latinLnBrk="0" hangingPunct="1">
              <a:lnSpc>
                <a:spcPct val="100000"/>
              </a:lnSpc>
              <a:spcBef>
                <a:spcPts val="0"/>
              </a:spcBef>
              <a:spcAft>
                <a:spcPts val="0"/>
              </a:spcAft>
              <a:buClrTx/>
              <a:buSzTx/>
              <a:buFontTx/>
              <a:buNone/>
              <a:tabLst/>
              <a:defRPr sz="1500" b="1">
                <a:solidFill>
                  <a:srgbClr val="1B0065"/>
                </a:solidFill>
                <a:latin typeface="Calibri"/>
                <a:ea typeface="Calibri"/>
                <a:cs typeface="Calibri"/>
              </a:defRPr>
            </a:pPr>
            <a:r>
              <a:rPr kumimoji="0" sz="1500" b="1" i="0" u="none" strike="noStrike" kern="1200" cap="none" spc="0" normalizeH="0" baseline="0" noProof="0">
                <a:ln>
                  <a:noFill/>
                </a:ln>
                <a:solidFill>
                  <a:srgbClr val="1B0065"/>
                </a:solidFill>
                <a:effectLst/>
                <a:uLnTx/>
                <a:uFillTx/>
                <a:latin typeface="Calibri"/>
                <a:ea typeface="Calibri"/>
                <a:cs typeface="Calibri"/>
              </a:rPr>
              <a:t>final check</a:t>
            </a:r>
          </a:p>
        </p:txBody>
      </p:sp>
      <p:sp>
        <p:nvSpPr>
          <p:cNvPr id="25" name="144-text-Cases not used&#10;to guide changes">
            <a:extLst>
              <a:ext uri="{FF2B5EF4-FFF2-40B4-BE49-F238E27FC236}">
                <a16:creationId xmlns:a16="http://schemas.microsoft.com/office/drawing/2014/main" id="{FEDC9F30-E899-49DA-B2C7-0649C75F4940}"/>
              </a:ext>
            </a:extLst>
          </p:cNvPr>
          <p:cNvSpPr>
            <a:spLocks noGrp="1"/>
          </p:cNvSpPr>
          <p:nvPr/>
        </p:nvSpPr>
        <p:spPr>
          <a:xfrm>
            <a:off x="9429750" y="4038600"/>
            <a:ext cx="2105025" cy="542925"/>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300" b="0">
                <a:solidFill>
                  <a:srgbClr val="1E293B"/>
                </a:solidFill>
                <a:latin typeface="Calibri"/>
                <a:ea typeface="Calibri"/>
                <a:cs typeface="Calibri"/>
              </a:defRPr>
            </a:pPr>
            <a:r>
              <a:rPr kumimoji="0" sz="1300" b="0" i="0" u="none" strike="noStrike" kern="1200" cap="none" spc="0" normalizeH="0" baseline="0" noProof="0">
                <a:ln>
                  <a:noFill/>
                </a:ln>
                <a:solidFill>
                  <a:srgbClr val="1E293B"/>
                </a:solidFill>
                <a:effectLst/>
                <a:uLnTx/>
                <a:uFillTx/>
                <a:latin typeface="Calibri"/>
                <a:ea typeface="Calibri"/>
                <a:cs typeface="Calibri"/>
              </a:rPr>
              <a:t>Cases not used</a:t>
            </a:r>
          </a:p>
          <a:p>
            <a:pPr marL="0" marR="0" lvl="0" indent="0" algn="ctr" defTabSz="914400" rtl="0" eaLnBrk="1" fontAlgn="auto" latinLnBrk="0" hangingPunct="1">
              <a:lnSpc>
                <a:spcPct val="100000"/>
              </a:lnSpc>
              <a:spcBef>
                <a:spcPts val="0"/>
              </a:spcBef>
              <a:spcAft>
                <a:spcPts val="0"/>
              </a:spcAft>
              <a:buClrTx/>
              <a:buSzTx/>
              <a:buFontTx/>
              <a:buNone/>
              <a:tabLst/>
              <a:defRPr sz="1300" b="0">
                <a:solidFill>
                  <a:srgbClr val="1E293B"/>
                </a:solidFill>
                <a:latin typeface="Calibri"/>
                <a:ea typeface="Calibri"/>
                <a:cs typeface="Calibri"/>
              </a:defRPr>
            </a:pPr>
            <a:r>
              <a:rPr kumimoji="0" sz="1300" b="0" i="0" u="none" strike="noStrike" kern="1200" cap="none" spc="0" normalizeH="0" baseline="0" noProof="0">
                <a:ln>
                  <a:noFill/>
                </a:ln>
                <a:solidFill>
                  <a:srgbClr val="1E293B"/>
                </a:solidFill>
                <a:effectLst/>
                <a:uLnTx/>
                <a:uFillTx/>
                <a:latin typeface="Calibri"/>
                <a:ea typeface="Calibri"/>
                <a:cs typeface="Calibri"/>
              </a:rPr>
              <a:t>to guide changes</a:t>
            </a:r>
          </a:p>
        </p:txBody>
      </p:sp>
      <p:sp>
        <p:nvSpPr>
          <p:cNvPr id="26" name="145-anchor">
            <a:extLst>
              <a:ext uri="{FF2B5EF4-FFF2-40B4-BE49-F238E27FC236}">
                <a16:creationId xmlns:a16="http://schemas.microsoft.com/office/drawing/2014/main" id="{A8936E38-F484-4E5A-9E00-4F811EE5F756}"/>
              </a:ext>
            </a:extLst>
          </p:cNvPr>
          <p:cNvSpPr>
            <a:spLocks noGrp="1"/>
          </p:cNvSpPr>
          <p:nvPr/>
        </p:nvSpPr>
        <p:spPr>
          <a:xfrm>
            <a:off x="2924175" y="3876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27" name="146-anchor">
            <a:extLst>
              <a:ext uri="{FF2B5EF4-FFF2-40B4-BE49-F238E27FC236}">
                <a16:creationId xmlns:a16="http://schemas.microsoft.com/office/drawing/2014/main" id="{9AD1E12E-B92C-46EA-B2DB-DFE77F250CDD}"/>
              </a:ext>
            </a:extLst>
          </p:cNvPr>
          <p:cNvSpPr>
            <a:spLocks noGrp="1"/>
          </p:cNvSpPr>
          <p:nvPr/>
        </p:nvSpPr>
        <p:spPr>
          <a:xfrm>
            <a:off x="3419475" y="3876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129" name="Straight Arrow Connector 79"/>
          <p:cNvCxnSpPr>
            <a:stCxn id="26" idx="3"/>
            <a:endCxn id="27" idx="1"/>
          </p:cNvCxnSpPr>
          <p:nvPr/>
        </p:nvCxnSpPr>
        <p:spPr>
          <a:xfrm>
            <a:off x="2926080" y="3877628"/>
            <a:ext cx="493395" cy="0"/>
          </a:xfrm>
          <a:prstGeom prst="straightConnector1">
            <a:avLst/>
          </a:prstGeom>
          <a:ln w="24765">
            <a:solidFill>
              <a:srgbClr val="0D9488"/>
            </a:solidFill>
            <a:prstDash val="solid"/>
            <a:headEnd type="none" w="med" len="med"/>
            <a:tailEnd type="triangle" w="med" len="med"/>
          </a:ln>
        </p:spPr>
      </p:cxnSp>
      <p:sp>
        <p:nvSpPr>
          <p:cNvPr id="29" name="147-anchor">
            <a:extLst>
              <a:ext uri="{FF2B5EF4-FFF2-40B4-BE49-F238E27FC236}">
                <a16:creationId xmlns:a16="http://schemas.microsoft.com/office/drawing/2014/main" id="{FD95D0DF-2287-4AE8-B4D3-7C2D4784986C}"/>
              </a:ext>
            </a:extLst>
          </p:cNvPr>
          <p:cNvSpPr>
            <a:spLocks noGrp="1"/>
          </p:cNvSpPr>
          <p:nvPr/>
        </p:nvSpPr>
        <p:spPr>
          <a:xfrm>
            <a:off x="5848350" y="3876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30" name="148-anchor">
            <a:extLst>
              <a:ext uri="{FF2B5EF4-FFF2-40B4-BE49-F238E27FC236}">
                <a16:creationId xmlns:a16="http://schemas.microsoft.com/office/drawing/2014/main" id="{2189C37D-743E-4B02-972D-82D8826F412D}"/>
              </a:ext>
            </a:extLst>
          </p:cNvPr>
          <p:cNvSpPr>
            <a:spLocks noGrp="1"/>
          </p:cNvSpPr>
          <p:nvPr/>
        </p:nvSpPr>
        <p:spPr>
          <a:xfrm>
            <a:off x="6343650" y="3876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132" name="Straight Arrow Connector 82"/>
          <p:cNvCxnSpPr>
            <a:stCxn id="29" idx="3"/>
            <a:endCxn id="30" idx="1"/>
          </p:cNvCxnSpPr>
          <p:nvPr/>
        </p:nvCxnSpPr>
        <p:spPr>
          <a:xfrm>
            <a:off x="5850255" y="3877628"/>
            <a:ext cx="493395" cy="0"/>
          </a:xfrm>
          <a:prstGeom prst="straightConnector1">
            <a:avLst/>
          </a:prstGeom>
          <a:ln w="24765">
            <a:solidFill>
              <a:srgbClr val="0D9488"/>
            </a:solidFill>
            <a:prstDash val="solid"/>
            <a:headEnd type="none" w="med" len="med"/>
            <a:tailEnd type="triangle" w="med" len="med"/>
          </a:ln>
        </p:spPr>
      </p:cxnSp>
      <p:sp>
        <p:nvSpPr>
          <p:cNvPr id="32" name="149-anchor">
            <a:extLst>
              <a:ext uri="{FF2B5EF4-FFF2-40B4-BE49-F238E27FC236}">
                <a16:creationId xmlns:a16="http://schemas.microsoft.com/office/drawing/2014/main" id="{317E7E74-9331-479C-B651-C937F3CF610B}"/>
              </a:ext>
            </a:extLst>
          </p:cNvPr>
          <p:cNvSpPr>
            <a:spLocks noGrp="1"/>
          </p:cNvSpPr>
          <p:nvPr/>
        </p:nvSpPr>
        <p:spPr>
          <a:xfrm>
            <a:off x="8772525" y="3876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33" name="150-anchor">
            <a:extLst>
              <a:ext uri="{FF2B5EF4-FFF2-40B4-BE49-F238E27FC236}">
                <a16:creationId xmlns:a16="http://schemas.microsoft.com/office/drawing/2014/main" id="{959B6231-80DE-443A-A98E-B34C464727BB}"/>
              </a:ext>
            </a:extLst>
          </p:cNvPr>
          <p:cNvSpPr>
            <a:spLocks noGrp="1"/>
          </p:cNvSpPr>
          <p:nvPr/>
        </p:nvSpPr>
        <p:spPr>
          <a:xfrm>
            <a:off x="9267825" y="3876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135" name="Straight Arrow Connector 85"/>
          <p:cNvCxnSpPr>
            <a:stCxn id="32" idx="3"/>
            <a:endCxn id="33" idx="1"/>
          </p:cNvCxnSpPr>
          <p:nvPr/>
        </p:nvCxnSpPr>
        <p:spPr>
          <a:xfrm>
            <a:off x="8774430" y="3877628"/>
            <a:ext cx="493395" cy="0"/>
          </a:xfrm>
          <a:prstGeom prst="straightConnector1">
            <a:avLst/>
          </a:prstGeom>
          <a:ln w="24765">
            <a:solidFill>
              <a:srgbClr val="5069EC"/>
            </a:solidFill>
            <a:prstDash val="solid"/>
            <a:headEnd type="none" w="med" len="med"/>
            <a:tailEnd type="triangle" w="med" len="med"/>
          </a:ln>
        </p:spPr>
      </p:cxnSp>
      <p:sp>
        <p:nvSpPr>
          <p:cNvPr id="35" name="151-text-Goal met">
            <a:extLst>
              <a:ext uri="{FF2B5EF4-FFF2-40B4-BE49-F238E27FC236}">
                <a16:creationId xmlns:a16="http://schemas.microsoft.com/office/drawing/2014/main" id="{3847AEF5-44A2-4E3A-8F9A-8A6A345634DA}"/>
              </a:ext>
            </a:extLst>
          </p:cNvPr>
          <p:cNvSpPr>
            <a:spLocks noGrp="1"/>
          </p:cNvSpPr>
          <p:nvPr/>
        </p:nvSpPr>
        <p:spPr>
          <a:xfrm>
            <a:off x="8591550" y="2714625"/>
            <a:ext cx="866775" cy="24765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150" b="1">
                <a:solidFill>
                  <a:srgbClr val="5069EC"/>
                </a:solidFill>
                <a:latin typeface="Calibri"/>
                <a:ea typeface="Calibri"/>
                <a:cs typeface="Calibri"/>
              </a:defRPr>
            </a:pPr>
            <a:r>
              <a:rPr kumimoji="0" sz="1150" b="1" i="0" u="none" strike="noStrike" kern="1200" cap="none" spc="0" normalizeH="0" baseline="0" noProof="0">
                <a:ln>
                  <a:noFill/>
                </a:ln>
                <a:solidFill>
                  <a:srgbClr val="5069EC"/>
                </a:solidFill>
                <a:effectLst/>
                <a:uLnTx/>
                <a:uFillTx/>
                <a:latin typeface="Calibri"/>
                <a:ea typeface="Calibri"/>
                <a:cs typeface="Calibri"/>
              </a:rPr>
              <a:t>Goal met</a:t>
            </a:r>
          </a:p>
        </p:txBody>
      </p:sp>
      <p:sp>
        <p:nvSpPr>
          <p:cNvPr id="36" name="152-anchor">
            <a:extLst>
              <a:ext uri="{FF2B5EF4-FFF2-40B4-BE49-F238E27FC236}">
                <a16:creationId xmlns:a16="http://schemas.microsoft.com/office/drawing/2014/main" id="{AE9E3B0A-DDBB-4FD3-981C-069EC0CB599B}"/>
              </a:ext>
            </a:extLst>
          </p:cNvPr>
          <p:cNvSpPr>
            <a:spLocks noGrp="1"/>
          </p:cNvSpPr>
          <p:nvPr/>
        </p:nvSpPr>
        <p:spPr>
          <a:xfrm>
            <a:off x="7553325" y="4724400"/>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37" name="153-anchor">
            <a:extLst>
              <a:ext uri="{FF2B5EF4-FFF2-40B4-BE49-F238E27FC236}">
                <a16:creationId xmlns:a16="http://schemas.microsoft.com/office/drawing/2014/main" id="{18595BC1-CDB0-4D89-9C5D-61F9FFCB73B8}"/>
              </a:ext>
            </a:extLst>
          </p:cNvPr>
          <p:cNvSpPr>
            <a:spLocks noGrp="1"/>
          </p:cNvSpPr>
          <p:nvPr/>
        </p:nvSpPr>
        <p:spPr>
          <a:xfrm>
            <a:off x="7553325" y="5467350"/>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139" name="Straight Arrow Connector 89"/>
          <p:cNvCxnSpPr>
            <a:stCxn id="36" idx="3"/>
            <a:endCxn id="37" idx="1"/>
          </p:cNvCxnSpPr>
          <p:nvPr/>
        </p:nvCxnSpPr>
        <p:spPr>
          <a:xfrm flipH="1">
            <a:off x="7553325" y="4725353"/>
            <a:ext cx="1905" cy="742950"/>
          </a:xfrm>
          <a:prstGeom prst="straightConnector1">
            <a:avLst/>
          </a:prstGeom>
          <a:ln w="24765">
            <a:solidFill>
              <a:srgbClr val="0D9488"/>
            </a:solidFill>
            <a:prstDash val="solid"/>
            <a:headEnd type="none" w="med" len="med"/>
            <a:tailEnd type="none" w="med" len="med"/>
          </a:ln>
        </p:spPr>
      </p:cxnSp>
      <p:sp>
        <p:nvSpPr>
          <p:cNvPr id="39" name="154-anchor">
            <a:extLst>
              <a:ext uri="{FF2B5EF4-FFF2-40B4-BE49-F238E27FC236}">
                <a16:creationId xmlns:a16="http://schemas.microsoft.com/office/drawing/2014/main" id="{60715D3B-5FF4-4B42-A85C-BA2A6C864087}"/>
              </a:ext>
            </a:extLst>
          </p:cNvPr>
          <p:cNvSpPr>
            <a:spLocks noGrp="1"/>
          </p:cNvSpPr>
          <p:nvPr/>
        </p:nvSpPr>
        <p:spPr>
          <a:xfrm>
            <a:off x="7553325" y="5467350"/>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40" name="155-anchor">
            <a:extLst>
              <a:ext uri="{FF2B5EF4-FFF2-40B4-BE49-F238E27FC236}">
                <a16:creationId xmlns:a16="http://schemas.microsoft.com/office/drawing/2014/main" id="{C1975B81-41B7-4C92-B3DE-490F904C96A0}"/>
              </a:ext>
            </a:extLst>
          </p:cNvPr>
          <p:cNvSpPr>
            <a:spLocks noGrp="1"/>
          </p:cNvSpPr>
          <p:nvPr/>
        </p:nvSpPr>
        <p:spPr>
          <a:xfrm>
            <a:off x="1704975" y="5467350"/>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142" name="Straight Arrow Connector 92"/>
          <p:cNvCxnSpPr>
            <a:stCxn id="39" idx="1"/>
            <a:endCxn id="40" idx="3"/>
          </p:cNvCxnSpPr>
          <p:nvPr/>
        </p:nvCxnSpPr>
        <p:spPr>
          <a:xfrm flipH="1">
            <a:off x="1706880" y="5468303"/>
            <a:ext cx="5846445" cy="0"/>
          </a:xfrm>
          <a:prstGeom prst="straightConnector1">
            <a:avLst/>
          </a:prstGeom>
          <a:ln w="24765">
            <a:solidFill>
              <a:srgbClr val="0D9488"/>
            </a:solidFill>
            <a:prstDash val="solid"/>
            <a:headEnd type="none" w="med" len="med"/>
            <a:tailEnd type="none" w="med" len="med"/>
          </a:ln>
        </p:spPr>
      </p:cxnSp>
      <p:sp>
        <p:nvSpPr>
          <p:cNvPr id="42" name="156-anchor">
            <a:extLst>
              <a:ext uri="{FF2B5EF4-FFF2-40B4-BE49-F238E27FC236}">
                <a16:creationId xmlns:a16="http://schemas.microsoft.com/office/drawing/2014/main" id="{2586BC8A-FC46-47B9-9AEE-F406C5FE741A}"/>
              </a:ext>
            </a:extLst>
          </p:cNvPr>
          <p:cNvSpPr>
            <a:spLocks noGrp="1"/>
          </p:cNvSpPr>
          <p:nvPr/>
        </p:nvSpPr>
        <p:spPr>
          <a:xfrm>
            <a:off x="1704975" y="5467350"/>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43" name="157-anchor">
            <a:extLst>
              <a:ext uri="{FF2B5EF4-FFF2-40B4-BE49-F238E27FC236}">
                <a16:creationId xmlns:a16="http://schemas.microsoft.com/office/drawing/2014/main" id="{34CFE06F-330A-472F-BF1E-E5E2CD197925}"/>
              </a:ext>
            </a:extLst>
          </p:cNvPr>
          <p:cNvSpPr>
            <a:spLocks noGrp="1"/>
          </p:cNvSpPr>
          <p:nvPr/>
        </p:nvSpPr>
        <p:spPr>
          <a:xfrm>
            <a:off x="1704975" y="4724400"/>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145" name="Straight Arrow Connector 95"/>
          <p:cNvCxnSpPr>
            <a:stCxn id="42" idx="0"/>
            <a:endCxn id="43" idx="2"/>
          </p:cNvCxnSpPr>
          <p:nvPr/>
        </p:nvCxnSpPr>
        <p:spPr>
          <a:xfrm flipV="1">
            <a:off x="1705928" y="4726305"/>
            <a:ext cx="0" cy="741045"/>
          </a:xfrm>
          <a:prstGeom prst="straightConnector1">
            <a:avLst/>
          </a:prstGeom>
          <a:ln w="24765">
            <a:solidFill>
              <a:srgbClr val="0D9488"/>
            </a:solidFill>
            <a:prstDash val="solid"/>
            <a:headEnd type="none" w="med" len="med"/>
            <a:tailEnd type="triangle" w="med" len="med"/>
          </a:ln>
        </p:spPr>
      </p:cxnSp>
      <p:sp>
        <p:nvSpPr>
          <p:cNvPr id="45" name="158-text-Use the result and try again, within the limits">
            <a:extLst>
              <a:ext uri="{FF2B5EF4-FFF2-40B4-BE49-F238E27FC236}">
                <a16:creationId xmlns:a16="http://schemas.microsoft.com/office/drawing/2014/main" id="{A9D0EB0D-4E5B-4E2E-A87F-EA188751C7BA}"/>
              </a:ext>
            </a:extLst>
          </p:cNvPr>
          <p:cNvSpPr>
            <a:spLocks noGrp="1"/>
          </p:cNvSpPr>
          <p:nvPr/>
        </p:nvSpPr>
        <p:spPr>
          <a:xfrm>
            <a:off x="2114550" y="5067300"/>
            <a:ext cx="5086350" cy="3048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300" b="1">
                <a:solidFill>
                  <a:srgbClr val="0D9488"/>
                </a:solidFill>
                <a:latin typeface="Calibri"/>
                <a:ea typeface="Calibri"/>
                <a:cs typeface="Calibri"/>
              </a:defRPr>
            </a:pPr>
            <a:r>
              <a:rPr kumimoji="0" sz="1300" b="1" i="0" u="none" strike="noStrike" kern="1200" cap="none" spc="0" normalizeH="0" baseline="0" noProof="0">
                <a:ln>
                  <a:noFill/>
                </a:ln>
                <a:solidFill>
                  <a:srgbClr val="0D9488"/>
                </a:solidFill>
                <a:effectLst/>
                <a:uLnTx/>
                <a:uFillTx/>
                <a:latin typeface="Calibri"/>
                <a:ea typeface="Calibri"/>
                <a:cs typeface="Calibri"/>
              </a:rPr>
              <a:t>Use the result and try again, within the limits</a:t>
            </a:r>
          </a:p>
        </p:txBody>
      </p:sp>
      <p:sp>
        <p:nvSpPr>
          <p:cNvPr id="46" name="159-text-Evidence for&#10;human review">
            <a:extLst>
              <a:ext uri="{FF2B5EF4-FFF2-40B4-BE49-F238E27FC236}">
                <a16:creationId xmlns:a16="http://schemas.microsoft.com/office/drawing/2014/main" id="{289F70A0-4FE0-49D8-9050-1DCBD2D303C1}"/>
              </a:ext>
            </a:extLst>
          </p:cNvPr>
          <p:cNvSpPr>
            <a:spLocks noGrp="1"/>
          </p:cNvSpPr>
          <p:nvPr/>
        </p:nvSpPr>
        <p:spPr>
          <a:xfrm>
            <a:off x="9267825" y="5067300"/>
            <a:ext cx="2428875" cy="55245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400" b="1">
                <a:solidFill>
                  <a:srgbClr val="1B0065"/>
                </a:solidFill>
                <a:latin typeface="Calibri"/>
                <a:ea typeface="Calibri"/>
                <a:cs typeface="Calibri"/>
              </a:defRPr>
            </a:pPr>
            <a:r>
              <a:rPr kumimoji="0" sz="1400" b="1" i="0" u="none" strike="noStrike" kern="1200" cap="none" spc="0" normalizeH="0" baseline="0" noProof="0">
                <a:ln>
                  <a:noFill/>
                </a:ln>
                <a:solidFill>
                  <a:srgbClr val="1B0065"/>
                </a:solidFill>
                <a:effectLst/>
                <a:uLnTx/>
                <a:uFillTx/>
                <a:latin typeface="Calibri"/>
                <a:ea typeface="Calibri"/>
                <a:cs typeface="Calibri"/>
              </a:rPr>
              <a:t>Evidence for</a:t>
            </a:r>
          </a:p>
          <a:p>
            <a:pPr marL="0" marR="0" lvl="0" indent="0" algn="ctr" defTabSz="914400" rtl="0" eaLnBrk="1" fontAlgn="auto" latinLnBrk="0" hangingPunct="1">
              <a:lnSpc>
                <a:spcPct val="100000"/>
              </a:lnSpc>
              <a:spcBef>
                <a:spcPts val="0"/>
              </a:spcBef>
              <a:spcAft>
                <a:spcPts val="0"/>
              </a:spcAft>
              <a:buClrTx/>
              <a:buSzTx/>
              <a:buFontTx/>
              <a:buNone/>
              <a:tabLst/>
              <a:defRPr sz="1400" b="1">
                <a:solidFill>
                  <a:srgbClr val="1B0065"/>
                </a:solidFill>
                <a:latin typeface="Calibri"/>
                <a:ea typeface="Calibri"/>
                <a:cs typeface="Calibri"/>
              </a:defRPr>
            </a:pPr>
            <a:r>
              <a:rPr kumimoji="0" sz="1400" b="1" i="0" u="none" strike="noStrike" kern="1200" cap="none" spc="0" normalizeH="0" baseline="0" noProof="0">
                <a:ln>
                  <a:noFill/>
                </a:ln>
                <a:solidFill>
                  <a:srgbClr val="1B0065"/>
                </a:solidFill>
                <a:effectLst/>
                <a:uLnTx/>
                <a:uFillTx/>
                <a:latin typeface="Calibri"/>
                <a:ea typeface="Calibri"/>
                <a:cs typeface="Calibri"/>
              </a:rPr>
              <a:t>human review</a:t>
            </a:r>
          </a:p>
        </p:txBody>
      </p:sp>
      <p:sp>
        <p:nvSpPr>
          <p:cNvPr id="47" name="160-anchor">
            <a:extLst>
              <a:ext uri="{FF2B5EF4-FFF2-40B4-BE49-F238E27FC236}">
                <a16:creationId xmlns:a16="http://schemas.microsoft.com/office/drawing/2014/main" id="{9C38A1DE-437E-47F6-8BE4-7AF9033ED28C}"/>
              </a:ext>
            </a:extLst>
          </p:cNvPr>
          <p:cNvSpPr>
            <a:spLocks noGrp="1"/>
          </p:cNvSpPr>
          <p:nvPr/>
        </p:nvSpPr>
        <p:spPr>
          <a:xfrm>
            <a:off x="10477500" y="4724400"/>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48" name="161-anchor">
            <a:extLst>
              <a:ext uri="{FF2B5EF4-FFF2-40B4-BE49-F238E27FC236}">
                <a16:creationId xmlns:a16="http://schemas.microsoft.com/office/drawing/2014/main" id="{30408433-7454-4144-B999-ED66BF801373}"/>
              </a:ext>
            </a:extLst>
          </p:cNvPr>
          <p:cNvSpPr>
            <a:spLocks noGrp="1"/>
          </p:cNvSpPr>
          <p:nvPr/>
        </p:nvSpPr>
        <p:spPr>
          <a:xfrm>
            <a:off x="10477500" y="5019675"/>
            <a:ext cx="1905" cy="1905"/>
          </a:xfrm>
          <a:prstGeom prst="rect">
            <a:avLst/>
          </a:prstGeom>
          <a:noFill/>
          <a:ln w="0">
            <a:noFill/>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cxnSp>
        <p:nvCxnSpPr>
          <p:cNvPr id="150" name="Straight Arrow Connector 100"/>
          <p:cNvCxnSpPr>
            <a:stCxn id="47" idx="3"/>
            <a:endCxn id="48" idx="1"/>
          </p:cNvCxnSpPr>
          <p:nvPr/>
        </p:nvCxnSpPr>
        <p:spPr>
          <a:xfrm flipH="1">
            <a:off x="10477500" y="4725353"/>
            <a:ext cx="1905" cy="295275"/>
          </a:xfrm>
          <a:prstGeom prst="straightConnector1">
            <a:avLst/>
          </a:prstGeom>
          <a:ln w="24765">
            <a:solidFill>
              <a:srgbClr val="5069EC"/>
            </a:solidFill>
            <a:prstDash val="solid"/>
            <a:headEnd type="none" w="med" len="med"/>
            <a:tailEnd type="triangle" w="med" len="med"/>
          </a:ln>
        </p:spPr>
      </p:cxnSp>
      <p:sp>
        <p:nvSpPr>
          <p:cNvPr id="50" name="162-text-The budget includes trials and the final check.">
            <a:extLst>
              <a:ext uri="{FF2B5EF4-FFF2-40B4-BE49-F238E27FC236}">
                <a16:creationId xmlns:a16="http://schemas.microsoft.com/office/drawing/2014/main" id="{F2439179-BD27-4D79-A100-F182239EB2BD}"/>
              </a:ext>
            </a:extLst>
          </p:cNvPr>
          <p:cNvSpPr>
            <a:spLocks noGrp="1"/>
          </p:cNvSpPr>
          <p:nvPr/>
        </p:nvSpPr>
        <p:spPr>
          <a:xfrm>
            <a:off x="495300" y="5575300"/>
            <a:ext cx="11201400" cy="279400"/>
          </a:xfrm>
          <a:prstGeom prst="rect">
            <a:avLst/>
          </a:prstGeom>
          <a:noFill/>
          <a:ln w="0">
            <a:noFill/>
          </a:ln>
        </p:spPr>
        <p:txBody>
          <a:bodyPr wrap="square" lIns="0" tIns="0" rIns="0" bIns="0" anchor="t">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250" b="0">
                <a:solidFill>
                  <a:srgbClr val="1E293B"/>
                </a:solidFill>
                <a:latin typeface="Calibri"/>
                <a:ea typeface="Calibri"/>
                <a:cs typeface="Calibri"/>
              </a:defRPr>
            </a:pPr>
            <a:r>
              <a:rPr kumimoji="0" sz="1250" b="0" i="0" u="none" strike="noStrike" kern="1200" cap="none" spc="0" normalizeH="0" baseline="0" noProof="0">
                <a:ln>
                  <a:noFill/>
                </a:ln>
                <a:solidFill>
                  <a:srgbClr val="1E293B"/>
                </a:solidFill>
                <a:effectLst/>
                <a:uLnTx/>
                <a:uFillTx/>
                <a:latin typeface="Calibri"/>
                <a:ea typeface="Calibri"/>
                <a:cs typeface="Calibri"/>
              </a:rPr>
              <a:t>The budget includes trials and the final check.</a:t>
            </a:r>
          </a:p>
        </p:txBody>
      </p:sp>
      <p:sp>
        <p:nvSpPr>
          <p:cNvPr id="51" name="163-boundary">
            <a:extLst>
              <a:ext uri="{FF2B5EF4-FFF2-40B4-BE49-F238E27FC236}">
                <a16:creationId xmlns:a16="http://schemas.microsoft.com/office/drawing/2014/main" id="{ED4A0803-AE66-4D4D-9243-F5B5DE1D34E0}"/>
              </a:ext>
            </a:extLst>
          </p:cNvPr>
          <p:cNvSpPr>
            <a:spLocks noGrp="1"/>
          </p:cNvSpPr>
          <p:nvPr/>
        </p:nvSpPr>
        <p:spPr>
          <a:xfrm>
            <a:off x="495300" y="5969000"/>
            <a:ext cx="11201400" cy="355600"/>
          </a:xfrm>
          <a:prstGeom prst="roundRect">
            <a:avLst>
              <a:gd name="adj" fmla="val 6000"/>
            </a:avLst>
          </a:prstGeom>
          <a:solidFill>
            <a:srgbClr val="1B0065"/>
          </a:solidFill>
          <a:ln w="12700">
            <a:solidFill>
              <a:srgbClr val="1B006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400" b="0" i="0" u="none" strike="noStrike" kern="1200" cap="none" spc="0" normalizeH="0" baseline="0" noProof="0">
              <a:ln>
                <a:noFill/>
              </a:ln>
              <a:solidFill>
                <a:prstClr val="black"/>
              </a:solidFill>
              <a:effectLst/>
              <a:uLnTx/>
              <a:uFillTx/>
              <a:latin typeface="Calibri"/>
              <a:ea typeface="+mn-ea"/>
              <a:cs typeface="+mn-cs"/>
            </a:endParaRPr>
          </a:p>
        </p:txBody>
      </p:sp>
      <p:sp>
        <p:nvSpPr>
          <p:cNvPr id="52" name="164-text-Stop when the goal is met or a limit is reached. A run may e">
            <a:extLst>
              <a:ext uri="{FF2B5EF4-FFF2-40B4-BE49-F238E27FC236}">
                <a16:creationId xmlns:a16="http://schemas.microsoft.com/office/drawing/2014/main" id="{344C5F95-9DDC-421A-8572-6AB206816E37}"/>
              </a:ext>
            </a:extLst>
          </p:cNvPr>
          <p:cNvSpPr>
            <a:spLocks noGrp="1"/>
          </p:cNvSpPr>
          <p:nvPr/>
        </p:nvSpPr>
        <p:spPr>
          <a:xfrm>
            <a:off x="685800" y="5969000"/>
            <a:ext cx="10820400" cy="355600"/>
          </a:xfrm>
          <a:prstGeom prst="rect">
            <a:avLst/>
          </a:prstGeom>
          <a:noFill/>
          <a:ln w="0">
            <a:noFill/>
          </a:ln>
        </p:spPr>
        <p:txBody>
          <a:bodyPr wrap="square" lIns="0" tIns="0" rIns="0" bIns="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250" b="1">
                <a:solidFill>
                  <a:srgbClr val="FFFFFF"/>
                </a:solidFill>
                <a:latin typeface="Calibri"/>
                <a:ea typeface="Calibri"/>
                <a:cs typeface="Calibri"/>
              </a:defRPr>
            </a:pPr>
            <a:r>
              <a:rPr kumimoji="0" sz="1250" b="1" i="0" u="none" strike="noStrike" kern="1200" cap="none" spc="0" normalizeH="0" baseline="0" noProof="0">
                <a:ln>
                  <a:noFill/>
                </a:ln>
                <a:solidFill>
                  <a:srgbClr val="FFFFFF"/>
                </a:solidFill>
                <a:effectLst/>
                <a:uLnTx/>
                <a:uFillTx/>
                <a:latin typeface="Calibri"/>
                <a:ea typeface="Calibri"/>
                <a:cs typeface="Calibri"/>
              </a:rPr>
              <a:t>Stop when the goal is met or a limit is reached. A run may end with no usable change.</a:t>
            </a:r>
          </a:p>
        </p:txBody>
      </p:sp>
      <p:sp>
        <p:nvSpPr>
          <p:cNvPr id="901" name="Kicker"/>
          <p:cNvSpPr txBox="1"/>
          <p:nvPr/>
        </p:nvSpPr>
        <p:spPr>
          <a:xfrm>
            <a:off x="457200" y="256032"/>
            <a:ext cx="11274552" cy="219456"/>
          </a:xfrm>
          <a:prstGeom prst="rect">
            <a:avLst/>
          </a:prstGeom>
          <a:noFill/>
        </p:spPr>
        <p:txBody>
          <a:bodyPr wrap="square" lIns="0" tIns="0" rIns="0" bIns="0" rtlCol="0" anchor="ctr"/>
          <a:lstStyle/>
          <a:p>
            <a:pPr algn="l">
              <a:buNone/>
            </a:pPr>
            <a:r>
              <a:rPr lang="en-US" sz="1000" b="1" kern="0" spc="300">
                <a:solidFill>
                  <a:srgbClr val="5069EC"/>
                </a:solidFill>
                <a:latin typeface="Calibri"/>
              </a:rPr>
              <a:t>ROSI  ·  HOW IT LEARNS</a:t>
            </a:r>
          </a:p>
        </p:txBody>
      </p:sp>
      <p:sp>
        <p:nvSpPr>
          <p:cNvPr id="902" name="Wordmark"/>
          <p:cNvSpPr txBox="1"/>
          <p:nvPr/>
        </p:nvSpPr>
        <p:spPr>
          <a:xfrm>
            <a:off x="411480" y="6419088"/>
            <a:ext cx="1280160" cy="292608"/>
          </a:xfrm>
          <a:prstGeom prst="rect">
            <a:avLst/>
          </a:prstGeom>
          <a:noFill/>
        </p:spPr>
        <p:txBody>
          <a:bodyPr wrap="square" lIns="0" tIns="0" rIns="0" bIns="0" rtlCol="0" anchor="ctr"/>
          <a:lstStyle/>
          <a:p>
            <a:pPr algn="l">
              <a:buNone/>
            </a:pPr>
            <a:r>
              <a:rPr lang="en-US" sz="1400" b="1">
                <a:solidFill>
                  <a:srgbClr val="1B0065"/>
                </a:solidFill>
                <a:latin typeface="Calibri"/>
              </a:rPr>
              <a:t>Jazz</a:t>
            </a:r>
            <a:r>
              <a:rPr lang="en-US" sz="1400" b="1">
                <a:solidFill>
                  <a:srgbClr val="FF592C"/>
                </a:solidFill>
                <a:latin typeface="Calibri"/>
              </a:rPr>
              <a:t>X</a:t>
            </a:r>
            <a:r>
              <a:rPr lang="en-US" sz="1400" b="1">
                <a:solidFill>
                  <a:srgbClr val="1B0065"/>
                </a:solidFill>
                <a:latin typeface="Calibri"/>
              </a:rPr>
              <a:t> AI</a:t>
            </a:r>
          </a:p>
        </p:txBody>
      </p:sp>
      <p:sp>
        <p:nvSpPr>
          <p:cNvPr id="903" name="Footer dot"/>
          <p:cNvSpPr/>
          <p:nvPr/>
        </p:nvSpPr>
        <p:spPr>
          <a:xfrm>
            <a:off x="8814816" y="6533388"/>
            <a:ext cx="82296" cy="82296"/>
          </a:xfrm>
          <a:prstGeom prst="ellipse">
            <a:avLst/>
          </a:prstGeom>
          <a:solidFill>
            <a:srgbClr val="FF0000"/>
          </a:solidFill>
          <a:ln w="12700">
            <a:solidFill>
              <a:srgbClr val="FF0000"/>
            </a:solidFill>
          </a:ln>
        </p:spPr>
        <p:txBody>
          <a:bodyPr/>
          <a:lstStyle/>
          <a:p>
            <a:endParaRPr lang="en-US"/>
          </a:p>
        </p:txBody>
      </p:sp>
      <p:sp>
        <p:nvSpPr>
          <p:cNvPr id="904" name="Slide Number Placeholder 0"/>
          <p:cNvSpPr>
            <a:spLocks noGrp="1"/>
          </p:cNvSpPr>
          <p:nvPr>
            <p:ph type="sldNum" sz="quarter" idx="4294967295"/>
          </p:nvPr>
        </p:nvSpPr>
        <p:spPr>
          <a:xfrm>
            <a:off x="11430000" y="6437376"/>
            <a:ext cx="301752" cy="274320"/>
          </a:xfrm>
          <a:prstGeom prst="rect">
            <a:avLst/>
          </a:prstGeom>
        </p:spPr>
        <p:txBody>
          <a:bodyPr/>
          <a:lstStyle/>
          <a:p>
            <a:pPr algn="r">
              <a:buNone/>
            </a:pPr>
            <a:fld id="{F7021451-1387-4CA6-816F-3879F97B5CBC}" type="slidenum">
              <a:rPr lang="en-US" sz="900" b="0">
                <a:solidFill>
                  <a:srgbClr val="1B0065"/>
                </a:solidFill>
                <a:latin typeface="Calibri"/>
              </a:rPr>
              <a:t>28</a:t>
            </a:fld>
            <a:endParaRPr lang="en-US" sz="900" b="0">
              <a:solidFill>
                <a:srgbClr val="1B0065"/>
              </a:solidFill>
              <a:latin typeface="Calibri"/>
            </a:endParaRPr>
          </a:p>
        </p:txBody>
      </p:sp>
    </p:spTree>
    <p:extLst>
      <p:ext uri="{BB962C8B-B14F-4D97-AF65-F5344CB8AC3E}">
        <p14:creationId xmlns:p14="http://schemas.microsoft.com/office/powerpoint/2010/main" val="11485193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512A02-741A-BA7E-22FF-38C073BC995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ECCDF1-B8C6-5BB7-25F8-C61301398058}"/>
              </a:ext>
            </a:extLst>
          </p:cNvPr>
          <p:cNvSpPr>
            <a:spLocks noGrp="1"/>
          </p:cNvSpPr>
          <p:nvPr>
            <p:ph type="title" idx="101"/>
          </p:nvPr>
        </p:nvSpPr>
        <p:spPr>
          <a:xfrm>
            <a:off x="458724" y="92279"/>
            <a:ext cx="11274552" cy="566928"/>
          </a:xfrm>
        </p:spPr>
        <p:txBody>
          <a:bodyPr/>
          <a:lstStyle/>
          <a:p>
            <a:r>
              <a:rPr lang="en-US"/>
              <a:t>Demo Video</a:t>
            </a:r>
          </a:p>
        </p:txBody>
      </p:sp>
      <p:pic>
        <p:nvPicPr>
          <p:cNvPr id="3" name="ROSI-Experimental-Learner-Concept-Demo">
            <a:hlinkClick r:id="" action="ppaction://media"/>
            <a:extLst>
              <a:ext uri="{FF2B5EF4-FFF2-40B4-BE49-F238E27FC236}">
                <a16:creationId xmlns:a16="http://schemas.microsoft.com/office/drawing/2014/main" id="{8A4BF8F4-C7D7-F767-62E0-25E34B32F305}"/>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927441" y="545942"/>
            <a:ext cx="10469482" cy="5902984"/>
          </a:xfrm>
          <a:prstGeom prst="rect">
            <a:avLst/>
          </a:prstGeom>
        </p:spPr>
      </p:pic>
    </p:spTree>
    <p:extLst>
      <p:ext uri="{BB962C8B-B14F-4D97-AF65-F5344CB8AC3E}">
        <p14:creationId xmlns:p14="http://schemas.microsoft.com/office/powerpoint/2010/main" val="10070574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40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p:cTn id="7" fill="hold" display="0">
                  <p:stCondLst>
                    <p:cond delay="indefinite"/>
                  </p:stCondLst>
                </p:cTn>
                <p:tgtEl>
                  <p:spTgt spid="3"/>
                </p:tgtEl>
              </p:cMediaNode>
            </p:video>
            <p:seq concurrent="1" nextAc="seek">
              <p:cTn id="8" restart="whenNotActive" fill="hold" evtFilter="cancelBubble" nodeType="interactiveSeq">
                <p:stCondLst>
                  <p:cond evt="onClick" delay="0">
                    <p:tgtEl>
                      <p:spTgt spid="3"/>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3"/>
                                        </p:tgtEl>
                                      </p:cBhvr>
                                    </p:cmd>
                                  </p:childTnLst>
                                </p:cTn>
                              </p:par>
                            </p:childTnLst>
                          </p:cTn>
                        </p:par>
                      </p:childTnLst>
                    </p:cTn>
                  </p:par>
                </p:childTnLst>
              </p:cTn>
              <p:nextCondLst>
                <p:cond evt="onClick" delay="0">
                  <p:tgtEl>
                    <p:spTgt spid="3"/>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 0" descr="preencoded.png"/>
          <p:cNvPicPr>
            <a:picLocks noChangeAspect="1"/>
          </p:cNvPicPr>
          <p:nvPr/>
        </p:nvPicPr>
        <p:blipFill>
          <a:blip r:embed="rId3"/>
          <a:stretch>
            <a:fillRect/>
          </a:stretch>
        </p:blipFill>
        <p:spPr>
          <a:xfrm>
            <a:off x="5074920" y="4526280"/>
            <a:ext cx="7132320" cy="1920240"/>
          </a:xfrm>
          <a:prstGeom prst="rect">
            <a:avLst/>
          </a:prstGeom>
        </p:spPr>
      </p:pic>
      <p:sp>
        <p:nvSpPr>
          <p:cNvPr id="4" name="Section panel"/>
          <p:cNvSpPr/>
          <p:nvPr/>
        </p:nvSpPr>
        <p:spPr>
          <a:xfrm>
            <a:off x="0" y="1170432"/>
            <a:ext cx="5394960" cy="4114800"/>
          </a:xfrm>
          <a:prstGeom prst="snip1Rect">
            <a:avLst/>
          </a:prstGeom>
          <a:solidFill>
            <a:srgbClr val="5069EC"/>
          </a:solidFill>
          <a:ln w="12700">
            <a:solidFill>
              <a:srgbClr val="5069EC"/>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 name="Text 1"/>
          <p:cNvSpPr txBox="1"/>
          <p:nvPr/>
        </p:nvSpPr>
        <p:spPr>
          <a:xfrm>
            <a:off x="411480" y="2240280"/>
            <a:ext cx="4572000" cy="3657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1" i="0" u="none" strike="noStrike" kern="0" cap="none" spc="100" normalizeH="0" baseline="0" noProof="0">
                <a:ln>
                  <a:noFill/>
                </a:ln>
                <a:solidFill>
                  <a:srgbClr val="FFFFFF"/>
                </a:solidFill>
                <a:effectLst/>
                <a:uLnTx/>
                <a:uFillTx/>
                <a:latin typeface="Calibri" pitchFamily="34" charset="0"/>
                <a:ea typeface="Calibri" pitchFamily="34" charset="-122"/>
                <a:cs typeface="Calibri" pitchFamily="34" charset="-120"/>
              </a:rPr>
              <a:t>03</a:t>
            </a:r>
            <a:endParaRPr kumimoji="0" lang="en-US" sz="1600" b="0" i="0" u="none" strike="noStrike" kern="1200" cap="none" spc="0" normalizeH="0" baseline="0" noProof="0">
              <a:ln>
                <a:noFill/>
              </a:ln>
              <a:solidFill>
                <a:prstClr val="black"/>
              </a:solidFill>
              <a:effectLst/>
              <a:uLnTx/>
              <a:uFillTx/>
              <a:latin typeface="Calibri"/>
              <a:ea typeface="+mn-ea"/>
              <a:cs typeface="+mn-cs"/>
            </a:endParaRPr>
          </a:p>
        </p:txBody>
      </p:sp>
      <p:sp>
        <p:nvSpPr>
          <p:cNvPr id="6" name="Section title"/>
          <p:cNvSpPr txBox="1"/>
          <p:nvPr/>
        </p:nvSpPr>
        <p:spPr>
          <a:xfrm>
            <a:off x="411480" y="2651760"/>
            <a:ext cx="4754880" cy="77724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Acra DSCR lighthouse</a:t>
            </a:r>
            <a:endParaRPr kumimoji="0" lang="en-US" sz="3600" b="0" i="0" u="none" strike="noStrike" kern="1200" cap="none" spc="0" normalizeH="0" baseline="0" noProof="0">
              <a:ln>
                <a:noFill/>
              </a:ln>
              <a:solidFill>
                <a:prstClr val="black"/>
              </a:solidFill>
              <a:effectLst/>
              <a:uLnTx/>
              <a:uFillTx/>
              <a:latin typeface="Calibri"/>
              <a:ea typeface="+mn-ea"/>
              <a:cs typeface="+mn-cs"/>
            </a:endParaRPr>
          </a:p>
        </p:txBody>
      </p:sp>
      <p:sp>
        <p:nvSpPr>
          <p:cNvPr id="8" name="Text 4"/>
          <p:cNvSpPr txBox="1"/>
          <p:nvPr/>
        </p:nvSpPr>
        <p:spPr>
          <a:xfrm>
            <a:off x="6035040" y="2331720"/>
            <a:ext cx="5669280" cy="128016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a:ln>
                  <a:noFill/>
                </a:ln>
                <a:solidFill>
                  <a:srgbClr val="C9D3FA"/>
                </a:solidFill>
                <a:effectLst/>
                <a:uLnTx/>
                <a:uFillTx/>
                <a:latin typeface="Calibri" pitchFamily="34" charset="0"/>
                <a:ea typeface="Calibri" pitchFamily="34" charset="-122"/>
                <a:cs typeface="Calibri" pitchFamily="34" charset="-120"/>
              </a:rPr>
              <a:t>Acra aligned on validating Processor AI and Underwriter AI on its own DSCR loans. The plan runs 20 working days from charter to a scored readout and a go or no go.</a:t>
            </a:r>
            <a:endParaRPr kumimoji="0" lang="en-US" sz="2000" b="0" i="0" u="none" strike="noStrike" kern="1200" cap="none" spc="0" normalizeH="0" baseline="0" noProof="0">
              <a:ln>
                <a:noFill/>
              </a:ln>
              <a:solidFill>
                <a:prstClr val="black"/>
              </a:solidFill>
              <a:effectLst/>
              <a:uLnTx/>
              <a:uFillTx/>
              <a:latin typeface="Calibri"/>
              <a:ea typeface="+mn-ea"/>
              <a:cs typeface="+mn-cs"/>
            </a:endParaRPr>
          </a:p>
        </p:txBody>
      </p:sp>
      <p:sp>
        <p:nvSpPr>
          <p:cNvPr id="9"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10" name="Footer dot"/>
          <p:cNvSpPr/>
          <p:nvPr/>
        </p:nvSpPr>
        <p:spPr>
          <a:xfrm>
            <a:off x="8814816" y="6533388"/>
            <a:ext cx="82296" cy="82296"/>
          </a:xfrm>
          <a:prstGeom prst="ellipse">
            <a:avLst/>
          </a:prstGeom>
          <a:solidFill>
            <a:srgbClr val="0D9595"/>
          </a:solidFill>
          <a:ln w="12700">
            <a:solidFill>
              <a:srgbClr val="0D9595"/>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 name="Text 7"/>
          <p:cNvSpPr txBox="1"/>
          <p:nvPr/>
        </p:nvSpPr>
        <p:spPr>
          <a:xfrm>
            <a:off x="8961120" y="6437376"/>
            <a:ext cx="2560320" cy="274320"/>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a:ln>
                  <a:noFill/>
                </a:ln>
                <a:solidFill>
                  <a:srgbClr val="FFFFFF"/>
                </a:solidFill>
                <a:effectLst/>
                <a:uLnTx/>
                <a:uFillTx/>
                <a:latin typeface="Calibri" pitchFamily="34" charset="0"/>
                <a:ea typeface="Calibri" pitchFamily="34" charset="-122"/>
                <a:cs typeface="Calibri" pitchFamily="34" charset="-120"/>
              </a:rPr>
              <a:t>Confidential &amp; Proprietary  |  © 2026 JazzX AI</a:t>
            </a:r>
            <a:endParaRPr kumimoji="0" lang="en-US" sz="900" b="0" i="0" u="none" strike="noStrike" kern="1200" cap="none" spc="0" normalizeH="0" baseline="0" noProof="0">
              <a:ln>
                <a:noFill/>
              </a:ln>
              <a:solidFill>
                <a:prstClr val="black"/>
              </a:solidFill>
              <a:effectLst/>
              <a:uLnTx/>
              <a:uFillTx/>
              <a:latin typeface="Calibri"/>
              <a:ea typeface="+mn-ea"/>
              <a:cs typeface="+mn-cs"/>
            </a:endParaRPr>
          </a:p>
        </p:txBody>
      </p:sp>
      <p:sp>
        <p:nvSpPr>
          <p:cNvPr id="12"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FFFFFF"/>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FFFFFF"/>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US" sz="900" b="0" i="0" u="none" strike="noStrike" kern="1200" cap="none" spc="0" normalizeH="0" baseline="0" noProof="0">
              <a:ln>
                <a:noFill/>
              </a:ln>
              <a:solidFill>
                <a:srgbClr val="FFFFFF"/>
              </a:solidFill>
              <a:effectLst/>
              <a:uLnTx/>
              <a:uFillTx/>
              <a:latin typeface="Calibri"/>
              <a:ea typeface="Calibri"/>
              <a:cs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idx="101"/>
          </p:nvPr>
        </p:nvSpPr>
        <p:spPr/>
        <p:txBody>
          <a:bodyPr wrap="square" lIns="0" tIns="0" rIns="0" bIns="0"/>
          <a:lstStyle/>
          <a:p>
            <a:r>
              <a:rPr sz="2600" b="1">
                <a:solidFill>
                  <a:srgbClr val="3600AD"/>
                </a:solidFill>
                <a:latin typeface="Calibri"/>
              </a:rPr>
              <a:t>Acra will judge the AI on its own loans before any production commitment</a:t>
            </a:r>
          </a:p>
        </p:txBody>
      </p:sp>
      <p:sp>
        <p:nvSpPr>
          <p:cNvPr id="4"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ACRA LENDING  ·  OUTCOMES AND EXPECTATIONS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What we committed to deliver, how it is scored, and what stays out of scope</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6"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8"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
        <p:nvSpPr>
          <p:cNvPr id="9" name="Rounded Rectangle 25"/>
          <p:cNvSpPr/>
          <p:nvPr/>
        </p:nvSpPr>
        <p:spPr>
          <a:xfrm>
            <a:off x="457200" y="1463040"/>
            <a:ext cx="2681478" cy="118872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TextBox 26"/>
          <p:cNvSpPr txBox="1"/>
          <p:nvPr/>
        </p:nvSpPr>
        <p:spPr>
          <a:xfrm>
            <a:off x="640080" y="1554480"/>
            <a:ext cx="2315718" cy="10515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sz="1250" b="1" i="0" u="none" strike="noStrike" kern="1200" cap="none" spc="0" normalizeH="0" baseline="0" noProof="0">
                <a:ln>
                  <a:noFill/>
                </a:ln>
                <a:solidFill>
                  <a:srgbClr val="3600AD"/>
                </a:solidFill>
                <a:effectLst/>
                <a:uLnTx/>
                <a:uFillTx/>
                <a:latin typeface="Calibri"/>
                <a:ea typeface="+mn-ea"/>
                <a:cs typeface="+mn-cs"/>
              </a:rPr>
              <a:t>Scored proof</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1E293B"/>
                </a:solidFill>
                <a:effectLst/>
                <a:uLnTx/>
                <a:uFillTx/>
                <a:latin typeface="Calibri"/>
                <a:ea typeface="+mn-ea"/>
                <a:cs typeface="+mn-cs"/>
              </a:rPr>
              <a:t>Every sample loan scored against Acra’s decisions, conditions and worksheets. Side by side readout; go or no go by Acra’s sponsor.</a:t>
            </a:r>
          </a:p>
        </p:txBody>
      </p:sp>
      <p:sp>
        <p:nvSpPr>
          <p:cNvPr id="11" name="Rounded Rectangle 27"/>
          <p:cNvSpPr/>
          <p:nvPr/>
        </p:nvSpPr>
        <p:spPr>
          <a:xfrm>
            <a:off x="3321558" y="1463040"/>
            <a:ext cx="2681478" cy="118872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 name="TextBox 28"/>
          <p:cNvSpPr txBox="1"/>
          <p:nvPr/>
        </p:nvSpPr>
        <p:spPr>
          <a:xfrm>
            <a:off x="3504438" y="1554480"/>
            <a:ext cx="2315718" cy="10515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sz="1250" b="1" i="0" u="none" strike="noStrike" kern="1200" cap="none" spc="0" normalizeH="0" baseline="0" noProof="0">
                <a:ln>
                  <a:noFill/>
                </a:ln>
                <a:solidFill>
                  <a:srgbClr val="3600AD"/>
                </a:solidFill>
                <a:effectLst/>
                <a:uLnTx/>
                <a:uFillTx/>
                <a:latin typeface="Calibri"/>
                <a:ea typeface="+mn-ea"/>
                <a:cs typeface="+mn-cs"/>
              </a:rPr>
              <a:t>Traceable decisions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1E293B"/>
                </a:solidFill>
                <a:effectLst/>
                <a:uLnTx/>
                <a:uFillTx/>
                <a:latin typeface="Calibri"/>
                <a:ea typeface="+mn-ea"/>
                <a:cs typeface="+mn-cs"/>
              </a:rPr>
              <a:t>Both programs encoded. Every condition and decision links guideline text to rule to evidence page.</a:t>
            </a:r>
          </a:p>
        </p:txBody>
      </p:sp>
      <p:sp>
        <p:nvSpPr>
          <p:cNvPr id="13" name="Rounded Rectangle 29"/>
          <p:cNvSpPr/>
          <p:nvPr/>
        </p:nvSpPr>
        <p:spPr>
          <a:xfrm>
            <a:off x="6185916" y="1463040"/>
            <a:ext cx="2681478" cy="118872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4" name="TextBox 30"/>
          <p:cNvSpPr txBox="1"/>
          <p:nvPr/>
        </p:nvSpPr>
        <p:spPr>
          <a:xfrm>
            <a:off x="6368796" y="1554480"/>
            <a:ext cx="2315718" cy="10515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sz="1250" b="1" i="0" u="none" strike="noStrike" kern="1200" cap="none" spc="0" normalizeH="0" baseline="0" noProof="0">
                <a:ln>
                  <a:noFill/>
                </a:ln>
                <a:solidFill>
                  <a:srgbClr val="3600AD"/>
                </a:solidFill>
                <a:effectLst/>
                <a:uLnTx/>
                <a:uFillTx/>
                <a:latin typeface="Calibri"/>
                <a:ea typeface="+mn-ea"/>
                <a:cs typeface="+mn-cs"/>
              </a:rPr>
              <a:t>Document processing</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1E293B"/>
                </a:solidFill>
                <a:effectLst/>
                <a:uLnTx/>
                <a:uFillTx/>
                <a:latin typeface="Calibri"/>
                <a:ea typeface="+mn-ea"/>
                <a:cs typeface="+mn-cs"/>
              </a:rPr>
              <a:t>Split, classify, index and name to Acra’s BytePro list and naming. Proposed bar: over 90% accuracy.</a:t>
            </a:r>
          </a:p>
        </p:txBody>
      </p:sp>
      <p:sp>
        <p:nvSpPr>
          <p:cNvPr id="15" name="Rounded Rectangle 31"/>
          <p:cNvSpPr/>
          <p:nvPr/>
        </p:nvSpPr>
        <p:spPr>
          <a:xfrm>
            <a:off x="9050274" y="1463040"/>
            <a:ext cx="2681478" cy="118872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TextBox 32"/>
          <p:cNvSpPr txBox="1"/>
          <p:nvPr/>
        </p:nvSpPr>
        <p:spPr>
          <a:xfrm>
            <a:off x="9233154" y="1554480"/>
            <a:ext cx="2315718" cy="105156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sz="1250" b="1" i="0" u="none" strike="noStrike" kern="1200" cap="none" spc="0" normalizeH="0" baseline="0" noProof="0">
                <a:ln>
                  <a:noFill/>
                </a:ln>
                <a:solidFill>
                  <a:srgbClr val="3600AD"/>
                </a:solidFill>
                <a:effectLst/>
                <a:uLnTx/>
                <a:uFillTx/>
                <a:latin typeface="Calibri"/>
                <a:ea typeface="+mn-ea"/>
                <a:cs typeface="+mn-cs"/>
              </a:rPr>
              <a:t>Processor tools</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1050" b="0" i="0" u="none" strike="noStrike" kern="1200" cap="none" spc="0" normalizeH="0" baseline="0" noProof="0">
                <a:ln>
                  <a:noFill/>
                </a:ln>
                <a:solidFill>
                  <a:srgbClr val="1E293B"/>
                </a:solidFill>
                <a:effectLst/>
                <a:uLnTx/>
                <a:uFillTx/>
                <a:latin typeface="Calibri"/>
                <a:ea typeface="+mn-ea"/>
                <a:cs typeface="+mn-cs"/>
              </a:rPr>
              <a:t>Read only loan summary page and live DSCR sizer. A recommendation to the underwriter, never an approval.</a:t>
            </a:r>
          </a:p>
        </p:txBody>
      </p:sp>
      <p:sp>
        <p:nvSpPr>
          <p:cNvPr id="17" name="Rounded Rectangle 33"/>
          <p:cNvSpPr/>
          <p:nvPr/>
        </p:nvSpPr>
        <p:spPr>
          <a:xfrm>
            <a:off x="457200" y="2816352"/>
            <a:ext cx="4206240" cy="224028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8" name="TextBox 34"/>
          <p:cNvSpPr txBox="1"/>
          <p:nvPr/>
        </p:nvSpPr>
        <p:spPr>
          <a:xfrm>
            <a:off x="658368" y="2907792"/>
            <a:ext cx="3803903" cy="205740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sz="1250" b="1" i="0" u="none" strike="noStrike" kern="1200" cap="none" spc="0" normalizeH="0" baseline="0" noProof="0">
                <a:ln>
                  <a:noFill/>
                </a:ln>
                <a:solidFill>
                  <a:srgbClr val="3600AD"/>
                </a:solidFill>
                <a:effectLst/>
                <a:uLnTx/>
                <a:uFillTx/>
                <a:latin typeface="Calibri"/>
                <a:ea typeface="+mn-ea"/>
                <a:cs typeface="+mn-cs"/>
              </a:rPr>
              <a:t>In scope</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sz="1050" b="1" i="0" u="none" strike="noStrike" kern="1200" cap="none" spc="0" normalizeH="0" baseline="0" noProof="0">
                <a:ln>
                  <a:noFill/>
                </a:ln>
                <a:solidFill>
                  <a:srgbClr val="1B0065"/>
                </a:solidFill>
                <a:effectLst/>
                <a:uLnTx/>
                <a:uFillTx/>
                <a:latin typeface="Calibri"/>
                <a:ea typeface="+mn-ea"/>
                <a:cs typeface="+mn-cs"/>
              </a:rPr>
              <a:t>Standard DSCR  </a:t>
            </a:r>
            <a:r>
              <a:rPr kumimoji="0" sz="1050" b="0" i="0" u="none" strike="noStrike" kern="1200" cap="none" spc="0" normalizeH="0" baseline="0" noProof="0">
                <a:ln>
                  <a:noFill/>
                </a:ln>
                <a:solidFill>
                  <a:srgbClr val="1E293B"/>
                </a:solidFill>
                <a:effectLst/>
                <a:uLnTx/>
                <a:uFillTx/>
                <a:latin typeface="Calibri"/>
                <a:ea typeface="+mn-ea"/>
                <a:cs typeface="+mn-cs"/>
              </a:rPr>
              <a:t>FICO 600+, loans to $3M, CLTV to 85%</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sz="1050" b="1" i="0" u="none" strike="noStrike" kern="1200" cap="none" spc="0" normalizeH="0" baseline="0" noProof="0">
                <a:ln>
                  <a:noFill/>
                </a:ln>
                <a:solidFill>
                  <a:srgbClr val="1B0065"/>
                </a:solidFill>
                <a:effectLst/>
                <a:uLnTx/>
                <a:uFillTx/>
                <a:latin typeface="Calibri"/>
                <a:ea typeface="+mn-ea"/>
                <a:cs typeface="+mn-cs"/>
              </a:rPr>
              <a:t>Platinum Select DSCR  </a:t>
            </a:r>
            <a:r>
              <a:rPr kumimoji="0" sz="1050" b="0" i="0" u="none" strike="noStrike" kern="1200" cap="none" spc="0" normalizeH="0" baseline="0" noProof="0">
                <a:ln>
                  <a:noFill/>
                </a:ln>
                <a:solidFill>
                  <a:srgbClr val="1E293B"/>
                </a:solidFill>
                <a:effectLst/>
                <a:uLnTx/>
                <a:uFillTx/>
                <a:latin typeface="Calibri"/>
                <a:ea typeface="+mn-ea"/>
                <a:cs typeface="+mn-cs"/>
              </a:rPr>
              <a:t>FICO 700+, loans to $2M, CLTV to 80%</a:t>
            </a:r>
          </a:p>
          <a:p>
            <a:pPr marL="0" marR="0" lvl="0" indent="0" algn="l" defTabSz="914400" rtl="0" eaLnBrk="1" fontAlgn="auto" latinLnBrk="0" hangingPunct="1">
              <a:lnSpc>
                <a:spcPct val="100000"/>
              </a:lnSpc>
              <a:spcBef>
                <a:spcPts val="0"/>
              </a:spcBef>
              <a:spcAft>
                <a:spcPts val="300"/>
              </a:spcAft>
              <a:buClrTx/>
              <a:buSzTx/>
              <a:buFontTx/>
              <a:buNone/>
              <a:tabLst/>
              <a:defRPr/>
            </a:pPr>
            <a:r>
              <a:rPr kumimoji="0" sz="1050" b="1" i="0" u="none" strike="noStrike" kern="1200" cap="none" spc="0" normalizeH="0" baseline="0" noProof="0">
                <a:ln>
                  <a:noFill/>
                </a:ln>
                <a:solidFill>
                  <a:srgbClr val="1B0065"/>
                </a:solidFill>
                <a:effectLst/>
                <a:uLnTx/>
                <a:uFillTx/>
                <a:latin typeface="Calibri"/>
                <a:ea typeface="+mn-ea"/>
                <a:cs typeface="+mn-cs"/>
              </a:rPr>
              <a:t>Processor AI  </a:t>
            </a:r>
            <a:r>
              <a:rPr kumimoji="0" sz="1050" b="0" i="0" u="none" strike="noStrike" kern="1200" cap="none" spc="0" normalizeH="0" baseline="0" noProof="0">
                <a:ln>
                  <a:noFill/>
                </a:ln>
                <a:solidFill>
                  <a:srgbClr val="1E293B"/>
                </a:solidFill>
                <a:effectLst/>
                <a:uLnTx/>
                <a:uFillTx/>
                <a:latin typeface="Calibri"/>
                <a:ea typeface="+mn-ea"/>
                <a:cs typeface="+mn-cs"/>
              </a:rPr>
              <a:t>documents, data extraction, missing document and discrepancy conditions</a:t>
            </a:r>
          </a:p>
          <a:p>
            <a:pPr marL="0" marR="0" lvl="0" indent="0" algn="l" defTabSz="914400" rtl="0" eaLnBrk="1" fontAlgn="auto" latinLnBrk="0" hangingPunct="1">
              <a:lnSpc>
                <a:spcPct val="100000"/>
              </a:lnSpc>
              <a:spcBef>
                <a:spcPts val="0"/>
              </a:spcBef>
              <a:spcAft>
                <a:spcPts val="600"/>
              </a:spcAft>
              <a:buClrTx/>
              <a:buSzTx/>
              <a:buFontTx/>
              <a:buNone/>
              <a:tabLst/>
              <a:defRPr/>
            </a:pPr>
            <a:r>
              <a:rPr kumimoji="0" sz="1050" b="1" i="0" u="none" strike="noStrike" kern="1200" cap="none" spc="0" normalizeH="0" baseline="0" noProof="0">
                <a:ln>
                  <a:noFill/>
                </a:ln>
                <a:solidFill>
                  <a:srgbClr val="1B0065"/>
                </a:solidFill>
                <a:effectLst/>
                <a:uLnTx/>
                <a:uFillTx/>
                <a:latin typeface="Calibri"/>
                <a:ea typeface="+mn-ea"/>
                <a:cs typeface="+mn-cs"/>
              </a:rPr>
              <a:t>Underwriter AI  </a:t>
            </a:r>
            <a:r>
              <a:rPr kumimoji="0" sz="1050" b="0" i="0" u="none" strike="noStrike" kern="1200" cap="none" spc="0" normalizeH="0" baseline="0" noProof="0">
                <a:ln>
                  <a:noFill/>
                </a:ln>
                <a:solidFill>
                  <a:srgbClr val="1E293B"/>
                </a:solidFill>
                <a:effectLst/>
                <a:uLnTx/>
                <a:uFillTx/>
                <a:latin typeface="Calibri"/>
                <a:ea typeface="+mn-ea"/>
                <a:cs typeface="+mn-cs"/>
              </a:rPr>
              <a:t>program grid, DSCR, LTV/CLTV and reserves, conditions, decision recommendation</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1050" b="0" i="1" u="none" strike="noStrike" kern="1200" cap="none" spc="0" normalizeH="0" baseline="0" noProof="0">
                <a:ln>
                  <a:noFill/>
                </a:ln>
                <a:solidFill>
                  <a:srgbClr val="5B2D8E"/>
                </a:solidFill>
                <a:effectLst/>
                <a:uLnTx/>
                <a:uFillTx/>
                <a:latin typeface="Calibri"/>
                <a:ea typeface="+mn-ea"/>
                <a:cs typeface="+mn-cs"/>
              </a:rPr>
              <a:t>Dedicated Acra environment; no LOS integration.</a:t>
            </a:r>
          </a:p>
        </p:txBody>
      </p:sp>
      <p:sp>
        <p:nvSpPr>
          <p:cNvPr id="19" name="Rounded Rectangle 35"/>
          <p:cNvSpPr/>
          <p:nvPr/>
        </p:nvSpPr>
        <p:spPr>
          <a:xfrm>
            <a:off x="4846320" y="2816352"/>
            <a:ext cx="3017520" cy="2240280"/>
          </a:xfrm>
          <a:prstGeom prst="roundRect">
            <a:avLst>
              <a:gd name="adj" fmla="val 3000"/>
            </a:avLst>
          </a:prstGeom>
          <a:solidFill>
            <a:srgbClr val="F3F6FF"/>
          </a:solidFill>
          <a:ln w="9525">
            <a:solidFill>
              <a:srgbClr val="D6DDF3"/>
            </a:solidFill>
          </a:ln>
          <a:effectLst>
            <a:outerShdw blurRad="76200" dist="19050" dir="5400000" algn="bl" rotWithShape="0">
              <a:srgbClr val="1B0065">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0" name="TextBox 36"/>
          <p:cNvSpPr txBox="1"/>
          <p:nvPr/>
        </p:nvSpPr>
        <p:spPr>
          <a:xfrm>
            <a:off x="5029200" y="2907792"/>
            <a:ext cx="2651760" cy="1166986"/>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sz="1250" b="1" i="0" u="none" strike="noStrike" kern="1200" cap="none" spc="0" normalizeH="0" baseline="0" noProof="0">
                <a:ln>
                  <a:noFill/>
                </a:ln>
                <a:solidFill>
                  <a:srgbClr val="3600AD"/>
                </a:solidFill>
                <a:effectLst/>
                <a:uLnTx/>
                <a:uFillTx/>
                <a:latin typeface="Calibri"/>
                <a:ea typeface="+mn-ea"/>
                <a:cs typeface="+mn-cs"/>
              </a:rPr>
              <a:t>Out of scope</a:t>
            </a:r>
          </a:p>
          <a:p>
            <a:pPr marL="146304" marR="0" lvl="0" indent="-146304" algn="l" defTabSz="914400" rtl="0" eaLnBrk="1" fontAlgn="auto" latinLnBrk="0" hangingPunct="1">
              <a:lnSpc>
                <a:spcPct val="100000"/>
              </a:lnSpc>
              <a:spcBef>
                <a:spcPts val="0"/>
              </a:spcBef>
              <a:spcAft>
                <a:spcPts val="300"/>
              </a:spcAft>
              <a:buClrTx/>
              <a:buSzTx/>
              <a:buFont typeface="Arial"/>
              <a:buChar char="•"/>
              <a:tabLst/>
              <a:defRPr/>
            </a:pPr>
            <a:r>
              <a:rPr kumimoji="0" sz="1050" b="0" i="0" u="none" strike="noStrike" kern="1200" cap="none" spc="0" normalizeH="0" baseline="0" noProof="0">
                <a:ln>
                  <a:noFill/>
                </a:ln>
                <a:solidFill>
                  <a:srgbClr val="1E293B"/>
                </a:solidFill>
                <a:effectLst/>
                <a:uLnTx/>
                <a:uFillTx/>
                <a:latin typeface="Calibri"/>
                <a:ea typeface="+mn-ea"/>
                <a:cs typeface="+mn-cs"/>
              </a:rPr>
              <a:t>LOS write back and vendor orders</a:t>
            </a:r>
          </a:p>
          <a:p>
            <a:pPr marL="146304" marR="0" lvl="0" indent="-146304" algn="l" defTabSz="914400" rtl="0" eaLnBrk="1" fontAlgn="auto" latinLnBrk="0" hangingPunct="1">
              <a:lnSpc>
                <a:spcPct val="100000"/>
              </a:lnSpc>
              <a:spcBef>
                <a:spcPts val="0"/>
              </a:spcBef>
              <a:spcAft>
                <a:spcPts val="300"/>
              </a:spcAft>
              <a:buClrTx/>
              <a:buSzTx/>
              <a:buFont typeface="Arial"/>
              <a:buChar char="•"/>
              <a:tabLst/>
              <a:defRPr/>
            </a:pPr>
            <a:r>
              <a:rPr kumimoji="0" sz="1050" b="0" i="0" u="none" strike="noStrike" kern="1200" cap="none" spc="0" normalizeH="0" baseline="0" noProof="0">
                <a:ln>
                  <a:noFill/>
                </a:ln>
                <a:solidFill>
                  <a:srgbClr val="1E293B"/>
                </a:solidFill>
                <a:effectLst/>
                <a:uLnTx/>
                <a:uFillTx/>
                <a:latin typeface="Calibri"/>
                <a:ea typeface="+mn-ea"/>
                <a:cs typeface="+mn-cs"/>
              </a:rPr>
              <a:t>Closing and funding</a:t>
            </a:r>
          </a:p>
          <a:p>
            <a:pPr marL="146304" marR="0" lvl="0" indent="-146304" algn="l" defTabSz="914400" rtl="0" eaLnBrk="1" fontAlgn="auto" latinLnBrk="0" hangingPunct="1">
              <a:lnSpc>
                <a:spcPct val="100000"/>
              </a:lnSpc>
              <a:spcBef>
                <a:spcPts val="0"/>
              </a:spcBef>
              <a:spcAft>
                <a:spcPts val="300"/>
              </a:spcAft>
              <a:buClrTx/>
              <a:buSzTx/>
              <a:buFont typeface="Arial"/>
              <a:buChar char="•"/>
              <a:tabLst/>
              <a:defRPr/>
            </a:pPr>
            <a:r>
              <a:rPr kumimoji="0" sz="1050" b="0" i="0" u="none" strike="noStrike" kern="1200" cap="none" spc="0" normalizeH="0" baseline="0" noProof="0">
                <a:ln>
                  <a:noFill/>
                </a:ln>
                <a:solidFill>
                  <a:srgbClr val="1E293B"/>
                </a:solidFill>
                <a:effectLst/>
                <a:uLnTx/>
                <a:uFillTx/>
                <a:latin typeface="Calibri"/>
                <a:ea typeface="+mn-ea"/>
                <a:cs typeface="+mn-cs"/>
              </a:rPr>
              <a:t>Other non</a:t>
            </a:r>
            <a:r>
              <a:rPr kumimoji="0" lang="en-US" sz="1050" b="0" i="0" u="none" strike="noStrike" kern="1200" cap="none" spc="0" normalizeH="0" baseline="0" noProof="0">
                <a:ln>
                  <a:noFill/>
                </a:ln>
                <a:solidFill>
                  <a:srgbClr val="1E293B"/>
                </a:solidFill>
                <a:effectLst/>
                <a:uLnTx/>
                <a:uFillTx/>
                <a:latin typeface="Calibri"/>
                <a:ea typeface="+mn-ea"/>
                <a:cs typeface="+mn-cs"/>
              </a:rPr>
              <a:t>-</a:t>
            </a:r>
            <a:r>
              <a:rPr kumimoji="0" sz="1050" b="0" i="0" u="none" strike="noStrike" kern="1200" cap="none" spc="0" normalizeH="0" baseline="0" noProof="0">
                <a:ln>
                  <a:noFill/>
                </a:ln>
                <a:solidFill>
                  <a:srgbClr val="1E293B"/>
                </a:solidFill>
                <a:effectLst/>
                <a:uLnTx/>
                <a:uFillTx/>
                <a:latin typeface="Calibri"/>
                <a:ea typeface="+mn-ea"/>
                <a:cs typeface="+mn-cs"/>
              </a:rPr>
              <a:t>QM programs: bank statement, P&amp;L, 1099, WVOE, jumbo</a:t>
            </a:r>
          </a:p>
          <a:p>
            <a:pPr marL="146304" marR="0" lvl="0" indent="-146304" algn="l" defTabSz="914400" rtl="0" eaLnBrk="1" fontAlgn="auto" latinLnBrk="0" hangingPunct="1">
              <a:lnSpc>
                <a:spcPct val="100000"/>
              </a:lnSpc>
              <a:spcBef>
                <a:spcPts val="0"/>
              </a:spcBef>
              <a:spcAft>
                <a:spcPts val="0"/>
              </a:spcAft>
              <a:buClrTx/>
              <a:buSzTx/>
              <a:buFont typeface="Arial"/>
              <a:buChar char="•"/>
              <a:tabLst/>
              <a:defRPr/>
            </a:pPr>
            <a:r>
              <a:rPr kumimoji="0" sz="1050" b="0" i="0" u="none" strike="noStrike" kern="1200" cap="none" spc="0" normalizeH="0" baseline="0" noProof="0">
                <a:ln>
                  <a:noFill/>
                </a:ln>
                <a:solidFill>
                  <a:srgbClr val="1E293B"/>
                </a:solidFill>
                <a:effectLst/>
                <a:uLnTx/>
                <a:uFillTx/>
                <a:latin typeface="Calibri"/>
                <a:ea typeface="+mn-ea"/>
                <a:cs typeface="+mn-cs"/>
              </a:rPr>
              <a:t>Correspondent, delegated and bulk channels</a:t>
            </a:r>
          </a:p>
        </p:txBody>
      </p:sp>
      <p:sp>
        <p:nvSpPr>
          <p:cNvPr id="21" name="Rounded Rectangle 37"/>
          <p:cNvSpPr/>
          <p:nvPr/>
        </p:nvSpPr>
        <p:spPr>
          <a:xfrm>
            <a:off x="8046719" y="2816352"/>
            <a:ext cx="3685032" cy="2240280"/>
          </a:xfrm>
          <a:prstGeom prst="roundRect">
            <a:avLst>
              <a:gd name="adj" fmla="val 3000"/>
            </a:avLst>
          </a:prstGeom>
          <a:solidFill>
            <a:srgbClr val="E6F8F4"/>
          </a:solidFill>
          <a:ln w="9525">
            <a:solidFill>
              <a:srgbClr val="9FE3D6"/>
            </a:solidFill>
          </a:ln>
          <a:effectLst>
            <a:outerShdw blurRad="76200" dist="19050" dir="5400000" algn="bl" rotWithShape="0">
              <a:srgbClr val="1B0065">
                <a:alpha val="8000"/>
              </a:srgbClr>
            </a:outerShdw>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22" name="TextBox 38"/>
          <p:cNvSpPr txBox="1"/>
          <p:nvPr/>
        </p:nvSpPr>
        <p:spPr>
          <a:xfrm>
            <a:off x="8247888" y="2907792"/>
            <a:ext cx="3282696" cy="2057400"/>
          </a:xfrm>
          <a:prstGeom prst="rect">
            <a:avLst/>
          </a:prstGeom>
          <a:noFill/>
        </p:spPr>
        <p:txBody>
          <a:bodyPr wrap="square" lIns="0" tIns="0" rIns="0" bIns="0" anchor="t">
            <a:spAutoFit/>
          </a:bodyPr>
          <a:lstStyle/>
          <a:p>
            <a:pPr marL="0" marR="0" lvl="0" indent="0" algn="l" defTabSz="914400" rtl="0" eaLnBrk="1" fontAlgn="auto" latinLnBrk="0" hangingPunct="1">
              <a:lnSpc>
                <a:spcPct val="100000"/>
              </a:lnSpc>
              <a:spcBef>
                <a:spcPts val="0"/>
              </a:spcBef>
              <a:spcAft>
                <a:spcPts val="400"/>
              </a:spcAft>
              <a:buClrTx/>
              <a:buSzTx/>
              <a:buFontTx/>
              <a:buNone/>
              <a:tabLst/>
              <a:defRPr/>
            </a:pPr>
            <a:r>
              <a:rPr kumimoji="0" sz="1250" b="1" i="0" u="none" strike="noStrike" kern="1200" cap="none" spc="0" normalizeH="0" baseline="0" noProof="0">
                <a:ln>
                  <a:noFill/>
                </a:ln>
                <a:solidFill>
                  <a:srgbClr val="0D9488"/>
                </a:solidFill>
                <a:effectLst/>
                <a:uLnTx/>
                <a:uFillTx/>
                <a:latin typeface="Calibri"/>
                <a:ea typeface="+mn-ea"/>
                <a:cs typeface="+mn-cs"/>
              </a:rPr>
              <a:t>Committed once in production</a:t>
            </a:r>
          </a:p>
          <a:p>
            <a:pPr marL="146304" marR="0" lvl="0" indent="-146304" algn="l" defTabSz="914400" rtl="0" eaLnBrk="1" fontAlgn="auto" latinLnBrk="0" hangingPunct="1">
              <a:lnSpc>
                <a:spcPct val="100000"/>
              </a:lnSpc>
              <a:spcBef>
                <a:spcPts val="0"/>
              </a:spcBef>
              <a:spcAft>
                <a:spcPts val="200"/>
              </a:spcAft>
              <a:buClrTx/>
              <a:buSzTx/>
              <a:buFont typeface="Arial"/>
              <a:buChar char="•"/>
              <a:tabLst/>
              <a:defRPr/>
            </a:pPr>
            <a:r>
              <a:rPr kumimoji="0" sz="1050" b="1" i="0" u="none" strike="noStrike" kern="1200" cap="none" spc="0" normalizeH="0" baseline="0" noProof="0">
                <a:ln>
                  <a:noFill/>
                </a:ln>
                <a:solidFill>
                  <a:srgbClr val="1B0065"/>
                </a:solidFill>
                <a:effectLst/>
                <a:uLnTx/>
                <a:uFillTx/>
                <a:latin typeface="Calibri"/>
                <a:ea typeface="+mn-ea"/>
                <a:cs typeface="+mn-cs"/>
              </a:rPr>
              <a:t>2x</a:t>
            </a:r>
            <a:r>
              <a:rPr kumimoji="0" sz="1050" b="0" i="0" u="none" strike="noStrike" kern="1200" cap="none" spc="0" normalizeH="0" baseline="0" noProof="0">
                <a:ln>
                  <a:noFill/>
                </a:ln>
                <a:solidFill>
                  <a:srgbClr val="1E293B"/>
                </a:solidFill>
                <a:effectLst/>
                <a:uLnTx/>
                <a:uFillTx/>
                <a:latin typeface="Calibri"/>
                <a:ea typeface="+mn-ea"/>
                <a:cs typeface="+mn-cs"/>
              </a:rPr>
              <a:t> processor productivity (target 3 to 4x)</a:t>
            </a:r>
          </a:p>
          <a:p>
            <a:pPr marL="146304" marR="0" lvl="0" indent="-146304" algn="l" defTabSz="914400" rtl="0" eaLnBrk="1" fontAlgn="auto" latinLnBrk="0" hangingPunct="1">
              <a:lnSpc>
                <a:spcPct val="100000"/>
              </a:lnSpc>
              <a:spcBef>
                <a:spcPts val="0"/>
              </a:spcBef>
              <a:spcAft>
                <a:spcPts val="200"/>
              </a:spcAft>
              <a:buClrTx/>
              <a:buSzTx/>
              <a:buFont typeface="Arial"/>
              <a:buChar char="•"/>
              <a:tabLst/>
              <a:defRPr/>
            </a:pPr>
            <a:r>
              <a:rPr kumimoji="0" sz="1050" b="1" i="0" u="none" strike="noStrike" kern="1200" cap="none" spc="0" normalizeH="0" baseline="0" noProof="0">
                <a:ln>
                  <a:noFill/>
                </a:ln>
                <a:solidFill>
                  <a:srgbClr val="1B0065"/>
                </a:solidFill>
                <a:effectLst/>
                <a:uLnTx/>
                <a:uFillTx/>
                <a:latin typeface="Calibri"/>
                <a:ea typeface="+mn-ea"/>
                <a:cs typeface="+mn-cs"/>
              </a:rPr>
              <a:t>1.5x</a:t>
            </a:r>
            <a:r>
              <a:rPr kumimoji="0" sz="1050" b="0" i="0" u="none" strike="noStrike" kern="1200" cap="none" spc="0" normalizeH="0" baseline="0" noProof="0">
                <a:ln>
                  <a:noFill/>
                </a:ln>
                <a:solidFill>
                  <a:srgbClr val="1E293B"/>
                </a:solidFill>
                <a:effectLst/>
                <a:uLnTx/>
                <a:uFillTx/>
                <a:latin typeface="Calibri"/>
                <a:ea typeface="+mn-ea"/>
                <a:cs typeface="+mn-cs"/>
              </a:rPr>
              <a:t> underwriting capacity, same team (target 2x)</a:t>
            </a:r>
          </a:p>
          <a:p>
            <a:pPr marL="146304" marR="0" lvl="0" indent="-146304" algn="l" defTabSz="914400" rtl="0" eaLnBrk="1" fontAlgn="auto" latinLnBrk="0" hangingPunct="1">
              <a:lnSpc>
                <a:spcPct val="100000"/>
              </a:lnSpc>
              <a:spcBef>
                <a:spcPts val="0"/>
              </a:spcBef>
              <a:spcAft>
                <a:spcPts val="600"/>
              </a:spcAft>
              <a:buClrTx/>
              <a:buSzTx/>
              <a:buFont typeface="Arial"/>
              <a:buChar char="•"/>
              <a:tabLst/>
              <a:defRPr/>
            </a:pPr>
            <a:r>
              <a:rPr kumimoji="0" sz="1050" b="1" i="0" u="none" strike="noStrike" kern="1200" cap="none" spc="0" normalizeH="0" baseline="0" noProof="0">
                <a:ln>
                  <a:noFill/>
                </a:ln>
                <a:solidFill>
                  <a:srgbClr val="1B0065"/>
                </a:solidFill>
                <a:effectLst/>
                <a:uLnTx/>
                <a:uFillTx/>
                <a:latin typeface="Calibri"/>
                <a:ea typeface="+mn-ea"/>
                <a:cs typeface="+mn-cs"/>
              </a:rPr>
              <a:t>4 hours</a:t>
            </a:r>
            <a:r>
              <a:rPr kumimoji="0" sz="1050" b="0" i="0" u="none" strike="noStrike" kern="1200" cap="none" spc="0" normalizeH="0" baseline="0" noProof="0">
                <a:ln>
                  <a:noFill/>
                </a:ln>
                <a:solidFill>
                  <a:srgbClr val="1E293B"/>
                </a:solidFill>
                <a:effectLst/>
                <a:uLnTx/>
                <a:uFillTx/>
                <a:latin typeface="Calibri"/>
                <a:ea typeface="+mn-ea"/>
                <a:cs typeface="+mn-cs"/>
              </a:rPr>
              <a:t> from package receipt to processed documents, over 90% accurate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sz="1050" b="0" i="1" u="none" strike="noStrike" kern="1200" cap="none" spc="0" normalizeH="0" baseline="0" noProof="0">
                <a:ln>
                  <a:noFill/>
                </a:ln>
                <a:solidFill>
                  <a:srgbClr val="0D9488"/>
                </a:solidFill>
                <a:effectLst/>
                <a:uLnTx/>
                <a:uFillTx/>
                <a:latin typeface="Calibri"/>
                <a:ea typeface="+mn-ea"/>
                <a:cs typeface="+mn-cs"/>
              </a:rPr>
              <a:t>No cost to Acra during the lighthouse. Commercial terms start at the production decision.</a:t>
            </a:r>
          </a:p>
        </p:txBody>
      </p:sp>
      <p:sp>
        <p:nvSpPr>
          <p:cNvPr id="26" name="Note">
            <a:extLst>
              <a:ext uri="{FF2B5EF4-FFF2-40B4-BE49-F238E27FC236}">
                <a16:creationId xmlns:a16="http://schemas.microsoft.com/office/drawing/2014/main" id="{76632F48-5CB4-AB65-5413-AA8EDFD99808}"/>
              </a:ext>
            </a:extLst>
          </p:cNvPr>
          <p:cNvSpPr txBox="1"/>
          <p:nvPr/>
        </p:nvSpPr>
        <p:spPr>
          <a:xfrm>
            <a:off x="609600" y="6035040"/>
            <a:ext cx="10972800" cy="487680"/>
          </a:xfrm>
          <a:prstGeom prst="rect">
            <a:avLst/>
          </a:prstGeom>
          <a:noFill/>
          <a:ln/>
        </p:spPr>
        <p:txBody>
          <a:bodyPr wrap="square" lIns="0" tIns="0" rIns="0" bIns="0" rtlCol="0" anchor="ctr"/>
          <a:lstStyle/>
          <a:p>
            <a:pPr defTabSz="1219170"/>
            <a:r>
              <a:rPr lang="en-US" sz="1050">
                <a:solidFill>
                  <a:srgbClr val="1E293B"/>
                </a:solidFill>
                <a:latin typeface="Calibri"/>
              </a:rPr>
              <a:t>Still open: conditions match rate and calculation tolerance. Both get locked in Week 1 with the success criteria.</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p:cNvSpPr>
            <a:spLocks noGrp="1"/>
          </p:cNvSpPr>
          <p:nvPr>
            <p:ph type="title" idx="101"/>
          </p:nvPr>
        </p:nvSpPr>
        <p:spPr/>
        <p:txBody>
          <a:bodyPr wrap="square" lIns="0" tIns="0" rIns="0" bIns="0"/>
          <a:lstStyle/>
          <a:p>
            <a:r>
              <a:rPr sz="2600" b="1">
                <a:solidFill>
                  <a:srgbClr val="3600AD"/>
                </a:solidFill>
                <a:latin typeface="Calibri"/>
              </a:rPr>
              <a:t>Ground truth and Reasoner testing run in parallel with the build</a:t>
            </a:r>
          </a:p>
        </p:txBody>
      </p:sp>
      <p:sp>
        <p:nvSpPr>
          <p:cNvPr id="4" name="Kicker"/>
          <p:cNvSpPr txBox="1"/>
          <p:nvPr/>
        </p:nvSpPr>
        <p:spPr>
          <a:xfrm>
            <a:off x="457200" y="256032"/>
            <a:ext cx="11274552" cy="219456"/>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1" i="0" u="none" strike="noStrike" kern="0" cap="none" spc="300" normalizeH="0" baseline="0" noProof="0">
                <a:ln>
                  <a:noFill/>
                </a:ln>
                <a:solidFill>
                  <a:srgbClr val="5069EC"/>
                </a:solidFill>
                <a:effectLst/>
                <a:uLnTx/>
                <a:uFillTx/>
                <a:latin typeface="Calibri" pitchFamily="34" charset="0"/>
                <a:ea typeface="Calibri" pitchFamily="34" charset="-122"/>
                <a:cs typeface="Calibri" pitchFamily="34" charset="-120"/>
              </a:rPr>
              <a:t>ACRA LENDING  ·  PLAN AND NEXT STEPS</a:t>
            </a:r>
            <a:endParaRPr kumimoji="0" lang="en-US" sz="1000" b="0" i="0" u="none" strike="noStrike" kern="1200" cap="none" spc="0" normalizeH="0" baseline="0" noProof="0">
              <a:ln>
                <a:noFill/>
              </a:ln>
              <a:solidFill>
                <a:prstClr val="black"/>
              </a:solidFill>
              <a:effectLst/>
              <a:uLnTx/>
              <a:uFillTx/>
              <a:latin typeface="Calibri"/>
              <a:ea typeface="+mn-ea"/>
              <a:cs typeface="+mn-cs"/>
            </a:endParaRPr>
          </a:p>
        </p:txBody>
      </p:sp>
      <p:sp>
        <p:nvSpPr>
          <p:cNvPr id="5" name="Subtitle"/>
          <p:cNvSpPr txBox="1"/>
          <p:nvPr/>
        </p:nvSpPr>
        <p:spPr>
          <a:xfrm>
            <a:off x="457200" y="1069848"/>
            <a:ext cx="11274552"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1" u="none" strike="noStrike" kern="1200" cap="none" spc="0" normalizeH="0" baseline="0" noProof="0">
                <a:ln>
                  <a:noFill/>
                </a:ln>
                <a:solidFill>
                  <a:srgbClr val="5B2D8E"/>
                </a:solidFill>
                <a:effectLst/>
                <a:uLnTx/>
                <a:uFillTx/>
                <a:latin typeface="Calibri" pitchFamily="34" charset="0"/>
                <a:ea typeface="Calibri" pitchFamily="34" charset="-122"/>
                <a:cs typeface="Calibri" pitchFamily="34" charset="-120"/>
              </a:rPr>
              <a:t>Day level plan from the project workbook. </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6"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7"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
        <p:nvSpPr>
          <p:cNvPr id="9" name="Rounded Rectangle 25"/>
          <p:cNvSpPr/>
          <p:nvPr/>
        </p:nvSpPr>
        <p:spPr>
          <a:xfrm>
            <a:off x="6537959" y="1417320"/>
            <a:ext cx="1266444" cy="219456"/>
          </a:xfrm>
          <a:prstGeom prst="roundRect">
            <a:avLst>
              <a:gd name="adj" fmla="val 15000"/>
            </a:avLst>
          </a:prstGeom>
          <a:solidFill>
            <a:srgbClr val="1B0065"/>
          </a:solidFill>
          <a:ln w="9525">
            <a:solidFill>
              <a:srgbClr val="1B006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 name="TextBox 26"/>
          <p:cNvSpPr txBox="1"/>
          <p:nvPr/>
        </p:nvSpPr>
        <p:spPr>
          <a:xfrm>
            <a:off x="6537959" y="1417320"/>
            <a:ext cx="1266444" cy="21945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FFFFFF"/>
                </a:solidFill>
                <a:effectLst/>
                <a:uLnTx/>
                <a:uFillTx/>
                <a:latin typeface="Calibri"/>
                <a:ea typeface="+mn-ea"/>
                <a:cs typeface="+mn-cs"/>
              </a:rPr>
              <a:t>M1 Aligned</a:t>
            </a:r>
          </a:p>
        </p:txBody>
      </p:sp>
      <p:sp>
        <p:nvSpPr>
          <p:cNvPr id="11" name="TextBox 27"/>
          <p:cNvSpPr txBox="1"/>
          <p:nvPr/>
        </p:nvSpPr>
        <p:spPr>
          <a:xfrm>
            <a:off x="6519672" y="1664208"/>
            <a:ext cx="1303020" cy="164592"/>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60" normalizeH="0" baseline="0" noProof="0">
                <a:ln>
                  <a:noFill/>
                </a:ln>
                <a:solidFill>
                  <a:srgbClr val="5069EC"/>
                </a:solidFill>
                <a:effectLst/>
                <a:uLnTx/>
                <a:uFillTx/>
                <a:latin typeface="Calibri"/>
                <a:ea typeface="+mn-ea"/>
                <a:cs typeface="+mn-cs"/>
              </a:rPr>
              <a:t>WEEK 1 · OCT 5 TO 9</a:t>
            </a:r>
          </a:p>
        </p:txBody>
      </p:sp>
      <p:sp>
        <p:nvSpPr>
          <p:cNvPr id="12" name="Rounded Rectangle 28"/>
          <p:cNvSpPr/>
          <p:nvPr/>
        </p:nvSpPr>
        <p:spPr>
          <a:xfrm>
            <a:off x="7840979" y="1417320"/>
            <a:ext cx="1266444" cy="219456"/>
          </a:xfrm>
          <a:prstGeom prst="roundRect">
            <a:avLst>
              <a:gd name="adj" fmla="val 15000"/>
            </a:avLst>
          </a:prstGeom>
          <a:solidFill>
            <a:srgbClr val="3600AD"/>
          </a:solidFill>
          <a:ln w="9525">
            <a:solidFill>
              <a:srgbClr val="3600A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 name="TextBox 29"/>
          <p:cNvSpPr txBox="1"/>
          <p:nvPr/>
        </p:nvSpPr>
        <p:spPr>
          <a:xfrm>
            <a:off x="7840979" y="1417320"/>
            <a:ext cx="1266444" cy="21945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FFFFFF"/>
                </a:solidFill>
                <a:effectLst/>
                <a:uLnTx/>
                <a:uFillTx/>
                <a:latin typeface="Calibri"/>
                <a:ea typeface="+mn-ea"/>
                <a:cs typeface="+mn-cs"/>
              </a:rPr>
              <a:t>M2 Configured</a:t>
            </a:r>
          </a:p>
        </p:txBody>
      </p:sp>
      <p:sp>
        <p:nvSpPr>
          <p:cNvPr id="14" name="TextBox 30"/>
          <p:cNvSpPr txBox="1"/>
          <p:nvPr/>
        </p:nvSpPr>
        <p:spPr>
          <a:xfrm>
            <a:off x="7822692" y="1664208"/>
            <a:ext cx="1303020" cy="164592"/>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60" normalizeH="0" baseline="0" noProof="0">
                <a:ln>
                  <a:noFill/>
                </a:ln>
                <a:solidFill>
                  <a:srgbClr val="5069EC"/>
                </a:solidFill>
                <a:effectLst/>
                <a:uLnTx/>
                <a:uFillTx/>
                <a:latin typeface="Calibri"/>
                <a:ea typeface="+mn-ea"/>
                <a:cs typeface="+mn-cs"/>
              </a:rPr>
              <a:t>WEEK 2 · OCT 12 TO 16</a:t>
            </a:r>
          </a:p>
        </p:txBody>
      </p:sp>
      <p:sp>
        <p:nvSpPr>
          <p:cNvPr id="15" name="Rounded Rectangle 31"/>
          <p:cNvSpPr/>
          <p:nvPr/>
        </p:nvSpPr>
        <p:spPr>
          <a:xfrm>
            <a:off x="9144000" y="1417320"/>
            <a:ext cx="1266444" cy="219456"/>
          </a:xfrm>
          <a:prstGeom prst="roundRect">
            <a:avLst>
              <a:gd name="adj" fmla="val 15000"/>
            </a:avLst>
          </a:prstGeom>
          <a:solidFill>
            <a:srgbClr val="5069EC"/>
          </a:solidFill>
          <a:ln w="9525">
            <a:solidFill>
              <a:srgbClr val="5069E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 name="TextBox 32"/>
          <p:cNvSpPr txBox="1"/>
          <p:nvPr/>
        </p:nvSpPr>
        <p:spPr>
          <a:xfrm>
            <a:off x="9144000" y="1417320"/>
            <a:ext cx="1266444" cy="21945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FFFFFF"/>
                </a:solidFill>
                <a:effectLst/>
                <a:uLnTx/>
                <a:uFillTx/>
                <a:latin typeface="Calibri"/>
                <a:ea typeface="+mn-ea"/>
                <a:cs typeface="+mn-cs"/>
              </a:rPr>
              <a:t>M3 Scored</a:t>
            </a:r>
          </a:p>
        </p:txBody>
      </p:sp>
      <p:sp>
        <p:nvSpPr>
          <p:cNvPr id="17" name="TextBox 33"/>
          <p:cNvSpPr txBox="1"/>
          <p:nvPr/>
        </p:nvSpPr>
        <p:spPr>
          <a:xfrm>
            <a:off x="9125712" y="1664208"/>
            <a:ext cx="1303020" cy="164592"/>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60" normalizeH="0" baseline="0" noProof="0">
                <a:ln>
                  <a:noFill/>
                </a:ln>
                <a:solidFill>
                  <a:srgbClr val="5069EC"/>
                </a:solidFill>
                <a:effectLst/>
                <a:uLnTx/>
                <a:uFillTx/>
                <a:latin typeface="Calibri"/>
                <a:ea typeface="+mn-ea"/>
                <a:cs typeface="+mn-cs"/>
              </a:rPr>
              <a:t>WEEK 3 · OCT 19 TO 23</a:t>
            </a:r>
          </a:p>
        </p:txBody>
      </p:sp>
      <p:sp>
        <p:nvSpPr>
          <p:cNvPr id="18" name="Rounded Rectangle 34"/>
          <p:cNvSpPr/>
          <p:nvPr/>
        </p:nvSpPr>
        <p:spPr>
          <a:xfrm>
            <a:off x="10447020" y="1417320"/>
            <a:ext cx="1266444" cy="219456"/>
          </a:xfrm>
          <a:prstGeom prst="roundRect">
            <a:avLst>
              <a:gd name="adj" fmla="val 15000"/>
            </a:avLst>
          </a:prstGeom>
          <a:solidFill>
            <a:srgbClr val="0D9488"/>
          </a:solidFill>
          <a:ln w="9525">
            <a:solidFill>
              <a:srgbClr val="0D948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9" name="TextBox 35"/>
          <p:cNvSpPr txBox="1"/>
          <p:nvPr/>
        </p:nvSpPr>
        <p:spPr>
          <a:xfrm>
            <a:off x="10447020" y="1417320"/>
            <a:ext cx="1266444" cy="219456"/>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900" b="1" i="0" u="none" strike="noStrike" kern="1200" cap="none" spc="0" normalizeH="0" baseline="0" noProof="0">
                <a:ln>
                  <a:noFill/>
                </a:ln>
                <a:solidFill>
                  <a:srgbClr val="FFFFFF"/>
                </a:solidFill>
                <a:effectLst/>
                <a:uLnTx/>
                <a:uFillTx/>
                <a:latin typeface="Calibri"/>
                <a:ea typeface="+mn-ea"/>
                <a:cs typeface="+mn-cs"/>
              </a:rPr>
              <a:t>M4 Validated</a:t>
            </a:r>
          </a:p>
        </p:txBody>
      </p:sp>
      <p:sp>
        <p:nvSpPr>
          <p:cNvPr id="20" name="TextBox 36"/>
          <p:cNvSpPr txBox="1"/>
          <p:nvPr/>
        </p:nvSpPr>
        <p:spPr>
          <a:xfrm>
            <a:off x="10428732" y="1664208"/>
            <a:ext cx="1303020" cy="164592"/>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60" normalizeH="0" baseline="0" noProof="0">
                <a:ln>
                  <a:noFill/>
                </a:ln>
                <a:solidFill>
                  <a:srgbClr val="5069EC"/>
                </a:solidFill>
                <a:effectLst/>
                <a:uLnTx/>
                <a:uFillTx/>
                <a:latin typeface="Calibri"/>
                <a:ea typeface="+mn-ea"/>
                <a:cs typeface="+mn-cs"/>
              </a:rPr>
              <a:t>WEEK 4 · OCT 26 TO 30</a:t>
            </a:r>
          </a:p>
        </p:txBody>
      </p:sp>
      <p:sp>
        <p:nvSpPr>
          <p:cNvPr id="21" name="TextBox 37"/>
          <p:cNvSpPr txBox="1"/>
          <p:nvPr/>
        </p:nvSpPr>
        <p:spPr>
          <a:xfrm>
            <a:off x="6519672"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D1</a:t>
            </a:r>
          </a:p>
        </p:txBody>
      </p:sp>
      <p:sp>
        <p:nvSpPr>
          <p:cNvPr id="22" name="TextBox 38"/>
          <p:cNvSpPr txBox="1"/>
          <p:nvPr/>
        </p:nvSpPr>
        <p:spPr>
          <a:xfrm>
            <a:off x="6780276"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D2</a:t>
            </a:r>
          </a:p>
        </p:txBody>
      </p:sp>
      <p:sp>
        <p:nvSpPr>
          <p:cNvPr id="23" name="TextBox 39"/>
          <p:cNvSpPr txBox="1"/>
          <p:nvPr/>
        </p:nvSpPr>
        <p:spPr>
          <a:xfrm>
            <a:off x="7040880"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D3</a:t>
            </a:r>
          </a:p>
        </p:txBody>
      </p:sp>
      <p:sp>
        <p:nvSpPr>
          <p:cNvPr id="24" name="TextBox 40"/>
          <p:cNvSpPr txBox="1"/>
          <p:nvPr/>
        </p:nvSpPr>
        <p:spPr>
          <a:xfrm>
            <a:off x="7301484"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D4</a:t>
            </a:r>
          </a:p>
        </p:txBody>
      </p:sp>
      <p:sp>
        <p:nvSpPr>
          <p:cNvPr id="25" name="TextBox 41"/>
          <p:cNvSpPr txBox="1"/>
          <p:nvPr/>
        </p:nvSpPr>
        <p:spPr>
          <a:xfrm>
            <a:off x="7562088"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D5</a:t>
            </a:r>
          </a:p>
        </p:txBody>
      </p:sp>
      <p:sp>
        <p:nvSpPr>
          <p:cNvPr id="26" name="TextBox 42"/>
          <p:cNvSpPr txBox="1"/>
          <p:nvPr/>
        </p:nvSpPr>
        <p:spPr>
          <a:xfrm>
            <a:off x="7822692"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D6</a:t>
            </a:r>
          </a:p>
        </p:txBody>
      </p:sp>
      <p:sp>
        <p:nvSpPr>
          <p:cNvPr id="27" name="TextBox 43"/>
          <p:cNvSpPr txBox="1"/>
          <p:nvPr/>
        </p:nvSpPr>
        <p:spPr>
          <a:xfrm>
            <a:off x="8083296"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D7</a:t>
            </a:r>
          </a:p>
        </p:txBody>
      </p:sp>
      <p:sp>
        <p:nvSpPr>
          <p:cNvPr id="28" name="TextBox 44"/>
          <p:cNvSpPr txBox="1"/>
          <p:nvPr/>
        </p:nvSpPr>
        <p:spPr>
          <a:xfrm>
            <a:off x="8343900"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D8</a:t>
            </a:r>
          </a:p>
        </p:txBody>
      </p:sp>
      <p:sp>
        <p:nvSpPr>
          <p:cNvPr id="29" name="TextBox 45"/>
          <p:cNvSpPr txBox="1"/>
          <p:nvPr/>
        </p:nvSpPr>
        <p:spPr>
          <a:xfrm>
            <a:off x="8604504"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D9</a:t>
            </a:r>
          </a:p>
        </p:txBody>
      </p:sp>
      <p:sp>
        <p:nvSpPr>
          <p:cNvPr id="30" name="TextBox 46"/>
          <p:cNvSpPr txBox="1"/>
          <p:nvPr/>
        </p:nvSpPr>
        <p:spPr>
          <a:xfrm>
            <a:off x="8865108"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D10</a:t>
            </a:r>
          </a:p>
        </p:txBody>
      </p:sp>
      <p:sp>
        <p:nvSpPr>
          <p:cNvPr id="31" name="TextBox 47"/>
          <p:cNvSpPr txBox="1"/>
          <p:nvPr/>
        </p:nvSpPr>
        <p:spPr>
          <a:xfrm>
            <a:off x="9125712"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D11</a:t>
            </a:r>
          </a:p>
        </p:txBody>
      </p:sp>
      <p:sp>
        <p:nvSpPr>
          <p:cNvPr id="32" name="TextBox 48"/>
          <p:cNvSpPr txBox="1"/>
          <p:nvPr/>
        </p:nvSpPr>
        <p:spPr>
          <a:xfrm>
            <a:off x="9386316"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D12</a:t>
            </a:r>
          </a:p>
        </p:txBody>
      </p:sp>
      <p:sp>
        <p:nvSpPr>
          <p:cNvPr id="33" name="TextBox 49"/>
          <p:cNvSpPr txBox="1"/>
          <p:nvPr/>
        </p:nvSpPr>
        <p:spPr>
          <a:xfrm>
            <a:off x="9646920"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D13</a:t>
            </a:r>
          </a:p>
        </p:txBody>
      </p:sp>
      <p:sp>
        <p:nvSpPr>
          <p:cNvPr id="34" name="TextBox 50"/>
          <p:cNvSpPr txBox="1"/>
          <p:nvPr/>
        </p:nvSpPr>
        <p:spPr>
          <a:xfrm>
            <a:off x="9907524"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D14</a:t>
            </a:r>
          </a:p>
        </p:txBody>
      </p:sp>
      <p:sp>
        <p:nvSpPr>
          <p:cNvPr id="35" name="TextBox 51"/>
          <p:cNvSpPr txBox="1"/>
          <p:nvPr/>
        </p:nvSpPr>
        <p:spPr>
          <a:xfrm>
            <a:off x="10168128"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D15</a:t>
            </a:r>
          </a:p>
        </p:txBody>
      </p:sp>
      <p:sp>
        <p:nvSpPr>
          <p:cNvPr id="36" name="TextBox 52"/>
          <p:cNvSpPr txBox="1"/>
          <p:nvPr/>
        </p:nvSpPr>
        <p:spPr>
          <a:xfrm>
            <a:off x="10428732"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D16</a:t>
            </a:r>
          </a:p>
        </p:txBody>
      </p:sp>
      <p:sp>
        <p:nvSpPr>
          <p:cNvPr id="37" name="TextBox 53"/>
          <p:cNvSpPr txBox="1"/>
          <p:nvPr/>
        </p:nvSpPr>
        <p:spPr>
          <a:xfrm>
            <a:off x="10689336"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D17</a:t>
            </a:r>
          </a:p>
        </p:txBody>
      </p:sp>
      <p:sp>
        <p:nvSpPr>
          <p:cNvPr id="38" name="TextBox 54"/>
          <p:cNvSpPr txBox="1"/>
          <p:nvPr/>
        </p:nvSpPr>
        <p:spPr>
          <a:xfrm>
            <a:off x="10949940"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D18</a:t>
            </a:r>
          </a:p>
        </p:txBody>
      </p:sp>
      <p:sp>
        <p:nvSpPr>
          <p:cNvPr id="39" name="TextBox 55"/>
          <p:cNvSpPr txBox="1"/>
          <p:nvPr/>
        </p:nvSpPr>
        <p:spPr>
          <a:xfrm>
            <a:off x="11210544"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D19</a:t>
            </a:r>
          </a:p>
        </p:txBody>
      </p:sp>
      <p:sp>
        <p:nvSpPr>
          <p:cNvPr id="40" name="TextBox 56"/>
          <p:cNvSpPr txBox="1"/>
          <p:nvPr/>
        </p:nvSpPr>
        <p:spPr>
          <a:xfrm>
            <a:off x="11471148" y="1837944"/>
            <a:ext cx="260604" cy="155448"/>
          </a:xfrm>
          <a:prstGeom prst="rect">
            <a:avLst/>
          </a:prstGeom>
          <a:noFill/>
        </p:spPr>
        <p:txBody>
          <a:bodyPr wrap="square" lIns="0" tIns="0" rIns="0" bIns="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5B6472"/>
                </a:solidFill>
                <a:effectLst/>
                <a:uLnTx/>
                <a:uFillTx/>
                <a:latin typeface="Calibri"/>
                <a:ea typeface="+mn-ea"/>
                <a:cs typeface="+mn-cs"/>
              </a:rPr>
              <a:t>D20</a:t>
            </a:r>
          </a:p>
        </p:txBody>
      </p:sp>
      <p:sp>
        <p:nvSpPr>
          <p:cNvPr id="41" name="TextBox 57"/>
          <p:cNvSpPr txBox="1"/>
          <p:nvPr/>
        </p:nvSpPr>
        <p:spPr>
          <a:xfrm>
            <a:off x="457200" y="1837944"/>
            <a:ext cx="1097280" cy="15544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150" normalizeH="0" baseline="0" noProof="0">
                <a:ln>
                  <a:noFill/>
                </a:ln>
                <a:solidFill>
                  <a:srgbClr val="5069EC"/>
                </a:solidFill>
                <a:effectLst/>
                <a:uLnTx/>
                <a:uFillTx/>
                <a:latin typeface="Calibri"/>
                <a:ea typeface="+mn-ea"/>
                <a:cs typeface="+mn-cs"/>
              </a:rPr>
              <a:t>STREAM</a:t>
            </a:r>
          </a:p>
        </p:txBody>
      </p:sp>
      <p:sp>
        <p:nvSpPr>
          <p:cNvPr id="42" name="TextBox 58"/>
          <p:cNvSpPr txBox="1"/>
          <p:nvPr/>
        </p:nvSpPr>
        <p:spPr>
          <a:xfrm>
            <a:off x="1627632" y="1837944"/>
            <a:ext cx="3566160" cy="15544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150" normalizeH="0" baseline="0" noProof="0">
                <a:ln>
                  <a:noFill/>
                </a:ln>
                <a:solidFill>
                  <a:srgbClr val="5069EC"/>
                </a:solidFill>
                <a:effectLst/>
                <a:uLnTx/>
                <a:uFillTx/>
                <a:latin typeface="Calibri"/>
                <a:ea typeface="+mn-ea"/>
                <a:cs typeface="+mn-cs"/>
              </a:rPr>
              <a:t>TASK</a:t>
            </a:r>
          </a:p>
        </p:txBody>
      </p:sp>
      <p:sp>
        <p:nvSpPr>
          <p:cNvPr id="43" name="TextBox 59"/>
          <p:cNvSpPr txBox="1"/>
          <p:nvPr/>
        </p:nvSpPr>
        <p:spPr>
          <a:xfrm>
            <a:off x="5193792" y="1837944"/>
            <a:ext cx="1325880" cy="155448"/>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1" i="0" u="none" strike="noStrike" kern="1200" cap="none" spc="150" normalizeH="0" baseline="0" noProof="0">
                <a:ln>
                  <a:noFill/>
                </a:ln>
                <a:solidFill>
                  <a:srgbClr val="5069EC"/>
                </a:solidFill>
                <a:effectLst/>
                <a:uLnTx/>
                <a:uFillTx/>
                <a:latin typeface="Calibri"/>
                <a:ea typeface="+mn-ea"/>
                <a:cs typeface="+mn-cs"/>
              </a:rPr>
              <a:t>OWNER</a:t>
            </a:r>
          </a:p>
        </p:txBody>
      </p:sp>
      <p:cxnSp>
        <p:nvCxnSpPr>
          <p:cNvPr id="44" name="Connector 60"/>
          <p:cNvCxnSpPr/>
          <p:nvPr/>
        </p:nvCxnSpPr>
        <p:spPr>
          <a:xfrm>
            <a:off x="6780276"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45" name="Connector 61"/>
          <p:cNvCxnSpPr/>
          <p:nvPr/>
        </p:nvCxnSpPr>
        <p:spPr>
          <a:xfrm>
            <a:off x="7040880"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46" name="Connector 62"/>
          <p:cNvCxnSpPr/>
          <p:nvPr/>
        </p:nvCxnSpPr>
        <p:spPr>
          <a:xfrm>
            <a:off x="7301484"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47" name="Connector 63"/>
          <p:cNvCxnSpPr/>
          <p:nvPr/>
        </p:nvCxnSpPr>
        <p:spPr>
          <a:xfrm>
            <a:off x="7562088"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48" name="Connector 64"/>
          <p:cNvCxnSpPr/>
          <p:nvPr/>
        </p:nvCxnSpPr>
        <p:spPr>
          <a:xfrm>
            <a:off x="8083296"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49" name="Connector 65"/>
          <p:cNvCxnSpPr/>
          <p:nvPr/>
        </p:nvCxnSpPr>
        <p:spPr>
          <a:xfrm>
            <a:off x="8343900"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50" name="Connector 66"/>
          <p:cNvCxnSpPr/>
          <p:nvPr/>
        </p:nvCxnSpPr>
        <p:spPr>
          <a:xfrm>
            <a:off x="8604504"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51" name="Connector 67"/>
          <p:cNvCxnSpPr/>
          <p:nvPr/>
        </p:nvCxnSpPr>
        <p:spPr>
          <a:xfrm>
            <a:off x="8865108"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52" name="Connector 68"/>
          <p:cNvCxnSpPr/>
          <p:nvPr/>
        </p:nvCxnSpPr>
        <p:spPr>
          <a:xfrm>
            <a:off x="9386316"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53" name="Connector 69"/>
          <p:cNvCxnSpPr/>
          <p:nvPr/>
        </p:nvCxnSpPr>
        <p:spPr>
          <a:xfrm>
            <a:off x="9646920"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54" name="Connector 70"/>
          <p:cNvCxnSpPr/>
          <p:nvPr/>
        </p:nvCxnSpPr>
        <p:spPr>
          <a:xfrm>
            <a:off x="9907524"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55" name="Connector 71"/>
          <p:cNvCxnSpPr/>
          <p:nvPr/>
        </p:nvCxnSpPr>
        <p:spPr>
          <a:xfrm>
            <a:off x="10168128"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56" name="Connector 72"/>
          <p:cNvCxnSpPr/>
          <p:nvPr/>
        </p:nvCxnSpPr>
        <p:spPr>
          <a:xfrm>
            <a:off x="10689336"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57" name="Connector 73"/>
          <p:cNvCxnSpPr/>
          <p:nvPr/>
        </p:nvCxnSpPr>
        <p:spPr>
          <a:xfrm>
            <a:off x="10949940"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58" name="Connector 74"/>
          <p:cNvCxnSpPr/>
          <p:nvPr/>
        </p:nvCxnSpPr>
        <p:spPr>
          <a:xfrm>
            <a:off x="11210544"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cxnSp>
        <p:nvCxnSpPr>
          <p:cNvPr id="59" name="Connector 75"/>
          <p:cNvCxnSpPr/>
          <p:nvPr/>
        </p:nvCxnSpPr>
        <p:spPr>
          <a:xfrm>
            <a:off x="11471148" y="2039112"/>
            <a:ext cx="0" cy="4288536"/>
          </a:xfrm>
          <a:prstGeom prst="line">
            <a:avLst/>
          </a:prstGeom>
          <a:ln w="6350">
            <a:solidFill>
              <a:srgbClr val="E8ECF8"/>
            </a:solidFill>
          </a:ln>
        </p:spPr>
        <p:style>
          <a:lnRef idx="2">
            <a:schemeClr val="accent1"/>
          </a:lnRef>
          <a:fillRef idx="0">
            <a:schemeClr val="accent1"/>
          </a:fillRef>
          <a:effectRef idx="1">
            <a:schemeClr val="accent1"/>
          </a:effectRef>
          <a:fontRef idx="minor">
            <a:schemeClr val="tx1"/>
          </a:fontRef>
        </p:style>
      </p:cxnSp>
      <p:sp>
        <p:nvSpPr>
          <p:cNvPr id="60" name="Rounded Rectangle 76"/>
          <p:cNvSpPr/>
          <p:nvPr/>
        </p:nvSpPr>
        <p:spPr>
          <a:xfrm>
            <a:off x="457200" y="2039112"/>
            <a:ext cx="1097280" cy="643914"/>
          </a:xfrm>
          <a:prstGeom prst="roundRect">
            <a:avLst>
              <a:gd name="adj" fmla="val 6000"/>
            </a:avLst>
          </a:prstGeom>
          <a:solidFill>
            <a:srgbClr val="E9ED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1" name="TextBox 77"/>
          <p:cNvSpPr txBox="1"/>
          <p:nvPr/>
        </p:nvSpPr>
        <p:spPr>
          <a:xfrm>
            <a:off x="548640" y="2039112"/>
            <a:ext cx="960120" cy="643914"/>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5069EC"/>
                </a:solidFill>
                <a:effectLst/>
                <a:uLnTx/>
                <a:uFillTx/>
                <a:latin typeface="Calibri"/>
                <a:ea typeface="+mn-ea"/>
                <a:cs typeface="+mn-cs"/>
              </a:rPr>
              <a:t>Alignment and Acra inputs</a:t>
            </a:r>
          </a:p>
        </p:txBody>
      </p:sp>
      <p:sp>
        <p:nvSpPr>
          <p:cNvPr id="62" name="Rounded Rectangle 78"/>
          <p:cNvSpPr/>
          <p:nvPr/>
        </p:nvSpPr>
        <p:spPr>
          <a:xfrm>
            <a:off x="1627632" y="2039112"/>
            <a:ext cx="4855464" cy="643914"/>
          </a:xfrm>
          <a:prstGeom prst="roundRect">
            <a:avLst>
              <a:gd name="adj" fmla="val 2000"/>
            </a:avLst>
          </a:prstGeom>
          <a:solidFill>
            <a:srgbClr val="FAF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3" name="TextBox 79"/>
          <p:cNvSpPr txBox="1"/>
          <p:nvPr/>
        </p:nvSpPr>
        <p:spPr>
          <a:xfrm>
            <a:off x="1700784" y="2039112"/>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Charter, security and data path</a:t>
            </a:r>
          </a:p>
        </p:txBody>
      </p:sp>
      <p:sp>
        <p:nvSpPr>
          <p:cNvPr id="64" name="TextBox 80"/>
          <p:cNvSpPr txBox="1"/>
          <p:nvPr/>
        </p:nvSpPr>
        <p:spPr>
          <a:xfrm>
            <a:off x="5193792" y="2039112"/>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 + Acra</a:t>
            </a:r>
          </a:p>
        </p:txBody>
      </p:sp>
      <p:sp>
        <p:nvSpPr>
          <p:cNvPr id="65" name="Rounded Rectangle 81"/>
          <p:cNvSpPr/>
          <p:nvPr/>
        </p:nvSpPr>
        <p:spPr>
          <a:xfrm>
            <a:off x="6542532" y="2068248"/>
            <a:ext cx="736092" cy="74166"/>
          </a:xfrm>
          <a:prstGeom prst="roundRect">
            <a:avLst>
              <a:gd name="adj" fmla="val 30000"/>
            </a:avLst>
          </a:prstGeom>
          <a:solidFill>
            <a:srgbClr val="506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6" name="TextBox 82"/>
          <p:cNvSpPr txBox="1"/>
          <p:nvPr/>
        </p:nvSpPr>
        <p:spPr>
          <a:xfrm>
            <a:off x="1700784" y="2171552"/>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Guidelines approval and open points answered</a:t>
            </a:r>
          </a:p>
        </p:txBody>
      </p:sp>
      <p:sp>
        <p:nvSpPr>
          <p:cNvPr id="67" name="TextBox 83"/>
          <p:cNvSpPr txBox="1"/>
          <p:nvPr/>
        </p:nvSpPr>
        <p:spPr>
          <a:xfrm>
            <a:off x="5193792" y="2171552"/>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B45309"/>
                </a:solidFill>
                <a:effectLst/>
                <a:uLnTx/>
                <a:uFillTx/>
                <a:latin typeface="Calibri"/>
                <a:ea typeface="+mn-ea"/>
                <a:cs typeface="+mn-cs"/>
              </a:rPr>
              <a:t>Acra</a:t>
            </a:r>
          </a:p>
        </p:txBody>
      </p:sp>
      <p:sp>
        <p:nvSpPr>
          <p:cNvPr id="68" name="Rounded Rectangle 84"/>
          <p:cNvSpPr/>
          <p:nvPr/>
        </p:nvSpPr>
        <p:spPr>
          <a:xfrm>
            <a:off x="6542532" y="2200689"/>
            <a:ext cx="736092" cy="74166"/>
          </a:xfrm>
          <a:prstGeom prst="roundRect">
            <a:avLst>
              <a:gd name="adj" fmla="val 30000"/>
            </a:avLst>
          </a:prstGeom>
          <a:solidFill>
            <a:srgbClr val="506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69" name="TextBox 85"/>
          <p:cNvSpPr txBox="1"/>
          <p:nvPr/>
        </p:nvSpPr>
        <p:spPr>
          <a:xfrm>
            <a:off x="1700784" y="2303993"/>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BytePro taxonomy and naming confirmed</a:t>
            </a:r>
          </a:p>
        </p:txBody>
      </p:sp>
      <p:sp>
        <p:nvSpPr>
          <p:cNvPr id="70" name="TextBox 86"/>
          <p:cNvSpPr txBox="1"/>
          <p:nvPr/>
        </p:nvSpPr>
        <p:spPr>
          <a:xfrm>
            <a:off x="5193792" y="2303993"/>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B45309"/>
                </a:solidFill>
                <a:effectLst/>
                <a:uLnTx/>
                <a:uFillTx/>
                <a:latin typeface="Calibri"/>
                <a:ea typeface="+mn-ea"/>
                <a:cs typeface="+mn-cs"/>
              </a:rPr>
              <a:t>Acra</a:t>
            </a:r>
          </a:p>
        </p:txBody>
      </p:sp>
      <p:sp>
        <p:nvSpPr>
          <p:cNvPr id="71" name="Rounded Rectangle 87"/>
          <p:cNvSpPr/>
          <p:nvPr/>
        </p:nvSpPr>
        <p:spPr>
          <a:xfrm>
            <a:off x="6542532" y="2333129"/>
            <a:ext cx="736092" cy="74166"/>
          </a:xfrm>
          <a:prstGeom prst="roundRect">
            <a:avLst>
              <a:gd name="adj" fmla="val 30000"/>
            </a:avLst>
          </a:prstGeom>
          <a:solidFill>
            <a:srgbClr val="506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2" name="TextBox 88"/>
          <p:cNvSpPr txBox="1"/>
          <p:nvPr/>
        </p:nvSpPr>
        <p:spPr>
          <a:xfrm>
            <a:off x="1700784" y="2436433"/>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Sample loans and Acra underwriting results delivered</a:t>
            </a:r>
          </a:p>
        </p:txBody>
      </p:sp>
      <p:sp>
        <p:nvSpPr>
          <p:cNvPr id="73" name="TextBox 89"/>
          <p:cNvSpPr txBox="1"/>
          <p:nvPr/>
        </p:nvSpPr>
        <p:spPr>
          <a:xfrm>
            <a:off x="5193792" y="2436433"/>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B45309"/>
                </a:solidFill>
                <a:effectLst/>
                <a:uLnTx/>
                <a:uFillTx/>
                <a:latin typeface="Calibri"/>
                <a:ea typeface="+mn-ea"/>
                <a:cs typeface="+mn-cs"/>
              </a:rPr>
              <a:t>Acra</a:t>
            </a:r>
          </a:p>
        </p:txBody>
      </p:sp>
      <p:sp>
        <p:nvSpPr>
          <p:cNvPr id="74" name="Rounded Rectangle 90"/>
          <p:cNvSpPr/>
          <p:nvPr/>
        </p:nvSpPr>
        <p:spPr>
          <a:xfrm>
            <a:off x="6542532" y="2465570"/>
            <a:ext cx="2560320" cy="74166"/>
          </a:xfrm>
          <a:prstGeom prst="roundRect">
            <a:avLst>
              <a:gd name="adj" fmla="val 30000"/>
            </a:avLst>
          </a:prstGeom>
          <a:solidFill>
            <a:srgbClr val="506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5" name="TextBox 91"/>
          <p:cNvSpPr txBox="1"/>
          <p:nvPr/>
        </p:nvSpPr>
        <p:spPr>
          <a:xfrm>
            <a:off x="1700784" y="2568874"/>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Success criteria, UAT scenarios, go or no go rule locked</a:t>
            </a:r>
          </a:p>
        </p:txBody>
      </p:sp>
      <p:sp>
        <p:nvSpPr>
          <p:cNvPr id="76" name="TextBox 92"/>
          <p:cNvSpPr txBox="1"/>
          <p:nvPr/>
        </p:nvSpPr>
        <p:spPr>
          <a:xfrm>
            <a:off x="5193792" y="2568874"/>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 + Acra</a:t>
            </a:r>
          </a:p>
        </p:txBody>
      </p:sp>
      <p:sp>
        <p:nvSpPr>
          <p:cNvPr id="77" name="Rounded Rectangle 93"/>
          <p:cNvSpPr/>
          <p:nvPr/>
        </p:nvSpPr>
        <p:spPr>
          <a:xfrm>
            <a:off x="7063740" y="2598010"/>
            <a:ext cx="736092" cy="74166"/>
          </a:xfrm>
          <a:prstGeom prst="roundRect">
            <a:avLst>
              <a:gd name="adj" fmla="val 30000"/>
            </a:avLst>
          </a:prstGeom>
          <a:solidFill>
            <a:srgbClr val="5069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8" name="Rounded Rectangle 94"/>
          <p:cNvSpPr/>
          <p:nvPr/>
        </p:nvSpPr>
        <p:spPr>
          <a:xfrm>
            <a:off x="457200" y="2747034"/>
            <a:ext cx="1097280" cy="1438557"/>
          </a:xfrm>
          <a:prstGeom prst="roundRect">
            <a:avLst>
              <a:gd name="adj" fmla="val 6000"/>
            </a:avLst>
          </a:prstGeom>
          <a:solidFill>
            <a:srgbClr val="EEE8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79" name="TextBox 95"/>
          <p:cNvSpPr txBox="1"/>
          <p:nvPr/>
        </p:nvSpPr>
        <p:spPr>
          <a:xfrm>
            <a:off x="548640" y="2747034"/>
            <a:ext cx="960120" cy="1438557"/>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3600AD"/>
                </a:solidFill>
                <a:effectLst/>
                <a:uLnTx/>
                <a:uFillTx/>
                <a:latin typeface="Calibri"/>
                <a:ea typeface="+mn-ea"/>
                <a:cs typeface="+mn-cs"/>
              </a:rPr>
              <a:t>Build and configure</a:t>
            </a:r>
          </a:p>
        </p:txBody>
      </p:sp>
      <p:sp>
        <p:nvSpPr>
          <p:cNvPr id="80" name="Rounded Rectangle 96"/>
          <p:cNvSpPr/>
          <p:nvPr/>
        </p:nvSpPr>
        <p:spPr>
          <a:xfrm>
            <a:off x="1627632" y="2747034"/>
            <a:ext cx="4855464" cy="1438557"/>
          </a:xfrm>
          <a:prstGeom prst="roundRect">
            <a:avLst>
              <a:gd name="adj" fmla="val 2000"/>
            </a:avLst>
          </a:prstGeom>
          <a:solidFill>
            <a:srgbClr val="FAF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1" name="TextBox 97"/>
          <p:cNvSpPr txBox="1"/>
          <p:nvPr/>
        </p:nvSpPr>
        <p:spPr>
          <a:xfrm>
            <a:off x="1700784" y="2747034"/>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Unified guidelines finalized</a:t>
            </a:r>
          </a:p>
        </p:txBody>
      </p:sp>
      <p:sp>
        <p:nvSpPr>
          <p:cNvPr id="82" name="TextBox 98"/>
          <p:cNvSpPr txBox="1"/>
          <p:nvPr/>
        </p:nvSpPr>
        <p:spPr>
          <a:xfrm>
            <a:off x="5193792" y="2747034"/>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83" name="Rounded Rectangle 99"/>
          <p:cNvSpPr/>
          <p:nvPr/>
        </p:nvSpPr>
        <p:spPr>
          <a:xfrm>
            <a:off x="7324344" y="2776171"/>
            <a:ext cx="996696" cy="74166"/>
          </a:xfrm>
          <a:prstGeom prst="roundRect">
            <a:avLst>
              <a:gd name="adj" fmla="val 30000"/>
            </a:avLst>
          </a:prstGeom>
          <a:solidFill>
            <a:srgbClr val="3600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4" name="TextBox 100"/>
          <p:cNvSpPr txBox="1"/>
          <p:nvPr/>
        </p:nvSpPr>
        <p:spPr>
          <a:xfrm>
            <a:off x="1700784" y="2879475"/>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Reasoner trained; both policies encoded</a:t>
            </a:r>
          </a:p>
        </p:txBody>
      </p:sp>
      <p:sp>
        <p:nvSpPr>
          <p:cNvPr id="85" name="TextBox 101"/>
          <p:cNvSpPr txBox="1"/>
          <p:nvPr/>
        </p:nvSpPr>
        <p:spPr>
          <a:xfrm>
            <a:off x="5193792" y="2879475"/>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86" name="Rounded Rectangle 102"/>
          <p:cNvSpPr/>
          <p:nvPr/>
        </p:nvSpPr>
        <p:spPr>
          <a:xfrm>
            <a:off x="7845552" y="2908612"/>
            <a:ext cx="996696" cy="74166"/>
          </a:xfrm>
          <a:prstGeom prst="roundRect">
            <a:avLst>
              <a:gd name="adj" fmla="val 30000"/>
            </a:avLst>
          </a:prstGeom>
          <a:solidFill>
            <a:srgbClr val="3600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87" name="TextBox 103"/>
          <p:cNvSpPr txBox="1"/>
          <p:nvPr/>
        </p:nvSpPr>
        <p:spPr>
          <a:xfrm>
            <a:off x="1700784" y="3011915"/>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Reuse mortgage document processor; configure taxonomy and naming</a:t>
            </a:r>
          </a:p>
        </p:txBody>
      </p:sp>
      <p:sp>
        <p:nvSpPr>
          <p:cNvPr id="88" name="TextBox 104"/>
          <p:cNvSpPr txBox="1"/>
          <p:nvPr/>
        </p:nvSpPr>
        <p:spPr>
          <a:xfrm>
            <a:off x="5193792" y="3011915"/>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89" name="Rounded Rectangle 105"/>
          <p:cNvSpPr/>
          <p:nvPr/>
        </p:nvSpPr>
        <p:spPr>
          <a:xfrm>
            <a:off x="7063740" y="3041052"/>
            <a:ext cx="1517904" cy="74166"/>
          </a:xfrm>
          <a:prstGeom prst="roundRect">
            <a:avLst>
              <a:gd name="adj" fmla="val 30000"/>
            </a:avLst>
          </a:prstGeom>
          <a:solidFill>
            <a:srgbClr val="3600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0" name="TextBox 106"/>
          <p:cNvSpPr txBox="1"/>
          <p:nvPr/>
        </p:nvSpPr>
        <p:spPr>
          <a:xfrm>
            <a:off x="1700784" y="3144356"/>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Agree loan summary page content with Acra loan processors</a:t>
            </a:r>
          </a:p>
        </p:txBody>
      </p:sp>
      <p:sp>
        <p:nvSpPr>
          <p:cNvPr id="91" name="TextBox 107"/>
          <p:cNvSpPr txBox="1"/>
          <p:nvPr/>
        </p:nvSpPr>
        <p:spPr>
          <a:xfrm>
            <a:off x="5193792" y="3144356"/>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 + Acra processors</a:t>
            </a:r>
          </a:p>
        </p:txBody>
      </p:sp>
      <p:sp>
        <p:nvSpPr>
          <p:cNvPr id="92" name="Rounded Rectangle 108"/>
          <p:cNvSpPr/>
          <p:nvPr/>
        </p:nvSpPr>
        <p:spPr>
          <a:xfrm>
            <a:off x="7063740" y="3173493"/>
            <a:ext cx="736092" cy="74166"/>
          </a:xfrm>
          <a:prstGeom prst="roundRect">
            <a:avLst>
              <a:gd name="adj" fmla="val 30000"/>
            </a:avLst>
          </a:prstGeom>
          <a:solidFill>
            <a:srgbClr val="3600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3" name="TextBox 109"/>
          <p:cNvSpPr txBox="1"/>
          <p:nvPr/>
        </p:nvSpPr>
        <p:spPr>
          <a:xfrm>
            <a:off x="1700784" y="3276796"/>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Design loan summary page</a:t>
            </a:r>
          </a:p>
        </p:txBody>
      </p:sp>
      <p:sp>
        <p:nvSpPr>
          <p:cNvPr id="94" name="TextBox 110"/>
          <p:cNvSpPr txBox="1"/>
          <p:nvPr/>
        </p:nvSpPr>
        <p:spPr>
          <a:xfrm>
            <a:off x="5193792" y="3276796"/>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95" name="Rounded Rectangle 111"/>
          <p:cNvSpPr/>
          <p:nvPr/>
        </p:nvSpPr>
        <p:spPr>
          <a:xfrm>
            <a:off x="7584948" y="3305933"/>
            <a:ext cx="736092" cy="74166"/>
          </a:xfrm>
          <a:prstGeom prst="roundRect">
            <a:avLst>
              <a:gd name="adj" fmla="val 30000"/>
            </a:avLst>
          </a:prstGeom>
          <a:solidFill>
            <a:srgbClr val="3600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6" name="TextBox 112"/>
          <p:cNvSpPr txBox="1"/>
          <p:nvPr/>
        </p:nvSpPr>
        <p:spPr>
          <a:xfrm>
            <a:off x="1700784" y="3409237"/>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Build loan summary page (mock data first)</a:t>
            </a:r>
          </a:p>
        </p:txBody>
      </p:sp>
      <p:sp>
        <p:nvSpPr>
          <p:cNvPr id="97" name="TextBox 113"/>
          <p:cNvSpPr txBox="1"/>
          <p:nvPr/>
        </p:nvSpPr>
        <p:spPr>
          <a:xfrm>
            <a:off x="5193792" y="3409237"/>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98" name="Rounded Rectangle 114"/>
          <p:cNvSpPr/>
          <p:nvPr/>
        </p:nvSpPr>
        <p:spPr>
          <a:xfrm>
            <a:off x="8106156" y="3438374"/>
            <a:ext cx="996696" cy="74166"/>
          </a:xfrm>
          <a:prstGeom prst="roundRect">
            <a:avLst>
              <a:gd name="adj" fmla="val 30000"/>
            </a:avLst>
          </a:prstGeom>
          <a:solidFill>
            <a:srgbClr val="3600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99" name="TextBox 115"/>
          <p:cNvSpPr txBox="1"/>
          <p:nvPr/>
        </p:nvSpPr>
        <p:spPr>
          <a:xfrm>
            <a:off x="1700784" y="3541677"/>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Excel sizer build (live DSCR, LTV/CLTV, reserves)</a:t>
            </a:r>
          </a:p>
        </p:txBody>
      </p:sp>
      <p:sp>
        <p:nvSpPr>
          <p:cNvPr id="100" name="TextBox 116"/>
          <p:cNvSpPr txBox="1"/>
          <p:nvPr/>
        </p:nvSpPr>
        <p:spPr>
          <a:xfrm>
            <a:off x="5193792" y="3541677"/>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101" name="Rounded Rectangle 117"/>
          <p:cNvSpPr/>
          <p:nvPr/>
        </p:nvSpPr>
        <p:spPr>
          <a:xfrm>
            <a:off x="7845552" y="3570814"/>
            <a:ext cx="996696" cy="74166"/>
          </a:xfrm>
          <a:prstGeom prst="roundRect">
            <a:avLst>
              <a:gd name="adj" fmla="val 30000"/>
            </a:avLst>
          </a:prstGeom>
          <a:solidFill>
            <a:srgbClr val="3600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2" name="TextBox 118"/>
          <p:cNvSpPr txBox="1"/>
          <p:nvPr/>
        </p:nvSpPr>
        <p:spPr>
          <a:xfrm>
            <a:off x="1700784" y="3674118"/>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Workbook and condition library</a:t>
            </a:r>
          </a:p>
        </p:txBody>
      </p:sp>
      <p:sp>
        <p:nvSpPr>
          <p:cNvPr id="103" name="TextBox 119"/>
          <p:cNvSpPr txBox="1"/>
          <p:nvPr/>
        </p:nvSpPr>
        <p:spPr>
          <a:xfrm>
            <a:off x="5193792" y="3674118"/>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104" name="Rounded Rectangle 120"/>
          <p:cNvSpPr/>
          <p:nvPr/>
        </p:nvSpPr>
        <p:spPr>
          <a:xfrm>
            <a:off x="7845552" y="3703255"/>
            <a:ext cx="996696" cy="74166"/>
          </a:xfrm>
          <a:prstGeom prst="roundRect">
            <a:avLst>
              <a:gd name="adj" fmla="val 30000"/>
            </a:avLst>
          </a:prstGeom>
          <a:solidFill>
            <a:srgbClr val="3600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5" name="TextBox 121"/>
          <p:cNvSpPr txBox="1"/>
          <p:nvPr/>
        </p:nvSpPr>
        <p:spPr>
          <a:xfrm>
            <a:off x="1700784" y="3806558"/>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SME walkthrough of the build, including summary page</a:t>
            </a:r>
          </a:p>
        </p:txBody>
      </p:sp>
      <p:sp>
        <p:nvSpPr>
          <p:cNvPr id="106" name="TextBox 122"/>
          <p:cNvSpPr txBox="1"/>
          <p:nvPr/>
        </p:nvSpPr>
        <p:spPr>
          <a:xfrm>
            <a:off x="5193792" y="3806558"/>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 + Acra SMEs</a:t>
            </a:r>
          </a:p>
        </p:txBody>
      </p:sp>
      <p:sp>
        <p:nvSpPr>
          <p:cNvPr id="107" name="Rounded Rectangle 123"/>
          <p:cNvSpPr/>
          <p:nvPr/>
        </p:nvSpPr>
        <p:spPr>
          <a:xfrm>
            <a:off x="8887968" y="3835695"/>
            <a:ext cx="214884" cy="74166"/>
          </a:xfrm>
          <a:prstGeom prst="roundRect">
            <a:avLst>
              <a:gd name="adj" fmla="val 30000"/>
            </a:avLst>
          </a:prstGeom>
          <a:solidFill>
            <a:srgbClr val="3600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08" name="TextBox 124"/>
          <p:cNvSpPr txBox="1"/>
          <p:nvPr/>
        </p:nvSpPr>
        <p:spPr>
          <a:xfrm>
            <a:off x="1700784" y="3938999"/>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Wire summary page to Assistant outputs (decision, sizer, conditions)</a:t>
            </a:r>
          </a:p>
        </p:txBody>
      </p:sp>
      <p:sp>
        <p:nvSpPr>
          <p:cNvPr id="109" name="TextBox 125"/>
          <p:cNvSpPr txBox="1"/>
          <p:nvPr/>
        </p:nvSpPr>
        <p:spPr>
          <a:xfrm>
            <a:off x="5193792" y="3938999"/>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110" name="Rounded Rectangle 126"/>
          <p:cNvSpPr/>
          <p:nvPr/>
        </p:nvSpPr>
        <p:spPr>
          <a:xfrm>
            <a:off x="9148572" y="3968136"/>
            <a:ext cx="475488" cy="74166"/>
          </a:xfrm>
          <a:prstGeom prst="roundRect">
            <a:avLst>
              <a:gd name="adj" fmla="val 30000"/>
            </a:avLst>
          </a:prstGeom>
          <a:solidFill>
            <a:srgbClr val="3600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1" name="TextBox 127"/>
          <p:cNvSpPr txBox="1"/>
          <p:nvPr/>
        </p:nvSpPr>
        <p:spPr>
          <a:xfrm>
            <a:off x="1700784" y="4071439"/>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Loan processors review summary page; refine</a:t>
            </a:r>
          </a:p>
        </p:txBody>
      </p:sp>
      <p:sp>
        <p:nvSpPr>
          <p:cNvPr id="112" name="TextBox 128"/>
          <p:cNvSpPr txBox="1"/>
          <p:nvPr/>
        </p:nvSpPr>
        <p:spPr>
          <a:xfrm>
            <a:off x="5193792" y="4071439"/>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B45309"/>
                </a:solidFill>
                <a:effectLst/>
                <a:uLnTx/>
                <a:uFillTx/>
                <a:latin typeface="Calibri"/>
                <a:ea typeface="+mn-ea"/>
                <a:cs typeface="+mn-cs"/>
              </a:rPr>
              <a:t>Acra processors + JazzX</a:t>
            </a:r>
          </a:p>
        </p:txBody>
      </p:sp>
      <p:sp>
        <p:nvSpPr>
          <p:cNvPr id="113" name="Rounded Rectangle 129"/>
          <p:cNvSpPr/>
          <p:nvPr/>
        </p:nvSpPr>
        <p:spPr>
          <a:xfrm>
            <a:off x="9669780" y="4100576"/>
            <a:ext cx="736092" cy="74166"/>
          </a:xfrm>
          <a:prstGeom prst="roundRect">
            <a:avLst>
              <a:gd name="adj" fmla="val 30000"/>
            </a:avLst>
          </a:prstGeom>
          <a:solidFill>
            <a:srgbClr val="3600A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4" name="Rounded Rectangle 130"/>
          <p:cNvSpPr/>
          <p:nvPr/>
        </p:nvSpPr>
        <p:spPr>
          <a:xfrm>
            <a:off x="457200" y="4249600"/>
            <a:ext cx="1097280" cy="643914"/>
          </a:xfrm>
          <a:prstGeom prst="roundRect">
            <a:avLst>
              <a:gd name="adj" fmla="val 6000"/>
            </a:avLst>
          </a:prstGeom>
          <a:solidFill>
            <a:srgbClr val="FCEEE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5" name="TextBox 131"/>
          <p:cNvSpPr txBox="1"/>
          <p:nvPr/>
        </p:nvSpPr>
        <p:spPr>
          <a:xfrm>
            <a:off x="548640" y="4249600"/>
            <a:ext cx="960120" cy="643914"/>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D9692A"/>
                </a:solidFill>
                <a:effectLst/>
                <a:uLnTx/>
                <a:uFillTx/>
                <a:latin typeface="Calibri"/>
                <a:ea typeface="+mn-ea"/>
                <a:cs typeface="+mn-cs"/>
              </a:rPr>
              <a:t>Manual underwriting</a:t>
            </a:r>
          </a:p>
        </p:txBody>
      </p:sp>
      <p:sp>
        <p:nvSpPr>
          <p:cNvPr id="116" name="Rounded Rectangle 132"/>
          <p:cNvSpPr/>
          <p:nvPr/>
        </p:nvSpPr>
        <p:spPr>
          <a:xfrm>
            <a:off x="1627632" y="4249600"/>
            <a:ext cx="4855464" cy="643914"/>
          </a:xfrm>
          <a:prstGeom prst="roundRect">
            <a:avLst>
              <a:gd name="adj" fmla="val 2000"/>
            </a:avLst>
          </a:prstGeom>
          <a:solidFill>
            <a:srgbClr val="FAF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17" name="TextBox 133"/>
          <p:cNvSpPr txBox="1"/>
          <p:nvPr/>
        </p:nvSpPr>
        <p:spPr>
          <a:xfrm>
            <a:off x="1700784" y="4249600"/>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Manual UW wave 1: initial packages in hand</a:t>
            </a:r>
          </a:p>
        </p:txBody>
      </p:sp>
      <p:sp>
        <p:nvSpPr>
          <p:cNvPr id="118" name="TextBox 134"/>
          <p:cNvSpPr txBox="1"/>
          <p:nvPr/>
        </p:nvSpPr>
        <p:spPr>
          <a:xfrm>
            <a:off x="5193792" y="4258112"/>
            <a:ext cx="1325880" cy="11541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B42318"/>
                </a:solidFill>
                <a:effectLst/>
                <a:uLnTx/>
                <a:uFillTx/>
                <a:latin typeface="Calibri"/>
                <a:ea typeface="+mn-ea"/>
                <a:cs typeface="+mn-cs"/>
              </a:rPr>
              <a:t>TBD</a:t>
            </a:r>
          </a:p>
        </p:txBody>
      </p:sp>
      <p:sp>
        <p:nvSpPr>
          <p:cNvPr id="119" name="Rounded Rectangle 135"/>
          <p:cNvSpPr/>
          <p:nvPr/>
        </p:nvSpPr>
        <p:spPr>
          <a:xfrm>
            <a:off x="6542532" y="4278737"/>
            <a:ext cx="1257300" cy="74166"/>
          </a:xfrm>
          <a:prstGeom prst="roundRect">
            <a:avLst>
              <a:gd name="adj" fmla="val 30000"/>
            </a:avLst>
          </a:prstGeom>
          <a:solidFill>
            <a:srgbClr val="D969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0" name="TextBox 136"/>
          <p:cNvSpPr txBox="1"/>
          <p:nvPr/>
        </p:nvSpPr>
        <p:spPr>
          <a:xfrm>
            <a:off x="1700784" y="4382040"/>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Manual UW wave 2: remaining sample loans</a:t>
            </a:r>
          </a:p>
        </p:txBody>
      </p:sp>
      <p:sp>
        <p:nvSpPr>
          <p:cNvPr id="121" name="TextBox 137"/>
          <p:cNvSpPr txBox="1"/>
          <p:nvPr/>
        </p:nvSpPr>
        <p:spPr>
          <a:xfrm>
            <a:off x="5193792" y="4390552"/>
            <a:ext cx="1325880" cy="11541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B42318"/>
                </a:solidFill>
                <a:effectLst/>
                <a:uLnTx/>
                <a:uFillTx/>
                <a:latin typeface="Calibri"/>
                <a:ea typeface="+mn-ea"/>
                <a:cs typeface="+mn-cs"/>
              </a:rPr>
              <a:t>TBD</a:t>
            </a:r>
          </a:p>
        </p:txBody>
      </p:sp>
      <p:sp>
        <p:nvSpPr>
          <p:cNvPr id="122" name="Rounded Rectangle 138"/>
          <p:cNvSpPr/>
          <p:nvPr/>
        </p:nvSpPr>
        <p:spPr>
          <a:xfrm>
            <a:off x="7845552" y="4411177"/>
            <a:ext cx="1257300" cy="74166"/>
          </a:xfrm>
          <a:prstGeom prst="roundRect">
            <a:avLst>
              <a:gd name="adj" fmla="val 30000"/>
            </a:avLst>
          </a:prstGeom>
          <a:solidFill>
            <a:srgbClr val="D969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3" name="TextBox 139"/>
          <p:cNvSpPr txBox="1"/>
          <p:nvPr/>
        </p:nvSpPr>
        <p:spPr>
          <a:xfrm>
            <a:off x="1700784" y="4514481"/>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Package ground truth (decision, conditions, worksheets, notes)</a:t>
            </a:r>
          </a:p>
        </p:txBody>
      </p:sp>
      <p:sp>
        <p:nvSpPr>
          <p:cNvPr id="124" name="TextBox 140"/>
          <p:cNvSpPr txBox="1"/>
          <p:nvPr/>
        </p:nvSpPr>
        <p:spPr>
          <a:xfrm>
            <a:off x="5193792" y="4522993"/>
            <a:ext cx="1325880" cy="115416"/>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B42318"/>
                </a:solidFill>
                <a:effectLst/>
                <a:uLnTx/>
                <a:uFillTx/>
                <a:latin typeface="Calibri"/>
                <a:ea typeface="+mn-ea"/>
                <a:cs typeface="+mn-cs"/>
              </a:rPr>
              <a:t>TBD</a:t>
            </a:r>
          </a:p>
        </p:txBody>
      </p:sp>
      <p:sp>
        <p:nvSpPr>
          <p:cNvPr id="125" name="Rounded Rectangle 141"/>
          <p:cNvSpPr/>
          <p:nvPr/>
        </p:nvSpPr>
        <p:spPr>
          <a:xfrm>
            <a:off x="7845552" y="4543618"/>
            <a:ext cx="1517904" cy="74166"/>
          </a:xfrm>
          <a:prstGeom prst="roundRect">
            <a:avLst>
              <a:gd name="adj" fmla="val 30000"/>
            </a:avLst>
          </a:prstGeom>
          <a:solidFill>
            <a:srgbClr val="D969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6" name="TextBox 142"/>
          <p:cNvSpPr txBox="1"/>
          <p:nvPr/>
        </p:nvSpPr>
        <p:spPr>
          <a:xfrm>
            <a:off x="1700784" y="4646921"/>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Support reconciliation and variance review</a:t>
            </a:r>
          </a:p>
        </p:txBody>
      </p:sp>
      <p:sp>
        <p:nvSpPr>
          <p:cNvPr id="127" name="TextBox 143"/>
          <p:cNvSpPr txBox="1"/>
          <p:nvPr/>
        </p:nvSpPr>
        <p:spPr>
          <a:xfrm>
            <a:off x="5193792" y="4646921"/>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B42318"/>
                </a:solidFill>
                <a:effectLst/>
                <a:uLnTx/>
                <a:uFillTx/>
                <a:latin typeface="Calibri"/>
                <a:ea typeface="+mn-ea"/>
                <a:cs typeface="+mn-cs"/>
              </a:rPr>
              <a:t>TBD + Acra underwriter</a:t>
            </a:r>
          </a:p>
        </p:txBody>
      </p:sp>
      <p:sp>
        <p:nvSpPr>
          <p:cNvPr id="128" name="Rounded Rectangle 144"/>
          <p:cNvSpPr/>
          <p:nvPr/>
        </p:nvSpPr>
        <p:spPr>
          <a:xfrm>
            <a:off x="9409176" y="4676058"/>
            <a:ext cx="996696" cy="74166"/>
          </a:xfrm>
          <a:prstGeom prst="roundRect">
            <a:avLst>
              <a:gd name="adj" fmla="val 30000"/>
            </a:avLst>
          </a:prstGeom>
          <a:solidFill>
            <a:srgbClr val="D969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29" name="TextBox 145"/>
          <p:cNvSpPr txBox="1"/>
          <p:nvPr/>
        </p:nvSpPr>
        <p:spPr>
          <a:xfrm>
            <a:off x="1700784" y="4779362"/>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Confirm final ground truth for readout</a:t>
            </a:r>
          </a:p>
        </p:txBody>
      </p:sp>
      <p:sp>
        <p:nvSpPr>
          <p:cNvPr id="130" name="TextBox 146"/>
          <p:cNvSpPr txBox="1"/>
          <p:nvPr/>
        </p:nvSpPr>
        <p:spPr>
          <a:xfrm>
            <a:off x="5193792" y="4779362"/>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B42318"/>
                </a:solidFill>
                <a:effectLst/>
                <a:uLnTx/>
                <a:uFillTx/>
                <a:latin typeface="Calibri"/>
                <a:ea typeface="+mn-ea"/>
                <a:cs typeface="+mn-cs"/>
              </a:rPr>
              <a:t>TBD + Acra underwriter</a:t>
            </a:r>
          </a:p>
        </p:txBody>
      </p:sp>
      <p:sp>
        <p:nvSpPr>
          <p:cNvPr id="131" name="Rounded Rectangle 147"/>
          <p:cNvSpPr/>
          <p:nvPr/>
        </p:nvSpPr>
        <p:spPr>
          <a:xfrm>
            <a:off x="10451592" y="4808499"/>
            <a:ext cx="475488" cy="74166"/>
          </a:xfrm>
          <a:prstGeom prst="roundRect">
            <a:avLst>
              <a:gd name="adj" fmla="val 30000"/>
            </a:avLst>
          </a:prstGeom>
          <a:solidFill>
            <a:srgbClr val="D969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2" name="Rounded Rectangle 148"/>
          <p:cNvSpPr/>
          <p:nvPr/>
        </p:nvSpPr>
        <p:spPr>
          <a:xfrm>
            <a:off x="457200" y="4957522"/>
            <a:ext cx="1097280" cy="908795"/>
          </a:xfrm>
          <a:prstGeom prst="roundRect">
            <a:avLst>
              <a:gd name="adj" fmla="val 6000"/>
            </a:avLst>
          </a:prstGeom>
          <a:solidFill>
            <a:srgbClr val="E3F6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3" name="TextBox 149"/>
          <p:cNvSpPr txBox="1"/>
          <p:nvPr/>
        </p:nvSpPr>
        <p:spPr>
          <a:xfrm>
            <a:off x="548640" y="4957522"/>
            <a:ext cx="960120" cy="908795"/>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0D9488"/>
                </a:solidFill>
                <a:effectLst/>
                <a:uLnTx/>
                <a:uFillTx/>
                <a:latin typeface="Calibri"/>
                <a:ea typeface="+mn-ea"/>
                <a:cs typeface="+mn-cs"/>
              </a:rPr>
              <a:t>Reasoner testing</a:t>
            </a:r>
          </a:p>
        </p:txBody>
      </p:sp>
      <p:sp>
        <p:nvSpPr>
          <p:cNvPr id="134" name="Rounded Rectangle 150"/>
          <p:cNvSpPr/>
          <p:nvPr/>
        </p:nvSpPr>
        <p:spPr>
          <a:xfrm>
            <a:off x="1627632" y="4957522"/>
            <a:ext cx="4855464" cy="908795"/>
          </a:xfrm>
          <a:prstGeom prst="roundRect">
            <a:avLst>
              <a:gd name="adj" fmla="val 2000"/>
            </a:avLst>
          </a:prstGeom>
          <a:solidFill>
            <a:srgbClr val="FAF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5" name="TextBox 151"/>
          <p:cNvSpPr txBox="1"/>
          <p:nvPr/>
        </p:nvSpPr>
        <p:spPr>
          <a:xfrm>
            <a:off x="1700784" y="4957522"/>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Design rule by rule test cases from approved guidelines</a:t>
            </a:r>
          </a:p>
        </p:txBody>
      </p:sp>
      <p:sp>
        <p:nvSpPr>
          <p:cNvPr id="136" name="TextBox 152"/>
          <p:cNvSpPr txBox="1"/>
          <p:nvPr/>
        </p:nvSpPr>
        <p:spPr>
          <a:xfrm>
            <a:off x="5193792" y="4957522"/>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137" name="Rounded Rectangle 153"/>
          <p:cNvSpPr/>
          <p:nvPr/>
        </p:nvSpPr>
        <p:spPr>
          <a:xfrm>
            <a:off x="7324344" y="4986659"/>
            <a:ext cx="996696" cy="74166"/>
          </a:xfrm>
          <a:prstGeom prst="roundRect">
            <a:avLst>
              <a:gd name="adj" fmla="val 3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38" name="TextBox 154"/>
          <p:cNvSpPr txBox="1"/>
          <p:nvPr/>
        </p:nvSpPr>
        <p:spPr>
          <a:xfrm>
            <a:off x="1700784" y="5089963"/>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Unit test each encoded rule (rent, caps, entity, seasoning, overlays)</a:t>
            </a:r>
          </a:p>
        </p:txBody>
      </p:sp>
      <p:sp>
        <p:nvSpPr>
          <p:cNvPr id="139" name="TextBox 155"/>
          <p:cNvSpPr txBox="1"/>
          <p:nvPr/>
        </p:nvSpPr>
        <p:spPr>
          <a:xfrm>
            <a:off x="5193792" y="5089963"/>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140" name="Rounded Rectangle 156"/>
          <p:cNvSpPr/>
          <p:nvPr/>
        </p:nvSpPr>
        <p:spPr>
          <a:xfrm>
            <a:off x="8106156" y="5119100"/>
            <a:ext cx="996696" cy="74166"/>
          </a:xfrm>
          <a:prstGeom prst="roundRect">
            <a:avLst>
              <a:gd name="adj" fmla="val 3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41" name="TextBox 157"/>
          <p:cNvSpPr txBox="1"/>
          <p:nvPr/>
        </p:nvSpPr>
        <p:spPr>
          <a:xfrm>
            <a:off x="1700784" y="5222403"/>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Dry run on wave 1 loans vs manual outcomes</a:t>
            </a:r>
          </a:p>
        </p:txBody>
      </p:sp>
      <p:sp>
        <p:nvSpPr>
          <p:cNvPr id="142" name="TextBox 158"/>
          <p:cNvSpPr txBox="1"/>
          <p:nvPr/>
        </p:nvSpPr>
        <p:spPr>
          <a:xfrm>
            <a:off x="5193792" y="5222403"/>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143" name="Rounded Rectangle 159"/>
          <p:cNvSpPr/>
          <p:nvPr/>
        </p:nvSpPr>
        <p:spPr>
          <a:xfrm>
            <a:off x="8366760" y="5251540"/>
            <a:ext cx="736092" cy="74166"/>
          </a:xfrm>
          <a:prstGeom prst="roundRect">
            <a:avLst>
              <a:gd name="adj" fmla="val 3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44" name="TextBox 160"/>
          <p:cNvSpPr txBox="1"/>
          <p:nvPr/>
        </p:nvSpPr>
        <p:spPr>
          <a:xfrm>
            <a:off x="1700784" y="5354844"/>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Full scoring runs, both Assistants</a:t>
            </a:r>
          </a:p>
        </p:txBody>
      </p:sp>
      <p:sp>
        <p:nvSpPr>
          <p:cNvPr id="145" name="TextBox 161"/>
          <p:cNvSpPr txBox="1"/>
          <p:nvPr/>
        </p:nvSpPr>
        <p:spPr>
          <a:xfrm>
            <a:off x="5193792" y="5354844"/>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146" name="Rounded Rectangle 162"/>
          <p:cNvSpPr/>
          <p:nvPr/>
        </p:nvSpPr>
        <p:spPr>
          <a:xfrm>
            <a:off x="9148572" y="5383981"/>
            <a:ext cx="475488" cy="74166"/>
          </a:xfrm>
          <a:prstGeom prst="roundRect">
            <a:avLst>
              <a:gd name="adj" fmla="val 3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47" name="TextBox 163"/>
          <p:cNvSpPr txBox="1"/>
          <p:nvPr/>
        </p:nvSpPr>
        <p:spPr>
          <a:xfrm>
            <a:off x="1700784" y="5487284"/>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SME showcase: guideline text to rule to decision, with source links</a:t>
            </a:r>
          </a:p>
        </p:txBody>
      </p:sp>
      <p:sp>
        <p:nvSpPr>
          <p:cNvPr id="148" name="TextBox 164"/>
          <p:cNvSpPr txBox="1"/>
          <p:nvPr/>
        </p:nvSpPr>
        <p:spPr>
          <a:xfrm>
            <a:off x="5193792" y="5487284"/>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 + Acra SMEs</a:t>
            </a:r>
          </a:p>
        </p:txBody>
      </p:sp>
      <p:sp>
        <p:nvSpPr>
          <p:cNvPr id="149" name="Rounded Rectangle 165"/>
          <p:cNvSpPr/>
          <p:nvPr/>
        </p:nvSpPr>
        <p:spPr>
          <a:xfrm>
            <a:off x="9669780" y="5516421"/>
            <a:ext cx="736092" cy="74166"/>
          </a:xfrm>
          <a:prstGeom prst="roundRect">
            <a:avLst>
              <a:gd name="adj" fmla="val 3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0" name="TextBox 166"/>
          <p:cNvSpPr txBox="1"/>
          <p:nvPr/>
        </p:nvSpPr>
        <p:spPr>
          <a:xfrm>
            <a:off x="1700784" y="5619725"/>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Refine and rerun; regression retest</a:t>
            </a:r>
          </a:p>
        </p:txBody>
      </p:sp>
      <p:sp>
        <p:nvSpPr>
          <p:cNvPr id="151" name="TextBox 167"/>
          <p:cNvSpPr txBox="1"/>
          <p:nvPr/>
        </p:nvSpPr>
        <p:spPr>
          <a:xfrm>
            <a:off x="5193792" y="5619725"/>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152" name="Rounded Rectangle 168"/>
          <p:cNvSpPr/>
          <p:nvPr/>
        </p:nvSpPr>
        <p:spPr>
          <a:xfrm>
            <a:off x="9669780" y="5648862"/>
            <a:ext cx="736092" cy="74166"/>
          </a:xfrm>
          <a:prstGeom prst="roundRect">
            <a:avLst>
              <a:gd name="adj" fmla="val 3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3" name="TextBox 169"/>
          <p:cNvSpPr txBox="1"/>
          <p:nvPr/>
        </p:nvSpPr>
        <p:spPr>
          <a:xfrm>
            <a:off x="1700784" y="5752165"/>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Live guideline showcase inside UAT</a:t>
            </a:r>
          </a:p>
        </p:txBody>
      </p:sp>
      <p:sp>
        <p:nvSpPr>
          <p:cNvPr id="154" name="TextBox 170"/>
          <p:cNvSpPr txBox="1"/>
          <p:nvPr/>
        </p:nvSpPr>
        <p:spPr>
          <a:xfrm>
            <a:off x="5193792" y="5752165"/>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 + Acra UAT</a:t>
            </a:r>
          </a:p>
        </p:txBody>
      </p:sp>
      <p:sp>
        <p:nvSpPr>
          <p:cNvPr id="155" name="Rounded Rectangle 171"/>
          <p:cNvSpPr/>
          <p:nvPr/>
        </p:nvSpPr>
        <p:spPr>
          <a:xfrm>
            <a:off x="10451592" y="5781302"/>
            <a:ext cx="475488" cy="74166"/>
          </a:xfrm>
          <a:prstGeom prst="roundRect">
            <a:avLst>
              <a:gd name="adj" fmla="val 3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6" name="Rounded Rectangle 172"/>
          <p:cNvSpPr/>
          <p:nvPr/>
        </p:nvSpPr>
        <p:spPr>
          <a:xfrm>
            <a:off x="457200" y="5930326"/>
            <a:ext cx="1097280" cy="379033"/>
          </a:xfrm>
          <a:prstGeom prst="roundRect">
            <a:avLst>
              <a:gd name="adj" fmla="val 6000"/>
            </a:avLst>
          </a:prstGeom>
          <a:solidFill>
            <a:srgbClr val="ECE9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7" name="TextBox 173"/>
          <p:cNvSpPr txBox="1"/>
          <p:nvPr/>
        </p:nvSpPr>
        <p:spPr>
          <a:xfrm>
            <a:off x="548640" y="5930326"/>
            <a:ext cx="960120" cy="379033"/>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50" b="1" i="0" u="none" strike="noStrike" kern="1200" cap="none" spc="0" normalizeH="0" baseline="0" noProof="0">
                <a:ln>
                  <a:noFill/>
                </a:ln>
                <a:solidFill>
                  <a:srgbClr val="1B0065"/>
                </a:solidFill>
                <a:effectLst/>
                <a:uLnTx/>
                <a:uFillTx/>
                <a:latin typeface="Calibri"/>
                <a:ea typeface="+mn-ea"/>
                <a:cs typeface="+mn-cs"/>
              </a:rPr>
              <a:t>Validation and readout</a:t>
            </a:r>
          </a:p>
        </p:txBody>
      </p:sp>
      <p:sp>
        <p:nvSpPr>
          <p:cNvPr id="158" name="Rounded Rectangle 174"/>
          <p:cNvSpPr/>
          <p:nvPr/>
        </p:nvSpPr>
        <p:spPr>
          <a:xfrm>
            <a:off x="1627632" y="5930326"/>
            <a:ext cx="4855464" cy="379033"/>
          </a:xfrm>
          <a:prstGeom prst="roundRect">
            <a:avLst>
              <a:gd name="adj" fmla="val 2000"/>
            </a:avLst>
          </a:prstGeom>
          <a:solidFill>
            <a:srgbClr val="FAFB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59" name="TextBox 175"/>
          <p:cNvSpPr txBox="1"/>
          <p:nvPr/>
        </p:nvSpPr>
        <p:spPr>
          <a:xfrm>
            <a:off x="1700784" y="5930326"/>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Acra UAT: document processor, summary page, sizer</a:t>
            </a:r>
          </a:p>
        </p:txBody>
      </p:sp>
      <p:sp>
        <p:nvSpPr>
          <p:cNvPr id="160" name="TextBox 176"/>
          <p:cNvSpPr txBox="1"/>
          <p:nvPr/>
        </p:nvSpPr>
        <p:spPr>
          <a:xfrm>
            <a:off x="5193792" y="5930326"/>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1" i="0" u="none" strike="noStrike" kern="1200" cap="none" spc="0" normalizeH="0" baseline="0" noProof="0">
                <a:ln>
                  <a:noFill/>
                </a:ln>
                <a:solidFill>
                  <a:srgbClr val="B45309"/>
                </a:solidFill>
                <a:effectLst/>
                <a:uLnTx/>
                <a:uFillTx/>
                <a:latin typeface="Calibri"/>
                <a:ea typeface="+mn-ea"/>
                <a:cs typeface="+mn-cs"/>
              </a:rPr>
              <a:t>Acra</a:t>
            </a:r>
          </a:p>
        </p:txBody>
      </p:sp>
      <p:sp>
        <p:nvSpPr>
          <p:cNvPr id="161" name="Rounded Rectangle 177"/>
          <p:cNvSpPr/>
          <p:nvPr/>
        </p:nvSpPr>
        <p:spPr>
          <a:xfrm>
            <a:off x="10451592" y="5959463"/>
            <a:ext cx="475488" cy="74166"/>
          </a:xfrm>
          <a:prstGeom prst="roundRect">
            <a:avLst>
              <a:gd name="adj" fmla="val 30000"/>
            </a:avLst>
          </a:prstGeom>
          <a:solidFill>
            <a:srgbClr val="1B00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2" name="TextBox 178"/>
          <p:cNvSpPr txBox="1"/>
          <p:nvPr/>
        </p:nvSpPr>
        <p:spPr>
          <a:xfrm>
            <a:off x="1700784" y="6062766"/>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Readout prep (scored side by side)</a:t>
            </a:r>
          </a:p>
        </p:txBody>
      </p:sp>
      <p:sp>
        <p:nvSpPr>
          <p:cNvPr id="163" name="TextBox 179"/>
          <p:cNvSpPr txBox="1"/>
          <p:nvPr/>
        </p:nvSpPr>
        <p:spPr>
          <a:xfrm>
            <a:off x="5193792" y="6062766"/>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a:t>
            </a:r>
          </a:p>
        </p:txBody>
      </p:sp>
      <p:sp>
        <p:nvSpPr>
          <p:cNvPr id="164" name="Rounded Rectangle 180"/>
          <p:cNvSpPr/>
          <p:nvPr/>
        </p:nvSpPr>
        <p:spPr>
          <a:xfrm>
            <a:off x="10972800" y="6091903"/>
            <a:ext cx="214884" cy="74166"/>
          </a:xfrm>
          <a:prstGeom prst="roundRect">
            <a:avLst>
              <a:gd name="adj" fmla="val 30000"/>
            </a:avLst>
          </a:prstGeom>
          <a:solidFill>
            <a:srgbClr val="1B00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sp>
        <p:nvSpPr>
          <p:cNvPr id="165" name="TextBox 181"/>
          <p:cNvSpPr txBox="1"/>
          <p:nvPr/>
        </p:nvSpPr>
        <p:spPr>
          <a:xfrm>
            <a:off x="1700784" y="6195207"/>
            <a:ext cx="347472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800" b="0" i="0" u="none" strike="noStrike" kern="1200" cap="none" spc="0" normalizeH="0" baseline="0" noProof="0">
                <a:ln>
                  <a:noFill/>
                </a:ln>
                <a:solidFill>
                  <a:srgbClr val="1E293B"/>
                </a:solidFill>
                <a:effectLst/>
                <a:uLnTx/>
                <a:uFillTx/>
                <a:latin typeface="Calibri"/>
                <a:ea typeface="+mn-ea"/>
                <a:cs typeface="+mn-cs"/>
              </a:rPr>
              <a:t>Readout and go or no go</a:t>
            </a:r>
          </a:p>
        </p:txBody>
      </p:sp>
      <p:sp>
        <p:nvSpPr>
          <p:cNvPr id="166" name="TextBox 182"/>
          <p:cNvSpPr txBox="1"/>
          <p:nvPr/>
        </p:nvSpPr>
        <p:spPr>
          <a:xfrm>
            <a:off x="5193792" y="6195207"/>
            <a:ext cx="1325880" cy="132440"/>
          </a:xfrm>
          <a:prstGeom prst="rect">
            <a:avLst/>
          </a:prstGeom>
          <a:noFill/>
        </p:spPr>
        <p:txBody>
          <a:bodyPr wrap="square" lIns="0" tIns="0" rIns="0" bIns="0" anchor="ct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sz="750" b="0" i="0" u="none" strike="noStrike" kern="1200" cap="none" spc="0" normalizeH="0" baseline="0" noProof="0">
                <a:ln>
                  <a:noFill/>
                </a:ln>
                <a:solidFill>
                  <a:srgbClr val="1B0065"/>
                </a:solidFill>
                <a:effectLst/>
                <a:uLnTx/>
                <a:uFillTx/>
                <a:latin typeface="Calibri"/>
                <a:ea typeface="+mn-ea"/>
                <a:cs typeface="+mn-cs"/>
              </a:rPr>
              <a:t>JazzX + Exec sponsor</a:t>
            </a:r>
          </a:p>
        </p:txBody>
      </p:sp>
      <p:sp>
        <p:nvSpPr>
          <p:cNvPr id="167" name="Rounded Rectangle 183"/>
          <p:cNvSpPr/>
          <p:nvPr/>
        </p:nvSpPr>
        <p:spPr>
          <a:xfrm>
            <a:off x="11233404" y="6224344"/>
            <a:ext cx="475488" cy="74166"/>
          </a:xfrm>
          <a:prstGeom prst="roundRect">
            <a:avLst>
              <a:gd name="adj" fmla="val 30000"/>
            </a:avLst>
          </a:prstGeom>
          <a:solidFill>
            <a:srgbClr val="1B00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68" name="Connector 184"/>
          <p:cNvCxnSpPr/>
          <p:nvPr/>
        </p:nvCxnSpPr>
        <p:spPr>
          <a:xfrm>
            <a:off x="7822692" y="1837944"/>
            <a:ext cx="0" cy="4489704"/>
          </a:xfrm>
          <a:prstGeom prst="line">
            <a:avLst/>
          </a:prstGeom>
          <a:ln w="12700">
            <a:solidFill>
              <a:srgbClr val="B9C3EE"/>
            </a:solidFill>
            <a:prstDash val="dash"/>
          </a:ln>
        </p:spPr>
        <p:style>
          <a:lnRef idx="2">
            <a:schemeClr val="accent1"/>
          </a:lnRef>
          <a:fillRef idx="0">
            <a:schemeClr val="accent1"/>
          </a:fillRef>
          <a:effectRef idx="1">
            <a:schemeClr val="accent1"/>
          </a:effectRef>
          <a:fontRef idx="minor">
            <a:schemeClr val="tx1"/>
          </a:fontRef>
        </p:style>
      </p:cxnSp>
      <p:cxnSp>
        <p:nvCxnSpPr>
          <p:cNvPr id="169" name="Connector 185"/>
          <p:cNvCxnSpPr/>
          <p:nvPr/>
        </p:nvCxnSpPr>
        <p:spPr>
          <a:xfrm>
            <a:off x="9125712" y="1837944"/>
            <a:ext cx="0" cy="4489704"/>
          </a:xfrm>
          <a:prstGeom prst="line">
            <a:avLst/>
          </a:prstGeom>
          <a:ln w="12700">
            <a:solidFill>
              <a:srgbClr val="B9C3EE"/>
            </a:solidFill>
            <a:prstDash val="dash"/>
          </a:ln>
        </p:spPr>
        <p:style>
          <a:lnRef idx="2">
            <a:schemeClr val="accent1"/>
          </a:lnRef>
          <a:fillRef idx="0">
            <a:schemeClr val="accent1"/>
          </a:fillRef>
          <a:effectRef idx="1">
            <a:schemeClr val="accent1"/>
          </a:effectRef>
          <a:fontRef idx="minor">
            <a:schemeClr val="tx1"/>
          </a:fontRef>
        </p:style>
      </p:cxnSp>
      <p:cxnSp>
        <p:nvCxnSpPr>
          <p:cNvPr id="170" name="Connector 186"/>
          <p:cNvCxnSpPr/>
          <p:nvPr/>
        </p:nvCxnSpPr>
        <p:spPr>
          <a:xfrm>
            <a:off x="10428732" y="1837944"/>
            <a:ext cx="0" cy="4489704"/>
          </a:xfrm>
          <a:prstGeom prst="line">
            <a:avLst/>
          </a:prstGeom>
          <a:ln w="12700">
            <a:solidFill>
              <a:srgbClr val="B9C3EE"/>
            </a:solidFill>
            <a:prstDash val="dash"/>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defTabSz="1219170"/>
            <a:r>
              <a:rPr lang="en-US" sz="1000" b="1" spc="300">
                <a:solidFill>
                  <a:srgbClr val="5069EC"/>
                </a:solidFill>
                <a:latin typeface="Calibri"/>
              </a:rPr>
              <a:t>ACRA LENDING  ·  WHERE WE ARE TODAY</a:t>
            </a:r>
            <a:endParaRPr lang="en-US" sz="1467">
              <a:solidFill>
                <a:srgbClr val="1D2430"/>
              </a:solidFill>
              <a:latin typeface="Calibri"/>
            </a:endParaRPr>
          </a:p>
        </p:txBody>
      </p:sp>
      <p:sp>
        <p:nvSpPr>
          <p:cNvPr id="4" name="Subtitle"/>
          <p:cNvSpPr txBox="1"/>
          <p:nvPr/>
        </p:nvSpPr>
        <p:spPr>
          <a:xfrm>
            <a:off x="457200" y="1069848"/>
            <a:ext cx="11274552" cy="292608"/>
          </a:xfrm>
          <a:prstGeom prst="rect">
            <a:avLst/>
          </a:prstGeom>
          <a:noFill/>
          <a:ln/>
        </p:spPr>
        <p:txBody>
          <a:bodyPr wrap="square" lIns="0" tIns="0" rIns="0" bIns="0" rtlCol="0" anchor="ctr"/>
          <a:lstStyle/>
          <a:p>
            <a:pPr defTabSz="1219170"/>
            <a:r>
              <a:rPr lang="en-US" sz="1400" b="0" i="1">
                <a:solidFill>
                  <a:srgbClr val="5B2D8E"/>
                </a:solidFill>
                <a:latin typeface="Calibri"/>
              </a:rPr>
              <a:t>Manual underwriting is under way, giving us the first ground-truth set to calibrate the Reasoner against.</a:t>
            </a:r>
            <a:endParaRPr lang="en-US" sz="1400">
              <a:solidFill>
                <a:srgbClr val="5B2D8E"/>
              </a:solidFill>
              <a:latin typeface="Calibri"/>
            </a:endParaRPr>
          </a:p>
        </p:txBody>
      </p:sp>
      <p:sp>
        <p:nvSpPr>
          <p:cNvPr id="5" name="Card Done"/>
          <p:cNvSpPr/>
          <p:nvPr/>
        </p:nvSpPr>
        <p:spPr>
          <a:xfrm>
            <a:off x="457200" y="1463040"/>
            <a:ext cx="3592124" cy="24130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7" name="Text Done"/>
          <p:cNvSpPr txBox="1"/>
          <p:nvPr/>
        </p:nvSpPr>
        <p:spPr>
          <a:xfrm>
            <a:off x="607568" y="1670304"/>
            <a:ext cx="3291388" cy="21082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Done</a:t>
            </a:r>
            <a:endParaRPr lang="en-US" sz="1600">
              <a:solidFill>
                <a:srgbClr val="3600AD"/>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4-week milestone plan and day-level Gantt</a:t>
            </a:r>
          </a:p>
          <a:p>
            <a:pPr marL="171450" indent="-171450" defTabSz="1219170">
              <a:spcAft>
                <a:spcPts val="400"/>
              </a:spcAft>
              <a:buSzPct val="100000"/>
              <a:buFont typeface="Arial"/>
              <a:buChar char="•"/>
            </a:pPr>
            <a:r>
              <a:rPr lang="en-US" sz="1400">
                <a:solidFill>
                  <a:srgbClr val="1E293B"/>
                </a:solidFill>
                <a:latin typeface="Calibri"/>
              </a:rPr>
              <a:t>~3 loan packages manually underwritten (decision, conditions, worksheets) as benchmarks</a:t>
            </a:r>
          </a:p>
          <a:p>
            <a:pPr marL="171450" indent="-171450" defTabSz="1219170">
              <a:spcAft>
                <a:spcPts val="400"/>
              </a:spcAft>
              <a:buSzPct val="100000"/>
              <a:buFont typeface="Arial"/>
              <a:buChar char="•"/>
            </a:pPr>
            <a:r>
              <a:rPr lang="en-US" sz="1400">
                <a:solidFill>
                  <a:srgbClr val="1E293B"/>
                </a:solidFill>
                <a:latin typeface="Calibri"/>
              </a:rPr>
              <a:t>Demo UI built: document taxonomy and loan summary page designs</a:t>
            </a:r>
          </a:p>
        </p:txBody>
      </p:sp>
      <p:sp>
        <p:nvSpPr>
          <p:cNvPr id="8" name="Card In progress"/>
          <p:cNvSpPr/>
          <p:nvPr/>
        </p:nvSpPr>
        <p:spPr>
          <a:xfrm>
            <a:off x="4299938" y="1463040"/>
            <a:ext cx="3592124" cy="24130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10" name="Text In progress"/>
          <p:cNvSpPr txBox="1"/>
          <p:nvPr/>
        </p:nvSpPr>
        <p:spPr>
          <a:xfrm>
            <a:off x="4450306" y="1670304"/>
            <a:ext cx="3291388" cy="21082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In progress</a:t>
            </a:r>
            <a:endParaRPr lang="en-US" sz="1600">
              <a:solidFill>
                <a:srgbClr val="3600AD"/>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Manual underwriting under way on 5 sample loans</a:t>
            </a:r>
          </a:p>
          <a:p>
            <a:pPr marL="171450" indent="-171450" defTabSz="1219170">
              <a:spcAft>
                <a:spcPts val="400"/>
              </a:spcAft>
              <a:buSzPct val="100000"/>
              <a:buFont typeface="Arial"/>
              <a:buChar char="•"/>
            </a:pPr>
            <a:r>
              <a:rPr lang="en-US" sz="1400">
                <a:solidFill>
                  <a:srgbClr val="1E293B"/>
                </a:solidFill>
                <a:latin typeface="Calibri"/>
              </a:rPr>
              <a:t>Rule-by-rule test design for the Reasoner, from approved guidelines</a:t>
            </a:r>
          </a:p>
        </p:txBody>
      </p:sp>
      <p:sp>
        <p:nvSpPr>
          <p:cNvPr id="11" name="Card Still to land"/>
          <p:cNvSpPr/>
          <p:nvPr/>
        </p:nvSpPr>
        <p:spPr>
          <a:xfrm>
            <a:off x="8142676" y="1463040"/>
            <a:ext cx="3592124" cy="24130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13" name="Text Still to land"/>
          <p:cNvSpPr txBox="1"/>
          <p:nvPr/>
        </p:nvSpPr>
        <p:spPr>
          <a:xfrm>
            <a:off x="8293044" y="1670304"/>
            <a:ext cx="3291388" cy="21082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Still to land</a:t>
            </a:r>
            <a:endParaRPr lang="en-US" sz="1600">
              <a:solidFill>
                <a:srgbClr val="3600AD"/>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Acra feedback on taxonomy and summary page</a:t>
            </a:r>
          </a:p>
          <a:p>
            <a:pPr marL="171450" indent="-171450" defTabSz="1219170">
              <a:spcAft>
                <a:spcPts val="400"/>
              </a:spcAft>
              <a:buSzPct val="100000"/>
              <a:buFont typeface="Arial"/>
              <a:buChar char="•"/>
            </a:pPr>
            <a:r>
              <a:rPr lang="en-US" sz="1400">
                <a:solidFill>
                  <a:srgbClr val="1E293B"/>
                </a:solidFill>
                <a:latin typeface="Calibri"/>
              </a:rPr>
              <a:t>Remaining sample loans and Acra's results</a:t>
            </a:r>
          </a:p>
          <a:p>
            <a:pPr marL="171450" indent="-171450" defTabSz="1219170">
              <a:spcAft>
                <a:spcPts val="400"/>
              </a:spcAft>
              <a:buSzPct val="100000"/>
              <a:buFont typeface="Arial"/>
              <a:buChar char="•"/>
            </a:pPr>
            <a:r>
              <a:rPr lang="en-US" sz="1400">
                <a:solidFill>
                  <a:srgbClr val="1E293B"/>
                </a:solidFill>
                <a:latin typeface="Calibri"/>
              </a:rPr>
              <a:t>Scoring bars locked (conditions match rate, calc tolerance)</a:t>
            </a:r>
          </a:p>
        </p:txBody>
      </p:sp>
      <p:sp>
        <p:nvSpPr>
          <p:cNvPr id="14" name="Title 13">
            <a:extLst>
              <a:ext uri="{FF2B5EF4-FFF2-40B4-BE49-F238E27FC236}">
                <a16:creationId xmlns:a16="http://schemas.microsoft.com/office/drawing/2014/main" id="{38E90A6E-69E5-9291-E9B4-E36A86AE66BA}"/>
              </a:ext>
            </a:extLst>
          </p:cNvPr>
          <p:cNvSpPr>
            <a:spLocks noGrp="1"/>
          </p:cNvSpPr>
          <p:nvPr>
            <p:ph type="title" idx="101"/>
          </p:nvPr>
        </p:nvSpPr>
        <p:spPr/>
        <p:txBody>
          <a:bodyPr wrap="square" lIns="0" tIns="0" rIns="0" bIns="0"/>
          <a:lstStyle/>
          <a:p>
            <a:r>
              <a:rPr lang="en-US" sz="2600" b="1">
                <a:solidFill>
                  <a:srgbClr val="3600AD"/>
                </a:solidFill>
                <a:latin typeface="Calibri"/>
              </a:rPr>
              <a:t>Benchmarks started: ~3 loan packages underwritten</a:t>
            </a:r>
          </a:p>
        </p:txBody>
      </p:sp>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defRPr>
            </a:lvl1pPr>
          </a:lstStyle>
          <a:p>
            <a:pPr algn="r" defTabSz="1219170"/>
            <a:fld id="{F7021451-1387-4CA6-816F-3879F97B5CBC}" type="slidenum">
              <a:rPr lang="en-US" sz="900">
                <a:solidFill>
                  <a:srgbClr val="1B0065"/>
                </a:solidFill>
                <a:latin typeface="Calibri"/>
              </a:rPr>
              <a:pPr algn="r" defTabSz="1219170"/>
              <a:t>33</a:t>
            </a:fld>
            <a:endParaRPr lang="en-US">
              <a:solidFill>
                <a:srgbClr val="5D6675"/>
              </a:solidFill>
              <a:latin typeface="Calibri"/>
            </a:endParaRPr>
          </a:p>
        </p:txBody>
      </p:sp>
      <p:sp>
        <p:nvSpPr>
          <p:cNvPr id="90" name="Wordmark"/>
          <p:cNvSpPr txBox="1"/>
          <p:nvPr/>
        </p:nvSpPr>
        <p:spPr>
          <a:xfrm>
            <a:off x="411480" y="6419088"/>
            <a:ext cx="1280160" cy="292608"/>
          </a:xfrm>
          <a:prstGeom prst="rect">
            <a:avLst/>
          </a:prstGeom>
          <a:noFill/>
        </p:spPr>
        <p:txBody>
          <a:bodyPr wrap="square" lIns="0" tIns="0" rIns="0" bIns="0" rtlCol="0" anchor="ctr"/>
          <a:lstStyle/>
          <a:p>
            <a:r>
              <a:rPr lang="en-US" sz="1400" b="1">
                <a:solidFill>
                  <a:srgbClr val="1B0065"/>
                </a:solidFill>
                <a:latin typeface="Calibri"/>
              </a:rPr>
              <a:t>Jazz</a:t>
            </a:r>
            <a:r>
              <a:rPr lang="en-US" sz="1400" b="1">
                <a:solidFill>
                  <a:srgbClr val="FF592C"/>
                </a:solidFill>
                <a:latin typeface="Calibri"/>
              </a:rPr>
              <a:t>X</a:t>
            </a:r>
            <a:r>
              <a:rPr lang="en-US" sz="1400" b="1">
                <a:solidFill>
                  <a:srgbClr val="1B0065"/>
                </a:solidFill>
                <a:latin typeface="Calibri"/>
              </a:rPr>
              <a:t> AI</a:t>
            </a:r>
          </a:p>
        </p:txBody>
      </p:sp>
    </p:spTree>
    <p:extLst>
      <p:ext uri="{BB962C8B-B14F-4D97-AF65-F5344CB8AC3E}">
        <p14:creationId xmlns:p14="http://schemas.microsoft.com/office/powerpoint/2010/main" val="14598871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defTabSz="1219170"/>
            <a:r>
              <a:rPr lang="en-US" sz="1000" b="1" spc="300">
                <a:solidFill>
                  <a:srgbClr val="5069EC"/>
                </a:solidFill>
                <a:latin typeface="Calibri"/>
              </a:rPr>
              <a:t>ACRA LENDING  ·  NEXT STEP</a:t>
            </a:r>
            <a:endParaRPr lang="en-US" sz="1467">
              <a:solidFill>
                <a:srgbClr val="1D2430"/>
              </a:solidFill>
              <a:latin typeface="Calibri"/>
            </a:endParaRPr>
          </a:p>
        </p:txBody>
      </p:sp>
      <p:sp>
        <p:nvSpPr>
          <p:cNvPr id="4" name="Subtitle"/>
          <p:cNvSpPr txBox="1"/>
          <p:nvPr/>
        </p:nvSpPr>
        <p:spPr>
          <a:xfrm>
            <a:off x="457200" y="1069848"/>
            <a:ext cx="11274552" cy="292608"/>
          </a:xfrm>
          <a:prstGeom prst="rect">
            <a:avLst/>
          </a:prstGeom>
          <a:noFill/>
          <a:ln/>
        </p:spPr>
        <p:txBody>
          <a:bodyPr wrap="square" lIns="0" tIns="0" rIns="0" bIns="0" rtlCol="0" anchor="ctr"/>
          <a:lstStyle/>
          <a:p>
            <a:pPr defTabSz="1219170"/>
            <a:r>
              <a:rPr lang="en-US" sz="1400" b="0" i="1">
                <a:solidFill>
                  <a:srgbClr val="5B2D8E"/>
                </a:solidFill>
                <a:latin typeface="Calibri"/>
              </a:rPr>
              <a:t>A working walkthrough of the two pieces Acra's processors will use, so they react to something real rather than a spec.</a:t>
            </a:r>
            <a:endParaRPr lang="en-US" sz="1400">
              <a:solidFill>
                <a:srgbClr val="5B2D8E"/>
              </a:solidFill>
              <a:latin typeface="Calibri"/>
            </a:endParaRPr>
          </a:p>
        </p:txBody>
      </p:sp>
      <p:sp>
        <p:nvSpPr>
          <p:cNvPr id="5" name="Card 1. Document taxonomy"/>
          <p:cNvSpPr/>
          <p:nvPr/>
        </p:nvSpPr>
        <p:spPr>
          <a:xfrm>
            <a:off x="457200" y="1463040"/>
            <a:ext cx="3592124" cy="23495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7" name="Text 1. Document taxonomy"/>
          <p:cNvSpPr txBox="1"/>
          <p:nvPr/>
        </p:nvSpPr>
        <p:spPr>
          <a:xfrm>
            <a:off x="607568" y="1670304"/>
            <a:ext cx="3291388" cy="20447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1. Document taxonomy</a:t>
            </a:r>
            <a:endParaRPr lang="en-US" sz="1600">
              <a:solidFill>
                <a:srgbClr val="3600AD"/>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Documents split, classified, indexed and named</a:t>
            </a:r>
          </a:p>
          <a:p>
            <a:pPr marL="171450" indent="-171450" defTabSz="1219170">
              <a:spcAft>
                <a:spcPts val="400"/>
              </a:spcAft>
              <a:buSzPct val="100000"/>
              <a:buFont typeface="Arial"/>
              <a:buChar char="•"/>
            </a:pPr>
            <a:r>
              <a:rPr lang="en-US" sz="1400">
                <a:solidFill>
                  <a:srgbClr val="1E293B"/>
                </a:solidFill>
                <a:latin typeface="Calibri"/>
              </a:rPr>
              <a:t>Review against Acra's BytePro list and naming convention</a:t>
            </a:r>
          </a:p>
          <a:p>
            <a:pPr marL="171450" indent="-171450" defTabSz="1219170">
              <a:spcAft>
                <a:spcPts val="400"/>
              </a:spcAft>
              <a:buSzPct val="100000"/>
              <a:buFont typeface="Arial"/>
              <a:buChar char="•"/>
            </a:pPr>
            <a:r>
              <a:rPr lang="en-US" sz="1400">
                <a:solidFill>
                  <a:srgbClr val="1E293B"/>
                </a:solidFill>
                <a:latin typeface="Calibri"/>
              </a:rPr>
              <a:t>Proposed bar: over 90% accuracy</a:t>
            </a:r>
          </a:p>
        </p:txBody>
      </p:sp>
      <p:sp>
        <p:nvSpPr>
          <p:cNvPr id="8" name="Card 2. Loan summary page"/>
          <p:cNvSpPr/>
          <p:nvPr/>
        </p:nvSpPr>
        <p:spPr>
          <a:xfrm>
            <a:off x="4299938" y="1463040"/>
            <a:ext cx="3592124" cy="23495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10" name="Text 2. Loan summary page"/>
          <p:cNvSpPr txBox="1"/>
          <p:nvPr/>
        </p:nvSpPr>
        <p:spPr>
          <a:xfrm>
            <a:off x="4450306" y="1670304"/>
            <a:ext cx="3291388" cy="20447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2. Loan summary page</a:t>
            </a:r>
            <a:endParaRPr lang="en-US" sz="1600">
              <a:solidFill>
                <a:srgbClr val="3600AD"/>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Loan snapshot, key numbers, eligibility, conditions, document status</a:t>
            </a:r>
          </a:p>
          <a:p>
            <a:pPr marL="171450" indent="-171450" defTabSz="1219170">
              <a:spcAft>
                <a:spcPts val="400"/>
              </a:spcAft>
              <a:buSzPct val="100000"/>
              <a:buFont typeface="Arial"/>
              <a:buChar char="•"/>
            </a:pPr>
            <a:r>
              <a:rPr lang="en-US" sz="1400">
                <a:solidFill>
                  <a:srgbClr val="1E293B"/>
                </a:solidFill>
                <a:latin typeface="Calibri"/>
              </a:rPr>
              <a:t>Every figure source-linked; a recommendation, never an approval</a:t>
            </a:r>
          </a:p>
        </p:txBody>
      </p:sp>
      <p:sp>
        <p:nvSpPr>
          <p:cNvPr id="11" name="Card What we want from the session"/>
          <p:cNvSpPr/>
          <p:nvPr/>
        </p:nvSpPr>
        <p:spPr>
          <a:xfrm>
            <a:off x="8142676" y="1463040"/>
            <a:ext cx="3592124" cy="23495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13" name="Text What we want from the session"/>
          <p:cNvSpPr txBox="1"/>
          <p:nvPr/>
        </p:nvSpPr>
        <p:spPr>
          <a:xfrm>
            <a:off x="8293044" y="1670304"/>
            <a:ext cx="3291388" cy="20447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What we want from the session</a:t>
            </a:r>
            <a:endParaRPr lang="en-US" sz="1600">
              <a:solidFill>
                <a:srgbClr val="3600AD"/>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Taxonomy and naming confirmed or corrected</a:t>
            </a:r>
          </a:p>
          <a:p>
            <a:pPr marL="171450" indent="-171450" defTabSz="1219170">
              <a:spcAft>
                <a:spcPts val="400"/>
              </a:spcAft>
              <a:buSzPct val="100000"/>
              <a:buFont typeface="Arial"/>
              <a:buChar char="•"/>
            </a:pPr>
            <a:r>
              <a:rPr lang="en-US" sz="1400">
                <a:solidFill>
                  <a:srgbClr val="1E293B"/>
                </a:solidFill>
                <a:latin typeface="Calibri"/>
              </a:rPr>
              <a:t>Summary page content agreed (freeze by Day 5)</a:t>
            </a:r>
          </a:p>
          <a:p>
            <a:pPr marL="171450" indent="-171450" defTabSz="1219170">
              <a:spcAft>
                <a:spcPts val="400"/>
              </a:spcAft>
              <a:buSzPct val="100000"/>
              <a:buFont typeface="Arial"/>
              <a:buChar char="•"/>
            </a:pPr>
            <a:r>
              <a:rPr lang="en-US" sz="1400">
                <a:solidFill>
                  <a:srgbClr val="1E293B"/>
                </a:solidFill>
                <a:latin typeface="Calibri"/>
              </a:rPr>
              <a:t>Answers: first-checked fields, single loan vs pipeline, read-only, one view vs per program</a:t>
            </a:r>
          </a:p>
        </p:txBody>
      </p:sp>
      <p:sp>
        <p:nvSpPr>
          <p:cNvPr id="14" name="Note"/>
          <p:cNvSpPr txBox="1"/>
          <p:nvPr/>
        </p:nvSpPr>
        <p:spPr>
          <a:xfrm>
            <a:off x="457200" y="4041140"/>
            <a:ext cx="11277600" cy="487680"/>
          </a:xfrm>
          <a:prstGeom prst="rect">
            <a:avLst/>
          </a:prstGeom>
          <a:noFill/>
          <a:ln/>
        </p:spPr>
        <p:txBody>
          <a:bodyPr wrap="square" lIns="0" tIns="0" rIns="0" bIns="0" rtlCol="0" anchor="ctr"/>
          <a:lstStyle/>
          <a:p>
            <a:pPr defTabSz="1219170"/>
            <a:r>
              <a:rPr lang="en-US" sz="1467">
                <a:solidFill>
                  <a:srgbClr val="5D6675"/>
                </a:solidFill>
                <a:latin typeface="Calibri"/>
              </a:rPr>
              <a:t>Ask of Acra: bring 2–3 loan processors to the session.</a:t>
            </a:r>
            <a:endParaRPr lang="en-US" sz="1467">
              <a:solidFill>
                <a:srgbClr val="1D2430"/>
              </a:solidFill>
              <a:latin typeface="Calibri"/>
            </a:endParaRPr>
          </a:p>
        </p:txBody>
      </p:sp>
      <p:sp>
        <p:nvSpPr>
          <p:cNvPr id="15" name="Title 14">
            <a:extLst>
              <a:ext uri="{FF2B5EF4-FFF2-40B4-BE49-F238E27FC236}">
                <a16:creationId xmlns:a16="http://schemas.microsoft.com/office/drawing/2014/main" id="{E4B3C8CD-0826-A978-681C-917E3CF3C1BE}"/>
              </a:ext>
            </a:extLst>
          </p:cNvPr>
          <p:cNvSpPr>
            <a:spLocks noGrp="1"/>
          </p:cNvSpPr>
          <p:nvPr>
            <p:ph type="title" idx="101"/>
          </p:nvPr>
        </p:nvSpPr>
        <p:spPr/>
        <p:txBody>
          <a:bodyPr wrap="square" lIns="0" tIns="0" rIns="0" bIns="0"/>
          <a:lstStyle/>
          <a:p>
            <a:r>
              <a:rPr lang="en-US" sz="2600" b="1">
                <a:solidFill>
                  <a:srgbClr val="3600AD"/>
                </a:solidFill>
                <a:latin typeface="Calibri"/>
              </a:rPr>
              <a:t>Showcase the demo UI to the Acra team</a:t>
            </a:r>
          </a:p>
        </p:txBody>
      </p:sp>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defRPr>
            </a:lvl1pPr>
          </a:lstStyle>
          <a:p>
            <a:pPr algn="r" defTabSz="1219170"/>
            <a:fld id="{F7021451-1387-4CA6-816F-3879F97B5CBC}" type="slidenum">
              <a:rPr lang="en-US" sz="900">
                <a:solidFill>
                  <a:srgbClr val="1B0065"/>
                </a:solidFill>
                <a:latin typeface="Calibri"/>
              </a:rPr>
              <a:pPr algn="r" defTabSz="1219170"/>
              <a:t>34</a:t>
            </a:fld>
            <a:endParaRPr lang="en-US">
              <a:solidFill>
                <a:srgbClr val="5D6675"/>
              </a:solidFill>
              <a:latin typeface="Calibri"/>
            </a:endParaRPr>
          </a:p>
        </p:txBody>
      </p:sp>
      <p:sp>
        <p:nvSpPr>
          <p:cNvPr id="90" name="Wordmark"/>
          <p:cNvSpPr txBox="1"/>
          <p:nvPr/>
        </p:nvSpPr>
        <p:spPr>
          <a:xfrm>
            <a:off x="411480" y="6419088"/>
            <a:ext cx="1280160" cy="292608"/>
          </a:xfrm>
          <a:prstGeom prst="rect">
            <a:avLst/>
          </a:prstGeom>
          <a:noFill/>
        </p:spPr>
        <p:txBody>
          <a:bodyPr wrap="square" lIns="0" tIns="0" rIns="0" bIns="0" rtlCol="0" anchor="ctr"/>
          <a:lstStyle/>
          <a:p>
            <a:r>
              <a:rPr lang="en-US" sz="1400" b="1">
                <a:solidFill>
                  <a:srgbClr val="1B0065"/>
                </a:solidFill>
                <a:latin typeface="Calibri"/>
              </a:rPr>
              <a:t>Jazz</a:t>
            </a:r>
            <a:r>
              <a:rPr lang="en-US" sz="1400" b="1">
                <a:solidFill>
                  <a:srgbClr val="FF592C"/>
                </a:solidFill>
                <a:latin typeface="Calibri"/>
              </a:rPr>
              <a:t>X</a:t>
            </a:r>
            <a:r>
              <a:rPr lang="en-US" sz="1400" b="1">
                <a:solidFill>
                  <a:srgbClr val="1B0065"/>
                </a:solidFill>
                <a:latin typeface="Calibri"/>
              </a:rPr>
              <a:t> AI</a:t>
            </a:r>
          </a:p>
        </p:txBody>
      </p:sp>
    </p:spTree>
    <p:extLst>
      <p:ext uri="{BB962C8B-B14F-4D97-AF65-F5344CB8AC3E}">
        <p14:creationId xmlns:p14="http://schemas.microsoft.com/office/powerpoint/2010/main" val="35468161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defTabSz="1219170"/>
            <a:r>
              <a:rPr lang="en-US" sz="1000" b="1" spc="300">
                <a:solidFill>
                  <a:srgbClr val="5069EC"/>
                </a:solidFill>
                <a:latin typeface="Calibri"/>
              </a:rPr>
              <a:t>ACRA LENDING  ·  HOW WE MOVE FORWARD</a:t>
            </a:r>
            <a:endParaRPr lang="en-US" sz="1467">
              <a:solidFill>
                <a:srgbClr val="1D2430"/>
              </a:solidFill>
              <a:latin typeface="Calibri"/>
            </a:endParaRPr>
          </a:p>
        </p:txBody>
      </p:sp>
      <p:sp>
        <p:nvSpPr>
          <p:cNvPr id="4" name="Subtitle"/>
          <p:cNvSpPr txBox="1"/>
          <p:nvPr/>
        </p:nvSpPr>
        <p:spPr>
          <a:xfrm>
            <a:off x="457200" y="1069848"/>
            <a:ext cx="11274552" cy="292608"/>
          </a:xfrm>
          <a:prstGeom prst="rect">
            <a:avLst/>
          </a:prstGeom>
          <a:noFill/>
          <a:ln/>
        </p:spPr>
        <p:txBody>
          <a:bodyPr wrap="square" lIns="0" tIns="0" rIns="0" bIns="0" rtlCol="0" anchor="ctr"/>
          <a:lstStyle/>
          <a:p>
            <a:pPr defTabSz="1219170"/>
            <a:r>
              <a:rPr lang="en-US" sz="1400" b="0" i="1">
                <a:solidFill>
                  <a:srgbClr val="5B2D8E"/>
                </a:solidFill>
                <a:latin typeface="Calibri"/>
              </a:rPr>
              <a:t>The plan advances on exit criteria, not on the calendar.</a:t>
            </a:r>
            <a:endParaRPr lang="en-US" sz="1400">
              <a:solidFill>
                <a:srgbClr val="5B2D8E"/>
              </a:solidFill>
              <a:latin typeface="Calibri"/>
            </a:endParaRPr>
          </a:p>
        </p:txBody>
      </p:sp>
      <p:sp>
        <p:nvSpPr>
          <p:cNvPr id="5" name="Card M1 Aligned"/>
          <p:cNvSpPr/>
          <p:nvPr/>
        </p:nvSpPr>
        <p:spPr>
          <a:xfrm>
            <a:off x="457200" y="1463040"/>
            <a:ext cx="2631440" cy="24130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7" name="Text M1 Aligned"/>
          <p:cNvSpPr txBox="1"/>
          <p:nvPr/>
        </p:nvSpPr>
        <p:spPr>
          <a:xfrm>
            <a:off x="607568" y="1670304"/>
            <a:ext cx="2330704" cy="21082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M1 Aligned</a:t>
            </a:r>
            <a:endParaRPr lang="en-US" sz="1600">
              <a:solidFill>
                <a:srgbClr val="3600AD"/>
              </a:solidFill>
              <a:latin typeface="Calibri"/>
            </a:endParaRPr>
          </a:p>
          <a:p>
            <a:pPr defTabSz="1219170">
              <a:spcAft>
                <a:spcPts val="400"/>
              </a:spcAft>
            </a:pPr>
            <a:r>
              <a:rPr lang="en-US" sz="1400" i="1">
                <a:solidFill>
                  <a:srgbClr val="5B2D8E"/>
                </a:solidFill>
                <a:latin typeface="Calibri"/>
              </a:rPr>
              <a:t>Week 1 · D1–5</a:t>
            </a:r>
            <a:endParaRPr lang="en-US" sz="1400">
              <a:solidFill>
                <a:srgbClr val="5B2D8E"/>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Charter signed, guidelines approved</a:t>
            </a:r>
          </a:p>
          <a:p>
            <a:pPr marL="171450" indent="-171450" defTabSz="1219170">
              <a:spcAft>
                <a:spcPts val="400"/>
              </a:spcAft>
              <a:buSzPct val="100000"/>
              <a:buFont typeface="Arial"/>
              <a:buChar char="•"/>
            </a:pPr>
            <a:r>
              <a:rPr lang="en-US" sz="1400">
                <a:solidFill>
                  <a:srgbClr val="1E293B"/>
                </a:solidFill>
                <a:latin typeface="Calibri"/>
              </a:rPr>
              <a:t>Samples and Acra results in hand</a:t>
            </a:r>
          </a:p>
          <a:p>
            <a:pPr marL="171450" indent="-171450" defTabSz="1219170">
              <a:spcAft>
                <a:spcPts val="400"/>
              </a:spcAft>
              <a:buSzPct val="100000"/>
              <a:buFont typeface="Arial"/>
              <a:buChar char="•"/>
            </a:pPr>
            <a:r>
              <a:rPr lang="en-US" sz="1400">
                <a:solidFill>
                  <a:srgbClr val="1E293B"/>
                </a:solidFill>
                <a:latin typeface="Calibri"/>
              </a:rPr>
              <a:t>Success criteria and go/no-go rule locked</a:t>
            </a:r>
          </a:p>
        </p:txBody>
      </p:sp>
      <p:sp>
        <p:nvSpPr>
          <p:cNvPr id="8" name="Card M2 Configured"/>
          <p:cNvSpPr/>
          <p:nvPr/>
        </p:nvSpPr>
        <p:spPr>
          <a:xfrm>
            <a:off x="3339253" y="1463040"/>
            <a:ext cx="2631440" cy="24130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10" name="Text M2 Configured"/>
          <p:cNvSpPr txBox="1"/>
          <p:nvPr/>
        </p:nvSpPr>
        <p:spPr>
          <a:xfrm>
            <a:off x="3489621" y="1670304"/>
            <a:ext cx="2330704" cy="21082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M2 Configured</a:t>
            </a:r>
            <a:endParaRPr lang="en-US" sz="1600">
              <a:solidFill>
                <a:srgbClr val="3600AD"/>
              </a:solidFill>
              <a:latin typeface="Calibri"/>
            </a:endParaRPr>
          </a:p>
          <a:p>
            <a:pPr defTabSz="1219170">
              <a:spcAft>
                <a:spcPts val="400"/>
              </a:spcAft>
            </a:pPr>
            <a:r>
              <a:rPr lang="en-US" sz="1400" i="1">
                <a:solidFill>
                  <a:srgbClr val="5B2D8E"/>
                </a:solidFill>
                <a:latin typeface="Calibri"/>
              </a:rPr>
              <a:t>Week 2 · D6–10</a:t>
            </a:r>
            <a:endParaRPr lang="en-US" sz="1400">
              <a:solidFill>
                <a:srgbClr val="5B2D8E"/>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Policies encoded, processor configured</a:t>
            </a:r>
          </a:p>
          <a:p>
            <a:pPr marL="171450" indent="-171450" defTabSz="1219170">
              <a:spcAft>
                <a:spcPts val="400"/>
              </a:spcAft>
              <a:buSzPct val="100000"/>
              <a:buFont typeface="Arial"/>
              <a:buChar char="•"/>
            </a:pPr>
            <a:r>
              <a:rPr lang="en-US" sz="1400">
                <a:solidFill>
                  <a:srgbClr val="1E293B"/>
                </a:solidFill>
                <a:latin typeface="Calibri"/>
              </a:rPr>
              <a:t>Summary page and sizer live</a:t>
            </a:r>
          </a:p>
          <a:p>
            <a:pPr marL="171450" indent="-171450" defTabSz="1219170">
              <a:spcAft>
                <a:spcPts val="400"/>
              </a:spcAft>
              <a:buSzPct val="100000"/>
              <a:buFont typeface="Arial"/>
              <a:buChar char="•"/>
            </a:pPr>
            <a:r>
              <a:rPr lang="en-US" sz="1400">
                <a:solidFill>
                  <a:srgbClr val="1E293B"/>
                </a:solidFill>
                <a:latin typeface="Calibri"/>
              </a:rPr>
              <a:t>Ground-truth pack locked</a:t>
            </a:r>
          </a:p>
        </p:txBody>
      </p:sp>
      <p:sp>
        <p:nvSpPr>
          <p:cNvPr id="11" name="Card M3 Scored"/>
          <p:cNvSpPr/>
          <p:nvPr/>
        </p:nvSpPr>
        <p:spPr>
          <a:xfrm>
            <a:off x="6221307" y="1463040"/>
            <a:ext cx="2631440" cy="24130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13" name="Text M3 Scored"/>
          <p:cNvSpPr txBox="1"/>
          <p:nvPr/>
        </p:nvSpPr>
        <p:spPr>
          <a:xfrm>
            <a:off x="6371675" y="1670304"/>
            <a:ext cx="2330704" cy="21082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M3 Scored</a:t>
            </a:r>
            <a:endParaRPr lang="en-US" sz="1600">
              <a:solidFill>
                <a:srgbClr val="3600AD"/>
              </a:solidFill>
              <a:latin typeface="Calibri"/>
            </a:endParaRPr>
          </a:p>
          <a:p>
            <a:pPr defTabSz="1219170">
              <a:spcAft>
                <a:spcPts val="400"/>
              </a:spcAft>
            </a:pPr>
            <a:r>
              <a:rPr lang="en-US" sz="1400" i="1">
                <a:solidFill>
                  <a:srgbClr val="5B2D8E"/>
                </a:solidFill>
                <a:latin typeface="Calibri"/>
              </a:rPr>
              <a:t>Week 3 · D11–15</a:t>
            </a:r>
            <a:endParaRPr lang="en-US" sz="1400">
              <a:solidFill>
                <a:srgbClr val="5B2D8E"/>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All loans through both Assistants</a:t>
            </a:r>
          </a:p>
          <a:p>
            <a:pPr marL="171450" indent="-171450" defTabSz="1219170">
              <a:spcAft>
                <a:spcPts val="400"/>
              </a:spcAft>
              <a:buSzPct val="100000"/>
              <a:buFont typeface="Arial"/>
              <a:buChar char="•"/>
            </a:pPr>
            <a:r>
              <a:rPr lang="en-US" sz="1400">
                <a:solidFill>
                  <a:srgbClr val="1E293B"/>
                </a:solidFill>
                <a:latin typeface="Calibri"/>
              </a:rPr>
              <a:t>Line-by-line reconciliation</a:t>
            </a:r>
          </a:p>
          <a:p>
            <a:pPr marL="171450" indent="-171450" defTabSz="1219170">
              <a:spcAft>
                <a:spcPts val="400"/>
              </a:spcAft>
              <a:buSzPct val="100000"/>
              <a:buFont typeface="Arial"/>
              <a:buChar char="•"/>
            </a:pPr>
            <a:r>
              <a:rPr lang="en-US" sz="1400">
                <a:solidFill>
                  <a:srgbClr val="1E293B"/>
                </a:solidFill>
                <a:latin typeface="Calibri"/>
              </a:rPr>
              <a:t>Two SME reviews with refine and re-run</a:t>
            </a:r>
          </a:p>
        </p:txBody>
      </p:sp>
      <p:sp>
        <p:nvSpPr>
          <p:cNvPr id="14" name="Card M4 Validated"/>
          <p:cNvSpPr/>
          <p:nvPr/>
        </p:nvSpPr>
        <p:spPr>
          <a:xfrm>
            <a:off x="9103360" y="1463040"/>
            <a:ext cx="2631440" cy="24130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16" name="Text M4 Validated"/>
          <p:cNvSpPr txBox="1"/>
          <p:nvPr/>
        </p:nvSpPr>
        <p:spPr>
          <a:xfrm>
            <a:off x="9253728" y="1670304"/>
            <a:ext cx="2330704" cy="21082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M4 Validated</a:t>
            </a:r>
            <a:endParaRPr lang="en-US" sz="1600">
              <a:solidFill>
                <a:srgbClr val="3600AD"/>
              </a:solidFill>
              <a:latin typeface="Calibri"/>
            </a:endParaRPr>
          </a:p>
          <a:p>
            <a:pPr defTabSz="1219170">
              <a:spcAft>
                <a:spcPts val="400"/>
              </a:spcAft>
            </a:pPr>
            <a:r>
              <a:rPr lang="en-US" sz="1400" i="1">
                <a:solidFill>
                  <a:srgbClr val="5B2D8E"/>
                </a:solidFill>
                <a:latin typeface="Calibri"/>
              </a:rPr>
              <a:t>Week 4 · D16–20</a:t>
            </a:r>
            <a:endParaRPr lang="en-US" sz="1400">
              <a:solidFill>
                <a:srgbClr val="5B2D8E"/>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Acra UAT and live showcase</a:t>
            </a:r>
          </a:p>
          <a:p>
            <a:pPr marL="171450" indent="-171450" defTabSz="1219170">
              <a:spcAft>
                <a:spcPts val="400"/>
              </a:spcAft>
              <a:buSzPct val="100000"/>
              <a:buFont typeface="Arial"/>
              <a:buChar char="•"/>
            </a:pPr>
            <a:r>
              <a:rPr lang="en-US" sz="1400">
                <a:solidFill>
                  <a:srgbClr val="1E293B"/>
                </a:solidFill>
                <a:latin typeface="Calibri"/>
              </a:rPr>
              <a:t>Scored readout</a:t>
            </a:r>
          </a:p>
          <a:p>
            <a:pPr marL="171450" indent="-171450" defTabSz="1219170">
              <a:spcAft>
                <a:spcPts val="400"/>
              </a:spcAft>
              <a:buSzPct val="100000"/>
              <a:buFont typeface="Arial"/>
              <a:buChar char="•"/>
            </a:pPr>
            <a:r>
              <a:rPr lang="en-US" sz="1400">
                <a:solidFill>
                  <a:srgbClr val="1E293B"/>
                </a:solidFill>
                <a:latin typeface="Calibri"/>
              </a:rPr>
              <a:t>Go/no-go</a:t>
            </a:r>
          </a:p>
        </p:txBody>
      </p:sp>
      <p:sp>
        <p:nvSpPr>
          <p:cNvPr id="17" name="Title 16">
            <a:extLst>
              <a:ext uri="{FF2B5EF4-FFF2-40B4-BE49-F238E27FC236}">
                <a16:creationId xmlns:a16="http://schemas.microsoft.com/office/drawing/2014/main" id="{5061394B-FE72-3B72-E488-C2DE09C15C0D}"/>
              </a:ext>
            </a:extLst>
          </p:cNvPr>
          <p:cNvSpPr>
            <a:spLocks noGrp="1"/>
          </p:cNvSpPr>
          <p:nvPr>
            <p:ph type="title" idx="101"/>
          </p:nvPr>
        </p:nvSpPr>
        <p:spPr/>
        <p:txBody>
          <a:bodyPr wrap="square" lIns="0" tIns="0" rIns="0" bIns="0"/>
          <a:lstStyle/>
          <a:p>
            <a:r>
              <a:rPr lang="en-US" sz="2600" b="1">
                <a:solidFill>
                  <a:srgbClr val="3600AD"/>
                </a:solidFill>
                <a:latin typeface="Calibri"/>
              </a:rPr>
              <a:t>Four milestones, each with an exit gate</a:t>
            </a:r>
          </a:p>
        </p:txBody>
      </p:sp>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defRPr>
            </a:lvl1pPr>
          </a:lstStyle>
          <a:p>
            <a:pPr algn="r" defTabSz="1219170"/>
            <a:fld id="{F7021451-1387-4CA6-816F-3879F97B5CBC}" type="slidenum">
              <a:rPr lang="en-US" sz="900">
                <a:solidFill>
                  <a:srgbClr val="1B0065"/>
                </a:solidFill>
                <a:latin typeface="Calibri"/>
              </a:rPr>
              <a:pPr algn="r" defTabSz="1219170"/>
              <a:t>35</a:t>
            </a:fld>
            <a:endParaRPr lang="en-US">
              <a:solidFill>
                <a:srgbClr val="5D6675"/>
              </a:solidFill>
              <a:latin typeface="Calibri"/>
            </a:endParaRPr>
          </a:p>
        </p:txBody>
      </p:sp>
      <p:sp>
        <p:nvSpPr>
          <p:cNvPr id="90" name="Wordmark"/>
          <p:cNvSpPr txBox="1"/>
          <p:nvPr/>
        </p:nvSpPr>
        <p:spPr>
          <a:xfrm>
            <a:off x="411480" y="6419088"/>
            <a:ext cx="1280160" cy="292608"/>
          </a:xfrm>
          <a:prstGeom prst="rect">
            <a:avLst/>
          </a:prstGeom>
          <a:noFill/>
        </p:spPr>
        <p:txBody>
          <a:bodyPr wrap="square" lIns="0" tIns="0" rIns="0" bIns="0" rtlCol="0" anchor="ctr"/>
          <a:lstStyle/>
          <a:p>
            <a:r>
              <a:rPr lang="en-US" sz="1400" b="1">
                <a:solidFill>
                  <a:srgbClr val="1B0065"/>
                </a:solidFill>
                <a:latin typeface="Calibri"/>
              </a:rPr>
              <a:t>Jazz</a:t>
            </a:r>
            <a:r>
              <a:rPr lang="en-US" sz="1400" b="1">
                <a:solidFill>
                  <a:srgbClr val="FF592C"/>
                </a:solidFill>
                <a:latin typeface="Calibri"/>
              </a:rPr>
              <a:t>X</a:t>
            </a:r>
            <a:r>
              <a:rPr lang="en-US" sz="1400" b="1">
                <a:solidFill>
                  <a:srgbClr val="1B0065"/>
                </a:solidFill>
                <a:latin typeface="Calibri"/>
              </a:rPr>
              <a:t> AI</a:t>
            </a:r>
          </a:p>
        </p:txBody>
      </p:sp>
    </p:spTree>
    <p:extLst>
      <p:ext uri="{BB962C8B-B14F-4D97-AF65-F5344CB8AC3E}">
        <p14:creationId xmlns:p14="http://schemas.microsoft.com/office/powerpoint/2010/main" val="401926807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defTabSz="1219170"/>
            <a:r>
              <a:rPr lang="en-US" sz="1000" b="1" spc="300">
                <a:solidFill>
                  <a:srgbClr val="5069EC"/>
                </a:solidFill>
                <a:latin typeface="Calibri"/>
              </a:rPr>
              <a:t>ACRA LENDING  ·  PARALLEL STREAMS</a:t>
            </a:r>
            <a:endParaRPr lang="en-US" sz="1467">
              <a:solidFill>
                <a:srgbClr val="1D2430"/>
              </a:solidFill>
              <a:latin typeface="Calibri"/>
            </a:endParaRPr>
          </a:p>
        </p:txBody>
      </p:sp>
      <p:sp>
        <p:nvSpPr>
          <p:cNvPr id="4" name="Subtitle"/>
          <p:cNvSpPr txBox="1"/>
          <p:nvPr/>
        </p:nvSpPr>
        <p:spPr>
          <a:xfrm>
            <a:off x="457200" y="1069848"/>
            <a:ext cx="11274552" cy="292608"/>
          </a:xfrm>
          <a:prstGeom prst="rect">
            <a:avLst/>
          </a:prstGeom>
          <a:noFill/>
          <a:ln/>
        </p:spPr>
        <p:txBody>
          <a:bodyPr wrap="square" lIns="0" tIns="0" rIns="0" bIns="0" rtlCol="0" anchor="ctr"/>
          <a:lstStyle/>
          <a:p>
            <a:pPr defTabSz="1219170"/>
            <a:r>
              <a:rPr lang="en-US" sz="1400" b="0" i="1">
                <a:solidFill>
                  <a:srgbClr val="5B2D8E"/>
                </a:solidFill>
                <a:latin typeface="Calibri"/>
              </a:rPr>
              <a:t>Manual underwriting and Reasoner testing run alongside the build and meet at fixed sync points.</a:t>
            </a:r>
            <a:endParaRPr lang="en-US" sz="1400">
              <a:solidFill>
                <a:srgbClr val="5B2D8E"/>
              </a:solidFill>
              <a:latin typeface="Calibri"/>
            </a:endParaRPr>
          </a:p>
        </p:txBody>
      </p:sp>
      <p:graphicFrame>
        <p:nvGraphicFramePr>
          <p:cNvPr id="7" name="Sync points"/>
          <p:cNvGraphicFramePr>
            <a:graphicFrameLocks noGrp="1"/>
          </p:cNvGraphicFramePr>
          <p:nvPr>
            <p:extLst>
              <p:ext uri="{D42A27DB-BD31-4B8C-83A1-F6EECF244321}">
                <p14:modId xmlns:p14="http://schemas.microsoft.com/office/powerpoint/2010/main" val="2624708742"/>
              </p:ext>
            </p:extLst>
          </p:nvPr>
        </p:nvGraphicFramePr>
        <p:xfrm>
          <a:off x="457200" y="1463040"/>
          <a:ext cx="11277600" cy="3583295"/>
        </p:xfrm>
        <a:graphic>
          <a:graphicData uri="http://schemas.openxmlformats.org/drawingml/2006/table">
            <a:tbl>
              <a:tblPr/>
              <a:tblGrid>
                <a:gridCol w="1002453">
                  <a:extLst>
                    <a:ext uri="{9D8B030D-6E8A-4147-A177-3AD203B41FA5}">
                      <a16:colId xmlns:a16="http://schemas.microsoft.com/office/drawing/2014/main" val="20000"/>
                    </a:ext>
                  </a:extLst>
                </a:gridCol>
                <a:gridCol w="5012267">
                  <a:extLst>
                    <a:ext uri="{9D8B030D-6E8A-4147-A177-3AD203B41FA5}">
                      <a16:colId xmlns:a16="http://schemas.microsoft.com/office/drawing/2014/main" val="20001"/>
                    </a:ext>
                  </a:extLst>
                </a:gridCol>
                <a:gridCol w="5262880">
                  <a:extLst>
                    <a:ext uri="{9D8B030D-6E8A-4147-A177-3AD203B41FA5}">
                      <a16:colId xmlns:a16="http://schemas.microsoft.com/office/drawing/2014/main" val="20002"/>
                    </a:ext>
                  </a:extLst>
                </a:gridCol>
              </a:tblGrid>
              <a:tr h="463295">
                <a:tc>
                  <a:txBody>
                    <a:bodyPr/>
                    <a:lstStyle/>
                    <a:p>
                      <a:pPr marL="0" indent="0">
                        <a:buNone/>
                      </a:pPr>
                      <a:r>
                        <a:rPr lang="en-US" sz="1200" b="1" cap="all" spc="150">
                          <a:solidFill>
                            <a:srgbClr val="5069EC"/>
                          </a:solidFill>
                          <a:latin typeface="Calibri"/>
                        </a:rPr>
                        <a:t>Day</a:t>
                      </a:r>
                      <a:endParaRPr lang="en-US" sz="1200">
                        <a:latin typeface="Calibri"/>
                      </a:endParaRPr>
                    </a:p>
                  </a:txBody>
                  <a:tcPr marL="121920" marR="121920" marT="48768" marB="48768" anchor="ctr">
                    <a:lnL w="0">
                      <a:noFill/>
                    </a:lnL>
                    <a:lnR w="0">
                      <a:noFill/>
                    </a:lnR>
                    <a:lnT w="0">
                      <a:noFill/>
                    </a:lnT>
                    <a:lnB w="12700">
                      <a:solidFill>
                        <a:srgbClr val="8BA2FF"/>
                      </a:solidFill>
                    </a:lnB>
                    <a:noFill/>
                  </a:tcPr>
                </a:tc>
                <a:tc>
                  <a:txBody>
                    <a:bodyPr/>
                    <a:lstStyle/>
                    <a:p>
                      <a:pPr marL="0" indent="0">
                        <a:buNone/>
                      </a:pPr>
                      <a:r>
                        <a:rPr lang="en-US" sz="1200" b="1" cap="all" spc="150">
                          <a:solidFill>
                            <a:srgbClr val="5069EC"/>
                          </a:solidFill>
                          <a:latin typeface="Calibri"/>
                        </a:rPr>
                        <a:t>Sync point</a:t>
                      </a:r>
                      <a:endParaRPr lang="en-US" sz="1200">
                        <a:latin typeface="Calibri"/>
                      </a:endParaRPr>
                    </a:p>
                  </a:txBody>
                  <a:tcPr marL="121920" marR="121920" marT="48768" marB="48768" anchor="ctr">
                    <a:lnL w="0">
                      <a:noFill/>
                    </a:lnL>
                    <a:lnR w="0">
                      <a:noFill/>
                    </a:lnR>
                    <a:lnT w="0">
                      <a:noFill/>
                    </a:lnT>
                    <a:lnB w="12700">
                      <a:solidFill>
                        <a:srgbClr val="8BA2FF"/>
                      </a:solidFill>
                    </a:lnB>
                    <a:noFill/>
                  </a:tcPr>
                </a:tc>
                <a:tc>
                  <a:txBody>
                    <a:bodyPr/>
                    <a:lstStyle/>
                    <a:p>
                      <a:pPr marL="0" indent="0">
                        <a:buNone/>
                      </a:pPr>
                      <a:r>
                        <a:rPr lang="en-US" sz="1200" b="1" cap="all" spc="150">
                          <a:solidFill>
                            <a:srgbClr val="5069EC"/>
                          </a:solidFill>
                          <a:latin typeface="Calibri"/>
                        </a:rPr>
                        <a:t>Why it matters</a:t>
                      </a:r>
                      <a:endParaRPr lang="en-US" sz="1200">
                        <a:latin typeface="Calibri"/>
                      </a:endParaRPr>
                    </a:p>
                  </a:txBody>
                  <a:tcPr marL="121920" marR="121920" marT="48768" marB="48768" anchor="ctr">
                    <a:lnL w="0">
                      <a:noFill/>
                    </a:lnL>
                    <a:lnR w="0">
                      <a:noFill/>
                    </a:lnR>
                    <a:lnT w="0">
                      <a:noFill/>
                    </a:lnT>
                    <a:lnB w="12700">
                      <a:solidFill>
                        <a:srgbClr val="8BA2FF"/>
                      </a:solidFill>
                    </a:lnB>
                    <a:noFill/>
                  </a:tcPr>
                </a:tc>
                <a:extLst>
                  <a:ext uri="{0D108BD9-81ED-4DB2-BD59-A6C34878D82A}">
                    <a16:rowId xmlns:a16="http://schemas.microsoft.com/office/drawing/2014/main" val="10000"/>
                  </a:ext>
                </a:extLst>
              </a:tr>
              <a:tr h="520000">
                <a:tc>
                  <a:txBody>
                    <a:bodyPr/>
                    <a:lstStyle/>
                    <a:p>
                      <a:pPr marL="0" indent="0">
                        <a:buNone/>
                      </a:pPr>
                      <a:r>
                        <a:rPr lang="en-US" sz="1500" b="1">
                          <a:solidFill>
                            <a:srgbClr val="3600AD"/>
                          </a:solidFill>
                          <a:latin typeface="Calibri"/>
                        </a:rPr>
                        <a:t>D3</a:t>
                      </a:r>
                      <a:endParaRPr lang="en-US" sz="1500">
                        <a:latin typeface="Calibri"/>
                      </a:endParaRPr>
                    </a:p>
                  </a:txBody>
                  <a:tcPr marL="121920" marR="121920" marT="48768" marB="48768" anchor="ctr">
                    <a:lnL w="0">
                      <a:noFill/>
                    </a:lnL>
                    <a:lnR w="0">
                      <a:noFill/>
                    </a:lnR>
                    <a:lnT w="12700" cap="flat" cmpd="sng" algn="ctr">
                      <a:solidFill>
                        <a:srgbClr val="8BA2FF"/>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Guidelines approved by Acra</a:t>
                      </a:r>
                      <a:endParaRPr lang="en-US" sz="1500">
                        <a:latin typeface="Calibri"/>
                      </a:endParaRPr>
                    </a:p>
                  </a:txBody>
                  <a:tcPr marL="121920" marR="121920" marT="48768" marB="48768" anchor="ctr">
                    <a:lnL w="0">
                      <a:noFill/>
                    </a:lnL>
                    <a:lnR w="0">
                      <a:noFill/>
                    </a:lnR>
                    <a:lnT w="12700" cap="flat" cmpd="sng" algn="ctr">
                      <a:solidFill>
                        <a:srgbClr val="8BA2FF"/>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We can only encode and test what Acra confirmed</a:t>
                      </a:r>
                      <a:endParaRPr lang="en-US" sz="1500">
                        <a:latin typeface="Calibri"/>
                      </a:endParaRPr>
                    </a:p>
                  </a:txBody>
                  <a:tcPr marL="121920" marR="121920" marT="48768" marB="48768" anchor="ctr">
                    <a:lnL w="0">
                      <a:noFill/>
                    </a:lnL>
                    <a:lnR w="0">
                      <a:noFill/>
                    </a:lnR>
                    <a:lnT w="12700" cap="flat" cmpd="sng" algn="ctr">
                      <a:solidFill>
                        <a:srgbClr val="8BA2FF"/>
                      </a:solidFill>
                      <a:prstDash val="solid"/>
                      <a:round/>
                      <a:headEnd type="none" w="med" len="med"/>
                      <a:tailEnd type="none" w="med" len="med"/>
                    </a:lnT>
                    <a:lnB w="9525">
                      <a:solidFill>
                        <a:srgbClr val="D6DDF3"/>
                      </a:solidFill>
                    </a:lnB>
                    <a:noFill/>
                  </a:tcPr>
                </a:tc>
                <a:extLst>
                  <a:ext uri="{0D108BD9-81ED-4DB2-BD59-A6C34878D82A}">
                    <a16:rowId xmlns:a16="http://schemas.microsoft.com/office/drawing/2014/main" val="10001"/>
                  </a:ext>
                </a:extLst>
              </a:tr>
              <a:tr h="520000">
                <a:tc>
                  <a:txBody>
                    <a:bodyPr/>
                    <a:lstStyle/>
                    <a:p>
                      <a:pPr marL="0" indent="0">
                        <a:buNone/>
                      </a:pPr>
                      <a:r>
                        <a:rPr lang="en-US" sz="1500" b="1">
                          <a:solidFill>
                            <a:srgbClr val="3600AD"/>
                          </a:solidFill>
                          <a:latin typeface="Calibri"/>
                        </a:rPr>
                        <a:t>D5</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Manual wave 1 complete</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Baseline for the Reasoner dry run</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extLst>
                  <a:ext uri="{0D108BD9-81ED-4DB2-BD59-A6C34878D82A}">
                    <a16:rowId xmlns:a16="http://schemas.microsoft.com/office/drawing/2014/main" val="10002"/>
                  </a:ext>
                </a:extLst>
              </a:tr>
              <a:tr h="520000">
                <a:tc>
                  <a:txBody>
                    <a:bodyPr/>
                    <a:lstStyle/>
                    <a:p>
                      <a:pPr marL="0" indent="0">
                        <a:buNone/>
                      </a:pPr>
                      <a:r>
                        <a:rPr lang="en-US" sz="1500" b="1">
                          <a:solidFill>
                            <a:srgbClr val="3600AD"/>
                          </a:solidFill>
                          <a:latin typeface="Calibri"/>
                        </a:rPr>
                        <a:t>D10</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Ground-truth pack locked; SME walkthrough (M2 exit)</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Scoring can't start without it</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extLst>
                  <a:ext uri="{0D108BD9-81ED-4DB2-BD59-A6C34878D82A}">
                    <a16:rowId xmlns:a16="http://schemas.microsoft.com/office/drawing/2014/main" val="10003"/>
                  </a:ext>
                </a:extLst>
              </a:tr>
              <a:tr h="520000">
                <a:tc>
                  <a:txBody>
                    <a:bodyPr/>
                    <a:lstStyle/>
                    <a:p>
                      <a:pPr marL="0" indent="0">
                        <a:buNone/>
                      </a:pPr>
                      <a:r>
                        <a:rPr lang="en-US" sz="1500" b="1">
                          <a:solidFill>
                            <a:srgbClr val="3600AD"/>
                          </a:solidFill>
                          <a:latin typeface="Calibri"/>
                        </a:rPr>
                        <a:t>D12</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First full scoring run</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Only now may underwriters see Assistant output</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extLst>
                  <a:ext uri="{0D108BD9-81ED-4DB2-BD59-A6C34878D82A}">
                    <a16:rowId xmlns:a16="http://schemas.microsoft.com/office/drawing/2014/main" val="10004"/>
                  </a:ext>
                </a:extLst>
              </a:tr>
              <a:tr h="520000">
                <a:tc>
                  <a:txBody>
                    <a:bodyPr/>
                    <a:lstStyle/>
                    <a:p>
                      <a:pPr marL="0" indent="0">
                        <a:buNone/>
                      </a:pPr>
                      <a:r>
                        <a:rPr lang="en-US" sz="1500" b="1">
                          <a:solidFill>
                            <a:srgbClr val="3600AD"/>
                          </a:solidFill>
                          <a:latin typeface="Calibri"/>
                        </a:rPr>
                        <a:t>D15</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All loans scored (M3 exit)</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Locks results for UAT and readout</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extLst>
                  <a:ext uri="{0D108BD9-81ED-4DB2-BD59-A6C34878D82A}">
                    <a16:rowId xmlns:a16="http://schemas.microsoft.com/office/drawing/2014/main" val="10005"/>
                  </a:ext>
                </a:extLst>
              </a:tr>
              <a:tr h="520000">
                <a:tc>
                  <a:txBody>
                    <a:bodyPr/>
                    <a:lstStyle/>
                    <a:p>
                      <a:pPr marL="0" indent="0">
                        <a:buNone/>
                      </a:pPr>
                      <a:r>
                        <a:rPr lang="en-US" sz="1500" b="1">
                          <a:solidFill>
                            <a:srgbClr val="3600AD"/>
                          </a:solidFill>
                          <a:latin typeface="Calibri"/>
                        </a:rPr>
                        <a:t>D20</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Readout and go/no-go</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tc>
                  <a:txBody>
                    <a:bodyPr/>
                    <a:lstStyle/>
                    <a:p>
                      <a:pPr marL="0" indent="0">
                        <a:buNone/>
                      </a:pPr>
                      <a:r>
                        <a:rPr lang="en-US" sz="1500">
                          <a:solidFill>
                            <a:srgbClr val="1E293B"/>
                          </a:solidFill>
                          <a:latin typeface="Calibri"/>
                        </a:rPr>
                        <a:t>End of the Lighthouse</a:t>
                      </a:r>
                      <a:endParaRPr lang="en-US" sz="1500">
                        <a:latin typeface="Calibri"/>
                      </a:endParaRPr>
                    </a:p>
                  </a:txBody>
                  <a:tcPr marL="121920" marR="121920" marT="48768" marB="48768" anchor="ctr">
                    <a:lnL w="0">
                      <a:noFill/>
                    </a:lnL>
                    <a:lnR w="0">
                      <a:noFill/>
                    </a:lnR>
                    <a:lnT w="9525" cap="flat" cmpd="sng" algn="ctr">
                      <a:solidFill>
                        <a:srgbClr val="D6DDF3"/>
                      </a:solidFill>
                      <a:prstDash val="solid"/>
                      <a:round/>
                      <a:headEnd type="none" w="med" len="med"/>
                      <a:tailEnd type="none" w="med" len="med"/>
                    </a:lnT>
                    <a:lnB w="9525">
                      <a:solidFill>
                        <a:srgbClr val="D6DDF3"/>
                      </a:solidFill>
                    </a:lnB>
                    <a:noFill/>
                  </a:tcPr>
                </a:tc>
                <a:extLst>
                  <a:ext uri="{0D108BD9-81ED-4DB2-BD59-A6C34878D82A}">
                    <a16:rowId xmlns:a16="http://schemas.microsoft.com/office/drawing/2014/main" val="10006"/>
                  </a:ext>
                </a:extLst>
              </a:tr>
            </a:tbl>
          </a:graphicData>
        </a:graphic>
      </p:graphicFrame>
      <p:sp>
        <p:nvSpPr>
          <p:cNvPr id="6" name="Note"/>
          <p:cNvSpPr txBox="1"/>
          <p:nvPr/>
        </p:nvSpPr>
        <p:spPr>
          <a:xfrm>
            <a:off x="457200" y="5425440"/>
            <a:ext cx="11277600" cy="487680"/>
          </a:xfrm>
          <a:prstGeom prst="rect">
            <a:avLst/>
          </a:prstGeom>
          <a:noFill/>
          <a:ln/>
        </p:spPr>
        <p:txBody>
          <a:bodyPr wrap="square" lIns="0" tIns="0" rIns="0" bIns="0" rtlCol="0" anchor="ctr"/>
          <a:lstStyle/>
          <a:p>
            <a:pPr defTabSz="1219170"/>
            <a:r>
              <a:rPr lang="en-US" sz="1467">
                <a:solidFill>
                  <a:srgbClr val="5D6675"/>
                </a:solidFill>
                <a:latin typeface="Calibri"/>
              </a:rPr>
              <a:t>Independence rule: manual underwriters don't see Assistant output before D12, or match rates overstate agreement.</a:t>
            </a:r>
            <a:endParaRPr lang="en-US" sz="1467">
              <a:solidFill>
                <a:srgbClr val="1D2430"/>
              </a:solidFill>
              <a:latin typeface="Calibri"/>
            </a:endParaRPr>
          </a:p>
        </p:txBody>
      </p:sp>
      <p:sp>
        <p:nvSpPr>
          <p:cNvPr id="5" name="Title 4">
            <a:extLst>
              <a:ext uri="{FF2B5EF4-FFF2-40B4-BE49-F238E27FC236}">
                <a16:creationId xmlns:a16="http://schemas.microsoft.com/office/drawing/2014/main" id="{596D55E3-683C-81D1-7B8C-32E38C83957C}"/>
              </a:ext>
            </a:extLst>
          </p:cNvPr>
          <p:cNvSpPr>
            <a:spLocks noGrp="1"/>
          </p:cNvSpPr>
          <p:nvPr>
            <p:ph type="title" idx="101"/>
          </p:nvPr>
        </p:nvSpPr>
        <p:spPr/>
        <p:txBody>
          <a:bodyPr wrap="square" lIns="0" tIns="0" rIns="0" bIns="0"/>
          <a:lstStyle/>
          <a:p>
            <a:r>
              <a:rPr lang="en-US" sz="2600" b="1">
                <a:solidFill>
                  <a:srgbClr val="3600AD"/>
                </a:solidFill>
                <a:latin typeface="Calibri"/>
              </a:rPr>
              <a:t>Independent ground truth makes the proof credible</a:t>
            </a:r>
          </a:p>
        </p:txBody>
      </p:sp>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defRPr>
            </a:lvl1pPr>
          </a:lstStyle>
          <a:p>
            <a:pPr algn="r" defTabSz="1219170"/>
            <a:fld id="{F7021451-1387-4CA6-816F-3879F97B5CBC}" type="slidenum">
              <a:rPr lang="en-US" sz="900">
                <a:solidFill>
                  <a:srgbClr val="1B0065"/>
                </a:solidFill>
                <a:latin typeface="Calibri"/>
              </a:rPr>
              <a:pPr algn="r" defTabSz="1219170"/>
              <a:t>36</a:t>
            </a:fld>
            <a:endParaRPr lang="en-US">
              <a:solidFill>
                <a:srgbClr val="5D6675"/>
              </a:solidFill>
              <a:latin typeface="Calibri"/>
            </a:endParaRPr>
          </a:p>
        </p:txBody>
      </p:sp>
      <p:sp>
        <p:nvSpPr>
          <p:cNvPr id="90" name="Wordmark"/>
          <p:cNvSpPr txBox="1"/>
          <p:nvPr/>
        </p:nvSpPr>
        <p:spPr>
          <a:xfrm>
            <a:off x="411480" y="6419088"/>
            <a:ext cx="1280160" cy="292608"/>
          </a:xfrm>
          <a:prstGeom prst="rect">
            <a:avLst/>
          </a:prstGeom>
          <a:noFill/>
        </p:spPr>
        <p:txBody>
          <a:bodyPr wrap="square" lIns="0" tIns="0" rIns="0" bIns="0" rtlCol="0" anchor="ctr"/>
          <a:lstStyle/>
          <a:p>
            <a:r>
              <a:rPr lang="en-US" sz="1400" b="1">
                <a:solidFill>
                  <a:srgbClr val="1B0065"/>
                </a:solidFill>
                <a:latin typeface="Calibri"/>
              </a:rPr>
              <a:t>Jazz</a:t>
            </a:r>
            <a:r>
              <a:rPr lang="en-US" sz="1400" b="1">
                <a:solidFill>
                  <a:srgbClr val="FF592C"/>
                </a:solidFill>
                <a:latin typeface="Calibri"/>
              </a:rPr>
              <a:t>X</a:t>
            </a:r>
            <a:r>
              <a:rPr lang="en-US" sz="1400" b="1">
                <a:solidFill>
                  <a:srgbClr val="1B0065"/>
                </a:solidFill>
                <a:latin typeface="Calibri"/>
              </a:rPr>
              <a:t> AI</a:t>
            </a:r>
          </a:p>
        </p:txBody>
      </p:sp>
    </p:spTree>
    <p:extLst>
      <p:ext uri="{BB962C8B-B14F-4D97-AF65-F5344CB8AC3E}">
        <p14:creationId xmlns:p14="http://schemas.microsoft.com/office/powerpoint/2010/main" val="180804339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Kicker"/>
          <p:cNvSpPr txBox="1"/>
          <p:nvPr/>
        </p:nvSpPr>
        <p:spPr>
          <a:xfrm>
            <a:off x="457200" y="256032"/>
            <a:ext cx="11274552" cy="219456"/>
          </a:xfrm>
          <a:prstGeom prst="rect">
            <a:avLst/>
          </a:prstGeom>
          <a:noFill/>
          <a:ln/>
        </p:spPr>
        <p:txBody>
          <a:bodyPr wrap="square" lIns="0" tIns="0" rIns="0" bIns="0" rtlCol="0" anchor="ctr"/>
          <a:lstStyle/>
          <a:p>
            <a:pPr defTabSz="1219170"/>
            <a:r>
              <a:rPr lang="en-US" sz="1000" b="1" spc="300">
                <a:solidFill>
                  <a:srgbClr val="5069EC"/>
                </a:solidFill>
                <a:latin typeface="Calibri"/>
              </a:rPr>
              <a:t>ACRA LENDING  ·  WHAT WE NEED FROM ACRA</a:t>
            </a:r>
            <a:endParaRPr lang="en-US" sz="1467">
              <a:solidFill>
                <a:srgbClr val="1D2430"/>
              </a:solidFill>
              <a:latin typeface="Calibri"/>
            </a:endParaRPr>
          </a:p>
        </p:txBody>
      </p:sp>
      <p:sp>
        <p:nvSpPr>
          <p:cNvPr id="4" name="Card Acra commitments"/>
          <p:cNvSpPr/>
          <p:nvPr/>
        </p:nvSpPr>
        <p:spPr>
          <a:xfrm>
            <a:off x="457200" y="1463040"/>
            <a:ext cx="3592124" cy="25400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6" name="Text Acra commitments"/>
          <p:cNvSpPr txBox="1"/>
          <p:nvPr/>
        </p:nvSpPr>
        <p:spPr>
          <a:xfrm>
            <a:off x="607568" y="1670304"/>
            <a:ext cx="3291388" cy="22352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Acra commitments</a:t>
            </a:r>
            <a:endParaRPr lang="en-US" sz="1600">
              <a:solidFill>
                <a:srgbClr val="3600AD"/>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Approve guidelines and answer open points by D3</a:t>
            </a:r>
          </a:p>
          <a:p>
            <a:pPr marL="171450" indent="-171450" defTabSz="1219170">
              <a:spcAft>
                <a:spcPts val="400"/>
              </a:spcAft>
              <a:buSzPct val="100000"/>
              <a:buFont typeface="Arial"/>
              <a:buChar char="•"/>
            </a:pPr>
            <a:r>
              <a:rPr lang="en-US" sz="1400">
                <a:solidFill>
                  <a:srgbClr val="1E293B"/>
                </a:solidFill>
                <a:latin typeface="Calibri"/>
              </a:rPr>
              <a:t>Confirm BytePro document list and naming</a:t>
            </a:r>
          </a:p>
          <a:p>
            <a:pPr marL="171450" indent="-171450" defTabSz="1219170">
              <a:spcAft>
                <a:spcPts val="400"/>
              </a:spcAft>
              <a:buSzPct val="100000"/>
              <a:buFont typeface="Arial"/>
              <a:buChar char="•"/>
            </a:pPr>
            <a:r>
              <a:rPr lang="en-US" sz="1400">
                <a:solidFill>
                  <a:srgbClr val="1E293B"/>
                </a:solidFill>
                <a:latin typeface="Calibri"/>
              </a:rPr>
              <a:t>Deliver samples and results by D10</a:t>
            </a:r>
          </a:p>
          <a:p>
            <a:pPr marL="171450" indent="-171450" defTabSz="1219170">
              <a:spcAft>
                <a:spcPts val="400"/>
              </a:spcAft>
              <a:buSzPct val="100000"/>
              <a:buFont typeface="Arial"/>
              <a:buChar char="•"/>
            </a:pPr>
            <a:r>
              <a:rPr lang="en-US" sz="1400">
                <a:solidFill>
                  <a:srgbClr val="1E293B"/>
                </a:solidFill>
                <a:latin typeface="Calibri"/>
              </a:rPr>
              <a:t>Name 2–3 loan processors and SMEs for review and UAT</a:t>
            </a:r>
          </a:p>
          <a:p>
            <a:pPr marL="171450" indent="-171450" defTabSz="1219170">
              <a:spcAft>
                <a:spcPts val="400"/>
              </a:spcAft>
              <a:buSzPct val="100000"/>
              <a:buFont typeface="Arial"/>
              <a:buChar char="•"/>
            </a:pPr>
            <a:r>
              <a:rPr lang="en-US" sz="1400">
                <a:solidFill>
                  <a:srgbClr val="1E293B"/>
                </a:solidFill>
                <a:latin typeface="Calibri"/>
              </a:rPr>
              <a:t>Sponsor the go/no-go</a:t>
            </a:r>
          </a:p>
        </p:txBody>
      </p:sp>
      <p:sp>
        <p:nvSpPr>
          <p:cNvPr id="7" name="Card Top risks and mitigations"/>
          <p:cNvSpPr/>
          <p:nvPr/>
        </p:nvSpPr>
        <p:spPr>
          <a:xfrm>
            <a:off x="4299938" y="1463040"/>
            <a:ext cx="3592124" cy="25400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9" name="Text Top risks and mitigations"/>
          <p:cNvSpPr txBox="1"/>
          <p:nvPr/>
        </p:nvSpPr>
        <p:spPr>
          <a:xfrm>
            <a:off x="4450306" y="1670304"/>
            <a:ext cx="3291388" cy="22352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Top risks and mitigations</a:t>
            </a:r>
            <a:endParaRPr lang="en-US" sz="1600">
              <a:solidFill>
                <a:srgbClr val="3600AD"/>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Week 1 slip: readout date moves with it</a:t>
            </a:r>
          </a:p>
          <a:p>
            <a:pPr marL="171450" indent="-171450" defTabSz="1219170">
              <a:spcAft>
                <a:spcPts val="400"/>
              </a:spcAft>
              <a:buSzPct val="100000"/>
              <a:buFont typeface="Arial"/>
              <a:buChar char="•"/>
            </a:pPr>
            <a:r>
              <a:rPr lang="en-US" sz="1400">
                <a:solidFill>
                  <a:srgbClr val="1E293B"/>
                </a:solidFill>
                <a:latin typeface="Calibri"/>
              </a:rPr>
              <a:t>Benchmark depth: only ~3 loans so far, so the full set must land by D10</a:t>
            </a:r>
          </a:p>
          <a:p>
            <a:pPr marL="171450" indent="-171450" defTabSz="1219170">
              <a:spcAft>
                <a:spcPts val="400"/>
              </a:spcAft>
              <a:buSzPct val="100000"/>
              <a:buFont typeface="Arial"/>
              <a:buChar char="•"/>
            </a:pPr>
            <a:r>
              <a:rPr lang="en-US" sz="1400">
                <a:solidFill>
                  <a:srgbClr val="1E293B"/>
                </a:solidFill>
                <a:latin typeface="Calibri"/>
              </a:rPr>
              <a:t>Capacity: 10 loans underwritten in ~10 days; agree a smaller first batch if late</a:t>
            </a:r>
          </a:p>
          <a:p>
            <a:pPr marL="171450" indent="-171450" defTabSz="1219170">
              <a:spcAft>
                <a:spcPts val="400"/>
              </a:spcAft>
              <a:buSzPct val="100000"/>
              <a:buFont typeface="Arial"/>
              <a:buChar char="•"/>
            </a:pPr>
            <a:r>
              <a:rPr lang="en-US" sz="1400">
                <a:solidFill>
                  <a:srgbClr val="1E293B"/>
                </a:solidFill>
                <a:latin typeface="Calibri"/>
              </a:rPr>
              <a:t>Summary page scope: content session in Week 1, freeze by D5</a:t>
            </a:r>
          </a:p>
        </p:txBody>
      </p:sp>
      <p:sp>
        <p:nvSpPr>
          <p:cNvPr id="10" name="Card Decisions needed now"/>
          <p:cNvSpPr/>
          <p:nvPr/>
        </p:nvSpPr>
        <p:spPr>
          <a:xfrm>
            <a:off x="8142676" y="1463040"/>
            <a:ext cx="3592124" cy="2540000"/>
          </a:xfrm>
          <a:prstGeom prst="roundRect">
            <a:avLst>
              <a:gd name="adj" fmla="val 3000"/>
            </a:avLst>
          </a:prstGeom>
          <a:solidFill>
            <a:srgbClr val="FFFFFF"/>
          </a:solidFill>
          <a:ln w="9525">
            <a:solidFill>
              <a:srgbClr val="D6DDF3"/>
            </a:solidFill>
          </a:ln>
          <a:effectLst>
            <a:outerShdw blurRad="76200" dist="19050" dir="5400000" algn="bl" rotWithShape="0">
              <a:srgbClr val="1B0065">
                <a:alpha val="8000"/>
              </a:srgbClr>
            </a:outerShdw>
          </a:effectLst>
        </p:spPr>
        <p:txBody>
          <a:bodyPr/>
          <a:lstStyle/>
          <a:p>
            <a:pPr defTabSz="1219170"/>
            <a:endParaRPr lang="en-US" sz="2400">
              <a:solidFill>
                <a:srgbClr val="1D2430"/>
              </a:solidFill>
              <a:latin typeface="Calibri"/>
            </a:endParaRPr>
          </a:p>
        </p:txBody>
      </p:sp>
      <p:sp>
        <p:nvSpPr>
          <p:cNvPr id="12" name="Text Decisions needed now"/>
          <p:cNvSpPr txBox="1"/>
          <p:nvPr/>
        </p:nvSpPr>
        <p:spPr>
          <a:xfrm>
            <a:off x="8293044" y="1670304"/>
            <a:ext cx="3291388" cy="2235200"/>
          </a:xfrm>
          <a:prstGeom prst="rect">
            <a:avLst/>
          </a:prstGeom>
          <a:noFill/>
          <a:ln/>
        </p:spPr>
        <p:txBody>
          <a:bodyPr wrap="square" lIns="0" tIns="0" rIns="0" bIns="0" rtlCol="0" anchor="t"/>
          <a:lstStyle/>
          <a:p>
            <a:pPr defTabSz="1219170">
              <a:spcAft>
                <a:spcPts val="600"/>
              </a:spcAft>
            </a:pPr>
            <a:r>
              <a:rPr lang="en-US" sz="1600" b="1">
                <a:solidFill>
                  <a:srgbClr val="3600AD"/>
                </a:solidFill>
                <a:latin typeface="Calibri"/>
              </a:rPr>
              <a:t>Decisions needed now</a:t>
            </a:r>
            <a:endParaRPr lang="en-US" sz="1600">
              <a:solidFill>
                <a:srgbClr val="3600AD"/>
              </a:solidFill>
              <a:latin typeface="Calibri"/>
            </a:endParaRPr>
          </a:p>
          <a:p>
            <a:pPr marL="171450" indent="-171450" defTabSz="1219170">
              <a:spcAft>
                <a:spcPts val="400"/>
              </a:spcAft>
              <a:buSzPct val="100000"/>
              <a:buFont typeface="Arial"/>
              <a:buChar char="•"/>
            </a:pPr>
            <a:r>
              <a:rPr lang="en-US" sz="1400">
                <a:solidFill>
                  <a:srgbClr val="1E293B"/>
                </a:solidFill>
                <a:latin typeface="Calibri"/>
              </a:rPr>
              <a:t>Date for the demo session</a:t>
            </a:r>
          </a:p>
          <a:p>
            <a:pPr marL="171450" indent="-171450" defTabSz="1219170">
              <a:spcAft>
                <a:spcPts val="400"/>
              </a:spcAft>
              <a:buSzPct val="100000"/>
              <a:buFont typeface="Arial"/>
              <a:buChar char="•"/>
            </a:pPr>
            <a:r>
              <a:rPr lang="en-US" sz="1400">
                <a:solidFill>
                  <a:srgbClr val="1E293B"/>
                </a:solidFill>
                <a:latin typeface="Calibri"/>
              </a:rPr>
              <a:t>Name the loan processors attending</a:t>
            </a:r>
          </a:p>
          <a:p>
            <a:pPr marL="171450" indent="-171450" defTabSz="1219170">
              <a:spcAft>
                <a:spcPts val="400"/>
              </a:spcAft>
              <a:buSzPct val="100000"/>
              <a:buFont typeface="Arial"/>
              <a:buChar char="•"/>
            </a:pPr>
            <a:r>
              <a:rPr lang="en-US" sz="1400">
                <a:solidFill>
                  <a:srgbClr val="1E293B"/>
                </a:solidFill>
                <a:latin typeface="Calibri"/>
              </a:rPr>
              <a:t>Timing for the remaining sample loans</a:t>
            </a:r>
          </a:p>
          <a:p>
            <a:pPr marL="171450" indent="-171450" defTabSz="1219170">
              <a:spcAft>
                <a:spcPts val="400"/>
              </a:spcAft>
              <a:buSzPct val="100000"/>
              <a:buFont typeface="Arial"/>
              <a:buChar char="•"/>
            </a:pPr>
            <a:r>
              <a:rPr lang="en-US" sz="1400">
                <a:solidFill>
                  <a:srgbClr val="1E293B"/>
                </a:solidFill>
                <a:latin typeface="Calibri"/>
              </a:rPr>
              <a:t>Agree the scoring bars</a:t>
            </a:r>
          </a:p>
        </p:txBody>
      </p:sp>
      <p:sp>
        <p:nvSpPr>
          <p:cNvPr id="13" name="Title 12">
            <a:extLst>
              <a:ext uri="{FF2B5EF4-FFF2-40B4-BE49-F238E27FC236}">
                <a16:creationId xmlns:a16="http://schemas.microsoft.com/office/drawing/2014/main" id="{149A3638-18D6-A8B1-B279-76526A7AAB34}"/>
              </a:ext>
            </a:extLst>
          </p:cNvPr>
          <p:cNvSpPr>
            <a:spLocks noGrp="1"/>
          </p:cNvSpPr>
          <p:nvPr>
            <p:ph type="title" idx="101"/>
          </p:nvPr>
        </p:nvSpPr>
        <p:spPr/>
        <p:txBody>
          <a:bodyPr wrap="square" lIns="0" tIns="0" rIns="0" bIns="0"/>
          <a:lstStyle/>
          <a:p>
            <a:r>
              <a:rPr lang="en-US" sz="2600" b="1">
                <a:solidFill>
                  <a:srgbClr val="3600AD"/>
                </a:solidFill>
                <a:latin typeface="Calibri"/>
              </a:rPr>
              <a:t>Expectations on both sides, and the risks to manage</a:t>
            </a:r>
          </a:p>
        </p:txBody>
      </p:sp>
      <p:sp>
        <p:nvSpPr>
          <p:cNvPr id="25"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defRPr>
            </a:lvl1pPr>
          </a:lstStyle>
          <a:p>
            <a:pPr algn="r" defTabSz="1219170"/>
            <a:fld id="{F7021451-1387-4CA6-816F-3879F97B5CBC}" type="slidenum">
              <a:rPr lang="en-US" sz="900">
                <a:solidFill>
                  <a:srgbClr val="1B0065"/>
                </a:solidFill>
                <a:latin typeface="Calibri"/>
              </a:rPr>
              <a:pPr algn="r" defTabSz="1219170"/>
              <a:t>37</a:t>
            </a:fld>
            <a:endParaRPr lang="en-US">
              <a:solidFill>
                <a:srgbClr val="5D6675"/>
              </a:solidFill>
              <a:latin typeface="Calibri"/>
            </a:endParaRPr>
          </a:p>
        </p:txBody>
      </p:sp>
      <p:sp>
        <p:nvSpPr>
          <p:cNvPr id="90" name="Wordmark"/>
          <p:cNvSpPr txBox="1"/>
          <p:nvPr/>
        </p:nvSpPr>
        <p:spPr>
          <a:xfrm>
            <a:off x="411480" y="6419088"/>
            <a:ext cx="1280160" cy="292608"/>
          </a:xfrm>
          <a:prstGeom prst="rect">
            <a:avLst/>
          </a:prstGeom>
          <a:noFill/>
        </p:spPr>
        <p:txBody>
          <a:bodyPr wrap="square" lIns="0" tIns="0" rIns="0" bIns="0" rtlCol="0" anchor="ctr"/>
          <a:lstStyle/>
          <a:p>
            <a:r>
              <a:rPr lang="en-US" sz="1400" b="1">
                <a:solidFill>
                  <a:srgbClr val="1B0065"/>
                </a:solidFill>
                <a:latin typeface="Calibri"/>
              </a:rPr>
              <a:t>Jazz</a:t>
            </a:r>
            <a:r>
              <a:rPr lang="en-US" sz="1400" b="1">
                <a:solidFill>
                  <a:srgbClr val="FF592C"/>
                </a:solidFill>
                <a:latin typeface="Calibri"/>
              </a:rPr>
              <a:t>X</a:t>
            </a:r>
            <a:r>
              <a:rPr lang="en-US" sz="1400" b="1">
                <a:solidFill>
                  <a:srgbClr val="1B0065"/>
                </a:solidFill>
                <a:latin typeface="Calibri"/>
              </a:rPr>
              <a:t> AI</a:t>
            </a:r>
          </a:p>
        </p:txBody>
      </p:sp>
    </p:spTree>
    <p:extLst>
      <p:ext uri="{BB962C8B-B14F-4D97-AF65-F5344CB8AC3E}">
        <p14:creationId xmlns:p14="http://schemas.microsoft.com/office/powerpoint/2010/main" val="32014595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87">
          <a:extLst>
            <a:ext uri="{FF2B5EF4-FFF2-40B4-BE49-F238E27FC236}">
              <a16:creationId xmlns:a16="http://schemas.microsoft.com/office/drawing/2014/main" id="{6E68AAF5-53A8-AA5A-F66F-D3E8E326C2C2}"/>
            </a:ext>
          </a:extLst>
        </p:cNvPr>
        <p:cNvGrpSpPr/>
        <p:nvPr/>
      </p:nvGrpSpPr>
      <p:grpSpPr>
        <a:xfrm>
          <a:off x="0" y="0"/>
          <a:ext cx="0" cy="0"/>
          <a:chOff x="0" y="0"/>
          <a:chExt cx="0" cy="0"/>
        </a:xfrm>
      </p:grpSpPr>
      <p:sp>
        <p:nvSpPr>
          <p:cNvPr id="288" name="Google Shape;288;p5">
            <a:extLst>
              <a:ext uri="{FF2B5EF4-FFF2-40B4-BE49-F238E27FC236}">
                <a16:creationId xmlns:a16="http://schemas.microsoft.com/office/drawing/2014/main" id="{60CBA4F4-8732-0B89-303B-F0A2C441826B}"/>
              </a:ext>
            </a:extLst>
          </p:cNvPr>
          <p:cNvSpPr txBox="1">
            <a:spLocks noGrp="1"/>
          </p:cNvSpPr>
          <p:nvPr>
            <p:ph type="title"/>
          </p:nvPr>
        </p:nvSpPr>
        <p:spPr>
          <a:xfrm>
            <a:off x="141605" y="2969450"/>
            <a:ext cx="5221704" cy="646290"/>
          </a:xfrm>
          <a:prstGeom prst="rect">
            <a:avLst/>
          </a:prstGeom>
          <a:noFill/>
          <a:ln>
            <a:noFill/>
          </a:ln>
        </p:spPr>
        <p:txBody>
          <a:bodyPr spcFirstLastPara="1" wrap="square" lIns="91425" tIns="45700" rIns="91425" bIns="45700" anchor="t" anchorCtr="0">
            <a:spAutoFit/>
          </a:bodyPr>
          <a:lstStyle/>
          <a:p>
            <a:pPr marL="0" lvl="0" indent="0" algn="l" rtl="0">
              <a:lnSpc>
                <a:spcPct val="90000"/>
              </a:lnSpc>
              <a:spcBef>
                <a:spcPts val="0"/>
              </a:spcBef>
              <a:spcAft>
                <a:spcPts val="0"/>
              </a:spcAft>
              <a:buClr>
                <a:schemeClr val="lt1"/>
              </a:buClr>
              <a:buSzPts val="4000"/>
              <a:buFont typeface="Outfit"/>
              <a:buNone/>
            </a:pPr>
            <a:r>
              <a:rPr lang="en-US" sz="4000"/>
              <a:t>Appendix </a:t>
            </a:r>
            <a:endParaRPr/>
          </a:p>
        </p:txBody>
      </p:sp>
    </p:spTree>
    <p:extLst>
      <p:ext uri="{BB962C8B-B14F-4D97-AF65-F5344CB8AC3E}">
        <p14:creationId xmlns:p14="http://schemas.microsoft.com/office/powerpoint/2010/main" val="1359738935"/>
      </p:ext>
    </p:extLst>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a:xfrm>
            <a:off x="457200" y="502920"/>
            <a:ext cx="11274552" cy="566928"/>
          </a:xfrm>
        </p:spPr>
        <p:txBody>
          <a:bodyPr lIns="0" rIns="0" tIns="0" bIns="0"/>
          <a:lstStyle/>
          <a:p>
            <a:r>
              <a:rPr sz="2600" b="1" i="0">
                <a:solidFill>
                  <a:srgbClr val="3600AD"/>
                </a:solidFill>
                <a:latin typeface="Calibri"/>
              </a:rPr>
              <a:t>One consistent SDK, adopted feature by feature at each team's own pace</a:t>
            </a:r>
          </a:p>
        </p:txBody>
      </p:sp>
      <p:sp>
        <p:nvSpPr>
          <p:cNvPr id="3" name="Kicker"/>
          <p:cNvSpPr txBox="1"/>
          <p:nvPr/>
        </p:nvSpPr>
        <p:spPr>
          <a:xfrm>
            <a:off x="457200" y="256032"/>
            <a:ext cx="11274552" cy="219456"/>
          </a:xfrm>
          <a:prstGeom prst="rect">
            <a:avLst/>
          </a:prstGeom>
          <a:noFill/>
        </p:spPr>
        <p:txBody>
          <a:bodyPr wrap="square" lIns="0" rIns="0" tIns="0" bIns="0" anchor="ctr">
            <a:spAutoFit/>
          </a:bodyPr>
          <a:lstStyle/>
          <a:p>
            <a:pPr algn="l"/>
            <a:r>
              <a:rPr sz="1000" b="1" i="0" spc="300">
                <a:solidFill>
                  <a:srgbClr val="5069EC"/>
                </a:solidFill>
                <a:latin typeface="Calibri"/>
              </a:rPr>
              <a:t>SDK  ·  GOAL</a:t>
            </a:r>
          </a:p>
        </p:txBody>
      </p:sp>
      <p:sp>
        <p:nvSpPr>
          <p:cNvPr id="4" name="Subtitle"/>
          <p:cNvSpPr txBox="1"/>
          <p:nvPr/>
        </p:nvSpPr>
        <p:spPr>
          <a:xfrm>
            <a:off x="457200" y="1069848"/>
            <a:ext cx="11274552" cy="292608"/>
          </a:xfrm>
          <a:prstGeom prst="rect">
            <a:avLst/>
          </a:prstGeom>
          <a:noFill/>
        </p:spPr>
        <p:txBody>
          <a:bodyPr wrap="square" lIns="0" rIns="0" tIns="0" bIns="0" anchor="ctr">
            <a:spAutoFit/>
          </a:bodyPr>
          <a:lstStyle/>
          <a:p>
            <a:pPr algn="l"/>
            <a:r>
              <a:rPr sz="1400" b="0" i="1">
                <a:solidFill>
                  <a:srgbClr val="5B2D8E"/>
                </a:solidFill>
                <a:latin typeface="Calibri"/>
              </a:rPr>
              <a:t>Why one SDK for every domain, what it speeds up, and who uses it</a:t>
            </a:r>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
        <p:nvSpPr>
          <p:cNvPr id="68" name="Purpose card"/>
          <p:cNvSpPr/>
          <p:nvPr/>
        </p:nvSpPr>
        <p:spPr>
          <a:xfrm>
            <a:off x="457200" y="1463040"/>
            <a:ext cx="3566160" cy="4160520"/>
          </a:xfrm>
          <a:prstGeom prst="roundRect">
            <a:avLst>
              <a:gd name="adj" fmla="val 8000"/>
            </a:avLst>
          </a:prstGeom>
          <a:solidFill>
            <a:srgbClr val="F3F6FF"/>
          </a:solidFill>
          <a:ln w="9525">
            <a:solidFill>
              <a:srgbClr val="D6DDF3"/>
            </a:solidFill>
          </a:ln>
          <a:effectLst/>
        </p:spPr>
        <p:txBody>
          <a:bodyPr rtlCol="0" anchor="ctr"/>
          <a:lstStyle/>
          <a:p/>
        </p:txBody>
      </p:sp>
      <p:sp>
        <p:nvSpPr>
          <p:cNvPr id="69" name="Label"/>
          <p:cNvSpPr txBox="1"/>
          <p:nvPr/>
        </p:nvSpPr>
        <p:spPr>
          <a:xfrm>
            <a:off x="640080" y="1600200"/>
            <a:ext cx="3200400" cy="182880"/>
          </a:xfrm>
          <a:prstGeom prst="rect">
            <a:avLst/>
          </a:prstGeom>
          <a:noFill/>
        </p:spPr>
        <p:txBody>
          <a:bodyPr wrap="square" lIns="0" rIns="0" tIns="0" bIns="0" anchor="t">
            <a:spAutoFit/>
          </a:bodyPr>
          <a:lstStyle/>
          <a:p>
            <a:pPr algn="l"/>
            <a:r>
              <a:rPr sz="900" b="1" i="0" spc="200">
                <a:solidFill>
                  <a:srgbClr val="5069EC"/>
                </a:solidFill>
                <a:latin typeface="Calibri"/>
              </a:rPr>
              <a:t>THE PURPOSE</a:t>
            </a:r>
          </a:p>
        </p:txBody>
      </p:sp>
      <p:sp>
        <p:nvSpPr>
          <p:cNvPr id="70" name="Purpose item"/>
          <p:cNvSpPr txBox="1"/>
          <p:nvPr/>
        </p:nvSpPr>
        <p:spPr>
          <a:xfrm>
            <a:off x="640080" y="1901952"/>
            <a:ext cx="3200400" cy="914400"/>
          </a:xfrm>
          <a:prstGeom prst="rect">
            <a:avLst/>
          </a:prstGeom>
          <a:noFill/>
        </p:spPr>
        <p:txBody>
          <a:bodyPr wrap="square" lIns="0" rIns="0" tIns="0" bIns="0" anchor="t">
            <a:spAutoFit/>
          </a:bodyPr>
          <a:lstStyle/>
          <a:p>
            <a:pPr algn="l">
              <a:spcAft>
                <a:spcPts val="200"/>
              </a:spcAft>
            </a:pPr>
            <a:r>
              <a:rPr sz="1200" b="1" i="0">
                <a:solidFill>
                  <a:srgbClr val="1B0065"/>
                </a:solidFill>
                <a:latin typeface="Calibri"/>
              </a:rPr>
              <a:t>Architecturally consistent</a:t>
            </a:r>
          </a:p>
          <a:p>
            <a:pPr algn="l"/>
            <a:r>
              <a:rPr sz="1050" b="0" i="0">
                <a:solidFill>
                  <a:srgbClr val="1E293B"/>
                </a:solidFill>
                <a:latin typeface="Calibri"/>
              </a:rPr>
              <a:t>One architecture under every domain: the same canonical objects, handler contract, trace and evaluation, so solutions converge instead of drifting.</a:t>
            </a:r>
          </a:p>
        </p:txBody>
      </p:sp>
      <p:sp>
        <p:nvSpPr>
          <p:cNvPr id="71" name="Purpose item"/>
          <p:cNvSpPr txBox="1"/>
          <p:nvPr/>
        </p:nvSpPr>
        <p:spPr>
          <a:xfrm>
            <a:off x="640080" y="2816352"/>
            <a:ext cx="3200400" cy="914400"/>
          </a:xfrm>
          <a:prstGeom prst="rect">
            <a:avLst/>
          </a:prstGeom>
          <a:noFill/>
        </p:spPr>
        <p:txBody>
          <a:bodyPr wrap="square" lIns="0" rIns="0" tIns="0" bIns="0" anchor="t">
            <a:spAutoFit/>
          </a:bodyPr>
          <a:lstStyle/>
          <a:p>
            <a:pPr algn="l">
              <a:spcAft>
                <a:spcPts val="200"/>
              </a:spcAft>
            </a:pPr>
            <a:r>
              <a:rPr sz="1200" b="1" i="0">
                <a:solidFill>
                  <a:srgbClr val="1B0065"/>
                </a:solidFill>
                <a:latin typeface="Calibri"/>
              </a:rPr>
              <a:t>Flexible and extensible</a:t>
            </a:r>
          </a:p>
          <a:p>
            <a:pPr algn="l"/>
            <a:r>
              <a:rPr sz="1050" b="0" i="0">
                <a:solidFill>
                  <a:srgbClr val="1E293B"/>
                </a:solidFill>
                <a:latin typeface="Calibri"/>
              </a:rPr>
              <a:t>Import it as a library or run it hosted; extend without changing the core; backends chosen by configuration.</a:t>
            </a:r>
          </a:p>
        </p:txBody>
      </p:sp>
      <p:sp>
        <p:nvSpPr>
          <p:cNvPr id="72" name="Purpose item"/>
          <p:cNvSpPr txBox="1"/>
          <p:nvPr/>
        </p:nvSpPr>
        <p:spPr>
          <a:xfrm>
            <a:off x="640080" y="3730752"/>
            <a:ext cx="3200400" cy="914400"/>
          </a:xfrm>
          <a:prstGeom prst="rect">
            <a:avLst/>
          </a:prstGeom>
          <a:noFill/>
        </p:spPr>
        <p:txBody>
          <a:bodyPr wrap="square" lIns="0" rIns="0" tIns="0" bIns="0" anchor="t">
            <a:spAutoFit/>
          </a:bodyPr>
          <a:lstStyle/>
          <a:p>
            <a:pPr algn="l">
              <a:spcAft>
                <a:spcPts val="200"/>
              </a:spcAft>
            </a:pPr>
            <a:r>
              <a:rPr sz="1200" b="1" i="0">
                <a:solidFill>
                  <a:srgbClr val="1B0065"/>
                </a:solidFill>
                <a:latin typeface="Calibri"/>
              </a:rPr>
              <a:t>Feature rich for our domains</a:t>
            </a:r>
          </a:p>
          <a:p>
            <a:pPr algn="l"/>
            <a:r>
              <a:rPr sz="1050" b="0" i="0">
                <a:solidFill>
                  <a:srgbClr val="1E293B"/>
                </a:solidFill>
                <a:latin typeface="Calibri"/>
              </a:rPr>
              <a:t>Policy as data, documents to data with provenance, assistants, pipelines and evaluation, built from what mortgage and lending needed.</a:t>
            </a:r>
          </a:p>
        </p:txBody>
      </p:sp>
      <p:sp>
        <p:nvSpPr>
          <p:cNvPr id="73" name="Purpose item"/>
          <p:cNvSpPr txBox="1"/>
          <p:nvPr/>
        </p:nvSpPr>
        <p:spPr>
          <a:xfrm>
            <a:off x="640080" y="4645152"/>
            <a:ext cx="3200400" cy="914400"/>
          </a:xfrm>
          <a:prstGeom prst="rect">
            <a:avLst/>
          </a:prstGeom>
          <a:noFill/>
        </p:spPr>
        <p:txBody>
          <a:bodyPr wrap="square" lIns="0" rIns="0" tIns="0" bIns="0" anchor="t">
            <a:spAutoFit/>
          </a:bodyPr>
          <a:lstStyle/>
          <a:p>
            <a:pPr algn="l">
              <a:spcAft>
                <a:spcPts val="200"/>
              </a:spcAft>
            </a:pPr>
            <a:r>
              <a:rPr sz="1200" b="1" i="0">
                <a:solidFill>
                  <a:srgbClr val="1B0065"/>
                </a:solidFill>
                <a:latin typeface="Calibri"/>
              </a:rPr>
              <a:t>Adopted at each team's own pace</a:t>
            </a:r>
          </a:p>
          <a:p>
            <a:pPr algn="l"/>
            <a:r>
              <a:rPr sz="1050" b="0" i="0">
                <a:solidFill>
                  <a:srgbClr val="1E293B"/>
                </a:solidFill>
                <a:latin typeface="Calibri"/>
              </a:rPr>
              <a:t>Pick individual features and keep your own code for the rest; when ready, take more, and build new work on the SDK so it feeds back in.</a:t>
            </a:r>
          </a:p>
        </p:txBody>
      </p:sp>
      <p:sp>
        <p:nvSpPr>
          <p:cNvPr id="74" name="Label"/>
          <p:cNvSpPr txBox="1"/>
          <p:nvPr/>
        </p:nvSpPr>
        <p:spPr>
          <a:xfrm>
            <a:off x="4297680" y="1481328"/>
            <a:ext cx="7315200" cy="182880"/>
          </a:xfrm>
          <a:prstGeom prst="rect">
            <a:avLst/>
          </a:prstGeom>
          <a:noFill/>
        </p:spPr>
        <p:txBody>
          <a:bodyPr wrap="square" lIns="0" rIns="0" tIns="0" bIns="0" anchor="t">
            <a:spAutoFit/>
          </a:bodyPr>
          <a:lstStyle/>
          <a:p>
            <a:pPr algn="l"/>
            <a:r>
              <a:rPr sz="900" b="1" i="0" spc="200">
                <a:solidFill>
                  <a:srgbClr val="5069EC"/>
                </a:solidFill>
                <a:latin typeface="Calibri"/>
              </a:rPr>
              <a:t>WHAT IT ENABLES, AND FOR WHOM</a:t>
            </a:r>
          </a:p>
        </p:txBody>
      </p:sp>
      <p:sp>
        <p:nvSpPr>
          <p:cNvPr id="75" name="Who card"/>
          <p:cNvSpPr/>
          <p:nvPr/>
        </p:nvSpPr>
        <p:spPr>
          <a:xfrm>
            <a:off x="4297680" y="1737360"/>
            <a:ext cx="2404872" cy="3886200"/>
          </a:xfrm>
          <a:prstGeom prst="roundRect">
            <a:avLst>
              <a:gd name="adj" fmla="val 8000"/>
            </a:avLst>
          </a:prstGeom>
          <a:solidFill>
            <a:srgbClr val="FFFFFF"/>
          </a:solidFill>
          <a:ln w="9525">
            <a:solidFill>
              <a:srgbClr val="D6DDF3"/>
            </a:solidFill>
          </a:ln>
          <a:effectLst/>
        </p:spPr>
        <p:txBody>
          <a:bodyPr rtlCol="0" anchor="ctr"/>
          <a:lstStyle/>
          <a:p/>
        </p:txBody>
      </p:sp>
      <p:sp>
        <p:nvSpPr>
          <p:cNvPr id="76" name="Icon circle"/>
          <p:cNvSpPr/>
          <p:nvPr/>
        </p:nvSpPr>
        <p:spPr>
          <a:xfrm>
            <a:off x="4434840" y="1874519"/>
            <a:ext cx="274320" cy="274320"/>
          </a:xfrm>
          <a:prstGeom prst="roundRect">
            <a:avLst>
              <a:gd name="adj" fmla="val 8000"/>
            </a:avLst>
          </a:prstGeom>
          <a:solidFill>
            <a:srgbClr val="E4E9FD"/>
          </a:solidFill>
          <a:ln w="9525">
            <a:solidFill>
              <a:srgbClr val="E4E9FD"/>
            </a:solidFill>
          </a:ln>
          <a:effectLst/>
        </p:spPr>
        <p:txBody>
          <a:bodyPr rtlCol="0" anchor="ctr"/>
          <a:lstStyle/>
          <a:p/>
        </p:txBody>
      </p:sp>
      <p:sp>
        <p:nvSpPr>
          <p:cNvPr id="77" name="Label"/>
          <p:cNvSpPr txBox="1"/>
          <p:nvPr/>
        </p:nvSpPr>
        <p:spPr>
          <a:xfrm>
            <a:off x="4800600" y="1920240"/>
            <a:ext cx="1828800" cy="182880"/>
          </a:xfrm>
          <a:prstGeom prst="rect">
            <a:avLst/>
          </a:prstGeom>
          <a:noFill/>
        </p:spPr>
        <p:txBody>
          <a:bodyPr wrap="square" lIns="0" rIns="0" tIns="0" bIns="0" anchor="t">
            <a:spAutoFit/>
          </a:bodyPr>
          <a:lstStyle/>
          <a:p>
            <a:pPr algn="l"/>
            <a:r>
              <a:rPr sz="900" b="1" i="0" spc="200">
                <a:solidFill>
                  <a:srgbClr val="5069EC"/>
                </a:solidFill>
                <a:latin typeface="Calibri"/>
              </a:rPr>
              <a:t>PRODUCT ENGINEERING TEAMS</a:t>
            </a:r>
          </a:p>
        </p:txBody>
      </p:sp>
      <p:sp>
        <p:nvSpPr>
          <p:cNvPr id="78" name="Heading"/>
          <p:cNvSpPr txBox="1"/>
          <p:nvPr/>
        </p:nvSpPr>
        <p:spPr>
          <a:xfrm>
            <a:off x="4434840" y="2286000"/>
            <a:ext cx="2148840" cy="640080"/>
          </a:xfrm>
          <a:prstGeom prst="rect">
            <a:avLst/>
          </a:prstGeom>
          <a:noFill/>
        </p:spPr>
        <p:txBody>
          <a:bodyPr wrap="square" lIns="0" rIns="0" tIns="0" bIns="0" anchor="t">
            <a:spAutoFit/>
          </a:bodyPr>
          <a:lstStyle/>
          <a:p>
            <a:pPr algn="l"/>
            <a:r>
              <a:rPr sz="1300" b="1" i="0">
                <a:solidFill>
                  <a:srgbClr val="1B0065"/>
                </a:solidFill>
                <a:latin typeface="Calibri"/>
              </a:rPr>
              <a:t>Build inside the service they already own</a:t>
            </a:r>
          </a:p>
        </p:txBody>
      </p:sp>
      <p:sp>
        <p:nvSpPr>
          <p:cNvPr id="79" name="Body"/>
          <p:cNvSpPr txBox="1"/>
          <p:nvPr/>
        </p:nvSpPr>
        <p:spPr>
          <a:xfrm>
            <a:off x="4434840" y="2926080"/>
            <a:ext cx="2148840" cy="1371600"/>
          </a:xfrm>
          <a:prstGeom prst="rect">
            <a:avLst/>
          </a:prstGeom>
          <a:noFill/>
        </p:spPr>
        <p:txBody>
          <a:bodyPr wrap="square" lIns="0" rIns="0" tIns="0" bIns="0" anchor="t">
            <a:spAutoFit/>
          </a:bodyPr>
          <a:lstStyle/>
          <a:p>
            <a:pPr algn="l"/>
            <a:r>
              <a:rPr sz="1100" b="0" i="0">
                <a:solidFill>
                  <a:srgbClr val="1E293B"/>
                </a:solidFill>
                <a:latin typeface="Calibri"/>
              </a:rPr>
              <a:t>Import one library and keep the app shell, storage, auth and lifecycle. The SDK provides, the team owns.</a:t>
            </a:r>
          </a:p>
        </p:txBody>
      </p:sp>
      <p:sp>
        <p:nvSpPr>
          <p:cNvPr id="80" name="Example box"/>
          <p:cNvSpPr/>
          <p:nvPr/>
        </p:nvSpPr>
        <p:spPr>
          <a:xfrm>
            <a:off x="4389120" y="4434840"/>
            <a:ext cx="2221992" cy="1097280"/>
          </a:xfrm>
          <a:prstGeom prst="roundRect">
            <a:avLst>
              <a:gd name="adj" fmla="val 8000"/>
            </a:avLst>
          </a:prstGeom>
          <a:solidFill>
            <a:srgbClr val="E6F8F4"/>
          </a:solidFill>
          <a:ln w="9525">
            <a:solidFill>
              <a:srgbClr val="9FE3D6"/>
            </a:solidFill>
          </a:ln>
          <a:effectLst/>
        </p:spPr>
        <p:txBody>
          <a:bodyPr rtlCol="0" anchor="ctr"/>
          <a:lstStyle/>
          <a:p/>
        </p:txBody>
      </p:sp>
      <p:sp>
        <p:nvSpPr>
          <p:cNvPr id="81" name="Example"/>
          <p:cNvSpPr txBox="1"/>
          <p:nvPr/>
        </p:nvSpPr>
        <p:spPr>
          <a:xfrm>
            <a:off x="4480560" y="4480560"/>
            <a:ext cx="2057400" cy="1005840"/>
          </a:xfrm>
          <a:prstGeom prst="rect">
            <a:avLst/>
          </a:prstGeom>
          <a:noFill/>
        </p:spPr>
        <p:txBody>
          <a:bodyPr wrap="square" lIns="0" rIns="0" tIns="0" bIns="0" anchor="t">
            <a:spAutoFit/>
          </a:bodyPr>
          <a:lstStyle/>
          <a:p>
            <a:pPr algn="l">
              <a:spcAft>
                <a:spcPts val="200"/>
              </a:spcAft>
            </a:pPr>
            <a:r>
              <a:rPr sz="900" b="1" i="0" spc="200">
                <a:solidFill>
                  <a:srgbClr val="0D9488"/>
                </a:solidFill>
                <a:latin typeface="Calibri"/>
              </a:rPr>
              <a:t>EXAMPLE</a:t>
            </a:r>
          </a:p>
          <a:p>
            <a:pPr algn="l"/>
            <a:r>
              <a:rPr sz="1050" b="0" i="0">
                <a:solidFill>
                  <a:srgbClr val="1B0065"/>
                </a:solidFill>
                <a:latin typeface="Calibri"/>
              </a:rPr>
              <a:t>Jazz Assistant: about 3,900 lines of product code on the InteractiveAgent; the SDK is the rest</a:t>
            </a:r>
          </a:p>
        </p:txBody>
      </p:sp>
      <p:sp>
        <p:nvSpPr>
          <p:cNvPr id="82" name="Who card"/>
          <p:cNvSpPr/>
          <p:nvPr/>
        </p:nvSpPr>
        <p:spPr>
          <a:xfrm>
            <a:off x="6839712" y="1737360"/>
            <a:ext cx="2404872" cy="3886200"/>
          </a:xfrm>
          <a:prstGeom prst="roundRect">
            <a:avLst>
              <a:gd name="adj" fmla="val 8000"/>
            </a:avLst>
          </a:prstGeom>
          <a:solidFill>
            <a:srgbClr val="FFFFFF"/>
          </a:solidFill>
          <a:ln w="9525">
            <a:solidFill>
              <a:srgbClr val="D6DDF3"/>
            </a:solidFill>
          </a:ln>
          <a:effectLst/>
        </p:spPr>
        <p:txBody>
          <a:bodyPr rtlCol="0" anchor="ctr"/>
          <a:lstStyle/>
          <a:p/>
        </p:txBody>
      </p:sp>
      <p:sp>
        <p:nvSpPr>
          <p:cNvPr id="83" name="Icon circle"/>
          <p:cNvSpPr/>
          <p:nvPr/>
        </p:nvSpPr>
        <p:spPr>
          <a:xfrm>
            <a:off x="6976872" y="1874519"/>
            <a:ext cx="274320" cy="274320"/>
          </a:xfrm>
          <a:prstGeom prst="roundRect">
            <a:avLst>
              <a:gd name="adj" fmla="val 8000"/>
            </a:avLst>
          </a:prstGeom>
          <a:solidFill>
            <a:srgbClr val="E4E9FD"/>
          </a:solidFill>
          <a:ln w="9525">
            <a:solidFill>
              <a:srgbClr val="E4E9FD"/>
            </a:solidFill>
          </a:ln>
          <a:effectLst/>
        </p:spPr>
        <p:txBody>
          <a:bodyPr rtlCol="0" anchor="ctr"/>
          <a:lstStyle/>
          <a:p/>
        </p:txBody>
      </p:sp>
      <p:sp>
        <p:nvSpPr>
          <p:cNvPr id="84" name="Label"/>
          <p:cNvSpPr txBox="1"/>
          <p:nvPr/>
        </p:nvSpPr>
        <p:spPr>
          <a:xfrm>
            <a:off x="7342632" y="1920240"/>
            <a:ext cx="1828800" cy="182880"/>
          </a:xfrm>
          <a:prstGeom prst="rect">
            <a:avLst/>
          </a:prstGeom>
          <a:noFill/>
        </p:spPr>
        <p:txBody>
          <a:bodyPr wrap="square" lIns="0" rIns="0" tIns="0" bIns="0" anchor="t">
            <a:spAutoFit/>
          </a:bodyPr>
          <a:lstStyle/>
          <a:p>
            <a:pPr algn="l"/>
            <a:r>
              <a:rPr sz="900" b="1" i="0" spc="200">
                <a:solidFill>
                  <a:srgbClr val="5069EC"/>
                </a:solidFill>
                <a:latin typeface="Calibri"/>
              </a:rPr>
              <a:t>SOLUTION ENGINEERS</a:t>
            </a:r>
          </a:p>
        </p:txBody>
      </p:sp>
      <p:sp>
        <p:nvSpPr>
          <p:cNvPr id="85" name="Heading"/>
          <p:cNvSpPr txBox="1"/>
          <p:nvPr/>
        </p:nvSpPr>
        <p:spPr>
          <a:xfrm>
            <a:off x="6976872" y="2286000"/>
            <a:ext cx="2148840" cy="640080"/>
          </a:xfrm>
          <a:prstGeom prst="rect">
            <a:avLst/>
          </a:prstGeom>
          <a:noFill/>
        </p:spPr>
        <p:txBody>
          <a:bodyPr wrap="square" lIns="0" rIns="0" tIns="0" bIns="0" anchor="t">
            <a:spAutoFit/>
          </a:bodyPr>
          <a:lstStyle/>
          <a:p>
            <a:pPr algn="l"/>
            <a:r>
              <a:rPr sz="1300" b="1" i="0">
                <a:solidFill>
                  <a:srgbClr val="1B0065"/>
                </a:solidFill>
                <a:latin typeface="Calibri"/>
              </a:rPr>
              <a:t>Stand up a domain as a pack, not a service</a:t>
            </a:r>
          </a:p>
        </p:txBody>
      </p:sp>
      <p:sp>
        <p:nvSpPr>
          <p:cNvPr id="86" name="Body"/>
          <p:cNvSpPr txBox="1"/>
          <p:nvPr/>
        </p:nvSpPr>
        <p:spPr>
          <a:xfrm>
            <a:off x="6976872" y="2926080"/>
            <a:ext cx="2148840" cy="1371600"/>
          </a:xfrm>
          <a:prstGeom prst="rect">
            <a:avLst/>
          </a:prstGeom>
          <a:noFill/>
        </p:spPr>
        <p:txBody>
          <a:bodyPr wrap="square" lIns="0" rIns="0" tIns="0" bIns="0" anchor="t">
            <a:spAutoFit/>
          </a:bodyPr>
          <a:lstStyle/>
          <a:p>
            <a:pPr algn="l"/>
            <a:r>
              <a:rPr sz="1100" b="0" i="0">
                <a:solidFill>
                  <a:srgbClr val="1E293B"/>
                </a:solidFill>
                <a:latin typeface="Calibri"/>
              </a:rPr>
              <a:t>Policies, profiles and the workflow authored as data, checked, published and activated on Plato (Platform v2: the SDK run as a hosted service). No deploy.</a:t>
            </a:r>
          </a:p>
        </p:txBody>
      </p:sp>
      <p:sp>
        <p:nvSpPr>
          <p:cNvPr id="87" name="Example box"/>
          <p:cNvSpPr/>
          <p:nvPr/>
        </p:nvSpPr>
        <p:spPr>
          <a:xfrm>
            <a:off x="6931152" y="4434840"/>
            <a:ext cx="2221992" cy="1097280"/>
          </a:xfrm>
          <a:prstGeom prst="roundRect">
            <a:avLst>
              <a:gd name="adj" fmla="val 8000"/>
            </a:avLst>
          </a:prstGeom>
          <a:solidFill>
            <a:srgbClr val="E6F8F4"/>
          </a:solidFill>
          <a:ln w="9525">
            <a:solidFill>
              <a:srgbClr val="9FE3D6"/>
            </a:solidFill>
          </a:ln>
          <a:effectLst/>
        </p:spPr>
        <p:txBody>
          <a:bodyPr rtlCol="0" anchor="ctr"/>
          <a:lstStyle/>
          <a:p/>
        </p:txBody>
      </p:sp>
      <p:sp>
        <p:nvSpPr>
          <p:cNvPr id="88" name="Example"/>
          <p:cNvSpPr txBox="1"/>
          <p:nvPr/>
        </p:nvSpPr>
        <p:spPr>
          <a:xfrm>
            <a:off x="7022592" y="4480560"/>
            <a:ext cx="2057400" cy="1005840"/>
          </a:xfrm>
          <a:prstGeom prst="rect">
            <a:avLst/>
          </a:prstGeom>
          <a:noFill/>
        </p:spPr>
        <p:txBody>
          <a:bodyPr wrap="square" lIns="0" rIns="0" tIns="0" bIns="0" anchor="t">
            <a:spAutoFit/>
          </a:bodyPr>
          <a:lstStyle/>
          <a:p>
            <a:pPr algn="l">
              <a:spcAft>
                <a:spcPts val="200"/>
              </a:spcAft>
            </a:pPr>
            <a:r>
              <a:rPr sz="900" b="1" i="0" spc="200">
                <a:solidFill>
                  <a:srgbClr val="0D9488"/>
                </a:solidFill>
                <a:latin typeface="Calibri"/>
              </a:rPr>
              <a:t>EXAMPLE</a:t>
            </a:r>
          </a:p>
          <a:p>
            <a:pPr algn="l"/>
            <a:r>
              <a:rPr sz="1050" b="0" i="0">
                <a:solidFill>
                  <a:srgbClr val="1B0065"/>
                </a:solidFill>
                <a:latin typeface="Calibri"/>
              </a:rPr>
              <a:t>Acra DSCR programs: three policy files, one profile, no Python</a:t>
            </a:r>
          </a:p>
        </p:txBody>
      </p:sp>
      <p:sp>
        <p:nvSpPr>
          <p:cNvPr id="89" name="Who card"/>
          <p:cNvSpPr/>
          <p:nvPr/>
        </p:nvSpPr>
        <p:spPr>
          <a:xfrm>
            <a:off x="9381744" y="1737360"/>
            <a:ext cx="2404872" cy="3886200"/>
          </a:xfrm>
          <a:prstGeom prst="roundRect">
            <a:avLst>
              <a:gd name="adj" fmla="val 8000"/>
            </a:avLst>
          </a:prstGeom>
          <a:solidFill>
            <a:srgbClr val="FFFFFF"/>
          </a:solidFill>
          <a:ln w="9525">
            <a:solidFill>
              <a:srgbClr val="D6DDF3"/>
            </a:solidFill>
          </a:ln>
          <a:effectLst/>
        </p:spPr>
        <p:txBody>
          <a:bodyPr rtlCol="0" anchor="ctr"/>
          <a:lstStyle/>
          <a:p/>
        </p:txBody>
      </p:sp>
      <p:sp>
        <p:nvSpPr>
          <p:cNvPr id="90" name="Icon circle"/>
          <p:cNvSpPr/>
          <p:nvPr/>
        </p:nvSpPr>
        <p:spPr>
          <a:xfrm>
            <a:off x="9518904" y="1874519"/>
            <a:ext cx="274320" cy="274320"/>
          </a:xfrm>
          <a:prstGeom prst="roundRect">
            <a:avLst>
              <a:gd name="adj" fmla="val 8000"/>
            </a:avLst>
          </a:prstGeom>
          <a:solidFill>
            <a:srgbClr val="E4E9FD"/>
          </a:solidFill>
          <a:ln w="9525">
            <a:solidFill>
              <a:srgbClr val="E4E9FD"/>
            </a:solidFill>
          </a:ln>
          <a:effectLst/>
        </p:spPr>
        <p:txBody>
          <a:bodyPr rtlCol="0" anchor="ctr"/>
          <a:lstStyle/>
          <a:p/>
        </p:txBody>
      </p:sp>
      <p:sp>
        <p:nvSpPr>
          <p:cNvPr id="91" name="Label"/>
          <p:cNvSpPr txBox="1"/>
          <p:nvPr/>
        </p:nvSpPr>
        <p:spPr>
          <a:xfrm>
            <a:off x="9884664" y="1920240"/>
            <a:ext cx="1828800" cy="182880"/>
          </a:xfrm>
          <a:prstGeom prst="rect">
            <a:avLst/>
          </a:prstGeom>
          <a:noFill/>
        </p:spPr>
        <p:txBody>
          <a:bodyPr wrap="square" lIns="0" rIns="0" tIns="0" bIns="0" anchor="t">
            <a:spAutoFit/>
          </a:bodyPr>
          <a:lstStyle/>
          <a:p>
            <a:pPr algn="l"/>
            <a:r>
              <a:rPr sz="900" b="1" i="0" spc="200">
                <a:solidFill>
                  <a:srgbClr val="5069EC"/>
                </a:solidFill>
                <a:latin typeface="Calibri"/>
              </a:rPr>
              <a:t>PLATFORM, EVAL AND SME TEAMS</a:t>
            </a:r>
          </a:p>
        </p:txBody>
      </p:sp>
      <p:sp>
        <p:nvSpPr>
          <p:cNvPr id="92" name="Heading"/>
          <p:cNvSpPr txBox="1"/>
          <p:nvPr/>
        </p:nvSpPr>
        <p:spPr>
          <a:xfrm>
            <a:off x="9518904" y="2286000"/>
            <a:ext cx="2148840" cy="640080"/>
          </a:xfrm>
          <a:prstGeom prst="rect">
            <a:avLst/>
          </a:prstGeom>
          <a:noFill/>
        </p:spPr>
        <p:txBody>
          <a:bodyPr wrap="square" lIns="0" rIns="0" tIns="0" bIns="0" anchor="t">
            <a:spAutoFit/>
          </a:bodyPr>
          <a:lstStyle/>
          <a:p>
            <a:pPr algn="l"/>
            <a:r>
              <a:rPr sz="1300" b="1" i="0">
                <a:solidFill>
                  <a:srgbClr val="1B0065"/>
                </a:solidFill>
                <a:latin typeface="Calibri"/>
              </a:rPr>
              <a:t>Measure and improve on one record</a:t>
            </a:r>
          </a:p>
        </p:txBody>
      </p:sp>
      <p:sp>
        <p:nvSpPr>
          <p:cNvPr id="93" name="Body"/>
          <p:cNvSpPr txBox="1"/>
          <p:nvPr/>
        </p:nvSpPr>
        <p:spPr>
          <a:xfrm>
            <a:off x="9518904" y="2926080"/>
            <a:ext cx="2148840" cy="1371600"/>
          </a:xfrm>
          <a:prstGeom prst="rect">
            <a:avLst/>
          </a:prstGeom>
          <a:noFill/>
        </p:spPr>
        <p:txBody>
          <a:bodyPr wrap="square" lIns="0" rIns="0" tIns="0" bIns="0" anchor="t">
            <a:spAutoFit/>
          </a:bodyPr>
          <a:lstStyle/>
          <a:p>
            <a:pPr algn="l"/>
            <a:r>
              <a:rPr sz="1100" b="0" i="0">
                <a:solidFill>
                  <a:srgbClr val="1E293B"/>
                </a:solidFill>
                <a:latin typeface="Calibri"/>
              </a:rPr>
              <a:t>One governed trace per run, feedback that becomes gold cases, experiments measured against a baseline.</a:t>
            </a:r>
          </a:p>
        </p:txBody>
      </p:sp>
      <p:sp>
        <p:nvSpPr>
          <p:cNvPr id="94" name="Example box"/>
          <p:cNvSpPr/>
          <p:nvPr/>
        </p:nvSpPr>
        <p:spPr>
          <a:xfrm>
            <a:off x="9473184" y="4434840"/>
            <a:ext cx="2221992" cy="1097280"/>
          </a:xfrm>
          <a:prstGeom prst="roundRect">
            <a:avLst>
              <a:gd name="adj" fmla="val 8000"/>
            </a:avLst>
          </a:prstGeom>
          <a:solidFill>
            <a:srgbClr val="E6F8F4"/>
          </a:solidFill>
          <a:ln w="9525">
            <a:solidFill>
              <a:srgbClr val="9FE3D6"/>
            </a:solidFill>
          </a:ln>
          <a:effectLst/>
        </p:spPr>
        <p:txBody>
          <a:bodyPr rtlCol="0" anchor="ctr"/>
          <a:lstStyle/>
          <a:p/>
        </p:txBody>
      </p:sp>
      <p:sp>
        <p:nvSpPr>
          <p:cNvPr id="95" name="Example"/>
          <p:cNvSpPr txBox="1"/>
          <p:nvPr/>
        </p:nvSpPr>
        <p:spPr>
          <a:xfrm>
            <a:off x="9564624" y="4480560"/>
            <a:ext cx="2057400" cy="1005840"/>
          </a:xfrm>
          <a:prstGeom prst="rect">
            <a:avLst/>
          </a:prstGeom>
          <a:noFill/>
        </p:spPr>
        <p:txBody>
          <a:bodyPr wrap="square" lIns="0" rIns="0" tIns="0" bIns="0" anchor="t">
            <a:spAutoFit/>
          </a:bodyPr>
          <a:lstStyle/>
          <a:p>
            <a:pPr algn="l">
              <a:spcAft>
                <a:spcPts val="200"/>
              </a:spcAft>
            </a:pPr>
            <a:r>
              <a:rPr sz="900" b="1" i="0" spc="200">
                <a:solidFill>
                  <a:srgbClr val="0D9488"/>
                </a:solidFill>
                <a:latin typeface="Calibri"/>
              </a:rPr>
              <a:t>EXAMPLE</a:t>
            </a:r>
          </a:p>
          <a:p>
            <a:pPr algn="l"/>
            <a:r>
              <a:rPr sz="1050" b="0" i="0">
                <a:solidFill>
                  <a:srgbClr val="1B0065"/>
                </a:solidFill>
                <a:latin typeface="Calibri"/>
              </a:rPr>
              <a:t>eval-service and the SDK share one contracts package</a:t>
            </a:r>
          </a:p>
        </p:txBody>
      </p:sp>
      <p:sp>
        <p:nvSpPr>
          <p:cNvPr id="96" name="Band"/>
          <p:cNvSpPr/>
          <p:nvPr/>
        </p:nvSpPr>
        <p:spPr>
          <a:xfrm>
            <a:off x="457200" y="5760720"/>
            <a:ext cx="11274552" cy="530352"/>
          </a:xfrm>
          <a:prstGeom prst="roundRect">
            <a:avLst>
              <a:gd name="adj" fmla="val 8000"/>
            </a:avLst>
          </a:prstGeom>
          <a:solidFill>
            <a:srgbClr val="1B0065"/>
          </a:solidFill>
          <a:ln w="9525">
            <a:solidFill>
              <a:srgbClr val="1B0065"/>
            </a:solidFill>
          </a:ln>
          <a:effectLst/>
        </p:spPr>
        <p:txBody>
          <a:bodyPr rtlCol="0" anchor="ctr"/>
          <a:lstStyle/>
          <a:p/>
        </p:txBody>
      </p:sp>
      <p:sp>
        <p:nvSpPr>
          <p:cNvPr id="97" name="Band text"/>
          <p:cNvSpPr txBox="1"/>
          <p:nvPr/>
        </p:nvSpPr>
        <p:spPr>
          <a:xfrm>
            <a:off x="685800" y="5760720"/>
            <a:ext cx="10881360" cy="530352"/>
          </a:xfrm>
          <a:prstGeom prst="rect">
            <a:avLst/>
          </a:prstGeom>
          <a:noFill/>
        </p:spPr>
        <p:txBody>
          <a:bodyPr wrap="square" lIns="0" rIns="0" tIns="0" bIns="0" anchor="ctr">
            <a:spAutoFit/>
          </a:bodyPr>
          <a:lstStyle/>
          <a:p>
            <a:pPr algn="l"/>
            <a:r>
              <a:rPr sz="1050" b="1" i="0" spc="150">
                <a:solidFill>
                  <a:srgbClr val="03CBA9"/>
                </a:solidFill>
                <a:latin typeface="Calibri"/>
              </a:rPr>
              <a:t>WHAT IT ACCELERATES   </a:t>
            </a:r>
            <a:r>
              <a:rPr sz="1050" b="1" i="0">
                <a:solidFill>
                  <a:srgbClr val="FFFFFF"/>
                </a:solidFill>
                <a:latin typeface="Calibri"/>
              </a:rPr>
              <a:t>The framework half of a new app. A mortgage assistant on the SDK went from first commit to dev/test in about six weeks; the policy half of a new lending program is configuration. The domain half is still written by people who have it.</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a:xfrm>
            <a:off x="457200" y="502920"/>
            <a:ext cx="11274552" cy="566928"/>
          </a:xfrm>
        </p:spPr>
        <p:txBody>
          <a:bodyPr lIns="0" rIns="0" tIns="0" bIns="0"/>
          <a:lstStyle/>
          <a:p>
            <a:r>
              <a:rPr sz="2600" b="1" i="0">
                <a:solidFill>
                  <a:srgbClr val="3600AD"/>
                </a:solidFill>
                <a:latin typeface="Calibri"/>
              </a:rPr>
              <a:t>jstack runs the platform locally, the SDK is what we build on, Juno authors configs</a:t>
            </a:r>
          </a:p>
        </p:txBody>
      </p:sp>
      <p:sp>
        <p:nvSpPr>
          <p:cNvPr id="3" name="Kicker"/>
          <p:cNvSpPr txBox="1"/>
          <p:nvPr/>
        </p:nvSpPr>
        <p:spPr>
          <a:xfrm>
            <a:off x="457200" y="256032"/>
            <a:ext cx="11274552" cy="219456"/>
          </a:xfrm>
          <a:prstGeom prst="rect">
            <a:avLst/>
          </a:prstGeom>
          <a:noFill/>
        </p:spPr>
        <p:txBody>
          <a:bodyPr wrap="square" lIns="0" rIns="0" tIns="0" bIns="0" anchor="ctr">
            <a:spAutoFit/>
          </a:bodyPr>
          <a:lstStyle/>
          <a:p>
            <a:pPr algn="l"/>
            <a:r>
              <a:rPr sz="1000" b="1" i="0" spc="300">
                <a:solidFill>
                  <a:srgbClr val="5069EC"/>
                </a:solidFill>
                <a:latin typeface="Calibri"/>
              </a:rPr>
              <a:t>SDK  ·  JAPES, JUNO AND JSTACK</a:t>
            </a:r>
          </a:p>
        </p:txBody>
      </p:sp>
      <p:sp>
        <p:nvSpPr>
          <p:cNvPr id="4" name="Subtitle"/>
          <p:cNvSpPr txBox="1"/>
          <p:nvPr/>
        </p:nvSpPr>
        <p:spPr>
          <a:xfrm>
            <a:off x="457200" y="1069848"/>
            <a:ext cx="11274552" cy="292608"/>
          </a:xfrm>
          <a:prstGeom prst="rect">
            <a:avLst/>
          </a:prstGeom>
          <a:noFill/>
        </p:spPr>
        <p:txBody>
          <a:bodyPr wrap="square" lIns="0" rIns="0" tIns="0" bIns="0" anchor="ctr">
            <a:spAutoFit/>
          </a:bodyPr>
          <a:lstStyle/>
          <a:p>
            <a:pPr algn="l"/>
            <a:r>
              <a:rPr sz="1400" b="0" i="1">
                <a:solidFill>
                  <a:srgbClr val="5B2D8E"/>
                </a:solidFill>
                <a:latin typeface="Calibri"/>
              </a:rPr>
              <a:t>Three names that come up together; they do different jobs at different points in the lifecycle</a:t>
            </a:r>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
        <p:nvSpPr>
          <p:cNvPr id="68" name="Col header"/>
          <p:cNvSpPr/>
          <p:nvPr/>
        </p:nvSpPr>
        <p:spPr>
          <a:xfrm>
            <a:off x="2103120" y="1463040"/>
            <a:ext cx="3246120" cy="566928"/>
          </a:xfrm>
          <a:prstGeom prst="roundRect">
            <a:avLst>
              <a:gd name="adj" fmla="val 8000"/>
            </a:avLst>
          </a:prstGeom>
          <a:solidFill>
            <a:srgbClr val="E6F8F4"/>
          </a:solidFill>
          <a:ln w="9525">
            <a:solidFill>
              <a:srgbClr val="9FE3D6"/>
            </a:solidFill>
          </a:ln>
          <a:effectLst/>
        </p:spPr>
        <p:txBody>
          <a:bodyPr rtlCol="0" anchor="ctr"/>
          <a:lstStyle/>
          <a:p/>
        </p:txBody>
      </p:sp>
      <p:sp>
        <p:nvSpPr>
          <p:cNvPr id="69" name="Col header text"/>
          <p:cNvSpPr txBox="1"/>
          <p:nvPr/>
        </p:nvSpPr>
        <p:spPr>
          <a:xfrm>
            <a:off x="2240280" y="1463040"/>
            <a:ext cx="2971800" cy="566928"/>
          </a:xfrm>
          <a:prstGeom prst="rect">
            <a:avLst/>
          </a:prstGeom>
          <a:noFill/>
        </p:spPr>
        <p:txBody>
          <a:bodyPr wrap="square" lIns="0" rIns="0" tIns="0" bIns="0" anchor="ctr">
            <a:spAutoFit/>
          </a:bodyPr>
          <a:lstStyle/>
          <a:p>
            <a:pPr algn="l">
              <a:spcAft>
                <a:spcPts val="100"/>
              </a:spcAft>
            </a:pPr>
            <a:r>
              <a:rPr sz="950" b="1" i="0" spc="200">
                <a:solidFill>
                  <a:srgbClr val="0D9488"/>
                </a:solidFill>
                <a:latin typeface="Calibri"/>
              </a:rPr>
              <a:t>JAPES  ·  THE SDK</a:t>
            </a:r>
          </a:p>
          <a:p>
            <a:pPr algn="l"/>
            <a:r>
              <a:rPr sz="1200" b="1" i="0">
                <a:solidFill>
                  <a:srgbClr val="1B0065"/>
                </a:solidFill>
                <a:latin typeface="Calibri"/>
              </a:rPr>
              <a:t>jazzx_sdk, plus Plato (Platform v2) to host it</a:t>
            </a:r>
          </a:p>
        </p:txBody>
      </p:sp>
      <p:sp>
        <p:nvSpPr>
          <p:cNvPr id="70" name="Col header"/>
          <p:cNvSpPr/>
          <p:nvPr/>
        </p:nvSpPr>
        <p:spPr>
          <a:xfrm>
            <a:off x="5532120" y="1463040"/>
            <a:ext cx="2926080" cy="566928"/>
          </a:xfrm>
          <a:prstGeom prst="roundRect">
            <a:avLst>
              <a:gd name="adj" fmla="val 8000"/>
            </a:avLst>
          </a:prstGeom>
          <a:solidFill>
            <a:srgbClr val="F3F6FF"/>
          </a:solidFill>
          <a:ln w="9525">
            <a:solidFill>
              <a:srgbClr val="D6DDF3"/>
            </a:solidFill>
          </a:ln>
          <a:effectLst/>
        </p:spPr>
        <p:txBody>
          <a:bodyPr rtlCol="0" anchor="ctr"/>
          <a:lstStyle/>
          <a:p/>
        </p:txBody>
      </p:sp>
      <p:sp>
        <p:nvSpPr>
          <p:cNvPr id="71" name="Col header text"/>
          <p:cNvSpPr txBox="1"/>
          <p:nvPr/>
        </p:nvSpPr>
        <p:spPr>
          <a:xfrm>
            <a:off x="5669280" y="1463040"/>
            <a:ext cx="2651760" cy="566928"/>
          </a:xfrm>
          <a:prstGeom prst="rect">
            <a:avLst/>
          </a:prstGeom>
          <a:noFill/>
        </p:spPr>
        <p:txBody>
          <a:bodyPr wrap="square" lIns="0" rIns="0" tIns="0" bIns="0" anchor="ctr">
            <a:spAutoFit/>
          </a:bodyPr>
          <a:lstStyle/>
          <a:p>
            <a:pPr algn="l">
              <a:spcAft>
                <a:spcPts val="100"/>
              </a:spcAft>
            </a:pPr>
            <a:r>
              <a:rPr sz="950" b="1" i="0" spc="200">
                <a:solidFill>
                  <a:srgbClr val="5069EC"/>
                </a:solidFill>
                <a:latin typeface="Calibri"/>
              </a:rPr>
              <a:t>JUNO</a:t>
            </a:r>
          </a:p>
          <a:p>
            <a:pPr algn="l"/>
            <a:r>
              <a:rPr sz="1200" b="1" i="0">
                <a:solidFill>
                  <a:srgbClr val="1B0065"/>
                </a:solidFill>
                <a:latin typeface="Calibri"/>
              </a:rPr>
              <a:t>The copilot inside Builder Studio</a:t>
            </a:r>
          </a:p>
        </p:txBody>
      </p:sp>
      <p:sp>
        <p:nvSpPr>
          <p:cNvPr id="72" name="Col header"/>
          <p:cNvSpPr/>
          <p:nvPr/>
        </p:nvSpPr>
        <p:spPr>
          <a:xfrm>
            <a:off x="8641080" y="1463040"/>
            <a:ext cx="2953512" cy="566928"/>
          </a:xfrm>
          <a:prstGeom prst="roundRect">
            <a:avLst>
              <a:gd name="adj" fmla="val 8000"/>
            </a:avLst>
          </a:prstGeom>
          <a:solidFill>
            <a:srgbClr val="F4F5F8"/>
          </a:solidFill>
          <a:ln w="9525">
            <a:solidFill>
              <a:srgbClr val="D6DDF3"/>
            </a:solidFill>
          </a:ln>
          <a:effectLst/>
        </p:spPr>
        <p:txBody>
          <a:bodyPr rtlCol="0" anchor="ctr"/>
          <a:lstStyle/>
          <a:p/>
        </p:txBody>
      </p:sp>
      <p:sp>
        <p:nvSpPr>
          <p:cNvPr id="73" name="Col header text"/>
          <p:cNvSpPr txBox="1"/>
          <p:nvPr/>
        </p:nvSpPr>
        <p:spPr>
          <a:xfrm>
            <a:off x="8778240" y="1463040"/>
            <a:ext cx="2679192" cy="566928"/>
          </a:xfrm>
          <a:prstGeom prst="rect">
            <a:avLst/>
          </a:prstGeom>
          <a:noFill/>
        </p:spPr>
        <p:txBody>
          <a:bodyPr wrap="square" lIns="0" rIns="0" tIns="0" bIns="0" anchor="ctr">
            <a:spAutoFit/>
          </a:bodyPr>
          <a:lstStyle/>
          <a:p>
            <a:pPr algn="l">
              <a:spcAft>
                <a:spcPts val="100"/>
              </a:spcAft>
            </a:pPr>
            <a:r>
              <a:rPr sz="950" b="1" i="0" spc="200">
                <a:solidFill>
                  <a:srgbClr val="5B6472"/>
                </a:solidFill>
                <a:latin typeface="Calibri"/>
              </a:rPr>
              <a:t>JSTACK</a:t>
            </a:r>
          </a:p>
          <a:p>
            <a:pPr algn="l"/>
            <a:r>
              <a:rPr sz="1200" b="1" i="0">
                <a:solidFill>
                  <a:srgbClr val="1B0065"/>
                </a:solidFill>
                <a:latin typeface="Calibri"/>
              </a:rPr>
              <a:t>The local development environment</a:t>
            </a:r>
          </a:p>
        </p:txBody>
      </p:sp>
      <p:sp>
        <p:nvSpPr>
          <p:cNvPr id="74" name="Row label"/>
          <p:cNvSpPr txBox="1"/>
          <p:nvPr/>
        </p:nvSpPr>
        <p:spPr>
          <a:xfrm>
            <a:off x="457200" y="2121408"/>
            <a:ext cx="1645920" cy="768096"/>
          </a:xfrm>
          <a:prstGeom prst="rect">
            <a:avLst/>
          </a:prstGeom>
          <a:noFill/>
        </p:spPr>
        <p:txBody>
          <a:bodyPr wrap="square" lIns="0" rIns="0" tIns="0" bIns="0" anchor="ctr">
            <a:spAutoFit/>
          </a:bodyPr>
          <a:lstStyle/>
          <a:p>
            <a:pPr algn="l"/>
            <a:r>
              <a:rPr sz="1150" b="1" i="0">
                <a:solidFill>
                  <a:srgbClr val="1B0065"/>
                </a:solidFill>
                <a:latin typeface="Calibri"/>
              </a:rPr>
              <a:t>Job</a:t>
            </a:r>
          </a:p>
        </p:txBody>
      </p:sp>
      <p:sp>
        <p:nvSpPr>
          <p:cNvPr id="75" name="Cell"/>
          <p:cNvSpPr txBox="1"/>
          <p:nvPr/>
        </p:nvSpPr>
        <p:spPr>
          <a:xfrm>
            <a:off x="2240280" y="2121408"/>
            <a:ext cx="2971800" cy="768096"/>
          </a:xfrm>
          <a:prstGeom prst="rect">
            <a:avLst/>
          </a:prstGeom>
          <a:noFill/>
        </p:spPr>
        <p:txBody>
          <a:bodyPr wrap="square" lIns="0" rIns="0" tIns="0" bIns="0" anchor="ctr">
            <a:spAutoFit/>
          </a:bodyPr>
          <a:lstStyle/>
          <a:p>
            <a:pPr algn="l"/>
            <a:r>
              <a:rPr sz="1100" b="0" i="0">
                <a:solidFill>
                  <a:srgbClr val="1B0065"/>
                </a:solidFill>
                <a:latin typeface="Calibri"/>
              </a:rPr>
              <a:t>Build capabilities on the platform: one library over its services, and a hosted service for packs</a:t>
            </a:r>
          </a:p>
        </p:txBody>
      </p:sp>
      <p:sp>
        <p:nvSpPr>
          <p:cNvPr id="76" name="Cell"/>
          <p:cNvSpPr txBox="1"/>
          <p:nvPr/>
        </p:nvSpPr>
        <p:spPr>
          <a:xfrm>
            <a:off x="5669280" y="2121408"/>
            <a:ext cx="2651760" cy="768096"/>
          </a:xfrm>
          <a:prstGeom prst="rect">
            <a:avLst/>
          </a:prstGeom>
          <a:noFill/>
        </p:spPr>
        <p:txBody>
          <a:bodyPr wrap="square" lIns="0" rIns="0" tIns="0" bIns="0" anchor="ctr">
            <a:spAutoFit/>
          </a:bodyPr>
          <a:lstStyle/>
          <a:p>
            <a:pPr algn="l"/>
            <a:r>
              <a:rPr sz="1100" b="0" i="0">
                <a:solidFill>
                  <a:srgbClr val="1E293B"/>
                </a:solidFill>
                <a:latin typeface="Calibri"/>
              </a:rPr>
              <a:t>Author agents, tools, integrations and workflows by describing them; a person reviews and applies</a:t>
            </a:r>
          </a:p>
        </p:txBody>
      </p:sp>
      <p:sp>
        <p:nvSpPr>
          <p:cNvPr id="77" name="Cell"/>
          <p:cNvSpPr txBox="1"/>
          <p:nvPr/>
        </p:nvSpPr>
        <p:spPr>
          <a:xfrm>
            <a:off x="8778240" y="2121408"/>
            <a:ext cx="2679192" cy="768096"/>
          </a:xfrm>
          <a:prstGeom prst="rect">
            <a:avLst/>
          </a:prstGeom>
          <a:noFill/>
        </p:spPr>
        <p:txBody>
          <a:bodyPr wrap="square" lIns="0" rIns="0" tIns="0" bIns="0" anchor="ctr">
            <a:spAutoFit/>
          </a:bodyPr>
          <a:lstStyle/>
          <a:p>
            <a:pPr algn="l"/>
            <a:r>
              <a:rPr sz="1100" b="0" i="0">
                <a:solidFill>
                  <a:srgbClr val="1E293B"/>
                </a:solidFill>
                <a:latin typeface="Calibri"/>
              </a:rPr>
              <a:t>Bring the whole v1 platform up on one laptop and test a change end to end</a:t>
            </a:r>
          </a:p>
        </p:txBody>
      </p:sp>
      <p:cxnSp>
        <p:nvCxnSpPr>
          <p:cNvPr id="78" name="Row rule"/>
          <p:cNvCxnSpPr/>
          <p:nvPr/>
        </p:nvCxnSpPr>
        <p:spPr>
          <a:xfrm>
            <a:off x="457200" y="2889503"/>
            <a:ext cx="11274552" cy="0"/>
          </a:xfrm>
          <a:prstGeom prst="line">
            <a:avLst/>
          </a:prstGeom>
          <a:ln w="9525">
            <a:solidFill>
              <a:srgbClr val="D6DDF3"/>
            </a:solidFill>
          </a:ln>
        </p:spPr>
      </p:cxnSp>
      <p:sp>
        <p:nvSpPr>
          <p:cNvPr id="79" name="Row label"/>
          <p:cNvSpPr txBox="1"/>
          <p:nvPr/>
        </p:nvSpPr>
        <p:spPr>
          <a:xfrm>
            <a:off x="457200" y="2889503"/>
            <a:ext cx="1645920" cy="475488"/>
          </a:xfrm>
          <a:prstGeom prst="rect">
            <a:avLst/>
          </a:prstGeom>
          <a:noFill/>
        </p:spPr>
        <p:txBody>
          <a:bodyPr wrap="square" lIns="0" rIns="0" tIns="0" bIns="0" anchor="ctr">
            <a:spAutoFit/>
          </a:bodyPr>
          <a:lstStyle/>
          <a:p>
            <a:pPr algn="l"/>
            <a:r>
              <a:rPr sz="1150" b="1" i="0">
                <a:solidFill>
                  <a:srgbClr val="1B0065"/>
                </a:solidFill>
                <a:latin typeface="Calibri"/>
              </a:rPr>
              <a:t>Who uses it</a:t>
            </a:r>
          </a:p>
        </p:txBody>
      </p:sp>
      <p:sp>
        <p:nvSpPr>
          <p:cNvPr id="80" name="Cell"/>
          <p:cNvSpPr txBox="1"/>
          <p:nvPr/>
        </p:nvSpPr>
        <p:spPr>
          <a:xfrm>
            <a:off x="2240280" y="2889503"/>
            <a:ext cx="2971800" cy="475488"/>
          </a:xfrm>
          <a:prstGeom prst="rect">
            <a:avLst/>
          </a:prstGeom>
          <a:noFill/>
        </p:spPr>
        <p:txBody>
          <a:bodyPr wrap="square" lIns="0" rIns="0" tIns="0" bIns="0" anchor="ctr">
            <a:spAutoFit/>
          </a:bodyPr>
          <a:lstStyle/>
          <a:p>
            <a:pPr algn="l"/>
            <a:r>
              <a:rPr sz="1100" b="0" i="0">
                <a:solidFill>
                  <a:srgbClr val="1B0065"/>
                </a:solidFill>
                <a:latin typeface="Calibri"/>
              </a:rPr>
              <a:t>Product and solution engineers</a:t>
            </a:r>
          </a:p>
        </p:txBody>
      </p:sp>
      <p:sp>
        <p:nvSpPr>
          <p:cNvPr id="81" name="Cell"/>
          <p:cNvSpPr txBox="1"/>
          <p:nvPr/>
        </p:nvSpPr>
        <p:spPr>
          <a:xfrm>
            <a:off x="5669280" y="2889503"/>
            <a:ext cx="2651760" cy="475488"/>
          </a:xfrm>
          <a:prstGeom prst="rect">
            <a:avLst/>
          </a:prstGeom>
          <a:noFill/>
        </p:spPr>
        <p:txBody>
          <a:bodyPr wrap="square" lIns="0" rIns="0" tIns="0" bIns="0" anchor="ctr">
            <a:spAutoFit/>
          </a:bodyPr>
          <a:lstStyle/>
          <a:p>
            <a:pPr algn="l"/>
            <a:r>
              <a:rPr sz="1100" b="0" i="0">
                <a:solidFill>
                  <a:srgbClr val="1E293B"/>
                </a:solidFill>
                <a:latin typeface="Calibri"/>
              </a:rPr>
              <a:t>Builder Studio users, including non-engineers</a:t>
            </a:r>
          </a:p>
        </p:txBody>
      </p:sp>
      <p:sp>
        <p:nvSpPr>
          <p:cNvPr id="82" name="Cell"/>
          <p:cNvSpPr txBox="1"/>
          <p:nvPr/>
        </p:nvSpPr>
        <p:spPr>
          <a:xfrm>
            <a:off x="8778240" y="2889503"/>
            <a:ext cx="2679192" cy="475488"/>
          </a:xfrm>
          <a:prstGeom prst="rect">
            <a:avLst/>
          </a:prstGeom>
          <a:noFill/>
        </p:spPr>
        <p:txBody>
          <a:bodyPr wrap="square" lIns="0" rIns="0" tIns="0" bIns="0" anchor="ctr">
            <a:spAutoFit/>
          </a:bodyPr>
          <a:lstStyle/>
          <a:p>
            <a:pPr algn="l"/>
            <a:r>
              <a:rPr sz="1100" b="0" i="0">
                <a:solidFill>
                  <a:srgbClr val="1E293B"/>
                </a:solidFill>
                <a:latin typeface="Calibri"/>
              </a:rPr>
              <a:t>Engineers</a:t>
            </a:r>
          </a:p>
        </p:txBody>
      </p:sp>
      <p:cxnSp>
        <p:nvCxnSpPr>
          <p:cNvPr id="83" name="Row rule"/>
          <p:cNvCxnSpPr/>
          <p:nvPr/>
        </p:nvCxnSpPr>
        <p:spPr>
          <a:xfrm>
            <a:off x="457200" y="3364991"/>
            <a:ext cx="11274552" cy="0"/>
          </a:xfrm>
          <a:prstGeom prst="line">
            <a:avLst/>
          </a:prstGeom>
          <a:ln w="9525">
            <a:solidFill>
              <a:srgbClr val="D6DDF3"/>
            </a:solidFill>
          </a:ln>
        </p:spPr>
      </p:cxnSp>
      <p:sp>
        <p:nvSpPr>
          <p:cNvPr id="84" name="Row label"/>
          <p:cNvSpPr txBox="1"/>
          <p:nvPr/>
        </p:nvSpPr>
        <p:spPr>
          <a:xfrm>
            <a:off x="457200" y="3364991"/>
            <a:ext cx="1645920" cy="768096"/>
          </a:xfrm>
          <a:prstGeom prst="rect">
            <a:avLst/>
          </a:prstGeom>
          <a:noFill/>
        </p:spPr>
        <p:txBody>
          <a:bodyPr wrap="square" lIns="0" rIns="0" tIns="0" bIns="0" anchor="ctr">
            <a:spAutoFit/>
          </a:bodyPr>
          <a:lstStyle/>
          <a:p>
            <a:pPr algn="l"/>
            <a:r>
              <a:rPr sz="1150" b="1" i="0">
                <a:solidFill>
                  <a:srgbClr val="1B0065"/>
                </a:solidFill>
                <a:latin typeface="Calibri"/>
              </a:rPr>
              <a:t>Generation and scope</a:t>
            </a:r>
          </a:p>
        </p:txBody>
      </p:sp>
      <p:sp>
        <p:nvSpPr>
          <p:cNvPr id="85" name="Cell"/>
          <p:cNvSpPr txBox="1"/>
          <p:nvPr/>
        </p:nvSpPr>
        <p:spPr>
          <a:xfrm>
            <a:off x="2240280" y="3364991"/>
            <a:ext cx="2971800" cy="768096"/>
          </a:xfrm>
          <a:prstGeom prst="rect">
            <a:avLst/>
          </a:prstGeom>
          <a:noFill/>
        </p:spPr>
        <p:txBody>
          <a:bodyPr wrap="square" lIns="0" rIns="0" tIns="0" bIns="0" anchor="ctr">
            <a:spAutoFit/>
          </a:bodyPr>
          <a:lstStyle/>
          <a:p>
            <a:pPr algn="l"/>
            <a:r>
              <a:rPr sz="1100" b="0" i="0">
                <a:solidFill>
                  <a:srgbClr val="1B0065"/>
                </a:solidFill>
                <a:latin typeface="Calibri"/>
              </a:rPr>
              <a:t>v2. Multi-domain by design: mortgage, commercial lending, DSCR, AML, clinical intake</a:t>
            </a:r>
          </a:p>
        </p:txBody>
      </p:sp>
      <p:sp>
        <p:nvSpPr>
          <p:cNvPr id="86" name="Cell"/>
          <p:cNvSpPr txBox="1"/>
          <p:nvPr/>
        </p:nvSpPr>
        <p:spPr>
          <a:xfrm>
            <a:off x="5669280" y="3364991"/>
            <a:ext cx="2651760" cy="768096"/>
          </a:xfrm>
          <a:prstGeom prst="rect">
            <a:avLst/>
          </a:prstGeom>
          <a:noFill/>
        </p:spPr>
        <p:txBody>
          <a:bodyPr wrap="square" lIns="0" rIns="0" tIns="0" bIns="0" anchor="ctr">
            <a:spAutoFit/>
          </a:bodyPr>
          <a:lstStyle/>
          <a:p>
            <a:pPr algn="l"/>
            <a:r>
              <a:rPr sz="1100" b="0" i="0">
                <a:solidFill>
                  <a:srgbClr val="1E293B"/>
                </a:solidFill>
                <a:latin typeface="Calibri"/>
              </a:rPr>
              <a:t>v1. Mortgage, through Builder Studio; writes kernel agent rows</a:t>
            </a:r>
          </a:p>
        </p:txBody>
      </p:sp>
      <p:sp>
        <p:nvSpPr>
          <p:cNvPr id="87" name="Cell"/>
          <p:cNvSpPr txBox="1"/>
          <p:nvPr/>
        </p:nvSpPr>
        <p:spPr>
          <a:xfrm>
            <a:off x="8778240" y="3364991"/>
            <a:ext cx="2679192" cy="768096"/>
          </a:xfrm>
          <a:prstGeom prst="rect">
            <a:avLst/>
          </a:prstGeom>
          <a:noFill/>
        </p:spPr>
        <p:txBody>
          <a:bodyPr wrap="square" lIns="0" rIns="0" tIns="0" bIns="0" anchor="ctr">
            <a:spAutoFit/>
          </a:bodyPr>
          <a:lstStyle/>
          <a:p>
            <a:pPr algn="l"/>
            <a:r>
              <a:rPr sz="1100" b="0" i="0">
                <a:solidFill>
                  <a:srgbClr val="1E293B"/>
                </a:solidFill>
                <a:latin typeface="Calibri"/>
              </a:rPr>
              <a:t>v1. The mortgage estate, about 30 services</a:t>
            </a:r>
          </a:p>
        </p:txBody>
      </p:sp>
      <p:cxnSp>
        <p:nvCxnSpPr>
          <p:cNvPr id="88" name="Row rule"/>
          <p:cNvCxnSpPr/>
          <p:nvPr/>
        </p:nvCxnSpPr>
        <p:spPr>
          <a:xfrm>
            <a:off x="457200" y="4133087"/>
            <a:ext cx="11274552" cy="0"/>
          </a:xfrm>
          <a:prstGeom prst="line">
            <a:avLst/>
          </a:prstGeom>
          <a:ln w="9525">
            <a:solidFill>
              <a:srgbClr val="D6DDF3"/>
            </a:solidFill>
          </a:ln>
        </p:spPr>
      </p:cxnSp>
      <p:sp>
        <p:nvSpPr>
          <p:cNvPr id="89" name="Row label"/>
          <p:cNvSpPr txBox="1"/>
          <p:nvPr/>
        </p:nvSpPr>
        <p:spPr>
          <a:xfrm>
            <a:off x="457200" y="4133087"/>
            <a:ext cx="1645920" cy="603504"/>
          </a:xfrm>
          <a:prstGeom prst="rect">
            <a:avLst/>
          </a:prstGeom>
          <a:noFill/>
        </p:spPr>
        <p:txBody>
          <a:bodyPr wrap="square" lIns="0" rIns="0" tIns="0" bIns="0" anchor="ctr">
            <a:spAutoFit/>
          </a:bodyPr>
          <a:lstStyle/>
          <a:p>
            <a:pPr algn="l"/>
            <a:r>
              <a:rPr sz="1150" b="1" i="0">
                <a:solidFill>
                  <a:srgbClr val="1B0065"/>
                </a:solidFill>
                <a:latin typeface="Calibri"/>
              </a:rPr>
              <a:t>Output</a:t>
            </a:r>
          </a:p>
        </p:txBody>
      </p:sp>
      <p:sp>
        <p:nvSpPr>
          <p:cNvPr id="90" name="Cell"/>
          <p:cNvSpPr txBox="1"/>
          <p:nvPr/>
        </p:nvSpPr>
        <p:spPr>
          <a:xfrm>
            <a:off x="2240280" y="4133087"/>
            <a:ext cx="2971800" cy="603504"/>
          </a:xfrm>
          <a:prstGeom prst="rect">
            <a:avLst/>
          </a:prstGeom>
          <a:noFill/>
        </p:spPr>
        <p:txBody>
          <a:bodyPr wrap="square" lIns="0" rIns="0" tIns="0" bIns="0" anchor="ctr">
            <a:spAutoFit/>
          </a:bodyPr>
          <a:lstStyle/>
          <a:p>
            <a:pPr algn="l"/>
            <a:r>
              <a:rPr sz="1100" b="0" i="0">
                <a:solidFill>
                  <a:srgbClr val="1B0065"/>
                </a:solidFill>
                <a:latin typeface="Calibri"/>
              </a:rPr>
              <a:t>Packs, specs and capabilities, versioned in git or published to Plato</a:t>
            </a:r>
          </a:p>
        </p:txBody>
      </p:sp>
      <p:sp>
        <p:nvSpPr>
          <p:cNvPr id="91" name="Cell"/>
          <p:cNvSpPr txBox="1"/>
          <p:nvPr/>
        </p:nvSpPr>
        <p:spPr>
          <a:xfrm>
            <a:off x="5669280" y="4133087"/>
            <a:ext cx="2651760" cy="603504"/>
          </a:xfrm>
          <a:prstGeom prst="rect">
            <a:avLst/>
          </a:prstGeom>
          <a:noFill/>
        </p:spPr>
        <p:txBody>
          <a:bodyPr wrap="square" lIns="0" rIns="0" tIns="0" bIns="0" anchor="ctr">
            <a:spAutoFit/>
          </a:bodyPr>
          <a:lstStyle/>
          <a:p>
            <a:pPr algn="l"/>
            <a:r>
              <a:rPr sz="1100" b="0" i="0">
                <a:solidFill>
                  <a:srgbClr val="1E293B"/>
                </a:solidFill>
                <a:latin typeface="Calibri"/>
              </a:rPr>
              <a:t>Configured agents, tools, connectors and BPMN processes</a:t>
            </a:r>
          </a:p>
        </p:txBody>
      </p:sp>
      <p:sp>
        <p:nvSpPr>
          <p:cNvPr id="92" name="Cell"/>
          <p:cNvSpPr txBox="1"/>
          <p:nvPr/>
        </p:nvSpPr>
        <p:spPr>
          <a:xfrm>
            <a:off x="8778240" y="4133087"/>
            <a:ext cx="2679192" cy="603504"/>
          </a:xfrm>
          <a:prstGeom prst="rect">
            <a:avLst/>
          </a:prstGeom>
          <a:noFill/>
        </p:spPr>
        <p:txBody>
          <a:bodyPr wrap="square" lIns="0" rIns="0" tIns="0" bIns="0" anchor="ctr">
            <a:spAutoFit/>
          </a:bodyPr>
          <a:lstStyle/>
          <a:p>
            <a:pPr algn="l"/>
            <a:r>
              <a:rPr sz="1100" b="0" i="0">
                <a:solidFill>
                  <a:srgbClr val="1E293B"/>
                </a:solidFill>
                <a:latin typeface="Calibri"/>
              </a:rPr>
              <a:t>Tested, reviewed code changes</a:t>
            </a:r>
          </a:p>
        </p:txBody>
      </p:sp>
      <p:cxnSp>
        <p:nvCxnSpPr>
          <p:cNvPr id="93" name="Row rule"/>
          <p:cNvCxnSpPr/>
          <p:nvPr/>
        </p:nvCxnSpPr>
        <p:spPr>
          <a:xfrm>
            <a:off x="457200" y="4736592"/>
            <a:ext cx="11274552" cy="0"/>
          </a:xfrm>
          <a:prstGeom prst="line">
            <a:avLst/>
          </a:prstGeom>
          <a:ln w="9525">
            <a:solidFill>
              <a:srgbClr val="D6DDF3"/>
            </a:solidFill>
          </a:ln>
        </p:spPr>
      </p:cxnSp>
      <p:sp>
        <p:nvSpPr>
          <p:cNvPr id="94" name="Row label"/>
          <p:cNvSpPr txBox="1"/>
          <p:nvPr/>
        </p:nvSpPr>
        <p:spPr>
          <a:xfrm>
            <a:off x="457200" y="4736592"/>
            <a:ext cx="1645920" cy="603504"/>
          </a:xfrm>
          <a:prstGeom prst="rect">
            <a:avLst/>
          </a:prstGeom>
          <a:noFill/>
        </p:spPr>
        <p:txBody>
          <a:bodyPr wrap="square" lIns="0" rIns="0" tIns="0" bIns="0" anchor="ctr">
            <a:spAutoFit/>
          </a:bodyPr>
          <a:lstStyle/>
          <a:p>
            <a:pPr algn="l"/>
            <a:r>
              <a:rPr sz="1150" b="1" i="0">
                <a:solidFill>
                  <a:srgbClr val="1B0065"/>
                </a:solidFill>
                <a:latin typeface="Calibri"/>
              </a:rPr>
              <a:t>Without it</a:t>
            </a:r>
          </a:p>
        </p:txBody>
      </p:sp>
      <p:sp>
        <p:nvSpPr>
          <p:cNvPr id="95" name="Cell"/>
          <p:cNvSpPr txBox="1"/>
          <p:nvPr/>
        </p:nvSpPr>
        <p:spPr>
          <a:xfrm>
            <a:off x="2240280" y="4736592"/>
            <a:ext cx="2971800" cy="603504"/>
          </a:xfrm>
          <a:prstGeom prst="rect">
            <a:avLst/>
          </a:prstGeom>
          <a:noFill/>
        </p:spPr>
        <p:txBody>
          <a:bodyPr wrap="square" lIns="0" rIns="0" tIns="0" bIns="0" anchor="ctr">
            <a:spAutoFit/>
          </a:bodyPr>
          <a:lstStyle/>
          <a:p>
            <a:pPr algn="l"/>
            <a:r>
              <a:rPr sz="1100" b="0" i="0">
                <a:solidFill>
                  <a:srgbClr val="1B0065"/>
                </a:solidFill>
                <a:latin typeface="Calibri"/>
              </a:rPr>
              <a:t>Every team relearns the platform and rebuilds the regulated machinery</a:t>
            </a:r>
          </a:p>
        </p:txBody>
      </p:sp>
      <p:sp>
        <p:nvSpPr>
          <p:cNvPr id="96" name="Cell"/>
          <p:cNvSpPr txBox="1"/>
          <p:nvPr/>
        </p:nvSpPr>
        <p:spPr>
          <a:xfrm>
            <a:off x="5669280" y="4736592"/>
            <a:ext cx="2651760" cy="603504"/>
          </a:xfrm>
          <a:prstGeom prst="rect">
            <a:avLst/>
          </a:prstGeom>
          <a:noFill/>
        </p:spPr>
        <p:txBody>
          <a:bodyPr wrap="square" lIns="0" rIns="0" tIns="0" bIns="0" anchor="ctr">
            <a:spAutoFit/>
          </a:bodyPr>
          <a:lstStyle/>
          <a:p>
            <a:pPr algn="l"/>
            <a:r>
              <a:rPr sz="1100" b="0" i="0">
                <a:solidFill>
                  <a:srgbClr val="1E293B"/>
                </a:solidFill>
                <a:latin typeface="Calibri"/>
              </a:rPr>
              <a:t>Only engineers can author</a:t>
            </a:r>
          </a:p>
        </p:txBody>
      </p:sp>
      <p:sp>
        <p:nvSpPr>
          <p:cNvPr id="97" name="Cell"/>
          <p:cNvSpPr txBox="1"/>
          <p:nvPr/>
        </p:nvSpPr>
        <p:spPr>
          <a:xfrm>
            <a:off x="8778240" y="4736592"/>
            <a:ext cx="2679192" cy="603504"/>
          </a:xfrm>
          <a:prstGeom prst="rect">
            <a:avLst/>
          </a:prstGeom>
          <a:noFill/>
        </p:spPr>
        <p:txBody>
          <a:bodyPr wrap="square" lIns="0" rIns="0" tIns="0" bIns="0" anchor="ctr">
            <a:spAutoFit/>
          </a:bodyPr>
          <a:lstStyle/>
          <a:p>
            <a:pPr algn="l"/>
            <a:r>
              <a:rPr sz="1100" b="0" i="0">
                <a:solidFill>
                  <a:srgbClr val="1E293B"/>
                </a:solidFill>
                <a:latin typeface="Calibri"/>
              </a:rPr>
              <a:t>Slower, riskier development</a:t>
            </a:r>
          </a:p>
        </p:txBody>
      </p:sp>
      <p:cxnSp>
        <p:nvCxnSpPr>
          <p:cNvPr id="98" name="Row rule"/>
          <p:cNvCxnSpPr/>
          <p:nvPr/>
        </p:nvCxnSpPr>
        <p:spPr>
          <a:xfrm>
            <a:off x="457200" y="5340096"/>
            <a:ext cx="11274552" cy="0"/>
          </a:xfrm>
          <a:prstGeom prst="line">
            <a:avLst/>
          </a:prstGeom>
          <a:ln w="9525">
            <a:solidFill>
              <a:srgbClr val="D6DDF3"/>
            </a:solidFill>
          </a:ln>
        </p:spPr>
      </p:cxnSp>
      <p:sp>
        <p:nvSpPr>
          <p:cNvPr id="99" name="Band"/>
          <p:cNvSpPr/>
          <p:nvPr/>
        </p:nvSpPr>
        <p:spPr>
          <a:xfrm>
            <a:off x="457200" y="5532120"/>
            <a:ext cx="11274552" cy="758952"/>
          </a:xfrm>
          <a:prstGeom prst="roundRect">
            <a:avLst>
              <a:gd name="adj" fmla="val 8000"/>
            </a:avLst>
          </a:prstGeom>
          <a:solidFill>
            <a:srgbClr val="1B0065"/>
          </a:solidFill>
          <a:ln w="9525">
            <a:solidFill>
              <a:srgbClr val="1B0065"/>
            </a:solidFill>
          </a:ln>
          <a:effectLst/>
        </p:spPr>
        <p:txBody>
          <a:bodyPr rtlCol="0" anchor="ctr"/>
          <a:lstStyle/>
          <a:p/>
        </p:txBody>
      </p:sp>
      <p:sp>
        <p:nvSpPr>
          <p:cNvPr id="100" name="Band text"/>
          <p:cNvSpPr txBox="1"/>
          <p:nvPr/>
        </p:nvSpPr>
        <p:spPr>
          <a:xfrm>
            <a:off x="685800" y="5532120"/>
            <a:ext cx="10881360" cy="758952"/>
          </a:xfrm>
          <a:prstGeom prst="rect">
            <a:avLst/>
          </a:prstGeom>
          <a:noFill/>
        </p:spPr>
        <p:txBody>
          <a:bodyPr wrap="square" lIns="0" rIns="0" tIns="0" bIns="0" anchor="ctr">
            <a:spAutoFit/>
          </a:bodyPr>
          <a:lstStyle/>
          <a:p>
            <a:pPr algn="l"/>
            <a:r>
              <a:rPr sz="1050" b="1" i="0" spc="150">
                <a:solidFill>
                  <a:srgbClr val="03CBA9"/>
                </a:solidFill>
                <a:latin typeface="Calibri"/>
              </a:rPr>
              <a:t>HOW THEY FIT   </a:t>
            </a:r>
            <a:r>
              <a:rPr sz="1050" b="1" i="0">
                <a:solidFill>
                  <a:srgbClr val="FFFFFF"/>
                </a:solidFill>
                <a:latin typeface="Calibri"/>
              </a:rPr>
              <a:t>None replaces another. The next seam: Juno writes into Plato's control plane instead of kernel agent rows, and jstack gets a Plato service definition. eval-service stays the record for feedback, experiments and evaluation results; it is not one of the three.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a:xfrm>
            <a:off x="457200" y="502920"/>
            <a:ext cx="11274552" cy="566928"/>
          </a:xfrm>
        </p:spPr>
        <p:txBody>
          <a:bodyPr lIns="0" rIns="0" tIns="0" bIns="0"/>
          <a:lstStyle/>
          <a:p>
            <a:r>
              <a:rPr sz="2600" b="1" i="0">
                <a:solidFill>
                  <a:srgbClr val="3600AD"/>
                </a:solidFill>
                <a:latin typeface="Calibri"/>
              </a:rPr>
              <a:t>An agentic stack, one fabric, canonical objects, and a library built from them</a:t>
            </a:r>
          </a:p>
        </p:txBody>
      </p:sp>
      <p:sp>
        <p:nvSpPr>
          <p:cNvPr id="3" name="Kicker"/>
          <p:cNvSpPr txBox="1"/>
          <p:nvPr/>
        </p:nvSpPr>
        <p:spPr>
          <a:xfrm>
            <a:off x="457200" y="256032"/>
            <a:ext cx="11274552" cy="219456"/>
          </a:xfrm>
          <a:prstGeom prst="rect">
            <a:avLst/>
          </a:prstGeom>
          <a:noFill/>
        </p:spPr>
        <p:txBody>
          <a:bodyPr wrap="square" lIns="0" rIns="0" tIns="0" bIns="0" anchor="ctr">
            <a:spAutoFit/>
          </a:bodyPr>
          <a:lstStyle/>
          <a:p>
            <a:pPr algn="l"/>
            <a:r>
              <a:rPr sz="1000" b="1" i="0" spc="300">
                <a:solidFill>
                  <a:srgbClr val="5069EC"/>
                </a:solidFill>
                <a:latin typeface="Calibri"/>
              </a:rPr>
              <a:t>SDK  ·  CURRENT CAPABILITIES</a:t>
            </a:r>
          </a:p>
        </p:txBody>
      </p:sp>
      <p:sp>
        <p:nvSpPr>
          <p:cNvPr id="4" name="Subtitle"/>
          <p:cNvSpPr txBox="1"/>
          <p:nvPr/>
        </p:nvSpPr>
        <p:spPr>
          <a:xfrm>
            <a:off x="457200" y="1069848"/>
            <a:ext cx="11274552" cy="292608"/>
          </a:xfrm>
          <a:prstGeom prst="rect">
            <a:avLst/>
          </a:prstGeom>
          <a:noFill/>
        </p:spPr>
        <p:txBody>
          <a:bodyPr wrap="square" lIns="0" rIns="0" tIns="0" bIns="0" anchor="ctr">
            <a:spAutoFit/>
          </a:bodyPr>
          <a:lstStyle/>
          <a:p>
            <a:pPr algn="l"/>
            <a:r>
              <a:rPr sz="1400" b="0" i="1">
                <a:solidFill>
                  <a:srgbClr val="5B2D8E"/>
                </a:solidFill>
                <a:latin typeface="Calibri"/>
              </a:rPr>
              <a:t>jazzx_sdk 2.6.0 on main since Oct 5, 2.6.2 in review; Plato 0.2 (Platform v2) is the same SDK run as a multi-tenant service</a:t>
            </a:r>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
        <p:nvSpPr>
          <p:cNvPr id="68" name="Label"/>
          <p:cNvSpPr txBox="1"/>
          <p:nvPr/>
        </p:nvSpPr>
        <p:spPr>
          <a:xfrm>
            <a:off x="457200" y="1481328"/>
            <a:ext cx="3611880" cy="182880"/>
          </a:xfrm>
          <a:prstGeom prst="rect">
            <a:avLst/>
          </a:prstGeom>
          <a:noFill/>
        </p:spPr>
        <p:txBody>
          <a:bodyPr wrap="square" lIns="0" rIns="0" tIns="0" bIns="0" anchor="t">
            <a:spAutoFit/>
          </a:bodyPr>
          <a:lstStyle/>
          <a:p>
            <a:pPr algn="l"/>
            <a:r>
              <a:rPr sz="900" b="1" i="0" spc="200">
                <a:solidFill>
                  <a:srgbClr val="5069EC"/>
                </a:solidFill>
                <a:latin typeface="Calibri"/>
              </a:rPr>
              <a:t>AGENTIC  ·  BUILT BOTTOM UP</a:t>
            </a:r>
          </a:p>
        </p:txBody>
      </p:sp>
      <p:sp>
        <p:nvSpPr>
          <p:cNvPr id="69" name="Pipelines"/>
          <p:cNvSpPr/>
          <p:nvPr/>
        </p:nvSpPr>
        <p:spPr>
          <a:xfrm>
            <a:off x="457200" y="1737360"/>
            <a:ext cx="3611880" cy="1115568"/>
          </a:xfrm>
          <a:prstGeom prst="roundRect">
            <a:avLst>
              <a:gd name="adj" fmla="val 8000"/>
            </a:avLst>
          </a:prstGeom>
          <a:solidFill>
            <a:srgbClr val="1B0065"/>
          </a:solidFill>
          <a:ln w="9525">
            <a:solidFill>
              <a:srgbClr val="1B0065"/>
            </a:solidFill>
          </a:ln>
          <a:effectLst/>
        </p:spPr>
        <p:txBody>
          <a:bodyPr rtlCol="0" anchor="ctr"/>
          <a:lstStyle/>
          <a:p/>
        </p:txBody>
      </p:sp>
      <p:sp>
        <p:nvSpPr>
          <p:cNvPr id="70" name="Pipelines text"/>
          <p:cNvSpPr txBox="1"/>
          <p:nvPr/>
        </p:nvSpPr>
        <p:spPr>
          <a:xfrm>
            <a:off x="594360" y="1810512"/>
            <a:ext cx="3337560" cy="987552"/>
          </a:xfrm>
          <a:prstGeom prst="rect">
            <a:avLst/>
          </a:prstGeom>
          <a:noFill/>
        </p:spPr>
        <p:txBody>
          <a:bodyPr wrap="square" lIns="0" rIns="0" tIns="0" bIns="0" anchor="t">
            <a:spAutoFit/>
          </a:bodyPr>
          <a:lstStyle/>
          <a:p>
            <a:pPr algn="l">
              <a:spcAft>
                <a:spcPts val="200"/>
              </a:spcAft>
            </a:pPr>
            <a:r>
              <a:rPr sz="900" b="1" i="0" spc="200">
                <a:solidFill>
                  <a:srgbClr val="03CBA9"/>
                </a:solidFill>
                <a:latin typeface="Calibri"/>
              </a:rPr>
              <a:t>PIPELINES</a:t>
            </a:r>
          </a:p>
          <a:p>
            <a:pPr algn="l"/>
            <a:r>
              <a:rPr sz="1000" b="0" i="0">
                <a:solidFill>
                  <a:srgbClr val="FFFFFF"/>
                </a:solidFill>
                <a:latin typeface="Calibri"/>
              </a:rPr>
              <a:t>Declared step sequences the Conductor runs: chat lifecycle, document ingest, investigation loop, policy extraction, financial spread. Loops, streaming, durable resume, human checkpoints.</a:t>
            </a:r>
          </a:p>
        </p:txBody>
      </p:sp>
      <p:sp>
        <p:nvSpPr>
          <p:cNvPr id="71" name="Platform agents"/>
          <p:cNvSpPr/>
          <p:nvPr/>
        </p:nvSpPr>
        <p:spPr>
          <a:xfrm>
            <a:off x="457200" y="2926080"/>
            <a:ext cx="3611880" cy="1115568"/>
          </a:xfrm>
          <a:prstGeom prst="roundRect">
            <a:avLst>
              <a:gd name="adj" fmla="val 8000"/>
            </a:avLst>
          </a:prstGeom>
          <a:solidFill>
            <a:srgbClr val="2D1A8A"/>
          </a:solidFill>
          <a:ln w="9525">
            <a:solidFill>
              <a:srgbClr val="2D1A8A"/>
            </a:solidFill>
          </a:ln>
          <a:effectLst/>
        </p:spPr>
        <p:txBody>
          <a:bodyPr rtlCol="0" anchor="ctr"/>
          <a:lstStyle/>
          <a:p/>
        </p:txBody>
      </p:sp>
      <p:sp>
        <p:nvSpPr>
          <p:cNvPr id="72" name="Platform agents text"/>
          <p:cNvSpPr txBox="1"/>
          <p:nvPr/>
        </p:nvSpPr>
        <p:spPr>
          <a:xfrm>
            <a:off x="594360" y="2999232"/>
            <a:ext cx="3337560" cy="987552"/>
          </a:xfrm>
          <a:prstGeom prst="rect">
            <a:avLst/>
          </a:prstGeom>
          <a:noFill/>
        </p:spPr>
        <p:txBody>
          <a:bodyPr wrap="square" lIns="0" rIns="0" tIns="0" bIns="0" anchor="t">
            <a:spAutoFit/>
          </a:bodyPr>
          <a:lstStyle/>
          <a:p>
            <a:pPr algn="l">
              <a:spcAft>
                <a:spcPts val="200"/>
              </a:spcAft>
            </a:pPr>
            <a:r>
              <a:rPr sz="900" b="1" i="0" spc="200">
                <a:solidFill>
                  <a:srgbClr val="03CBA9"/>
                </a:solidFill>
                <a:latin typeface="Calibri"/>
              </a:rPr>
              <a:t>PLATFORM AGENTS</a:t>
            </a:r>
          </a:p>
          <a:p>
            <a:pPr algn="l"/>
            <a:r>
              <a:rPr sz="1000" b="0" i="0">
                <a:solidFill>
                  <a:srgbClr val="FFFFFF"/>
                </a:solidFill>
                <a:latin typeface="Calibri"/>
              </a:rPr>
              <a:t>Task agents defined as data: Interactive (profile, skills, guardrails, scope), Document (classify, extract with provenance), Adjudication (replicated verdicts), Knowledge graph.</a:t>
            </a:r>
          </a:p>
        </p:txBody>
      </p:sp>
      <p:sp>
        <p:nvSpPr>
          <p:cNvPr id="73" name="Agent execution"/>
          <p:cNvSpPr/>
          <p:nvPr/>
        </p:nvSpPr>
        <p:spPr>
          <a:xfrm>
            <a:off x="457200" y="4114800"/>
            <a:ext cx="3611880" cy="1115568"/>
          </a:xfrm>
          <a:prstGeom prst="roundRect">
            <a:avLst>
              <a:gd name="adj" fmla="val 8000"/>
            </a:avLst>
          </a:prstGeom>
          <a:solidFill>
            <a:srgbClr val="4A3AA8"/>
          </a:solidFill>
          <a:ln w="9525">
            <a:solidFill>
              <a:srgbClr val="4A3AA8"/>
            </a:solidFill>
          </a:ln>
          <a:effectLst/>
        </p:spPr>
        <p:txBody>
          <a:bodyPr rtlCol="0" anchor="ctr"/>
          <a:lstStyle/>
          <a:p/>
        </p:txBody>
      </p:sp>
      <p:sp>
        <p:nvSpPr>
          <p:cNvPr id="74" name="Agent execution text"/>
          <p:cNvSpPr txBox="1"/>
          <p:nvPr/>
        </p:nvSpPr>
        <p:spPr>
          <a:xfrm>
            <a:off x="594360" y="4187952"/>
            <a:ext cx="3337560" cy="987552"/>
          </a:xfrm>
          <a:prstGeom prst="rect">
            <a:avLst/>
          </a:prstGeom>
          <a:noFill/>
        </p:spPr>
        <p:txBody>
          <a:bodyPr wrap="square" lIns="0" rIns="0" tIns="0" bIns="0" anchor="t">
            <a:spAutoFit/>
          </a:bodyPr>
          <a:lstStyle/>
          <a:p>
            <a:pPr algn="l">
              <a:spcAft>
                <a:spcPts val="200"/>
              </a:spcAft>
            </a:pPr>
            <a:r>
              <a:rPr sz="900" b="1" i="0" spc="200">
                <a:solidFill>
                  <a:srgbClr val="C9F7EE"/>
                </a:solidFill>
                <a:latin typeface="Calibri"/>
              </a:rPr>
              <a:t>AGENT EXECUTION SERVICE</a:t>
            </a:r>
          </a:p>
          <a:p>
            <a:pPr algn="l"/>
            <a:r>
              <a:rPr sz="1000" b="0" i="0">
                <a:solidFill>
                  <a:srgbClr val="FFFFFF"/>
                </a:solidFill>
                <a:latin typeface="Calibri"/>
              </a:rPr>
              <a:t>On the OpenAI Agents SDK, made governed: OpenAI, Anthropic and Gemini behind one gateway, routing and fallback, retries, tracing, token cost and spend ceilings.</a:t>
            </a:r>
          </a:p>
        </p:txBody>
      </p:sp>
      <p:sp>
        <p:nvSpPr>
          <p:cNvPr id="75" name="Label"/>
          <p:cNvSpPr txBox="1"/>
          <p:nvPr/>
        </p:nvSpPr>
        <p:spPr>
          <a:xfrm>
            <a:off x="4251960" y="1481328"/>
            <a:ext cx="3611880" cy="182880"/>
          </a:xfrm>
          <a:prstGeom prst="rect">
            <a:avLst/>
          </a:prstGeom>
          <a:noFill/>
        </p:spPr>
        <p:txBody>
          <a:bodyPr wrap="square" lIns="0" rIns="0" tIns="0" bIns="0" anchor="t">
            <a:spAutoFit/>
          </a:bodyPr>
          <a:lstStyle/>
          <a:p>
            <a:pPr algn="l"/>
            <a:r>
              <a:rPr sz="900" b="1" i="0" spc="200">
                <a:solidFill>
                  <a:srgbClr val="0D9488"/>
                </a:solidFill>
                <a:latin typeface="Calibri"/>
              </a:rPr>
              <a:t>CANONICAL OBJECTS  ·  POLICY FIRST</a:t>
            </a:r>
          </a:p>
        </p:txBody>
      </p:sp>
      <p:sp>
        <p:nvSpPr>
          <p:cNvPr id="76" name="Canonical"/>
          <p:cNvSpPr/>
          <p:nvPr/>
        </p:nvSpPr>
        <p:spPr>
          <a:xfrm>
            <a:off x="4251960" y="1737360"/>
            <a:ext cx="3611880" cy="1920240"/>
          </a:xfrm>
          <a:prstGeom prst="roundRect">
            <a:avLst>
              <a:gd name="adj" fmla="val 8000"/>
            </a:avLst>
          </a:prstGeom>
          <a:solidFill>
            <a:srgbClr val="E6F8F4"/>
          </a:solidFill>
          <a:ln w="9525">
            <a:solidFill>
              <a:srgbClr val="9FE3D6"/>
            </a:solidFill>
          </a:ln>
          <a:effectLst/>
        </p:spPr>
        <p:txBody>
          <a:bodyPr rtlCol="0" anchor="ctr"/>
          <a:lstStyle/>
          <a:p/>
        </p:txBody>
      </p:sp>
      <p:sp>
        <p:nvSpPr>
          <p:cNvPr id="77" name="Policy"/>
          <p:cNvSpPr txBox="1"/>
          <p:nvPr/>
        </p:nvSpPr>
        <p:spPr>
          <a:xfrm>
            <a:off x="4389120" y="1810512"/>
            <a:ext cx="3337560" cy="274320"/>
          </a:xfrm>
          <a:prstGeom prst="rect">
            <a:avLst/>
          </a:prstGeom>
          <a:noFill/>
        </p:spPr>
        <p:txBody>
          <a:bodyPr wrap="square" lIns="0" rIns="0" tIns="0" bIns="0" anchor="t">
            <a:spAutoFit/>
          </a:bodyPr>
          <a:lstStyle/>
          <a:p>
            <a:pPr algn="l"/>
            <a:r>
              <a:rPr sz="1300" b="1" i="0">
                <a:solidFill>
                  <a:srgbClr val="1B0065"/>
                </a:solidFill>
                <a:latin typeface="Calibri"/>
              </a:rPr>
              <a:t>Policy</a:t>
            </a:r>
          </a:p>
        </p:txBody>
      </p:sp>
      <p:sp>
        <p:nvSpPr>
          <p:cNvPr id="78" name="Policy body"/>
          <p:cNvSpPr txBox="1"/>
          <p:nvPr/>
        </p:nvSpPr>
        <p:spPr>
          <a:xfrm>
            <a:off x="4389120" y="2075688"/>
            <a:ext cx="3337560" cy="658368"/>
          </a:xfrm>
          <a:prstGeom prst="rect">
            <a:avLst/>
          </a:prstGeom>
          <a:noFill/>
        </p:spPr>
        <p:txBody>
          <a:bodyPr wrap="square" lIns="0" rIns="0" tIns="0" bIns="0" anchor="t">
            <a:spAutoFit/>
          </a:bodyPr>
          <a:lstStyle/>
          <a:p>
            <a:pPr algn="l"/>
            <a:r>
              <a:rPr sz="1000" b="0" i="0">
                <a:solidFill>
                  <a:srgbClr val="1B0065"/>
                </a:solidFill>
                <a:latin typeface="Calibri"/>
              </a:rPr>
              <a:t>Rules as typed data, not prompt text: thresholds in profiles, matrix and procedure conditions, a Python kind that runs only through an installed executor. Checked deterministically and formally.</a:t>
            </a:r>
          </a:p>
        </p:txBody>
      </p:sp>
      <p:sp>
        <p:nvSpPr>
          <p:cNvPr id="79" name="Other objects"/>
          <p:cNvSpPr txBox="1"/>
          <p:nvPr/>
        </p:nvSpPr>
        <p:spPr>
          <a:xfrm>
            <a:off x="4389120" y="2788920"/>
            <a:ext cx="3337560" cy="822960"/>
          </a:xfrm>
          <a:prstGeom prst="rect">
            <a:avLst/>
          </a:prstGeom>
          <a:noFill/>
        </p:spPr>
        <p:txBody>
          <a:bodyPr wrap="square" lIns="0" rIns="0" tIns="0" bIns="0" anchor="t">
            <a:spAutoFit/>
          </a:bodyPr>
          <a:lstStyle/>
          <a:p>
            <a:pPr algn="l"/>
            <a:r>
              <a:rPr sz="1100" b="1" i="0">
                <a:solidFill>
                  <a:srgbClr val="1B0065"/>
                </a:solidFill>
                <a:latin typeface="Calibri"/>
              </a:rPr>
              <a:t>Evidence  </a:t>
            </a:r>
            <a:r>
              <a:rPr sz="1000" b="0" i="0">
                <a:solidFill>
                  <a:srgbClr val="1B0065"/>
                </a:solidFill>
                <a:latin typeface="Calibri"/>
              </a:rPr>
              <a:t>every value with its source and confidence</a:t>
            </a:r>
          </a:p>
          <a:p>
            <a:pPr algn="l"/>
            <a:r>
              <a:rPr sz="1100" b="1" i="0">
                <a:solidFill>
                  <a:srgbClr val="1B0065"/>
                </a:solidFill>
                <a:latin typeface="Calibri"/>
              </a:rPr>
              <a:t>Decision  </a:t>
            </a:r>
            <a:r>
              <a:rPr sz="1000" b="0" i="0">
                <a:solidFill>
                  <a:srgbClr val="1B0065"/>
                </a:solidFill>
                <a:latin typeface="Calibri"/>
              </a:rPr>
              <a:t>cites the policy and rules it applied</a:t>
            </a:r>
          </a:p>
          <a:p>
            <a:pPr algn="l"/>
            <a:r>
              <a:rPr sz="1100" b="1" i="0">
                <a:solidFill>
                  <a:srgbClr val="1B0065"/>
                </a:solidFill>
                <a:latin typeface="Calibri"/>
              </a:rPr>
              <a:t>Trace  </a:t>
            </a:r>
            <a:r>
              <a:rPr sz="1000" b="0" i="0">
                <a:solidFill>
                  <a:srgbClr val="1B0065"/>
                </a:solidFill>
                <a:latin typeface="Calibri"/>
              </a:rPr>
              <a:t>the run of record, step by step</a:t>
            </a:r>
          </a:p>
          <a:p>
            <a:pPr algn="l"/>
            <a:r>
              <a:rPr sz="1100" b="1" i="0">
                <a:solidFill>
                  <a:srgbClr val="1B0065"/>
                </a:solidFill>
                <a:latin typeface="Calibri"/>
              </a:rPr>
              <a:t>Outcome  </a:t>
            </a:r>
            <a:r>
              <a:rPr sz="1000" b="0" i="0">
                <a:solidFill>
                  <a:srgbClr val="1B0065"/>
                </a:solidFill>
                <a:latin typeface="Calibri"/>
              </a:rPr>
              <a:t>what happened, and what the loop learns from</a:t>
            </a:r>
          </a:p>
        </p:txBody>
      </p:sp>
      <p:sp>
        <p:nvSpPr>
          <p:cNvPr id="80" name="Label"/>
          <p:cNvSpPr txBox="1"/>
          <p:nvPr/>
        </p:nvSpPr>
        <p:spPr>
          <a:xfrm>
            <a:off x="4251960" y="3794760"/>
            <a:ext cx="3611880" cy="182880"/>
          </a:xfrm>
          <a:prstGeom prst="rect">
            <a:avLst/>
          </a:prstGeom>
          <a:noFill/>
        </p:spPr>
        <p:txBody>
          <a:bodyPr wrap="square" lIns="0" rIns="0" tIns="0" bIns="0" anchor="t">
            <a:spAutoFit/>
          </a:bodyPr>
          <a:lstStyle/>
          <a:p>
            <a:pPr algn="l"/>
            <a:r>
              <a:rPr sz="900" b="1" i="0" spc="200">
                <a:solidFill>
                  <a:srgbClr val="5069EC"/>
                </a:solidFill>
                <a:latin typeface="Calibri"/>
              </a:rPr>
              <a:t>FABRIC  ·  ONE FRONT TO EVERY STORE</a:t>
            </a:r>
          </a:p>
        </p:txBody>
      </p:sp>
      <p:sp>
        <p:nvSpPr>
          <p:cNvPr id="81" name="Fabric"/>
          <p:cNvSpPr/>
          <p:nvPr/>
        </p:nvSpPr>
        <p:spPr>
          <a:xfrm>
            <a:off x="4251960" y="4041648"/>
            <a:ext cx="3611880" cy="1188720"/>
          </a:xfrm>
          <a:prstGeom prst="roundRect">
            <a:avLst>
              <a:gd name="adj" fmla="val 8000"/>
            </a:avLst>
          </a:prstGeom>
          <a:solidFill>
            <a:srgbClr val="F3F6FF"/>
          </a:solidFill>
          <a:ln w="9525">
            <a:solidFill>
              <a:srgbClr val="D6DDF3"/>
            </a:solidFill>
          </a:ln>
          <a:effectLst/>
        </p:spPr>
        <p:txBody>
          <a:bodyPr rtlCol="0" anchor="ctr"/>
          <a:lstStyle/>
          <a:p/>
        </p:txBody>
      </p:sp>
      <p:sp>
        <p:nvSpPr>
          <p:cNvPr id="82" name="Fabric text"/>
          <p:cNvSpPr txBox="1"/>
          <p:nvPr/>
        </p:nvSpPr>
        <p:spPr>
          <a:xfrm>
            <a:off x="4389120" y="4114800"/>
            <a:ext cx="3337560" cy="1060704"/>
          </a:xfrm>
          <a:prstGeom prst="rect">
            <a:avLst/>
          </a:prstGeom>
          <a:noFill/>
        </p:spPr>
        <p:txBody>
          <a:bodyPr wrap="square" lIns="0" rIns="0" tIns="0" bIns="0" anchor="t">
            <a:spAutoFit/>
          </a:bodyPr>
          <a:lstStyle/>
          <a:p>
            <a:pPr algn="l">
              <a:spcAft>
                <a:spcPts val="200"/>
              </a:spcAft>
            </a:pPr>
            <a:r>
              <a:rPr sz="900" b="1" i="0" spc="200">
                <a:solidFill>
                  <a:srgbClr val="5069EC"/>
                </a:solidFill>
                <a:latin typeface="Calibri"/>
              </a:rPr>
              <a:t>KNOWLEDGE FABRIC</a:t>
            </a:r>
          </a:p>
          <a:p>
            <a:pPr algn="l"/>
            <a:r>
              <a:rPr sz="1000" b="0" i="0">
                <a:solidFill>
                  <a:srgbClr val="1B0065"/>
                </a:solidFill>
                <a:latin typeface="Calibri"/>
              </a:rPr>
              <a:t>Canonical objects, knowledge graph, RAG and documents through Knowledge Hub, entities, relational persistence, Azure blobs, conversation memory. Backends chosen by configuration, not code; a mock for every store, so a pack tests with no Azure.</a:t>
            </a:r>
          </a:p>
        </p:txBody>
      </p:sp>
      <p:sp>
        <p:nvSpPr>
          <p:cNvPr id="83" name="Label"/>
          <p:cNvSpPr txBox="1"/>
          <p:nvPr/>
        </p:nvSpPr>
        <p:spPr>
          <a:xfrm>
            <a:off x="8046720" y="1481328"/>
            <a:ext cx="3685032" cy="182880"/>
          </a:xfrm>
          <a:prstGeom prst="rect">
            <a:avLst/>
          </a:prstGeom>
          <a:noFill/>
        </p:spPr>
        <p:txBody>
          <a:bodyPr wrap="square" lIns="0" rIns="0" tIns="0" bIns="0" anchor="t">
            <a:spAutoFit/>
          </a:bodyPr>
          <a:lstStyle/>
          <a:p>
            <a:pPr algn="l"/>
            <a:r>
              <a:rPr sz="900" b="1" i="0" spc="200">
                <a:solidFill>
                  <a:srgbClr val="5B2D8E"/>
                </a:solidFill>
                <a:latin typeface="Calibri"/>
              </a:rPr>
              <a:t>LIBRARY  ·  BUILT FROM PIPELINES AND AGENTS</a:t>
            </a:r>
          </a:p>
        </p:txBody>
      </p:sp>
      <p:sp>
        <p:nvSpPr>
          <p:cNvPr id="84" name="Lib item"/>
          <p:cNvSpPr/>
          <p:nvPr/>
        </p:nvSpPr>
        <p:spPr>
          <a:xfrm>
            <a:off x="8046720" y="1737360"/>
            <a:ext cx="3685032" cy="530352"/>
          </a:xfrm>
          <a:prstGeom prst="roundRect">
            <a:avLst>
              <a:gd name="adj" fmla="val 8000"/>
            </a:avLst>
          </a:prstGeom>
          <a:solidFill>
            <a:srgbClr val="FFFFFF"/>
          </a:solidFill>
          <a:ln w="9525">
            <a:solidFill>
              <a:srgbClr val="D6DDF3"/>
            </a:solidFill>
          </a:ln>
          <a:effectLst/>
        </p:spPr>
        <p:txBody>
          <a:bodyPr rtlCol="0" anchor="ctr"/>
          <a:lstStyle/>
          <a:p/>
        </p:txBody>
      </p:sp>
      <p:sp>
        <p:nvSpPr>
          <p:cNvPr id="85" name="Lib text"/>
          <p:cNvSpPr txBox="1"/>
          <p:nvPr/>
        </p:nvSpPr>
        <p:spPr>
          <a:xfrm>
            <a:off x="8183880" y="1737360"/>
            <a:ext cx="3410712" cy="530352"/>
          </a:xfrm>
          <a:prstGeom prst="rect">
            <a:avLst/>
          </a:prstGeom>
          <a:noFill/>
        </p:spPr>
        <p:txBody>
          <a:bodyPr wrap="square" lIns="0" rIns="0" tIns="0" bIns="0" anchor="ctr">
            <a:spAutoFit/>
          </a:bodyPr>
          <a:lstStyle/>
          <a:p>
            <a:pPr algn="l">
              <a:spcAft>
                <a:spcPts val="100"/>
              </a:spcAft>
            </a:pPr>
            <a:r>
              <a:rPr sz="1100" b="1" i="0">
                <a:solidFill>
                  <a:srgbClr val="1B0065"/>
                </a:solidFill>
                <a:latin typeface="Calibri"/>
              </a:rPr>
              <a:t>Policy document to JTBDs</a:t>
            </a:r>
          </a:p>
          <a:p>
            <a:pPr algn="l"/>
            <a:r>
              <a:rPr sz="950" b="0" i="0">
                <a:solidFill>
                  <a:srgbClr val="1E293B"/>
                </a:solidFill>
                <a:latin typeface="Calibri"/>
              </a:rPr>
              <a:t>Guideline text to jobs, with a ledger that cross-checks coverage</a:t>
            </a:r>
          </a:p>
        </p:txBody>
      </p:sp>
      <p:sp>
        <p:nvSpPr>
          <p:cNvPr id="86" name="Lib item"/>
          <p:cNvSpPr/>
          <p:nvPr/>
        </p:nvSpPr>
        <p:spPr>
          <a:xfrm>
            <a:off x="8046720" y="2322576"/>
            <a:ext cx="3685032" cy="530352"/>
          </a:xfrm>
          <a:prstGeom prst="roundRect">
            <a:avLst>
              <a:gd name="adj" fmla="val 8000"/>
            </a:avLst>
          </a:prstGeom>
          <a:solidFill>
            <a:srgbClr val="FFFFFF"/>
          </a:solidFill>
          <a:ln w="9525">
            <a:solidFill>
              <a:srgbClr val="D6DDF3"/>
            </a:solidFill>
          </a:ln>
          <a:effectLst/>
        </p:spPr>
        <p:txBody>
          <a:bodyPr rtlCol="0" anchor="ctr"/>
          <a:lstStyle/>
          <a:p/>
        </p:txBody>
      </p:sp>
      <p:sp>
        <p:nvSpPr>
          <p:cNvPr id="87" name="Lib text"/>
          <p:cNvSpPr txBox="1"/>
          <p:nvPr/>
        </p:nvSpPr>
        <p:spPr>
          <a:xfrm>
            <a:off x="8183880" y="2322576"/>
            <a:ext cx="3410712" cy="530352"/>
          </a:xfrm>
          <a:prstGeom prst="rect">
            <a:avLst/>
          </a:prstGeom>
          <a:noFill/>
        </p:spPr>
        <p:txBody>
          <a:bodyPr wrap="square" lIns="0" rIns="0" tIns="0" bIns="0" anchor="ctr">
            <a:spAutoFit/>
          </a:bodyPr>
          <a:lstStyle/>
          <a:p>
            <a:pPr algn="l">
              <a:spcAft>
                <a:spcPts val="100"/>
              </a:spcAft>
            </a:pPr>
            <a:r>
              <a:rPr sz="1100" b="1" i="0">
                <a:solidFill>
                  <a:srgbClr val="1B0065"/>
                </a:solidFill>
                <a:latin typeface="Calibri"/>
              </a:rPr>
              <a:t>Document to code</a:t>
            </a:r>
          </a:p>
          <a:p>
            <a:pPr algn="l"/>
            <a:r>
              <a:rPr sz="950" b="0" i="0">
                <a:solidFill>
                  <a:srgbClr val="1E293B"/>
                </a:solidFill>
                <a:latin typeface="Calibri"/>
              </a:rPr>
              <a:t>Rules generated from the policy, trialled against a baseline before they merge</a:t>
            </a:r>
          </a:p>
        </p:txBody>
      </p:sp>
      <p:sp>
        <p:nvSpPr>
          <p:cNvPr id="88" name="Lib item"/>
          <p:cNvSpPr/>
          <p:nvPr/>
        </p:nvSpPr>
        <p:spPr>
          <a:xfrm>
            <a:off x="8046720" y="2907792"/>
            <a:ext cx="3685032" cy="530352"/>
          </a:xfrm>
          <a:prstGeom prst="roundRect">
            <a:avLst>
              <a:gd name="adj" fmla="val 8000"/>
            </a:avLst>
          </a:prstGeom>
          <a:solidFill>
            <a:srgbClr val="FFFFFF"/>
          </a:solidFill>
          <a:ln w="9525">
            <a:solidFill>
              <a:srgbClr val="D6DDF3"/>
            </a:solidFill>
          </a:ln>
          <a:effectLst/>
        </p:spPr>
        <p:txBody>
          <a:bodyPr rtlCol="0" anchor="ctr"/>
          <a:lstStyle/>
          <a:p/>
        </p:txBody>
      </p:sp>
      <p:sp>
        <p:nvSpPr>
          <p:cNvPr id="89" name="Lib text"/>
          <p:cNvSpPr txBox="1"/>
          <p:nvPr/>
        </p:nvSpPr>
        <p:spPr>
          <a:xfrm>
            <a:off x="8183880" y="2907792"/>
            <a:ext cx="3410712" cy="530352"/>
          </a:xfrm>
          <a:prstGeom prst="rect">
            <a:avLst/>
          </a:prstGeom>
          <a:noFill/>
        </p:spPr>
        <p:txBody>
          <a:bodyPr wrap="square" lIns="0" rIns="0" tIns="0" bIns="0" anchor="ctr">
            <a:spAutoFit/>
          </a:bodyPr>
          <a:lstStyle/>
          <a:p>
            <a:pPr algn="l">
              <a:spcAft>
                <a:spcPts val="100"/>
              </a:spcAft>
            </a:pPr>
            <a:r>
              <a:rPr sz="1100" b="1" i="0">
                <a:solidFill>
                  <a:srgbClr val="1B0065"/>
                </a:solidFill>
                <a:latin typeface="Calibri"/>
              </a:rPr>
              <a:t>JTBD to code</a:t>
            </a:r>
          </a:p>
          <a:p>
            <a:pPr algn="l"/>
            <a:r>
              <a:rPr sz="950" b="0" i="0">
                <a:solidFill>
                  <a:srgbClr val="1E293B"/>
                </a:solidFill>
                <a:latin typeface="Calibri"/>
              </a:rPr>
              <a:t>Python rules written from jobs, against a shared rules library</a:t>
            </a:r>
          </a:p>
        </p:txBody>
      </p:sp>
      <p:sp>
        <p:nvSpPr>
          <p:cNvPr id="90" name="Lib item"/>
          <p:cNvSpPr/>
          <p:nvPr/>
        </p:nvSpPr>
        <p:spPr>
          <a:xfrm>
            <a:off x="8046720" y="3493008"/>
            <a:ext cx="3685032" cy="530352"/>
          </a:xfrm>
          <a:prstGeom prst="roundRect">
            <a:avLst>
              <a:gd name="adj" fmla="val 8000"/>
            </a:avLst>
          </a:prstGeom>
          <a:solidFill>
            <a:srgbClr val="FFFFFF"/>
          </a:solidFill>
          <a:ln w="9525">
            <a:solidFill>
              <a:srgbClr val="D6DDF3"/>
            </a:solidFill>
          </a:ln>
          <a:effectLst/>
        </p:spPr>
        <p:txBody>
          <a:bodyPr rtlCol="0" anchor="ctr"/>
          <a:lstStyle/>
          <a:p/>
        </p:txBody>
      </p:sp>
      <p:sp>
        <p:nvSpPr>
          <p:cNvPr id="91" name="Lib text"/>
          <p:cNvSpPr txBox="1"/>
          <p:nvPr/>
        </p:nvSpPr>
        <p:spPr>
          <a:xfrm>
            <a:off x="8183880" y="3493008"/>
            <a:ext cx="3410712" cy="530352"/>
          </a:xfrm>
          <a:prstGeom prst="rect">
            <a:avLst/>
          </a:prstGeom>
          <a:noFill/>
        </p:spPr>
        <p:txBody>
          <a:bodyPr wrap="square" lIns="0" rIns="0" tIns="0" bIns="0" anchor="ctr">
            <a:spAutoFit/>
          </a:bodyPr>
          <a:lstStyle/>
          <a:p>
            <a:pPr algn="l">
              <a:spcAft>
                <a:spcPts val="100"/>
              </a:spcAft>
            </a:pPr>
            <a:r>
              <a:rPr sz="1100" b="1" i="0">
                <a:solidFill>
                  <a:srgbClr val="1B0065"/>
                </a:solidFill>
                <a:latin typeface="Calibri"/>
              </a:rPr>
              <a:t>Documents to data</a:t>
            </a:r>
          </a:p>
          <a:p>
            <a:pPr algn="l"/>
            <a:r>
              <a:rPr sz="950" b="0" i="0">
                <a:solidFill>
                  <a:srgbClr val="1E293B"/>
                </a:solidFill>
                <a:latin typeface="Calibri"/>
              </a:rPr>
              <a:t>DocumentAgent: convert, classify, extract; weak values refused, not written</a:t>
            </a:r>
          </a:p>
        </p:txBody>
      </p:sp>
      <p:sp>
        <p:nvSpPr>
          <p:cNvPr id="92" name="Lib item"/>
          <p:cNvSpPr/>
          <p:nvPr/>
        </p:nvSpPr>
        <p:spPr>
          <a:xfrm>
            <a:off x="8046720" y="4078224"/>
            <a:ext cx="3685032" cy="530352"/>
          </a:xfrm>
          <a:prstGeom prst="roundRect">
            <a:avLst>
              <a:gd name="adj" fmla="val 8000"/>
            </a:avLst>
          </a:prstGeom>
          <a:solidFill>
            <a:srgbClr val="FFFFFF"/>
          </a:solidFill>
          <a:ln w="9525">
            <a:solidFill>
              <a:srgbClr val="D6DDF3"/>
            </a:solidFill>
          </a:ln>
          <a:effectLst/>
        </p:spPr>
        <p:txBody>
          <a:bodyPr rtlCol="0" anchor="ctr"/>
          <a:lstStyle/>
          <a:p/>
        </p:txBody>
      </p:sp>
      <p:sp>
        <p:nvSpPr>
          <p:cNvPr id="93" name="Lib text"/>
          <p:cNvSpPr txBox="1"/>
          <p:nvPr/>
        </p:nvSpPr>
        <p:spPr>
          <a:xfrm>
            <a:off x="8183880" y="4078224"/>
            <a:ext cx="3410712" cy="530352"/>
          </a:xfrm>
          <a:prstGeom prst="rect">
            <a:avLst/>
          </a:prstGeom>
          <a:noFill/>
        </p:spPr>
        <p:txBody>
          <a:bodyPr wrap="square" lIns="0" rIns="0" tIns="0" bIns="0" anchor="ctr">
            <a:spAutoFit/>
          </a:bodyPr>
          <a:lstStyle/>
          <a:p>
            <a:pPr algn="l">
              <a:spcAft>
                <a:spcPts val="100"/>
              </a:spcAft>
            </a:pPr>
            <a:r>
              <a:rPr sz="1100" b="1" i="0">
                <a:solidFill>
                  <a:srgbClr val="1B0065"/>
                </a:solidFill>
                <a:latin typeface="Calibri"/>
              </a:rPr>
              <a:t>Unified assistant framework</a:t>
            </a:r>
          </a:p>
          <a:p>
            <a:pPr algn="l"/>
            <a:r>
              <a:rPr sz="950" b="0" i="0">
                <a:solidFill>
                  <a:srgbClr val="1E293B"/>
                </a:solidFill>
                <a:latin typeface="Calibri"/>
              </a:rPr>
              <a:t>Assistant manifests, skills over HTTP, chat lifecycle, feedback in the loop</a:t>
            </a:r>
          </a:p>
        </p:txBody>
      </p:sp>
      <p:sp>
        <p:nvSpPr>
          <p:cNvPr id="94" name="Lib item"/>
          <p:cNvSpPr/>
          <p:nvPr/>
        </p:nvSpPr>
        <p:spPr>
          <a:xfrm>
            <a:off x="8046720" y="4663440"/>
            <a:ext cx="3685032" cy="530352"/>
          </a:xfrm>
          <a:prstGeom prst="roundRect">
            <a:avLst>
              <a:gd name="adj" fmla="val 8000"/>
            </a:avLst>
          </a:prstGeom>
          <a:solidFill>
            <a:srgbClr val="FFFFFF"/>
          </a:solidFill>
          <a:ln w="9525">
            <a:solidFill>
              <a:srgbClr val="D6DDF3"/>
            </a:solidFill>
          </a:ln>
          <a:effectLst/>
        </p:spPr>
        <p:txBody>
          <a:bodyPr rtlCol="0" anchor="ctr"/>
          <a:lstStyle/>
          <a:p/>
        </p:txBody>
      </p:sp>
      <p:sp>
        <p:nvSpPr>
          <p:cNvPr id="95" name="Lib text"/>
          <p:cNvSpPr txBox="1"/>
          <p:nvPr/>
        </p:nvSpPr>
        <p:spPr>
          <a:xfrm>
            <a:off x="8183880" y="4663440"/>
            <a:ext cx="3410712" cy="530352"/>
          </a:xfrm>
          <a:prstGeom prst="rect">
            <a:avLst/>
          </a:prstGeom>
          <a:noFill/>
        </p:spPr>
        <p:txBody>
          <a:bodyPr wrap="square" lIns="0" rIns="0" tIns="0" bIns="0" anchor="ctr">
            <a:spAutoFit/>
          </a:bodyPr>
          <a:lstStyle/>
          <a:p>
            <a:pPr algn="l">
              <a:spcAft>
                <a:spcPts val="100"/>
              </a:spcAft>
            </a:pPr>
            <a:r>
              <a:rPr sz="1100" b="1" i="0">
                <a:solidFill>
                  <a:srgbClr val="1B0065"/>
                </a:solidFill>
                <a:latin typeface="Calibri"/>
              </a:rPr>
              <a:t>Evaluation framework</a:t>
            </a:r>
          </a:p>
          <a:p>
            <a:pPr algn="l"/>
            <a:r>
              <a:rPr sz="950" b="0" i="0">
                <a:solidFill>
                  <a:srgbClr val="1E293B"/>
                </a:solidFill>
                <a:latin typeface="Calibri"/>
              </a:rPr>
              <a:t>Gold and silver cases, scorers, experiments, corrections that become cases</a:t>
            </a:r>
          </a:p>
        </p:txBody>
      </p:sp>
      <p:sp>
        <p:nvSpPr>
          <p:cNvPr id="96" name="Band"/>
          <p:cNvSpPr/>
          <p:nvPr/>
        </p:nvSpPr>
        <p:spPr>
          <a:xfrm>
            <a:off x="457200" y="5413248"/>
            <a:ext cx="11274552" cy="877824"/>
          </a:xfrm>
          <a:prstGeom prst="roundRect">
            <a:avLst>
              <a:gd name="adj" fmla="val 8000"/>
            </a:avLst>
          </a:prstGeom>
          <a:solidFill>
            <a:srgbClr val="1B0065"/>
          </a:solidFill>
          <a:ln w="9525">
            <a:solidFill>
              <a:srgbClr val="1B0065"/>
            </a:solidFill>
          </a:ln>
          <a:effectLst/>
        </p:spPr>
        <p:txBody>
          <a:bodyPr rtlCol="0" anchor="ctr"/>
          <a:lstStyle/>
          <a:p/>
        </p:txBody>
      </p:sp>
      <p:sp>
        <p:nvSpPr>
          <p:cNvPr id="97" name="Band text"/>
          <p:cNvSpPr txBox="1"/>
          <p:nvPr/>
        </p:nvSpPr>
        <p:spPr>
          <a:xfrm>
            <a:off x="685800" y="5413248"/>
            <a:ext cx="10881360" cy="877824"/>
          </a:xfrm>
          <a:prstGeom prst="rect">
            <a:avLst/>
          </a:prstGeom>
          <a:noFill/>
        </p:spPr>
        <p:txBody>
          <a:bodyPr wrap="square" lIns="0" rIns="0" tIns="0" bIns="0" anchor="ctr">
            <a:spAutoFit/>
          </a:bodyPr>
          <a:lstStyle/>
          <a:p>
            <a:pPr algn="l">
              <a:spcAft>
                <a:spcPts val="300"/>
              </a:spcAft>
            </a:pPr>
            <a:r>
              <a:rPr sz="1000" b="1" i="0" spc="150">
                <a:solidFill>
                  <a:srgbClr val="03CBA9"/>
                </a:solidFill>
                <a:latin typeface="Calibri"/>
              </a:rPr>
              <a:t>BY THE NUMBERS   </a:t>
            </a:r>
            <a:r>
              <a:rPr sz="1000" b="0" i="0">
                <a:solidFill>
                  <a:srgbClr val="FFFFFF"/>
                </a:solidFill>
                <a:latin typeface="Calibri"/>
              </a:rPr>
              <a:t>jazzx_sdk: 647 files, 139k lines, 38 subpackages, 48 versioned prompts. Tests: 7,719 in 585 files, 142k lines, about a line of test per line of code. Plato: 65 files, 11k lines; client package 9 files, 3k lines. 632 commits since Nov 2025, 196 since Sep 1. 11 versions since 2.5.0 on Sep 6, 105 logged changes with line counts.</a:t>
            </a:r>
          </a:p>
          <a:p>
            <a:pPr algn="l"/>
            <a:r>
              <a:rPr sz="1000" b="1" i="0" spc="150">
                <a:solidFill>
                  <a:srgbClr val="03CBA9"/>
                </a:solidFill>
                <a:latin typeface="Calibri"/>
              </a:rPr>
              <a:t>IN WORK, 2.6.2   </a:t>
            </a:r>
            <a:r>
              <a:rPr sz="1000" b="0" i="0">
                <a:solidFill>
                  <a:srgbClr val="FFFFFF"/>
                </a:solidFill>
                <a:latin typeface="Calibri"/>
              </a:rPr>
              <a:t>scanned documents in DocumentAgent under a dollar budget; a reference without gold; acceptance pinned to a baseline; run health; guideline versioning. Next: the chat runtime items Jazz Assistant asked for; comparison, optimizer and webhook features that only eval-service has today.</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a:xfrm>
            <a:off x="457200" y="502920"/>
            <a:ext cx="11274552" cy="566928"/>
          </a:xfrm>
        </p:spPr>
        <p:txBody>
          <a:bodyPr lIns="0" rIns="0" tIns="0" bIns="0"/>
          <a:lstStyle/>
          <a:p>
            <a:r>
              <a:rPr sz="2600" b="1" i="0">
                <a:solidFill>
                  <a:srgbClr val="3600AD"/>
                </a:solidFill>
                <a:latin typeface="Calibri"/>
              </a:rPr>
              <a:t>Jazz Assistant is on it, Acra DSCR is being built on it, two teams are moving over</a:t>
            </a:r>
          </a:p>
        </p:txBody>
      </p:sp>
      <p:sp>
        <p:nvSpPr>
          <p:cNvPr id="3" name="Kicker"/>
          <p:cNvSpPr txBox="1"/>
          <p:nvPr/>
        </p:nvSpPr>
        <p:spPr>
          <a:xfrm>
            <a:off x="457200" y="256032"/>
            <a:ext cx="11274552" cy="219456"/>
          </a:xfrm>
          <a:prstGeom prst="rect">
            <a:avLst/>
          </a:prstGeom>
          <a:noFill/>
        </p:spPr>
        <p:txBody>
          <a:bodyPr wrap="square" lIns="0" rIns="0" tIns="0" bIns="0" anchor="ctr">
            <a:spAutoFit/>
          </a:bodyPr>
          <a:lstStyle/>
          <a:p>
            <a:pPr algn="l"/>
            <a:r>
              <a:rPr sz="1000" b="1" i="0" spc="300">
                <a:solidFill>
                  <a:srgbClr val="5069EC"/>
                </a:solidFill>
                <a:latin typeface="Calibri"/>
              </a:rPr>
              <a:t>SDK  ·  USAGE SO FAR</a:t>
            </a:r>
          </a:p>
        </p:txBody>
      </p:sp>
      <p:sp>
        <p:nvSpPr>
          <p:cNvPr id="4" name="Subtitle"/>
          <p:cNvSpPr txBox="1"/>
          <p:nvPr/>
        </p:nvSpPr>
        <p:spPr>
          <a:xfrm>
            <a:off x="457200" y="1069848"/>
            <a:ext cx="11274552" cy="292608"/>
          </a:xfrm>
          <a:prstGeom prst="rect">
            <a:avLst/>
          </a:prstGeom>
          <a:noFill/>
        </p:spPr>
        <p:txBody>
          <a:bodyPr wrap="square" lIns="0" rIns="0" tIns="0" bIns="0" anchor="ctr">
            <a:spAutoFit/>
          </a:bodyPr>
          <a:lstStyle/>
          <a:p>
            <a:pPr algn="l"/>
            <a:r>
              <a:rPr sz="1400" b="0" i="1">
                <a:solidFill>
                  <a:srgbClr val="5B2D8E"/>
                </a:solidFill>
                <a:latin typeface="Calibri"/>
              </a:rPr>
              <a:t>Who is on it today, what it saved, and what is being tried</a:t>
            </a:r>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
        <p:nvSpPr>
          <p:cNvPr id="68" name="Consumer card"/>
          <p:cNvSpPr/>
          <p:nvPr/>
        </p:nvSpPr>
        <p:spPr>
          <a:xfrm>
            <a:off x="457200" y="1463040"/>
            <a:ext cx="2706624" cy="3474720"/>
          </a:xfrm>
          <a:prstGeom prst="roundRect">
            <a:avLst>
              <a:gd name="adj" fmla="val 8000"/>
            </a:avLst>
          </a:prstGeom>
          <a:solidFill>
            <a:srgbClr val="FFFFFF"/>
          </a:solidFill>
          <a:ln w="9525">
            <a:solidFill>
              <a:srgbClr val="D6DDF3"/>
            </a:solidFill>
          </a:ln>
          <a:effectLst/>
        </p:spPr>
        <p:txBody>
          <a:bodyPr rtlCol="0" anchor="ctr"/>
          <a:lstStyle/>
          <a:p/>
        </p:txBody>
      </p:sp>
      <p:sp>
        <p:nvSpPr>
          <p:cNvPr id="69" name="Label"/>
          <p:cNvSpPr txBox="1"/>
          <p:nvPr/>
        </p:nvSpPr>
        <p:spPr>
          <a:xfrm>
            <a:off x="612648" y="1591056"/>
            <a:ext cx="2468880" cy="182880"/>
          </a:xfrm>
          <a:prstGeom prst="rect">
            <a:avLst/>
          </a:prstGeom>
          <a:noFill/>
        </p:spPr>
        <p:txBody>
          <a:bodyPr wrap="square" lIns="0" rIns="0" tIns="0" bIns="0" anchor="t">
            <a:spAutoFit/>
          </a:bodyPr>
          <a:lstStyle/>
          <a:p>
            <a:pPr algn="l"/>
            <a:r>
              <a:rPr sz="900" b="1" i="0" spc="200">
                <a:solidFill>
                  <a:srgbClr val="5069EC"/>
                </a:solidFill>
                <a:latin typeface="Calibri"/>
              </a:rPr>
              <a:t>JAZZ ASSISTANT  ·  MORTGAGE</a:t>
            </a:r>
          </a:p>
        </p:txBody>
      </p:sp>
      <p:sp>
        <p:nvSpPr>
          <p:cNvPr id="70" name="Heading"/>
          <p:cNvSpPr txBox="1"/>
          <p:nvPr/>
        </p:nvSpPr>
        <p:spPr>
          <a:xfrm>
            <a:off x="612648" y="1828800"/>
            <a:ext cx="2423160" cy="566928"/>
          </a:xfrm>
          <a:prstGeom prst="rect">
            <a:avLst/>
          </a:prstGeom>
          <a:noFill/>
        </p:spPr>
        <p:txBody>
          <a:bodyPr wrap="square" lIns="0" rIns="0" tIns="0" bIns="0" anchor="t">
            <a:spAutoFit/>
          </a:bodyPr>
          <a:lstStyle/>
          <a:p>
            <a:pPr algn="l"/>
            <a:r>
              <a:rPr sz="1250" b="1" i="0">
                <a:solidFill>
                  <a:srgbClr val="1B0065"/>
                </a:solidFill>
                <a:latin typeface="Calibri"/>
              </a:rPr>
              <a:t>Small code base on the InteractiveAgent</a:t>
            </a:r>
          </a:p>
        </p:txBody>
      </p:sp>
      <p:sp>
        <p:nvSpPr>
          <p:cNvPr id="71" name="Body"/>
          <p:cNvSpPr txBox="1"/>
          <p:nvPr/>
        </p:nvSpPr>
        <p:spPr>
          <a:xfrm>
            <a:off x="612648" y="2414016"/>
            <a:ext cx="2423160" cy="1143000"/>
          </a:xfrm>
          <a:prstGeom prst="rect">
            <a:avLst/>
          </a:prstGeom>
          <a:noFill/>
        </p:spPr>
        <p:txBody>
          <a:bodyPr wrap="square" lIns="0" rIns="0" tIns="0" bIns="0" anchor="t">
            <a:spAutoFit/>
          </a:bodyPr>
          <a:lstStyle/>
          <a:p>
            <a:pPr algn="l"/>
            <a:r>
              <a:rPr sz="1050" b="0" i="0">
                <a:solidFill>
                  <a:srgbClr val="1E293B"/>
                </a:solidFill>
                <a:latin typeface="Calibri"/>
              </a:rPr>
              <a:t>A profile, a persona and three skills; about 3,900 lines of product code (tests and prompts 1.6x that). Shrinks further with the chat pipeline and as the services it calls move to the SDK and fabric.</a:t>
            </a:r>
          </a:p>
        </p:txBody>
      </p:sp>
      <p:sp>
        <p:nvSpPr>
          <p:cNvPr id="72" name="Value box"/>
          <p:cNvSpPr/>
          <p:nvPr/>
        </p:nvSpPr>
        <p:spPr>
          <a:xfrm>
            <a:off x="548640" y="3611880"/>
            <a:ext cx="2523744" cy="1234440"/>
          </a:xfrm>
          <a:prstGeom prst="roundRect">
            <a:avLst>
              <a:gd name="adj" fmla="val 8000"/>
            </a:avLst>
          </a:prstGeom>
          <a:solidFill>
            <a:srgbClr val="E6F8F4"/>
          </a:solidFill>
          <a:ln w="9525">
            <a:solidFill>
              <a:srgbClr val="9FE3D6"/>
            </a:solidFill>
          </a:ln>
          <a:effectLst/>
        </p:spPr>
        <p:txBody>
          <a:bodyPr rtlCol="0" anchor="ctr"/>
          <a:lstStyle/>
          <a:p/>
        </p:txBody>
      </p:sp>
      <p:sp>
        <p:nvSpPr>
          <p:cNvPr id="73" name="Value"/>
          <p:cNvSpPr txBox="1"/>
          <p:nvPr/>
        </p:nvSpPr>
        <p:spPr>
          <a:xfrm>
            <a:off x="640080" y="3657600"/>
            <a:ext cx="2340864" cy="1143000"/>
          </a:xfrm>
          <a:prstGeom prst="rect">
            <a:avLst/>
          </a:prstGeom>
          <a:noFill/>
        </p:spPr>
        <p:txBody>
          <a:bodyPr wrap="square" lIns="0" rIns="0" tIns="0" bIns="0" anchor="t">
            <a:spAutoFit/>
          </a:bodyPr>
          <a:lstStyle/>
          <a:p>
            <a:pPr algn="l">
              <a:spcAft>
                <a:spcPts val="200"/>
              </a:spcAft>
            </a:pPr>
            <a:r>
              <a:rPr sz="900" b="1" i="0" spc="200">
                <a:solidFill>
                  <a:srgbClr val="0D9488"/>
                </a:solidFill>
                <a:latin typeface="Calibri"/>
              </a:rPr>
              <a:t>VALUE</a:t>
            </a:r>
          </a:p>
          <a:p>
            <a:pPr algn="l"/>
            <a:r>
              <a:rPr sz="1000" b="0" i="0">
                <a:solidFill>
                  <a:srgbClr val="1B0065"/>
                </a:solidFill>
                <a:latin typeface="Calibri"/>
              </a:rPr>
              <a:t>Hawaii: streaming, computed citations, a safety gate before retrieval, feedback on every answer. Dedup cut about 25% of conditions. Latency fixes are SDK runtime work and apply to every later assistant.</a:t>
            </a:r>
          </a:p>
        </p:txBody>
      </p:sp>
      <p:sp>
        <p:nvSpPr>
          <p:cNvPr id="74" name="Consumer card"/>
          <p:cNvSpPr/>
          <p:nvPr/>
        </p:nvSpPr>
        <p:spPr>
          <a:xfrm>
            <a:off x="3312871" y="1463040"/>
            <a:ext cx="2706624" cy="3474720"/>
          </a:xfrm>
          <a:prstGeom prst="roundRect">
            <a:avLst>
              <a:gd name="adj" fmla="val 8000"/>
            </a:avLst>
          </a:prstGeom>
          <a:solidFill>
            <a:srgbClr val="FFFFFF"/>
          </a:solidFill>
          <a:ln w="9525">
            <a:solidFill>
              <a:srgbClr val="D6DDF3"/>
            </a:solidFill>
          </a:ln>
          <a:effectLst/>
        </p:spPr>
        <p:txBody>
          <a:bodyPr rtlCol="0" anchor="ctr"/>
          <a:lstStyle/>
          <a:p/>
        </p:txBody>
      </p:sp>
      <p:sp>
        <p:nvSpPr>
          <p:cNvPr id="75" name="Label"/>
          <p:cNvSpPr txBox="1"/>
          <p:nvPr/>
        </p:nvSpPr>
        <p:spPr>
          <a:xfrm>
            <a:off x="3468319" y="1591056"/>
            <a:ext cx="2468880" cy="182880"/>
          </a:xfrm>
          <a:prstGeom prst="rect">
            <a:avLst/>
          </a:prstGeom>
          <a:noFill/>
        </p:spPr>
        <p:txBody>
          <a:bodyPr wrap="square" lIns="0" rIns="0" tIns="0" bIns="0" anchor="t">
            <a:spAutoFit/>
          </a:bodyPr>
          <a:lstStyle/>
          <a:p>
            <a:pPr algn="l"/>
            <a:r>
              <a:rPr sz="900" b="1" i="0" spc="200">
                <a:solidFill>
                  <a:srgbClr val="5069EC"/>
                </a:solidFill>
                <a:latin typeface="Calibri"/>
              </a:rPr>
              <a:t>ACRA LENDING DSCR  ·  NEW</a:t>
            </a:r>
          </a:p>
        </p:txBody>
      </p:sp>
      <p:sp>
        <p:nvSpPr>
          <p:cNvPr id="76" name="Heading"/>
          <p:cNvSpPr txBox="1"/>
          <p:nvPr/>
        </p:nvSpPr>
        <p:spPr>
          <a:xfrm>
            <a:off x="3468319" y="1828800"/>
            <a:ext cx="2423160" cy="566928"/>
          </a:xfrm>
          <a:prstGeom prst="rect">
            <a:avLst/>
          </a:prstGeom>
          <a:noFill/>
        </p:spPr>
        <p:txBody>
          <a:bodyPr wrap="square" lIns="0" rIns="0" tIns="0" bIns="0" anchor="t">
            <a:spAutoFit/>
          </a:bodyPr>
          <a:lstStyle/>
          <a:p>
            <a:pPr algn="l"/>
            <a:r>
              <a:rPr sz="1250" b="1" i="0">
                <a:solidFill>
                  <a:srgbClr val="1B0065"/>
                </a:solidFill>
                <a:latin typeface="Calibri"/>
              </a:rPr>
              <a:t>A new use case built entirely on the SDK</a:t>
            </a:r>
          </a:p>
        </p:txBody>
      </p:sp>
      <p:sp>
        <p:nvSpPr>
          <p:cNvPr id="77" name="Body"/>
          <p:cNvSpPr txBox="1"/>
          <p:nvPr/>
        </p:nvSpPr>
        <p:spPr>
          <a:xfrm>
            <a:off x="3468319" y="2414016"/>
            <a:ext cx="2423160" cy="1143000"/>
          </a:xfrm>
          <a:prstGeom prst="rect">
            <a:avLst/>
          </a:prstGeom>
          <a:noFill/>
        </p:spPr>
        <p:txBody>
          <a:bodyPr wrap="square" lIns="0" rIns="0" tIns="0" bIns="0" anchor="t">
            <a:spAutoFit/>
          </a:bodyPr>
          <a:lstStyle/>
          <a:p>
            <a:pPr algn="l"/>
            <a:r>
              <a:rPr sz="1050" b="0" i="0">
                <a:solidFill>
                  <a:srgbClr val="1E293B"/>
                </a:solidFill>
                <a:latin typeface="Calibri"/>
              </a:rPr>
              <a:t>Separate from the assistant: a domain pack (policies, profile, conductor) with deterministic assessment, served from Plato, with gold cases from the start.</a:t>
            </a:r>
          </a:p>
        </p:txBody>
      </p:sp>
      <p:sp>
        <p:nvSpPr>
          <p:cNvPr id="78" name="Value box"/>
          <p:cNvSpPr/>
          <p:nvPr/>
        </p:nvSpPr>
        <p:spPr>
          <a:xfrm>
            <a:off x="3404311" y="3611880"/>
            <a:ext cx="2523744" cy="1234440"/>
          </a:xfrm>
          <a:prstGeom prst="roundRect">
            <a:avLst>
              <a:gd name="adj" fmla="val 8000"/>
            </a:avLst>
          </a:prstGeom>
          <a:solidFill>
            <a:srgbClr val="E6F8F4"/>
          </a:solidFill>
          <a:ln w="9525">
            <a:solidFill>
              <a:srgbClr val="9FE3D6"/>
            </a:solidFill>
          </a:ln>
          <a:effectLst/>
        </p:spPr>
        <p:txBody>
          <a:bodyPr rtlCol="0" anchor="ctr"/>
          <a:lstStyle/>
          <a:p/>
        </p:txBody>
      </p:sp>
      <p:sp>
        <p:nvSpPr>
          <p:cNvPr id="79" name="Value"/>
          <p:cNvSpPr txBox="1"/>
          <p:nvPr/>
        </p:nvSpPr>
        <p:spPr>
          <a:xfrm>
            <a:off x="3495751" y="3657600"/>
            <a:ext cx="2340864" cy="1143000"/>
          </a:xfrm>
          <a:prstGeom prst="rect">
            <a:avLst/>
          </a:prstGeom>
          <a:noFill/>
        </p:spPr>
        <p:txBody>
          <a:bodyPr wrap="square" lIns="0" rIns="0" tIns="0" bIns="0" anchor="t">
            <a:spAutoFit/>
          </a:bodyPr>
          <a:lstStyle/>
          <a:p>
            <a:pPr algn="l">
              <a:spcAft>
                <a:spcPts val="200"/>
              </a:spcAft>
            </a:pPr>
            <a:r>
              <a:rPr sz="900" b="1" i="0" spc="200">
                <a:solidFill>
                  <a:srgbClr val="0D9488"/>
                </a:solidFill>
                <a:latin typeface="Calibri"/>
              </a:rPr>
              <a:t>VALUE</a:t>
            </a:r>
          </a:p>
          <a:p>
            <a:pPr algn="l"/>
            <a:r>
              <a:rPr sz="1000" b="0" i="0">
                <a:solidFill>
                  <a:srgbClr val="1B0065"/>
                </a:solidFill>
                <a:latin typeface="Calibri"/>
              </a:rPr>
              <a:t>Three policy files and one profile carry the programs; no Python in the pack. The verdict names the cell and the rule. The adapter, calculators and role bindings are the remaining work.</a:t>
            </a:r>
          </a:p>
        </p:txBody>
      </p:sp>
      <p:sp>
        <p:nvSpPr>
          <p:cNvPr id="80" name="Consumer card"/>
          <p:cNvSpPr/>
          <p:nvPr/>
        </p:nvSpPr>
        <p:spPr>
          <a:xfrm>
            <a:off x="6168542" y="1463040"/>
            <a:ext cx="2706624" cy="3474720"/>
          </a:xfrm>
          <a:prstGeom prst="roundRect">
            <a:avLst>
              <a:gd name="adj" fmla="val 8000"/>
            </a:avLst>
          </a:prstGeom>
          <a:solidFill>
            <a:srgbClr val="FFFFFF"/>
          </a:solidFill>
          <a:ln w="9525">
            <a:solidFill>
              <a:srgbClr val="D6DDF3"/>
            </a:solidFill>
          </a:ln>
          <a:effectLst/>
        </p:spPr>
        <p:txBody>
          <a:bodyPr rtlCol="0" anchor="ctr"/>
          <a:lstStyle/>
          <a:p/>
        </p:txBody>
      </p:sp>
      <p:sp>
        <p:nvSpPr>
          <p:cNvPr id="81" name="Label"/>
          <p:cNvSpPr txBox="1"/>
          <p:nvPr/>
        </p:nvSpPr>
        <p:spPr>
          <a:xfrm>
            <a:off x="6323990" y="1591056"/>
            <a:ext cx="2468880" cy="182880"/>
          </a:xfrm>
          <a:prstGeom prst="rect">
            <a:avLst/>
          </a:prstGeom>
          <a:noFill/>
        </p:spPr>
        <p:txBody>
          <a:bodyPr wrap="square" lIns="0" rIns="0" tIns="0" bIns="0" anchor="t">
            <a:spAutoFit/>
          </a:bodyPr>
          <a:lstStyle/>
          <a:p>
            <a:pPr algn="l"/>
            <a:r>
              <a:rPr sz="900" b="1" i="0" spc="200">
                <a:solidFill>
                  <a:srgbClr val="5069EC"/>
                </a:solidFill>
                <a:latin typeface="Calibri"/>
              </a:rPr>
              <a:t>EVAL TEAM  ·  STARTED</a:t>
            </a:r>
          </a:p>
        </p:txBody>
      </p:sp>
      <p:sp>
        <p:nvSpPr>
          <p:cNvPr id="82" name="Heading"/>
          <p:cNvSpPr txBox="1"/>
          <p:nvPr/>
        </p:nvSpPr>
        <p:spPr>
          <a:xfrm>
            <a:off x="6323990" y="1828800"/>
            <a:ext cx="2423160" cy="566928"/>
          </a:xfrm>
          <a:prstGeom prst="rect">
            <a:avLst/>
          </a:prstGeom>
          <a:noFill/>
        </p:spPr>
        <p:txBody>
          <a:bodyPr wrap="square" lIns="0" rIns="0" tIns="0" bIns="0" anchor="t">
            <a:spAutoFit/>
          </a:bodyPr>
          <a:lstStyle/>
          <a:p>
            <a:pPr algn="l"/>
            <a:r>
              <a:rPr sz="1250" b="1" i="0">
                <a:solidFill>
                  <a:srgbClr val="1B0065"/>
                </a:solidFill>
                <a:latin typeface="Calibri"/>
              </a:rPr>
              <a:t>On the SDK evaluation framework</a:t>
            </a:r>
          </a:p>
        </p:txBody>
      </p:sp>
      <p:sp>
        <p:nvSpPr>
          <p:cNvPr id="83" name="Body"/>
          <p:cNvSpPr txBox="1"/>
          <p:nvPr/>
        </p:nvSpPr>
        <p:spPr>
          <a:xfrm>
            <a:off x="6323990" y="2414016"/>
            <a:ext cx="2423160" cy="1143000"/>
          </a:xfrm>
          <a:prstGeom prst="rect">
            <a:avLst/>
          </a:prstGeom>
          <a:noFill/>
        </p:spPr>
        <p:txBody>
          <a:bodyPr wrap="square" lIns="0" rIns="0" tIns="0" bIns="0" anchor="t">
            <a:spAutoFit/>
          </a:bodyPr>
          <a:lstStyle/>
          <a:p>
            <a:pPr algn="l"/>
            <a:r>
              <a:rPr sz="1050" b="0" i="0">
                <a:solidFill>
                  <a:srgbClr val="1E293B"/>
                </a:solidFill>
                <a:latin typeface="Calibri"/>
              </a:rPr>
              <a:t>Shares the contracts package with the SDK; datasets, scorers, experiments and an agent judge now come from the SDK rather than a second implementation.</a:t>
            </a:r>
          </a:p>
        </p:txBody>
      </p:sp>
      <p:sp>
        <p:nvSpPr>
          <p:cNvPr id="84" name="Value box"/>
          <p:cNvSpPr/>
          <p:nvPr/>
        </p:nvSpPr>
        <p:spPr>
          <a:xfrm>
            <a:off x="6259982" y="3611880"/>
            <a:ext cx="2523744" cy="1234440"/>
          </a:xfrm>
          <a:prstGeom prst="roundRect">
            <a:avLst>
              <a:gd name="adj" fmla="val 8000"/>
            </a:avLst>
          </a:prstGeom>
          <a:solidFill>
            <a:srgbClr val="E6F8F4"/>
          </a:solidFill>
          <a:ln w="9525">
            <a:solidFill>
              <a:srgbClr val="9FE3D6"/>
            </a:solidFill>
          </a:ln>
          <a:effectLst/>
        </p:spPr>
        <p:txBody>
          <a:bodyPr rtlCol="0" anchor="ctr"/>
          <a:lstStyle/>
          <a:p/>
        </p:txBody>
      </p:sp>
      <p:sp>
        <p:nvSpPr>
          <p:cNvPr id="85" name="Value"/>
          <p:cNvSpPr txBox="1"/>
          <p:nvPr/>
        </p:nvSpPr>
        <p:spPr>
          <a:xfrm>
            <a:off x="6351422" y="3657600"/>
            <a:ext cx="2340864" cy="1143000"/>
          </a:xfrm>
          <a:prstGeom prst="rect">
            <a:avLst/>
          </a:prstGeom>
          <a:noFill/>
        </p:spPr>
        <p:txBody>
          <a:bodyPr wrap="square" lIns="0" rIns="0" tIns="0" bIns="0" anchor="t">
            <a:spAutoFit/>
          </a:bodyPr>
          <a:lstStyle/>
          <a:p>
            <a:pPr algn="l">
              <a:spcAft>
                <a:spcPts val="200"/>
              </a:spcAft>
            </a:pPr>
            <a:r>
              <a:rPr sz="900" b="1" i="0" spc="200">
                <a:solidFill>
                  <a:srgbClr val="0D9488"/>
                </a:solidFill>
                <a:latin typeface="Calibri"/>
              </a:rPr>
              <a:t>VALUE</a:t>
            </a:r>
          </a:p>
          <a:p>
            <a:pPr algn="l"/>
            <a:r>
              <a:rPr sz="1000" b="0" i="0">
                <a:solidFill>
                  <a:srgbClr val="1B0065"/>
                </a:solidFill>
                <a:latin typeface="Calibri"/>
              </a:rPr>
              <a:t>A feedback item, a case and a score mean the same thing in every service.</a:t>
            </a:r>
          </a:p>
        </p:txBody>
      </p:sp>
      <p:sp>
        <p:nvSpPr>
          <p:cNvPr id="86" name="Consumer card"/>
          <p:cNvSpPr/>
          <p:nvPr/>
        </p:nvSpPr>
        <p:spPr>
          <a:xfrm>
            <a:off x="9024213" y="1463040"/>
            <a:ext cx="2706624" cy="3474720"/>
          </a:xfrm>
          <a:prstGeom prst="roundRect">
            <a:avLst>
              <a:gd name="adj" fmla="val 8000"/>
            </a:avLst>
          </a:prstGeom>
          <a:solidFill>
            <a:srgbClr val="FFFFFF"/>
          </a:solidFill>
          <a:ln w="9525">
            <a:solidFill>
              <a:srgbClr val="D6DDF3"/>
            </a:solidFill>
          </a:ln>
          <a:effectLst/>
        </p:spPr>
        <p:txBody>
          <a:bodyPr rtlCol="0" anchor="ctr"/>
          <a:lstStyle/>
          <a:p/>
        </p:txBody>
      </p:sp>
      <p:sp>
        <p:nvSpPr>
          <p:cNvPr id="87" name="Label"/>
          <p:cNvSpPr txBox="1"/>
          <p:nvPr/>
        </p:nvSpPr>
        <p:spPr>
          <a:xfrm>
            <a:off x="9179661" y="1591056"/>
            <a:ext cx="2468880" cy="182880"/>
          </a:xfrm>
          <a:prstGeom prst="rect">
            <a:avLst/>
          </a:prstGeom>
          <a:noFill/>
        </p:spPr>
        <p:txBody>
          <a:bodyPr wrap="square" lIns="0" rIns="0" tIns="0" bIns="0" anchor="t">
            <a:spAutoFit/>
          </a:bodyPr>
          <a:lstStyle/>
          <a:p>
            <a:pPr algn="l"/>
            <a:r>
              <a:rPr sz="900" b="1" i="0" spc="200">
                <a:solidFill>
                  <a:srgbClr val="5069EC"/>
                </a:solidFill>
                <a:latin typeface="Calibri"/>
              </a:rPr>
              <a:t>POLICY WORKBENCH  ·  NEXT</a:t>
            </a:r>
          </a:p>
        </p:txBody>
      </p:sp>
      <p:sp>
        <p:nvSpPr>
          <p:cNvPr id="88" name="Heading"/>
          <p:cNvSpPr txBox="1"/>
          <p:nvPr/>
        </p:nvSpPr>
        <p:spPr>
          <a:xfrm>
            <a:off x="9179661" y="1828800"/>
            <a:ext cx="2423160" cy="566928"/>
          </a:xfrm>
          <a:prstGeom prst="rect">
            <a:avLst/>
          </a:prstGeom>
          <a:noFill/>
        </p:spPr>
        <p:txBody>
          <a:bodyPr wrap="square" lIns="0" rIns="0" tIns="0" bIns="0" anchor="t">
            <a:spAutoFit/>
          </a:bodyPr>
          <a:lstStyle/>
          <a:p>
            <a:pPr algn="l"/>
            <a:r>
              <a:rPr sz="1250" b="1" i="0">
                <a:solidFill>
                  <a:srgbClr val="1B0065"/>
                </a:solidFill>
                <a:latin typeface="Calibri"/>
              </a:rPr>
              <a:t>Can switch over quickly</a:t>
            </a:r>
          </a:p>
        </p:txBody>
      </p:sp>
      <p:sp>
        <p:nvSpPr>
          <p:cNvPr id="89" name="Body"/>
          <p:cNvSpPr txBox="1"/>
          <p:nvPr/>
        </p:nvSpPr>
        <p:spPr>
          <a:xfrm>
            <a:off x="9179661" y="2414016"/>
            <a:ext cx="2423160" cy="1143000"/>
          </a:xfrm>
          <a:prstGeom prst="rect">
            <a:avLst/>
          </a:prstGeom>
          <a:noFill/>
        </p:spPr>
        <p:txBody>
          <a:bodyPr wrap="square" lIns="0" rIns="0" tIns="0" bIns="0" anchor="t">
            <a:spAutoFit/>
          </a:bodyPr>
          <a:lstStyle/>
          <a:p>
            <a:pPr algn="l"/>
            <a:r>
              <a:rPr sz="1050" b="0" i="0">
                <a:solidFill>
                  <a:srgbClr val="1E293B"/>
                </a:solidFill>
                <a:latin typeface="Calibri"/>
              </a:rPr>
              <a:t>Its assistant can take the same profile, persona and skills shape the mortgage assistant proved. The policy library (document to JTBDs, lint, guideline versioning) covers the rest.</a:t>
            </a:r>
          </a:p>
        </p:txBody>
      </p:sp>
      <p:sp>
        <p:nvSpPr>
          <p:cNvPr id="90" name="Value box"/>
          <p:cNvSpPr/>
          <p:nvPr/>
        </p:nvSpPr>
        <p:spPr>
          <a:xfrm>
            <a:off x="9115653" y="3611880"/>
            <a:ext cx="2523744" cy="1234440"/>
          </a:xfrm>
          <a:prstGeom prst="roundRect">
            <a:avLst>
              <a:gd name="adj" fmla="val 8000"/>
            </a:avLst>
          </a:prstGeom>
          <a:solidFill>
            <a:srgbClr val="E6F8F4"/>
          </a:solidFill>
          <a:ln w="9525">
            <a:solidFill>
              <a:srgbClr val="9FE3D6"/>
            </a:solidFill>
          </a:ln>
          <a:effectLst/>
        </p:spPr>
        <p:txBody>
          <a:bodyPr rtlCol="0" anchor="ctr"/>
          <a:lstStyle/>
          <a:p/>
        </p:txBody>
      </p:sp>
      <p:sp>
        <p:nvSpPr>
          <p:cNvPr id="91" name="Value"/>
          <p:cNvSpPr txBox="1"/>
          <p:nvPr/>
        </p:nvSpPr>
        <p:spPr>
          <a:xfrm>
            <a:off x="9207093" y="3657600"/>
            <a:ext cx="2340864" cy="1143000"/>
          </a:xfrm>
          <a:prstGeom prst="rect">
            <a:avLst/>
          </a:prstGeom>
          <a:noFill/>
        </p:spPr>
        <p:txBody>
          <a:bodyPr wrap="square" lIns="0" rIns="0" tIns="0" bIns="0" anchor="t">
            <a:spAutoFit/>
          </a:bodyPr>
          <a:lstStyle/>
          <a:p>
            <a:pPr algn="l">
              <a:spcAft>
                <a:spcPts val="200"/>
              </a:spcAft>
            </a:pPr>
            <a:r>
              <a:rPr sz="900" b="1" i="0" spc="200">
                <a:solidFill>
                  <a:srgbClr val="0D9488"/>
                </a:solidFill>
                <a:latin typeface="Calibri"/>
              </a:rPr>
              <a:t>VALUE</a:t>
            </a:r>
          </a:p>
          <a:p>
            <a:pPr algn="l"/>
            <a:r>
              <a:rPr sz="1000" b="0" i="0">
                <a:solidFill>
                  <a:srgbClr val="1B0065"/>
                </a:solidFill>
                <a:latin typeface="Calibri"/>
              </a:rPr>
              <a:t>One extraction and review path for every pack, and an assistant that is configured rather than coded.</a:t>
            </a:r>
          </a:p>
        </p:txBody>
      </p:sp>
      <p:sp>
        <p:nvSpPr>
          <p:cNvPr id="92" name="Migration plan"/>
          <p:cNvSpPr/>
          <p:nvPr/>
        </p:nvSpPr>
        <p:spPr>
          <a:xfrm>
            <a:off x="457200" y="5074920"/>
            <a:ext cx="11274552" cy="603504"/>
          </a:xfrm>
          <a:prstGeom prst="roundRect">
            <a:avLst>
              <a:gd name="adj" fmla="val 8000"/>
            </a:avLst>
          </a:prstGeom>
          <a:solidFill>
            <a:srgbClr val="F3F6FF"/>
          </a:solidFill>
          <a:ln w="9525">
            <a:solidFill>
              <a:srgbClr val="D6DDF3"/>
            </a:solidFill>
          </a:ln>
          <a:effectLst/>
        </p:spPr>
        <p:txBody>
          <a:bodyPr rtlCol="0" anchor="ctr"/>
          <a:lstStyle/>
          <a:p/>
        </p:txBody>
      </p:sp>
      <p:sp>
        <p:nvSpPr>
          <p:cNvPr id="93" name="Migration text"/>
          <p:cNvSpPr txBox="1"/>
          <p:nvPr/>
        </p:nvSpPr>
        <p:spPr>
          <a:xfrm>
            <a:off x="640080" y="5074920"/>
            <a:ext cx="10927080" cy="603504"/>
          </a:xfrm>
          <a:prstGeom prst="rect">
            <a:avLst/>
          </a:prstGeom>
          <a:noFill/>
        </p:spPr>
        <p:txBody>
          <a:bodyPr wrap="square" lIns="0" rIns="0" tIns="0" bIns="0" anchor="ctr">
            <a:spAutoFit/>
          </a:bodyPr>
          <a:lstStyle/>
          <a:p>
            <a:pPr algn="l"/>
            <a:r>
              <a:rPr sz="950" b="1" i="0" spc="200">
                <a:solidFill>
                  <a:srgbClr val="5069EC"/>
                </a:solidFill>
                <a:latin typeface="Calibri"/>
              </a:rPr>
              <a:t>MIGRATION PLAN   </a:t>
            </a:r>
            <a:r>
              <a:rPr sz="1000" b="0" i="0">
                <a:solidFill>
                  <a:srgbClr val="1B0065"/>
                </a:solidFill>
                <a:latin typeface="Calibri"/>
              </a:rPr>
              <a:t>The assistant team is moving to the unified assistant framework and the chat pipeline. The product manager is drafting a plan to move every consumer onto the SDK, a first group in the Jamaica release. Also proven on it: the commercial lending packs (C&amp;I spread, CRE, AML investigation loop), and two packs (DSCR, clinical intake) run end to end on a local Plato.</a:t>
            </a:r>
          </a:p>
        </p:txBody>
      </p:sp>
      <p:sp>
        <p:nvSpPr>
          <p:cNvPr id="94" name="Label"/>
          <p:cNvSpPr txBox="1"/>
          <p:nvPr/>
        </p:nvSpPr>
        <p:spPr>
          <a:xfrm>
            <a:off x="457200" y="5760720"/>
            <a:ext cx="5486400" cy="182880"/>
          </a:xfrm>
          <a:prstGeom prst="rect">
            <a:avLst/>
          </a:prstGeom>
          <a:noFill/>
        </p:spPr>
        <p:txBody>
          <a:bodyPr wrap="square" lIns="0" rIns="0" tIns="0" bIns="0" anchor="t">
            <a:spAutoFit/>
          </a:bodyPr>
          <a:lstStyle/>
          <a:p>
            <a:pPr algn="l"/>
            <a:r>
              <a:rPr sz="900" b="1" i="0" spc="200">
                <a:solidFill>
                  <a:srgbClr val="5B2D8E"/>
                </a:solidFill>
                <a:latin typeface="Calibri"/>
              </a:rPr>
              <a:t>IN EXPERIMENT  ·  AND OTHER VERTICALS</a:t>
            </a:r>
          </a:p>
        </p:txBody>
      </p:sp>
      <p:sp>
        <p:nvSpPr>
          <p:cNvPr id="95" name="Experiment text"/>
          <p:cNvSpPr txBox="1"/>
          <p:nvPr/>
        </p:nvSpPr>
        <p:spPr>
          <a:xfrm>
            <a:off x="457200" y="5961888"/>
            <a:ext cx="2706624" cy="384048"/>
          </a:xfrm>
          <a:prstGeom prst="rect">
            <a:avLst/>
          </a:prstGeom>
          <a:noFill/>
        </p:spPr>
        <p:txBody>
          <a:bodyPr wrap="square" lIns="0" rIns="0" tIns="0" bIns="0" anchor="t">
            <a:spAutoFit/>
          </a:bodyPr>
          <a:lstStyle/>
          <a:p>
            <a:pPr algn="l"/>
            <a:r>
              <a:rPr sz="1050" b="1" i="0">
                <a:solidFill>
                  <a:srgbClr val="1B0065"/>
                </a:solidFill>
                <a:latin typeface="Calibri"/>
              </a:rPr>
              <a:t>CRE spread  </a:t>
            </a:r>
            <a:r>
              <a:rPr sz="1000" b="0" i="0">
                <a:solidFill>
                  <a:srgbClr val="1E293B"/>
                </a:solidFill>
                <a:latin typeface="Calibri"/>
              </a:rPr>
              <a:t>multifamily spreads as a pack: account mapping and normalization rules by property type</a:t>
            </a:r>
          </a:p>
        </p:txBody>
      </p:sp>
      <p:sp>
        <p:nvSpPr>
          <p:cNvPr id="96" name="Experiment text"/>
          <p:cNvSpPr txBox="1"/>
          <p:nvPr/>
        </p:nvSpPr>
        <p:spPr>
          <a:xfrm>
            <a:off x="3312871" y="5961888"/>
            <a:ext cx="2706624" cy="384048"/>
          </a:xfrm>
          <a:prstGeom prst="rect">
            <a:avLst/>
          </a:prstGeom>
          <a:noFill/>
        </p:spPr>
        <p:txBody>
          <a:bodyPr wrap="square" lIns="0" rIns="0" tIns="0" bIns="0" anchor="t">
            <a:spAutoFit/>
          </a:bodyPr>
          <a:lstStyle/>
          <a:p>
            <a:pPr algn="l"/>
            <a:r>
              <a:rPr sz="1050" b="1" i="0">
                <a:solidFill>
                  <a:srgbClr val="1B0065"/>
                </a:solidFill>
                <a:latin typeface="Calibri"/>
              </a:rPr>
              <a:t>Clinical intake  </a:t>
            </a:r>
            <a:r>
              <a:rPr sz="1000" b="0" i="0">
                <a:solidFill>
                  <a:srgbClr val="1E293B"/>
                </a:solidFill>
                <a:latin typeface="Calibri"/>
              </a:rPr>
              <a:t>a healthcare assistant pack with red-flag escalation, on Plato</a:t>
            </a:r>
          </a:p>
        </p:txBody>
      </p:sp>
      <p:sp>
        <p:nvSpPr>
          <p:cNvPr id="97" name="Experiment text"/>
          <p:cNvSpPr txBox="1"/>
          <p:nvPr/>
        </p:nvSpPr>
        <p:spPr>
          <a:xfrm>
            <a:off x="6168542" y="5961888"/>
            <a:ext cx="2706624" cy="384048"/>
          </a:xfrm>
          <a:prstGeom prst="rect">
            <a:avLst/>
          </a:prstGeom>
          <a:noFill/>
        </p:spPr>
        <p:txBody>
          <a:bodyPr wrap="square" lIns="0" rIns="0" tIns="0" bIns="0" anchor="t">
            <a:spAutoFit/>
          </a:bodyPr>
          <a:lstStyle/>
          <a:p>
            <a:pPr algn="l"/>
            <a:r>
              <a:rPr sz="1050" b="1" i="0">
                <a:solidFill>
                  <a:srgbClr val="1B0065"/>
                </a:solidFill>
                <a:latin typeface="Calibri"/>
              </a:rPr>
              <a:t>Formal policy checks  </a:t>
            </a:r>
            <a:r>
              <a:rPr sz="1000" b="0" i="0">
                <a:solidFill>
                  <a:srgbClr val="1E293B"/>
                </a:solidFill>
                <a:latin typeface="Calibri"/>
              </a:rPr>
              <a:t>Z3 claims compiled from the canonical policy; local today</a:t>
            </a:r>
          </a:p>
        </p:txBody>
      </p:sp>
      <p:sp>
        <p:nvSpPr>
          <p:cNvPr id="98" name="Experiment text"/>
          <p:cNvSpPr txBox="1"/>
          <p:nvPr/>
        </p:nvSpPr>
        <p:spPr>
          <a:xfrm>
            <a:off x="9024213" y="5961888"/>
            <a:ext cx="2706624" cy="384048"/>
          </a:xfrm>
          <a:prstGeom prst="rect">
            <a:avLst/>
          </a:prstGeom>
          <a:noFill/>
        </p:spPr>
        <p:txBody>
          <a:bodyPr wrap="square" lIns="0" rIns="0" tIns="0" bIns="0" anchor="t">
            <a:spAutoFit/>
          </a:bodyPr>
          <a:lstStyle/>
          <a:p>
            <a:pPr algn="l"/>
            <a:r>
              <a:rPr sz="1050" b="1" i="0">
                <a:solidFill>
                  <a:srgbClr val="1B0065"/>
                </a:solidFill>
                <a:latin typeface="Calibri"/>
              </a:rPr>
              <a:t>Retail  </a:t>
            </a:r>
            <a:r>
              <a:rPr sz="1000" b="0" i="0">
                <a:solidFill>
                  <a:srgbClr val="1E293B"/>
                </a:solidFill>
                <a:latin typeface="Calibri"/>
              </a:rPr>
              <a:t>no pack yet; the same shape applies: policy, documents, workflow</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idx="101"/>
          </p:nvPr>
        </p:nvSpPr>
        <p:spPr>
          <a:xfrm>
            <a:off x="457200" y="502920"/>
            <a:ext cx="11274552" cy="566928"/>
          </a:xfrm>
        </p:spPr>
        <p:txBody>
          <a:bodyPr lIns="0" rIns="0" tIns="0" bIns="0"/>
          <a:lstStyle/>
          <a:p>
            <a:r>
              <a:rPr sz="2600" b="1" i="0">
                <a:solidFill>
                  <a:srgbClr val="3600AD"/>
                </a:solidFill>
                <a:latin typeface="Calibri"/>
              </a:rPr>
              <a:t>One SDK, three ways to run it: distributed jobs, Plato, or a hybrid</a:t>
            </a:r>
          </a:p>
        </p:txBody>
      </p:sp>
      <p:sp>
        <p:nvSpPr>
          <p:cNvPr id="3" name="Kicker"/>
          <p:cNvSpPr txBox="1"/>
          <p:nvPr/>
        </p:nvSpPr>
        <p:spPr>
          <a:xfrm>
            <a:off x="457200" y="256032"/>
            <a:ext cx="11274552" cy="219456"/>
          </a:xfrm>
          <a:prstGeom prst="rect">
            <a:avLst/>
          </a:prstGeom>
          <a:noFill/>
        </p:spPr>
        <p:txBody>
          <a:bodyPr wrap="square" lIns="0" rIns="0" tIns="0" bIns="0" anchor="ctr">
            <a:spAutoFit/>
          </a:bodyPr>
          <a:lstStyle/>
          <a:p>
            <a:pPr algn="l"/>
            <a:r>
              <a:rPr sz="1000" b="1" i="0" spc="300">
                <a:solidFill>
                  <a:srgbClr val="5069EC"/>
                </a:solidFill>
                <a:latin typeface="Calibri"/>
              </a:rPr>
              <a:t>SDK  ·  SDK AND RUNTIMES</a:t>
            </a:r>
          </a:p>
        </p:txBody>
      </p:sp>
      <p:sp>
        <p:nvSpPr>
          <p:cNvPr id="4" name="Subtitle"/>
          <p:cNvSpPr txBox="1"/>
          <p:nvPr/>
        </p:nvSpPr>
        <p:spPr>
          <a:xfrm>
            <a:off x="457200" y="1069848"/>
            <a:ext cx="11274552" cy="292608"/>
          </a:xfrm>
          <a:prstGeom prst="rect">
            <a:avLst/>
          </a:prstGeom>
          <a:noFill/>
        </p:spPr>
        <p:txBody>
          <a:bodyPr wrap="square" lIns="0" rIns="0" tIns="0" bIns="0" anchor="ctr">
            <a:spAutoFit/>
          </a:bodyPr>
          <a:lstStyle/>
          <a:p>
            <a:pPr algn="l"/>
            <a:r>
              <a:rPr sz="1400" b="0" i="1">
                <a:solidFill>
                  <a:srgbClr val="5B2D8E"/>
                </a:solidFill>
                <a:latin typeface="Calibri"/>
              </a:rPr>
              <a:t>Same library and handler contract under each runtime; Plato runs it as a service; the client package keeps the SDK out of customer hands</a:t>
            </a:r>
          </a:p>
        </p:txBody>
      </p:sp>
      <p:sp>
        <p:nvSpPr>
          <p:cNvPr id="4" name="Wordmark"/>
          <p:cNvSpPr txBox="1"/>
          <p:nvPr/>
        </p:nvSpPr>
        <p:spPr>
          <a:xfrm>
            <a:off x="411480" y="6419088"/>
            <a:ext cx="1280160" cy="292608"/>
          </a:xfrm>
          <a:prstGeom prst="rect">
            <a:avLst/>
          </a:prstGeom>
          <a:noFill/>
          <a:ln/>
        </p:spPr>
        <p:txBody>
          <a:bodyPr wrap="square" lIns="0" tIns="0" rIns="0" bIns="0" rtlCol="0" anchor="ct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Jazz</a:t>
            </a:r>
            <a:r>
              <a:rPr kumimoji="0" lang="en-US" sz="1400" b="1" i="0" u="none" strike="noStrike" kern="1200" cap="none" spc="0" normalizeH="0" baseline="0" noProof="0">
                <a:ln>
                  <a:noFill/>
                </a:ln>
                <a:solidFill>
                  <a:srgbClr val="FF592C"/>
                </a:solidFill>
                <a:effectLst/>
                <a:uLnTx/>
                <a:uFillTx/>
                <a:latin typeface="Calibri" pitchFamily="34" charset="0"/>
                <a:ea typeface="Calibri" pitchFamily="34" charset="-122"/>
                <a:cs typeface="Calibri" pitchFamily="34" charset="-120"/>
              </a:rPr>
              <a:t>X</a:t>
            </a:r>
            <a:r>
              <a:rPr kumimoji="0" lang="en-US" sz="1400" b="1" i="0" u="none" strike="noStrike" kern="1200" cap="none" spc="0" normalizeH="0" baseline="0" noProof="0">
                <a:ln>
                  <a:noFill/>
                </a:ln>
                <a:solidFill>
                  <a:srgbClr val="1B0065"/>
                </a:solidFill>
                <a:effectLst/>
                <a:uLnTx/>
                <a:uFillTx/>
                <a:latin typeface="Calibri" pitchFamily="34" charset="0"/>
                <a:ea typeface="Calibri" pitchFamily="34" charset="-122"/>
                <a:cs typeface="Calibri" pitchFamily="34" charset="-120"/>
              </a:rPr>
              <a:t> AI</a:t>
            </a:r>
            <a:endParaRPr kumimoji="0" lang="en-US" sz="1400" b="0" i="0" u="none" strike="noStrike" kern="1200" cap="none" spc="0" normalizeH="0" baseline="0" noProof="0">
              <a:ln>
                <a:noFill/>
              </a:ln>
              <a:solidFill>
                <a:prstClr val="black"/>
              </a:solidFill>
              <a:effectLst/>
              <a:uLnTx/>
              <a:uFillTx/>
              <a:latin typeface="Calibri"/>
              <a:ea typeface="+mn-ea"/>
              <a:cs typeface="+mn-cs"/>
            </a:endParaRPr>
          </a:p>
        </p:txBody>
      </p:sp>
      <p:sp>
        <p:nvSpPr>
          <p:cNvPr id="5" name="Footer dot"/>
          <p:cNvSpPr/>
          <p:nvPr/>
        </p:nvSpPr>
        <p:spPr>
          <a:xfrm>
            <a:off x="8814816" y="6533388"/>
            <a:ext cx="82296" cy="82296"/>
          </a:xfrm>
          <a:prstGeom prst="ellipse">
            <a:avLst/>
          </a:prstGeom>
          <a:solidFill>
            <a:srgbClr val="FF0000"/>
          </a:solidFill>
          <a:ln w="12700">
            <a:solidFill>
              <a:srgbClr val="FF0000"/>
            </a:solidFill>
            <a:prstDash val="soli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7" name="Slide Number Placeholder 0"/>
          <p:cNvSpPr>
            <a:spLocks noGrp="1"/>
          </p:cNvSpPr>
          <p:nvPr>
            <p:ph type="sldNum" sz="quarter" idx="4294967295"/>
          </p:nvPr>
        </p:nvSpPr>
        <p:spPr>
          <a:xfrm>
            <a:off x="11430000" y="6437376"/>
            <a:ext cx="301752" cy="274320"/>
          </a:xfrm>
          <a:prstGeom prst="rect">
            <a:avLst/>
          </a:prstGeom>
          <a:extLst>
            <a:ext uri="{C572A759-6A51-4108-AA02-DFA0A04FC94B}">
              <ma14:wrappingTextBoxFlag xmlns="" xmlns:ma14="http://schemas.microsoft.com/office/mac/drawingml/2011/main" val="0"/>
            </a:ext>
          </a:extLst>
        </p:spPr>
        <p:txBody>
          <a:bodyPr/>
          <a:lstStyle>
            <a:lvl1pPr>
              <a:defRPr sz="900">
                <a:solidFill>
                  <a:srgbClr val="1B0065"/>
                </a:solidFill>
                <a:latin typeface="Calibri"/>
                <a:ea typeface="Calibri"/>
                <a:cs typeface="Calibri"/>
              </a:defRPr>
            </a:lvl1pPr>
          </a:lstStyle>
          <a:p>
            <a:pPr marL="0" marR="0" lvl="0" indent="0" algn="r"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900" b="0" i="0" u="none" strike="noStrike" kern="1200" cap="none" spc="0" normalizeH="0" baseline="0" noProof="0">
                <a:ln>
                  <a:noFill/>
                </a:ln>
                <a:solidFill>
                  <a:srgbClr val="1B0065"/>
                </a:solidFill>
                <a:effectLst/>
                <a:uLnTx/>
                <a:uFillTx/>
                <a:latin typeface="Calibri"/>
                <a:ea typeface="Calibri"/>
                <a:cs typeface="Calibri"/>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US" sz="900" b="0" i="0" u="none" strike="noStrike" kern="1200" cap="none" spc="0" normalizeH="0" baseline="0" noProof="0">
              <a:ln>
                <a:noFill/>
              </a:ln>
              <a:solidFill>
                <a:srgbClr val="1B0065"/>
              </a:solidFill>
              <a:effectLst/>
              <a:uLnTx/>
              <a:uFillTx/>
              <a:latin typeface="Calibri"/>
              <a:ea typeface="Calibri"/>
              <a:cs typeface="Calibri"/>
            </a:endParaRPr>
          </a:p>
        </p:txBody>
      </p:sp>
      <p:sp>
        <p:nvSpPr>
          <p:cNvPr id="68" name="SDK bar"/>
          <p:cNvSpPr/>
          <p:nvPr/>
        </p:nvSpPr>
        <p:spPr>
          <a:xfrm>
            <a:off x="457200" y="1463040"/>
            <a:ext cx="11274552" cy="566928"/>
          </a:xfrm>
          <a:prstGeom prst="roundRect">
            <a:avLst>
              <a:gd name="adj" fmla="val 8000"/>
            </a:avLst>
          </a:prstGeom>
          <a:solidFill>
            <a:srgbClr val="1B0065"/>
          </a:solidFill>
          <a:ln w="9525">
            <a:solidFill>
              <a:srgbClr val="1B0065"/>
            </a:solidFill>
          </a:ln>
          <a:effectLst/>
        </p:spPr>
        <p:txBody>
          <a:bodyPr rtlCol="0" anchor="ctr"/>
          <a:lstStyle/>
          <a:p/>
        </p:txBody>
      </p:sp>
      <p:sp>
        <p:nvSpPr>
          <p:cNvPr id="69" name="SDK bar text"/>
          <p:cNvSpPr txBox="1"/>
          <p:nvPr/>
        </p:nvSpPr>
        <p:spPr>
          <a:xfrm>
            <a:off x="685800" y="1463040"/>
            <a:ext cx="10881360" cy="566928"/>
          </a:xfrm>
          <a:prstGeom prst="rect">
            <a:avLst/>
          </a:prstGeom>
          <a:noFill/>
        </p:spPr>
        <p:txBody>
          <a:bodyPr wrap="square" lIns="0" rIns="0" tIns="0" bIns="0" anchor="ctr">
            <a:spAutoFit/>
          </a:bodyPr>
          <a:lstStyle/>
          <a:p>
            <a:pPr algn="l"/>
            <a:r>
              <a:rPr sz="1300" b="1" i="0">
                <a:solidFill>
                  <a:srgbClr val="03CBA9"/>
                </a:solidFill>
                <a:latin typeface="Calibri"/>
              </a:rPr>
              <a:t>jazzx_sdk   </a:t>
            </a:r>
            <a:r>
              <a:rPr sz="1100" b="0" i="0">
                <a:solidFill>
                  <a:srgbClr val="FFFFFF"/>
                </a:solidFill>
                <a:latin typeface="Calibri"/>
              </a:rPr>
              <a:t>one library and one handler contract: contracts, fabric, agent execution, platform agents, pipelines, policy, evaluation</a:t>
            </a:r>
          </a:p>
        </p:txBody>
      </p:sp>
      <p:sp>
        <p:nvSpPr>
          <p:cNvPr id="70" name="Runtime card"/>
          <p:cNvSpPr/>
          <p:nvPr/>
        </p:nvSpPr>
        <p:spPr>
          <a:xfrm>
            <a:off x="457200" y="2194560"/>
            <a:ext cx="3621024" cy="2743200"/>
          </a:xfrm>
          <a:prstGeom prst="roundRect">
            <a:avLst>
              <a:gd name="adj" fmla="val 8000"/>
            </a:avLst>
          </a:prstGeom>
          <a:solidFill>
            <a:srgbClr val="FFFFFF"/>
          </a:solidFill>
          <a:ln w="9525">
            <a:solidFill>
              <a:srgbClr val="D6DDF3"/>
            </a:solidFill>
          </a:ln>
          <a:effectLst/>
        </p:spPr>
        <p:txBody>
          <a:bodyPr rtlCol="0" anchor="ctr"/>
          <a:lstStyle/>
          <a:p/>
        </p:txBody>
      </p:sp>
      <p:sp>
        <p:nvSpPr>
          <p:cNvPr id="71" name="Label"/>
          <p:cNvSpPr txBox="1"/>
          <p:nvPr/>
        </p:nvSpPr>
        <p:spPr>
          <a:xfrm>
            <a:off x="612648" y="2304288"/>
            <a:ext cx="3346704" cy="182880"/>
          </a:xfrm>
          <a:prstGeom prst="rect">
            <a:avLst/>
          </a:prstGeom>
          <a:noFill/>
        </p:spPr>
        <p:txBody>
          <a:bodyPr wrap="square" lIns="0" rIns="0" tIns="0" bIns="0" anchor="t">
            <a:spAutoFit/>
          </a:bodyPr>
          <a:lstStyle/>
          <a:p>
            <a:pPr algn="l"/>
            <a:r>
              <a:rPr sz="900" b="1" i="0" spc="200">
                <a:solidFill>
                  <a:srgbClr val="5069EC"/>
                </a:solidFill>
                <a:latin typeface="Calibri"/>
              </a:rPr>
              <a:t>TODAY  ·  DISTRIBUTED</a:t>
            </a:r>
          </a:p>
        </p:txBody>
      </p:sp>
      <p:sp>
        <p:nvSpPr>
          <p:cNvPr id="72" name="Runtime heading"/>
          <p:cNvSpPr txBox="1"/>
          <p:nvPr/>
        </p:nvSpPr>
        <p:spPr>
          <a:xfrm>
            <a:off x="612648" y="2514600"/>
            <a:ext cx="3346704" cy="274320"/>
          </a:xfrm>
          <a:prstGeom prst="rect">
            <a:avLst/>
          </a:prstGeom>
          <a:noFill/>
        </p:spPr>
        <p:txBody>
          <a:bodyPr wrap="square" lIns="0" rIns="0" tIns="0" bIns="0" anchor="t">
            <a:spAutoFit/>
          </a:bodyPr>
          <a:lstStyle/>
          <a:p>
            <a:pPr algn="l"/>
            <a:r>
              <a:rPr sz="1250" b="1" i="0">
                <a:solidFill>
                  <a:srgbClr val="1B0065"/>
                </a:solidFill>
                <a:latin typeface="Calibri"/>
              </a:rPr>
              <a:t>Images built on the SDK, run as jobs</a:t>
            </a:r>
          </a:p>
        </p:txBody>
      </p:sp>
      <p:sp>
        <p:nvSpPr>
          <p:cNvPr id="73" name="Mini"/>
          <p:cNvSpPr/>
          <p:nvPr/>
        </p:nvSpPr>
        <p:spPr>
          <a:xfrm>
            <a:off x="612648" y="2852928"/>
            <a:ext cx="777240" cy="384048"/>
          </a:xfrm>
          <a:prstGeom prst="roundRect">
            <a:avLst>
              <a:gd name="adj" fmla="val 8000"/>
            </a:avLst>
          </a:prstGeom>
          <a:solidFill>
            <a:srgbClr val="F3F6FF"/>
          </a:solidFill>
          <a:ln w="9525">
            <a:solidFill>
              <a:srgbClr val="D6DDF3"/>
            </a:solidFill>
          </a:ln>
          <a:effectLst/>
        </p:spPr>
        <p:txBody>
          <a:bodyPr rtlCol="0" anchor="ctr"/>
          <a:lstStyle/>
          <a:p/>
        </p:txBody>
      </p:sp>
      <p:sp>
        <p:nvSpPr>
          <p:cNvPr id="74" name="Mini text"/>
          <p:cNvSpPr txBox="1"/>
          <p:nvPr/>
        </p:nvSpPr>
        <p:spPr>
          <a:xfrm>
            <a:off x="612648" y="2852928"/>
            <a:ext cx="777240" cy="384048"/>
          </a:xfrm>
          <a:prstGeom prst="rect">
            <a:avLst/>
          </a:prstGeom>
          <a:noFill/>
        </p:spPr>
        <p:txBody>
          <a:bodyPr wrap="square" lIns="0" rIns="0" tIns="0" bIns="0" anchor="ctr">
            <a:spAutoFit/>
          </a:bodyPr>
          <a:lstStyle/>
          <a:p>
            <a:pPr algn="ctr"/>
            <a:r>
              <a:rPr sz="900" b="1" i="0">
                <a:solidFill>
                  <a:srgbClr val="1B0065"/>
                </a:solidFill>
                <a:latin typeface="Calibri"/>
              </a:rPr>
              <a:t>queue</a:t>
            </a:r>
          </a:p>
        </p:txBody>
      </p:sp>
      <p:cxnSp>
        <p:nvCxnSpPr>
          <p:cNvPr id="75" name="Arrow"/>
          <p:cNvCxnSpPr/>
          <p:nvPr/>
        </p:nvCxnSpPr>
        <p:spPr>
          <a:xfrm>
            <a:off x="1417320" y="3044952"/>
            <a:ext cx="274320" cy="0"/>
          </a:xfrm>
          <a:prstGeom prst="line">
            <a:avLst/>
          </a:prstGeom>
          <a:ln w="15875">
            <a:solidFill>
              <a:srgbClr val="5069EC"/>
            </a:solidFill>
            <a:tailEnd type="triangle" w="med" len="med"/>
          </a:ln>
        </p:spPr>
      </p:cxnSp>
      <p:sp>
        <p:nvSpPr>
          <p:cNvPr id="76" name="Mini"/>
          <p:cNvSpPr/>
          <p:nvPr/>
        </p:nvSpPr>
        <p:spPr>
          <a:xfrm>
            <a:off x="1737360" y="2852928"/>
            <a:ext cx="658368" cy="384048"/>
          </a:xfrm>
          <a:prstGeom prst="roundRect">
            <a:avLst>
              <a:gd name="adj" fmla="val 8000"/>
            </a:avLst>
          </a:prstGeom>
          <a:solidFill>
            <a:srgbClr val="4A3AA8"/>
          </a:solidFill>
          <a:ln w="9525">
            <a:solidFill>
              <a:srgbClr val="4A3AA8"/>
            </a:solidFill>
          </a:ln>
          <a:effectLst/>
        </p:spPr>
        <p:txBody>
          <a:bodyPr rtlCol="0" anchor="ctr"/>
          <a:lstStyle/>
          <a:p/>
        </p:txBody>
      </p:sp>
      <p:sp>
        <p:nvSpPr>
          <p:cNvPr id="77" name="Mini text"/>
          <p:cNvSpPr txBox="1"/>
          <p:nvPr/>
        </p:nvSpPr>
        <p:spPr>
          <a:xfrm>
            <a:off x="1737360" y="2852928"/>
            <a:ext cx="658368" cy="384048"/>
          </a:xfrm>
          <a:prstGeom prst="rect">
            <a:avLst/>
          </a:prstGeom>
          <a:noFill/>
        </p:spPr>
        <p:txBody>
          <a:bodyPr wrap="square" lIns="0" rIns="0" tIns="0" bIns="0" anchor="ctr">
            <a:spAutoFit/>
          </a:bodyPr>
          <a:lstStyle/>
          <a:p>
            <a:pPr algn="ctr"/>
            <a:r>
              <a:rPr sz="900" b="1" i="0">
                <a:solidFill>
                  <a:srgbClr val="FFFFFF"/>
                </a:solidFill>
                <a:latin typeface="Calibri"/>
              </a:rPr>
              <a:t>SDK job</a:t>
            </a:r>
          </a:p>
        </p:txBody>
      </p:sp>
      <p:sp>
        <p:nvSpPr>
          <p:cNvPr id="78" name="Mini"/>
          <p:cNvSpPr/>
          <p:nvPr/>
        </p:nvSpPr>
        <p:spPr>
          <a:xfrm>
            <a:off x="2468880" y="2852928"/>
            <a:ext cx="658368" cy="384048"/>
          </a:xfrm>
          <a:prstGeom prst="roundRect">
            <a:avLst>
              <a:gd name="adj" fmla="val 8000"/>
            </a:avLst>
          </a:prstGeom>
          <a:solidFill>
            <a:srgbClr val="4A3AA8"/>
          </a:solidFill>
          <a:ln w="9525">
            <a:solidFill>
              <a:srgbClr val="4A3AA8"/>
            </a:solidFill>
          </a:ln>
          <a:effectLst/>
        </p:spPr>
        <p:txBody>
          <a:bodyPr rtlCol="0" anchor="ctr"/>
          <a:lstStyle/>
          <a:p/>
        </p:txBody>
      </p:sp>
      <p:sp>
        <p:nvSpPr>
          <p:cNvPr id="79" name="Mini text"/>
          <p:cNvSpPr txBox="1"/>
          <p:nvPr/>
        </p:nvSpPr>
        <p:spPr>
          <a:xfrm>
            <a:off x="2468880" y="2852928"/>
            <a:ext cx="658368" cy="384048"/>
          </a:xfrm>
          <a:prstGeom prst="rect">
            <a:avLst/>
          </a:prstGeom>
          <a:noFill/>
        </p:spPr>
        <p:txBody>
          <a:bodyPr wrap="square" lIns="0" rIns="0" tIns="0" bIns="0" anchor="ctr">
            <a:spAutoFit/>
          </a:bodyPr>
          <a:lstStyle/>
          <a:p>
            <a:pPr algn="ctr"/>
            <a:r>
              <a:rPr sz="900" b="1" i="0">
                <a:solidFill>
                  <a:srgbClr val="FFFFFF"/>
                </a:solidFill>
                <a:latin typeface="Calibri"/>
              </a:rPr>
              <a:t>SDK job</a:t>
            </a:r>
          </a:p>
        </p:txBody>
      </p:sp>
      <p:sp>
        <p:nvSpPr>
          <p:cNvPr id="80" name="Mini"/>
          <p:cNvSpPr/>
          <p:nvPr/>
        </p:nvSpPr>
        <p:spPr>
          <a:xfrm>
            <a:off x="3200400" y="2852928"/>
            <a:ext cx="658368" cy="384048"/>
          </a:xfrm>
          <a:prstGeom prst="roundRect">
            <a:avLst>
              <a:gd name="adj" fmla="val 8000"/>
            </a:avLst>
          </a:prstGeom>
          <a:solidFill>
            <a:srgbClr val="4A3AA8"/>
          </a:solidFill>
          <a:ln w="9525">
            <a:solidFill>
              <a:srgbClr val="4A3AA8"/>
            </a:solidFill>
          </a:ln>
          <a:effectLst/>
        </p:spPr>
        <p:txBody>
          <a:bodyPr rtlCol="0" anchor="ctr"/>
          <a:lstStyle/>
          <a:p/>
        </p:txBody>
      </p:sp>
      <p:sp>
        <p:nvSpPr>
          <p:cNvPr id="81" name="Mini text"/>
          <p:cNvSpPr txBox="1"/>
          <p:nvPr/>
        </p:nvSpPr>
        <p:spPr>
          <a:xfrm>
            <a:off x="3200400" y="2852928"/>
            <a:ext cx="658368" cy="384048"/>
          </a:xfrm>
          <a:prstGeom prst="rect">
            <a:avLst/>
          </a:prstGeom>
          <a:noFill/>
        </p:spPr>
        <p:txBody>
          <a:bodyPr wrap="square" lIns="0" rIns="0" tIns="0" bIns="0" anchor="ctr">
            <a:spAutoFit/>
          </a:bodyPr>
          <a:lstStyle/>
          <a:p>
            <a:pPr algn="ctr"/>
            <a:r>
              <a:rPr sz="900" b="1" i="0">
                <a:solidFill>
                  <a:srgbClr val="FFFFFF"/>
                </a:solidFill>
                <a:latin typeface="Calibri"/>
              </a:rPr>
              <a:t>SDK job</a:t>
            </a:r>
          </a:p>
        </p:txBody>
      </p:sp>
      <p:sp>
        <p:nvSpPr>
          <p:cNvPr id="82" name="Runtime body"/>
          <p:cNvSpPr txBox="1"/>
          <p:nvPr/>
        </p:nvSpPr>
        <p:spPr>
          <a:xfrm>
            <a:off x="612648" y="3337560"/>
            <a:ext cx="3310128" cy="914400"/>
          </a:xfrm>
          <a:prstGeom prst="rect">
            <a:avLst/>
          </a:prstGeom>
          <a:noFill/>
        </p:spPr>
        <p:txBody>
          <a:bodyPr wrap="square" lIns="0" rIns="0" tIns="0" bIns="0" anchor="t">
            <a:spAutoFit/>
          </a:bodyPr>
          <a:lstStyle/>
          <a:p>
            <a:pPr algn="l"/>
            <a:r>
              <a:rPr sz="1000" b="0" i="0">
                <a:solidFill>
                  <a:srgbClr val="1E293B"/>
                </a:solidFill>
                <a:latin typeface="Calibri"/>
              </a:rPr>
              <a:t>One image per extension, triggered by Azure Storage Queues and run as Azure Container Apps jobs: start on work, drain the queue, exit. A distributed system of small services.</a:t>
            </a:r>
          </a:p>
        </p:txBody>
      </p:sp>
      <p:sp>
        <p:nvSpPr>
          <p:cNvPr id="83" name="Tradeoff box"/>
          <p:cNvSpPr/>
          <p:nvPr/>
        </p:nvSpPr>
        <p:spPr>
          <a:xfrm>
            <a:off x="548640" y="4224528"/>
            <a:ext cx="3438144" cy="640080"/>
          </a:xfrm>
          <a:prstGeom prst="roundRect">
            <a:avLst>
              <a:gd name="adj" fmla="val 8000"/>
            </a:avLst>
          </a:prstGeom>
          <a:solidFill>
            <a:srgbClr val="F3F6FF"/>
          </a:solidFill>
          <a:ln w="9525">
            <a:solidFill>
              <a:srgbClr val="D6DDF3"/>
            </a:solidFill>
          </a:ln>
          <a:effectLst/>
        </p:spPr>
        <p:txBody>
          <a:bodyPr rtlCol="0" anchor="ctr"/>
          <a:lstStyle/>
          <a:p/>
        </p:txBody>
      </p:sp>
      <p:sp>
        <p:nvSpPr>
          <p:cNvPr id="84" name="Tradeoff"/>
          <p:cNvSpPr txBox="1"/>
          <p:nvPr/>
        </p:nvSpPr>
        <p:spPr>
          <a:xfrm>
            <a:off x="640080" y="4224528"/>
            <a:ext cx="3255264" cy="640080"/>
          </a:xfrm>
          <a:prstGeom prst="rect">
            <a:avLst/>
          </a:prstGeom>
          <a:noFill/>
        </p:spPr>
        <p:txBody>
          <a:bodyPr wrap="square" lIns="0" rIns="0" tIns="0" bIns="0" anchor="ctr">
            <a:spAutoFit/>
          </a:bodyPr>
          <a:lstStyle/>
          <a:p>
            <a:pPr algn="l"/>
            <a:r>
              <a:rPr sz="950" b="0" i="0">
                <a:solidFill>
                  <a:srgbClr val="1B0065"/>
                </a:solidFill>
                <a:latin typeface="Calibri"/>
              </a:rPr>
              <a:t>Isolation per capability; scales with the queue. The cost is one image and one deploy per capability.</a:t>
            </a:r>
          </a:p>
        </p:txBody>
      </p:sp>
      <p:sp>
        <p:nvSpPr>
          <p:cNvPr id="85" name="Runtime card"/>
          <p:cNvSpPr/>
          <p:nvPr/>
        </p:nvSpPr>
        <p:spPr>
          <a:xfrm>
            <a:off x="4283964" y="2194560"/>
            <a:ext cx="3621024" cy="2743200"/>
          </a:xfrm>
          <a:prstGeom prst="roundRect">
            <a:avLst>
              <a:gd name="adj" fmla="val 8000"/>
            </a:avLst>
          </a:prstGeom>
          <a:solidFill>
            <a:srgbClr val="FFFFFF"/>
          </a:solidFill>
          <a:ln w="9525">
            <a:solidFill>
              <a:srgbClr val="D6DDF3"/>
            </a:solidFill>
          </a:ln>
          <a:effectLst/>
        </p:spPr>
        <p:txBody>
          <a:bodyPr rtlCol="0" anchor="ctr"/>
          <a:lstStyle/>
          <a:p/>
        </p:txBody>
      </p:sp>
      <p:sp>
        <p:nvSpPr>
          <p:cNvPr id="86" name="Label"/>
          <p:cNvSpPr txBox="1"/>
          <p:nvPr/>
        </p:nvSpPr>
        <p:spPr>
          <a:xfrm>
            <a:off x="4439412" y="2304288"/>
            <a:ext cx="3346704" cy="182880"/>
          </a:xfrm>
          <a:prstGeom prst="rect">
            <a:avLst/>
          </a:prstGeom>
          <a:noFill/>
        </p:spPr>
        <p:txBody>
          <a:bodyPr wrap="square" lIns="0" rIns="0" tIns="0" bIns="0" anchor="t">
            <a:spAutoFit/>
          </a:bodyPr>
          <a:lstStyle/>
          <a:p>
            <a:pPr algn="l"/>
            <a:r>
              <a:rPr sz="900" b="1" i="0" spc="200">
                <a:solidFill>
                  <a:srgbClr val="5069EC"/>
                </a:solidFill>
                <a:latin typeface="Calibri"/>
              </a:rPr>
              <a:t>PLATO  ·  HOSTED</a:t>
            </a:r>
          </a:p>
        </p:txBody>
      </p:sp>
      <p:sp>
        <p:nvSpPr>
          <p:cNvPr id="87" name="Runtime heading"/>
          <p:cNvSpPr txBox="1"/>
          <p:nvPr/>
        </p:nvSpPr>
        <p:spPr>
          <a:xfrm>
            <a:off x="4439412" y="2514600"/>
            <a:ext cx="3346704" cy="274320"/>
          </a:xfrm>
          <a:prstGeom prst="rect">
            <a:avLst/>
          </a:prstGeom>
          <a:noFill/>
        </p:spPr>
        <p:txBody>
          <a:bodyPr wrap="square" lIns="0" rIns="0" tIns="0" bIns="0" anchor="t">
            <a:spAutoFit/>
          </a:bodyPr>
          <a:lstStyle/>
          <a:p>
            <a:pPr algn="l"/>
            <a:r>
              <a:rPr sz="1250" b="1" i="0">
                <a:solidFill>
                  <a:srgbClr val="1B0065"/>
                </a:solidFill>
                <a:latin typeface="Calibri"/>
              </a:rPr>
              <a:t>One container serves a pack</a:t>
            </a:r>
          </a:p>
        </p:txBody>
      </p:sp>
      <p:sp>
        <p:nvSpPr>
          <p:cNvPr id="88" name="Mini"/>
          <p:cNvSpPr/>
          <p:nvPr/>
        </p:nvSpPr>
        <p:spPr>
          <a:xfrm>
            <a:off x="4439412" y="2852928"/>
            <a:ext cx="777240" cy="384048"/>
          </a:xfrm>
          <a:prstGeom prst="roundRect">
            <a:avLst>
              <a:gd name="adj" fmla="val 8000"/>
            </a:avLst>
          </a:prstGeom>
          <a:solidFill>
            <a:srgbClr val="E6F8F4"/>
          </a:solidFill>
          <a:ln w="9525">
            <a:solidFill>
              <a:srgbClr val="9FE3D6"/>
            </a:solidFill>
          </a:ln>
          <a:effectLst/>
        </p:spPr>
        <p:txBody>
          <a:bodyPr rtlCol="0" anchor="ctr"/>
          <a:lstStyle/>
          <a:p/>
        </p:txBody>
      </p:sp>
      <p:sp>
        <p:nvSpPr>
          <p:cNvPr id="89" name="Mini text"/>
          <p:cNvSpPr txBox="1"/>
          <p:nvPr/>
        </p:nvSpPr>
        <p:spPr>
          <a:xfrm>
            <a:off x="4439412" y="2852928"/>
            <a:ext cx="777240" cy="384048"/>
          </a:xfrm>
          <a:prstGeom prst="rect">
            <a:avLst/>
          </a:prstGeom>
          <a:noFill/>
        </p:spPr>
        <p:txBody>
          <a:bodyPr wrap="square" lIns="0" rIns="0" tIns="0" bIns="0" anchor="ctr">
            <a:spAutoFit/>
          </a:bodyPr>
          <a:lstStyle/>
          <a:p>
            <a:pPr algn="ctr"/>
            <a:r>
              <a:rPr sz="900" b="1" i="0">
                <a:solidFill>
                  <a:srgbClr val="1B0065"/>
                </a:solidFill>
                <a:latin typeface="Calibri"/>
              </a:rPr>
              <a:t>pack</a:t>
            </a:r>
          </a:p>
        </p:txBody>
      </p:sp>
      <p:cxnSp>
        <p:nvCxnSpPr>
          <p:cNvPr id="90" name="Arrow"/>
          <p:cNvCxnSpPr/>
          <p:nvPr/>
        </p:nvCxnSpPr>
        <p:spPr>
          <a:xfrm>
            <a:off x="5244083" y="3044952"/>
            <a:ext cx="274320" cy="0"/>
          </a:xfrm>
          <a:prstGeom prst="line">
            <a:avLst/>
          </a:prstGeom>
          <a:ln w="15875">
            <a:solidFill>
              <a:srgbClr val="5069EC"/>
            </a:solidFill>
            <a:tailEnd type="triangle" w="med" len="med"/>
          </a:ln>
        </p:spPr>
      </p:cxnSp>
      <p:sp>
        <p:nvSpPr>
          <p:cNvPr id="91" name="Mini"/>
          <p:cNvSpPr/>
          <p:nvPr/>
        </p:nvSpPr>
        <p:spPr>
          <a:xfrm>
            <a:off x="5564123" y="2852928"/>
            <a:ext cx="1188720" cy="384048"/>
          </a:xfrm>
          <a:prstGeom prst="roundRect">
            <a:avLst>
              <a:gd name="adj" fmla="val 8000"/>
            </a:avLst>
          </a:prstGeom>
          <a:solidFill>
            <a:srgbClr val="1B0065"/>
          </a:solidFill>
          <a:ln w="9525">
            <a:solidFill>
              <a:srgbClr val="1B0065"/>
            </a:solidFill>
          </a:ln>
          <a:effectLst/>
        </p:spPr>
        <p:txBody>
          <a:bodyPr rtlCol="0" anchor="ctr"/>
          <a:lstStyle/>
          <a:p/>
        </p:txBody>
      </p:sp>
      <p:sp>
        <p:nvSpPr>
          <p:cNvPr id="92" name="Mini text"/>
          <p:cNvSpPr txBox="1"/>
          <p:nvPr/>
        </p:nvSpPr>
        <p:spPr>
          <a:xfrm>
            <a:off x="5564123" y="2852928"/>
            <a:ext cx="1188720" cy="384048"/>
          </a:xfrm>
          <a:prstGeom prst="rect">
            <a:avLst/>
          </a:prstGeom>
          <a:noFill/>
        </p:spPr>
        <p:txBody>
          <a:bodyPr wrap="square" lIns="0" rIns="0" tIns="0" bIns="0" anchor="ctr">
            <a:spAutoFit/>
          </a:bodyPr>
          <a:lstStyle/>
          <a:p>
            <a:pPr algn="ctr"/>
            <a:r>
              <a:rPr sz="900" b="1" i="0">
                <a:solidFill>
                  <a:srgbClr val="03CBA9"/>
                </a:solidFill>
                <a:latin typeface="Calibri"/>
              </a:rPr>
              <a:t>Plato  × N</a:t>
            </a:r>
          </a:p>
        </p:txBody>
      </p:sp>
      <p:sp>
        <p:nvSpPr>
          <p:cNvPr id="93" name="Scale note"/>
          <p:cNvSpPr txBox="1"/>
          <p:nvPr/>
        </p:nvSpPr>
        <p:spPr>
          <a:xfrm>
            <a:off x="6825996" y="2852928"/>
            <a:ext cx="914400" cy="384048"/>
          </a:xfrm>
          <a:prstGeom prst="rect">
            <a:avLst/>
          </a:prstGeom>
          <a:noFill/>
        </p:spPr>
        <p:txBody>
          <a:bodyPr wrap="square" lIns="0" rIns="0" tIns="0" bIns="0" anchor="ctr">
            <a:spAutoFit/>
          </a:bodyPr>
          <a:lstStyle/>
          <a:p>
            <a:pPr algn="l"/>
            <a:r>
              <a:rPr sz="900" b="0" i="1">
                <a:solidFill>
                  <a:srgbClr val="5B6472"/>
                </a:solidFill>
                <a:latin typeface="Calibri"/>
              </a:rPr>
              <a:t>scales on load</a:t>
            </a:r>
          </a:p>
        </p:txBody>
      </p:sp>
      <p:sp>
        <p:nvSpPr>
          <p:cNvPr id="94" name="Runtime body"/>
          <p:cNvSpPr txBox="1"/>
          <p:nvPr/>
        </p:nvSpPr>
        <p:spPr>
          <a:xfrm>
            <a:off x="4439412" y="3337560"/>
            <a:ext cx="3310128" cy="914400"/>
          </a:xfrm>
          <a:prstGeom prst="rect">
            <a:avLst/>
          </a:prstGeom>
          <a:noFill/>
        </p:spPr>
        <p:txBody>
          <a:bodyPr wrap="square" lIns="0" rIns="0" tIns="0" bIns="0" anchor="t">
            <a:spAutoFit/>
          </a:bodyPr>
          <a:lstStyle/>
          <a:p>
            <a:pPr algn="l"/>
            <a:r>
              <a:rPr sz="1000" b="0" i="0">
                <a:solidFill>
                  <a:srgbClr val="1E293B"/>
                </a:solidFill>
                <a:latin typeface="Calibri"/>
              </a:rPr>
              <a:t>Plato takes a published pack definition and serves every capability from it: chat, runs, assessments, feedback and evaluation, multi-tenant, with its own control plane.</a:t>
            </a:r>
          </a:p>
        </p:txBody>
      </p:sp>
      <p:sp>
        <p:nvSpPr>
          <p:cNvPr id="95" name="Tradeoff box"/>
          <p:cNvSpPr/>
          <p:nvPr/>
        </p:nvSpPr>
        <p:spPr>
          <a:xfrm>
            <a:off x="4375403" y="4224528"/>
            <a:ext cx="3438144" cy="640080"/>
          </a:xfrm>
          <a:prstGeom prst="roundRect">
            <a:avLst>
              <a:gd name="adj" fmla="val 8000"/>
            </a:avLst>
          </a:prstGeom>
          <a:solidFill>
            <a:srgbClr val="F3F6FF"/>
          </a:solidFill>
          <a:ln w="9525">
            <a:solidFill>
              <a:srgbClr val="D6DDF3"/>
            </a:solidFill>
          </a:ln>
          <a:effectLst/>
        </p:spPr>
        <p:txBody>
          <a:bodyPr rtlCol="0" anchor="ctr"/>
          <a:lstStyle/>
          <a:p/>
        </p:txBody>
      </p:sp>
      <p:sp>
        <p:nvSpPr>
          <p:cNvPr id="96" name="Tradeoff"/>
          <p:cNvSpPr txBox="1"/>
          <p:nvPr/>
        </p:nvSpPr>
        <p:spPr>
          <a:xfrm>
            <a:off x="4466844" y="4224528"/>
            <a:ext cx="3255264" cy="640080"/>
          </a:xfrm>
          <a:prstGeom prst="rect">
            <a:avLst/>
          </a:prstGeom>
          <a:noFill/>
        </p:spPr>
        <p:txBody>
          <a:bodyPr wrap="square" lIns="0" rIns="0" tIns="0" bIns="0" anchor="ctr">
            <a:spAutoFit/>
          </a:bodyPr>
          <a:lstStyle/>
          <a:p>
            <a:pPr algn="l"/>
            <a:r>
              <a:rPr sz="950" b="0" i="0">
                <a:solidFill>
                  <a:srgbClr val="1B0065"/>
                </a:solidFill>
                <a:latin typeface="Calibri"/>
              </a:rPr>
              <a:t>Horizontal scaling on load; publish and activate a pack with no deploy; one image, several roles.</a:t>
            </a:r>
          </a:p>
        </p:txBody>
      </p:sp>
      <p:sp>
        <p:nvSpPr>
          <p:cNvPr id="97" name="Runtime card"/>
          <p:cNvSpPr/>
          <p:nvPr/>
        </p:nvSpPr>
        <p:spPr>
          <a:xfrm>
            <a:off x="8110727" y="2194560"/>
            <a:ext cx="3621024" cy="2743200"/>
          </a:xfrm>
          <a:prstGeom prst="roundRect">
            <a:avLst>
              <a:gd name="adj" fmla="val 8000"/>
            </a:avLst>
          </a:prstGeom>
          <a:solidFill>
            <a:srgbClr val="FFFFFF"/>
          </a:solidFill>
          <a:ln w="9525">
            <a:solidFill>
              <a:srgbClr val="D6DDF3"/>
            </a:solidFill>
          </a:ln>
          <a:effectLst/>
        </p:spPr>
        <p:txBody>
          <a:bodyPr rtlCol="0" anchor="ctr"/>
          <a:lstStyle/>
          <a:p/>
        </p:txBody>
      </p:sp>
      <p:sp>
        <p:nvSpPr>
          <p:cNvPr id="98" name="Label"/>
          <p:cNvSpPr txBox="1"/>
          <p:nvPr/>
        </p:nvSpPr>
        <p:spPr>
          <a:xfrm>
            <a:off x="8266175" y="2304288"/>
            <a:ext cx="3346704" cy="182880"/>
          </a:xfrm>
          <a:prstGeom prst="rect">
            <a:avLst/>
          </a:prstGeom>
          <a:noFill/>
        </p:spPr>
        <p:txBody>
          <a:bodyPr wrap="square" lIns="0" rIns="0" tIns="0" bIns="0" anchor="t">
            <a:spAutoFit/>
          </a:bodyPr>
          <a:lstStyle/>
          <a:p>
            <a:pPr algn="l"/>
            <a:r>
              <a:rPr sz="900" b="1" i="0" spc="200">
                <a:solidFill>
                  <a:srgbClr val="5069EC"/>
                </a:solidFill>
                <a:latin typeface="Calibri"/>
              </a:rPr>
              <a:t>HYBRID</a:t>
            </a:r>
          </a:p>
        </p:txBody>
      </p:sp>
      <p:sp>
        <p:nvSpPr>
          <p:cNvPr id="99" name="Runtime heading"/>
          <p:cNvSpPr txBox="1"/>
          <p:nvPr/>
        </p:nvSpPr>
        <p:spPr>
          <a:xfrm>
            <a:off x="8266175" y="2514600"/>
            <a:ext cx="3346704" cy="274320"/>
          </a:xfrm>
          <a:prstGeom prst="rect">
            <a:avLst/>
          </a:prstGeom>
          <a:noFill/>
        </p:spPr>
        <p:txBody>
          <a:bodyPr wrap="square" lIns="0" rIns="0" tIns="0" bIns="0" anchor="t">
            <a:spAutoFit/>
          </a:bodyPr>
          <a:lstStyle/>
          <a:p>
            <a:pPr algn="l"/>
            <a:r>
              <a:rPr sz="1250" b="1" i="0">
                <a:solidFill>
                  <a:srgbClr val="1B0065"/>
                </a:solidFill>
                <a:latin typeface="Calibri"/>
              </a:rPr>
              <a:t>Plato in front, jobs behind</a:t>
            </a:r>
          </a:p>
        </p:txBody>
      </p:sp>
      <p:sp>
        <p:nvSpPr>
          <p:cNvPr id="100" name="Mini"/>
          <p:cNvSpPr/>
          <p:nvPr/>
        </p:nvSpPr>
        <p:spPr>
          <a:xfrm>
            <a:off x="8266175" y="2852928"/>
            <a:ext cx="960120" cy="384048"/>
          </a:xfrm>
          <a:prstGeom prst="roundRect">
            <a:avLst>
              <a:gd name="adj" fmla="val 8000"/>
            </a:avLst>
          </a:prstGeom>
          <a:solidFill>
            <a:srgbClr val="1B0065"/>
          </a:solidFill>
          <a:ln w="9525">
            <a:solidFill>
              <a:srgbClr val="1B0065"/>
            </a:solidFill>
          </a:ln>
          <a:effectLst/>
        </p:spPr>
        <p:txBody>
          <a:bodyPr rtlCol="0" anchor="ctr"/>
          <a:lstStyle/>
          <a:p/>
        </p:txBody>
      </p:sp>
      <p:sp>
        <p:nvSpPr>
          <p:cNvPr id="101" name="Mini text"/>
          <p:cNvSpPr txBox="1"/>
          <p:nvPr/>
        </p:nvSpPr>
        <p:spPr>
          <a:xfrm>
            <a:off x="8266175" y="2852928"/>
            <a:ext cx="960120" cy="384048"/>
          </a:xfrm>
          <a:prstGeom prst="rect">
            <a:avLst/>
          </a:prstGeom>
          <a:noFill/>
        </p:spPr>
        <p:txBody>
          <a:bodyPr wrap="square" lIns="0" rIns="0" tIns="0" bIns="0" anchor="ctr">
            <a:spAutoFit/>
          </a:bodyPr>
          <a:lstStyle/>
          <a:p>
            <a:pPr algn="ctr"/>
            <a:r>
              <a:rPr sz="900" b="1" i="0">
                <a:solidFill>
                  <a:srgbClr val="03CBA9"/>
                </a:solidFill>
                <a:latin typeface="Calibri"/>
              </a:rPr>
              <a:t>Plato  × N</a:t>
            </a:r>
          </a:p>
        </p:txBody>
      </p:sp>
      <p:cxnSp>
        <p:nvCxnSpPr>
          <p:cNvPr id="102" name="Arrow"/>
          <p:cNvCxnSpPr/>
          <p:nvPr/>
        </p:nvCxnSpPr>
        <p:spPr>
          <a:xfrm>
            <a:off x="9253728" y="3044952"/>
            <a:ext cx="274320" cy="0"/>
          </a:xfrm>
          <a:prstGeom prst="line">
            <a:avLst/>
          </a:prstGeom>
          <a:ln w="15875">
            <a:solidFill>
              <a:srgbClr val="5069EC"/>
            </a:solidFill>
            <a:tailEnd type="triangle" w="med" len="med"/>
          </a:ln>
        </p:spPr>
      </p:cxnSp>
      <p:sp>
        <p:nvSpPr>
          <p:cNvPr id="103" name="Mini"/>
          <p:cNvSpPr/>
          <p:nvPr/>
        </p:nvSpPr>
        <p:spPr>
          <a:xfrm>
            <a:off x="9573767" y="2852928"/>
            <a:ext cx="777240" cy="384048"/>
          </a:xfrm>
          <a:prstGeom prst="roundRect">
            <a:avLst>
              <a:gd name="adj" fmla="val 8000"/>
            </a:avLst>
          </a:prstGeom>
          <a:solidFill>
            <a:srgbClr val="F3F6FF"/>
          </a:solidFill>
          <a:ln w="9525">
            <a:solidFill>
              <a:srgbClr val="D6DDF3"/>
            </a:solidFill>
          </a:ln>
          <a:effectLst/>
        </p:spPr>
        <p:txBody>
          <a:bodyPr rtlCol="0" anchor="ctr"/>
          <a:lstStyle/>
          <a:p/>
        </p:txBody>
      </p:sp>
      <p:sp>
        <p:nvSpPr>
          <p:cNvPr id="104" name="Mini text"/>
          <p:cNvSpPr txBox="1"/>
          <p:nvPr/>
        </p:nvSpPr>
        <p:spPr>
          <a:xfrm>
            <a:off x="9573767" y="2852928"/>
            <a:ext cx="777240" cy="384048"/>
          </a:xfrm>
          <a:prstGeom prst="rect">
            <a:avLst/>
          </a:prstGeom>
          <a:noFill/>
        </p:spPr>
        <p:txBody>
          <a:bodyPr wrap="square" lIns="0" rIns="0" tIns="0" bIns="0" anchor="ctr">
            <a:spAutoFit/>
          </a:bodyPr>
          <a:lstStyle/>
          <a:p>
            <a:pPr algn="ctr"/>
            <a:r>
              <a:rPr sz="900" b="1" i="0">
                <a:solidFill>
                  <a:srgbClr val="1B0065"/>
                </a:solidFill>
                <a:latin typeface="Calibri"/>
              </a:rPr>
              <a:t>queue</a:t>
            </a:r>
          </a:p>
        </p:txBody>
      </p:sp>
      <p:cxnSp>
        <p:nvCxnSpPr>
          <p:cNvPr id="105" name="Arrow"/>
          <p:cNvCxnSpPr/>
          <p:nvPr/>
        </p:nvCxnSpPr>
        <p:spPr>
          <a:xfrm>
            <a:off x="10378440" y="3044952"/>
            <a:ext cx="274320" cy="0"/>
          </a:xfrm>
          <a:prstGeom prst="line">
            <a:avLst/>
          </a:prstGeom>
          <a:ln w="15875">
            <a:solidFill>
              <a:srgbClr val="5069EC"/>
            </a:solidFill>
            <a:tailEnd type="triangle" w="med" len="med"/>
          </a:ln>
        </p:spPr>
      </p:cxnSp>
      <p:sp>
        <p:nvSpPr>
          <p:cNvPr id="106" name="Mini"/>
          <p:cNvSpPr/>
          <p:nvPr/>
        </p:nvSpPr>
        <p:spPr>
          <a:xfrm>
            <a:off x="10698480" y="2852928"/>
            <a:ext cx="868680" cy="384048"/>
          </a:xfrm>
          <a:prstGeom prst="roundRect">
            <a:avLst>
              <a:gd name="adj" fmla="val 8000"/>
            </a:avLst>
          </a:prstGeom>
          <a:solidFill>
            <a:srgbClr val="4A3AA8"/>
          </a:solidFill>
          <a:ln w="9525">
            <a:solidFill>
              <a:srgbClr val="4A3AA8"/>
            </a:solidFill>
          </a:ln>
          <a:effectLst/>
        </p:spPr>
        <p:txBody>
          <a:bodyPr rtlCol="0" anchor="ctr"/>
          <a:lstStyle/>
          <a:p/>
        </p:txBody>
      </p:sp>
      <p:sp>
        <p:nvSpPr>
          <p:cNvPr id="107" name="Mini text"/>
          <p:cNvSpPr txBox="1"/>
          <p:nvPr/>
        </p:nvSpPr>
        <p:spPr>
          <a:xfrm>
            <a:off x="10698480" y="2852928"/>
            <a:ext cx="868680" cy="384048"/>
          </a:xfrm>
          <a:prstGeom prst="rect">
            <a:avLst/>
          </a:prstGeom>
          <a:noFill/>
        </p:spPr>
        <p:txBody>
          <a:bodyPr wrap="square" lIns="0" rIns="0" tIns="0" bIns="0" anchor="ctr">
            <a:spAutoFit/>
          </a:bodyPr>
          <a:lstStyle/>
          <a:p>
            <a:pPr algn="ctr"/>
            <a:r>
              <a:rPr sz="900" b="1" i="0">
                <a:solidFill>
                  <a:srgbClr val="FFFFFF"/>
                </a:solidFill>
                <a:latin typeface="Calibri"/>
              </a:rPr>
              <a:t>SDK jobs</a:t>
            </a:r>
          </a:p>
        </p:txBody>
      </p:sp>
      <p:sp>
        <p:nvSpPr>
          <p:cNvPr id="108" name="Runtime body"/>
          <p:cNvSpPr txBox="1"/>
          <p:nvPr/>
        </p:nvSpPr>
        <p:spPr>
          <a:xfrm>
            <a:off x="8266175" y="3337560"/>
            <a:ext cx="3310128" cy="914400"/>
          </a:xfrm>
          <a:prstGeom prst="rect">
            <a:avLst/>
          </a:prstGeom>
          <a:noFill/>
        </p:spPr>
        <p:txBody>
          <a:bodyPr wrap="square" lIns="0" rIns="0" tIns="0" bIns="0" anchor="t">
            <a:spAutoFit/>
          </a:bodyPr>
          <a:lstStyle/>
          <a:p>
            <a:pPr algn="l"/>
            <a:r>
              <a:rPr sz="1000" b="0" i="0">
                <a:solidFill>
                  <a:srgbClr val="1E293B"/>
                </a:solidFill>
                <a:latin typeface="Calibri"/>
              </a:rPr>
              <a:t>Plato serves the interactive surface and the control plane; long work (document ingest, replays, batch runs) goes to SDK jobs through the same queue contract.</a:t>
            </a:r>
          </a:p>
        </p:txBody>
      </p:sp>
      <p:sp>
        <p:nvSpPr>
          <p:cNvPr id="109" name="Tradeoff box"/>
          <p:cNvSpPr/>
          <p:nvPr/>
        </p:nvSpPr>
        <p:spPr>
          <a:xfrm>
            <a:off x="8202167" y="4224528"/>
            <a:ext cx="3438144" cy="640080"/>
          </a:xfrm>
          <a:prstGeom prst="roundRect">
            <a:avLst>
              <a:gd name="adj" fmla="val 8000"/>
            </a:avLst>
          </a:prstGeom>
          <a:solidFill>
            <a:srgbClr val="F3F6FF"/>
          </a:solidFill>
          <a:ln w="9525">
            <a:solidFill>
              <a:srgbClr val="D6DDF3"/>
            </a:solidFill>
          </a:ln>
          <a:effectLst/>
        </p:spPr>
        <p:txBody>
          <a:bodyPr rtlCol="0" anchor="ctr"/>
          <a:lstStyle/>
          <a:p/>
        </p:txBody>
      </p:sp>
      <p:sp>
        <p:nvSpPr>
          <p:cNvPr id="110" name="Tradeoff"/>
          <p:cNvSpPr txBox="1"/>
          <p:nvPr/>
        </p:nvSpPr>
        <p:spPr>
          <a:xfrm>
            <a:off x="8293607" y="4224528"/>
            <a:ext cx="3255264" cy="640080"/>
          </a:xfrm>
          <a:prstGeom prst="rect">
            <a:avLst/>
          </a:prstGeom>
          <a:noFill/>
        </p:spPr>
        <p:txBody>
          <a:bodyPr wrap="square" lIns="0" rIns="0" tIns="0" bIns="0" anchor="ctr">
            <a:spAutoFit/>
          </a:bodyPr>
          <a:lstStyle/>
          <a:p>
            <a:pPr algn="l"/>
            <a:r>
              <a:rPr sz="950" b="0" i="0">
                <a:solidFill>
                  <a:srgbClr val="1B0065"/>
                </a:solidFill>
                <a:latin typeface="Calibri"/>
              </a:rPr>
              <a:t>The serving tier scales on requests, the batch tier on queue depth; one SDK version across both.</a:t>
            </a:r>
          </a:p>
        </p:txBody>
      </p:sp>
      <p:sp>
        <p:nvSpPr>
          <p:cNvPr id="111" name="Client bar"/>
          <p:cNvSpPr/>
          <p:nvPr/>
        </p:nvSpPr>
        <p:spPr>
          <a:xfrm>
            <a:off x="457200" y="5074920"/>
            <a:ext cx="11274552" cy="566928"/>
          </a:xfrm>
          <a:prstGeom prst="roundRect">
            <a:avLst>
              <a:gd name="adj" fmla="val 8000"/>
            </a:avLst>
          </a:prstGeom>
          <a:solidFill>
            <a:srgbClr val="E6F8F4"/>
          </a:solidFill>
          <a:ln w="9525">
            <a:solidFill>
              <a:srgbClr val="9FE3D6"/>
            </a:solidFill>
          </a:ln>
          <a:effectLst/>
        </p:spPr>
        <p:txBody>
          <a:bodyPr rtlCol="0" anchor="ctr"/>
          <a:lstStyle/>
          <a:p/>
        </p:txBody>
      </p:sp>
      <p:sp>
        <p:nvSpPr>
          <p:cNvPr id="112" name="Client bar text"/>
          <p:cNvSpPr txBox="1"/>
          <p:nvPr/>
        </p:nvSpPr>
        <p:spPr>
          <a:xfrm>
            <a:off x="685800" y="5074920"/>
            <a:ext cx="10881360" cy="566928"/>
          </a:xfrm>
          <a:prstGeom prst="rect">
            <a:avLst/>
          </a:prstGeom>
          <a:noFill/>
        </p:spPr>
        <p:txBody>
          <a:bodyPr wrap="square" lIns="0" rIns="0" tIns="0" bIns="0" anchor="ctr">
            <a:spAutoFit/>
          </a:bodyPr>
          <a:lstStyle/>
          <a:p>
            <a:pPr algn="l"/>
            <a:r>
              <a:rPr sz="1100" b="1" i="0">
                <a:solidFill>
                  <a:srgbClr val="0D9488"/>
                </a:solidFill>
                <a:latin typeface="Calibri"/>
              </a:rPr>
              <a:t>jazzx-plato-client   </a:t>
            </a:r>
            <a:r>
              <a:rPr sz="1050" b="0" i="0">
                <a:solidFill>
                  <a:srgbClr val="1B0065"/>
                </a:solidFill>
                <a:latin typeface="Calibri"/>
              </a:rPr>
              <a:t>a client package with no SDK dependency. A customer or partner integrates against Plato's routes and never sees the SDK: the policy IR, mode prompts and fabric contracts stay inside the container. The hosted service is the IP boundary.</a:t>
            </a:r>
          </a:p>
        </p:txBody>
      </p:sp>
      <p:sp>
        <p:nvSpPr>
          <p:cNvPr id="113" name="Band"/>
          <p:cNvSpPr/>
          <p:nvPr/>
        </p:nvSpPr>
        <p:spPr>
          <a:xfrm>
            <a:off x="457200" y="5760720"/>
            <a:ext cx="11274552" cy="530352"/>
          </a:xfrm>
          <a:prstGeom prst="roundRect">
            <a:avLst>
              <a:gd name="adj" fmla="val 8000"/>
            </a:avLst>
          </a:prstGeom>
          <a:solidFill>
            <a:srgbClr val="1B0065"/>
          </a:solidFill>
          <a:ln w="9525">
            <a:solidFill>
              <a:srgbClr val="1B0065"/>
            </a:solidFill>
          </a:ln>
          <a:effectLst/>
        </p:spPr>
        <p:txBody>
          <a:bodyPr rtlCol="0" anchor="ctr"/>
          <a:lstStyle/>
          <a:p/>
        </p:txBody>
      </p:sp>
      <p:sp>
        <p:nvSpPr>
          <p:cNvPr id="114" name="Band text"/>
          <p:cNvSpPr txBox="1"/>
          <p:nvPr/>
        </p:nvSpPr>
        <p:spPr>
          <a:xfrm>
            <a:off x="685800" y="5760720"/>
            <a:ext cx="10881360" cy="530352"/>
          </a:xfrm>
          <a:prstGeom prst="rect">
            <a:avLst/>
          </a:prstGeom>
          <a:noFill/>
        </p:spPr>
        <p:txBody>
          <a:bodyPr wrap="square" lIns="0" rIns="0" tIns="0" bIns="0" anchor="ctr">
            <a:spAutoFit/>
          </a:bodyPr>
          <a:lstStyle/>
          <a:p>
            <a:pPr algn="l"/>
            <a:r>
              <a:rPr sz="1050" b="1" i="0" spc="150">
                <a:solidFill>
                  <a:srgbClr val="03CBA9"/>
                </a:solidFill>
                <a:latin typeface="Calibri"/>
              </a:rPr>
              <a:t>CONVERGENCE AND ROADMAP   </a:t>
            </a:r>
            <a:r>
              <a:rPr sz="1050" b="1" i="0">
                <a:solidFill>
                  <a:srgbClr val="FFFFFF"/>
                </a:solidFill>
                <a:latin typeface="Calibri"/>
              </a:rPr>
              <a:t>Plato becomes the v2 control plane: Kernel agents converted one at a time, Jazz Assistant becomes a pack, Studio writes to Plato, eval-service consumed before anything is absorbed. Q4 roadmap: draft for review by Oct 31, 2026 (work in progress; date to confirm).</a:t>
            </a:r>
          </a:p>
        </p:txBody>
      </p:sp>
    </p:spTree>
  </p:cSld>
  <p:clrMapOvr>
    <a:masterClrMapping/>
  </p:clrMapOvr>
</p:sld>
</file>

<file path=ppt/theme/theme1.xml><?xml version="1.0" encoding="utf-8"?>
<a:theme xmlns:a="http://schemas.openxmlformats.org/drawingml/2006/main" name="1_JazzX Dark Theme">
  <a:themeElements>
    <a:clrScheme name="JazzX">
      <a:dk1>
        <a:srgbClr val="00003F"/>
      </a:dk1>
      <a:lt1>
        <a:srgbClr val="FFFFFF"/>
      </a:lt1>
      <a:dk2>
        <a:srgbClr val="00003F"/>
      </a:dk2>
      <a:lt2>
        <a:srgbClr val="F3F7FF"/>
      </a:lt2>
      <a:accent1>
        <a:srgbClr val="FF592C"/>
      </a:accent1>
      <a:accent2>
        <a:srgbClr val="0D9595"/>
      </a:accent2>
      <a:accent3>
        <a:srgbClr val="5069EC"/>
      </a:accent3>
      <a:accent4>
        <a:srgbClr val="8BA2FF"/>
      </a:accent4>
      <a:accent5>
        <a:srgbClr val="FFFAD2"/>
      </a:accent5>
      <a:accent6>
        <a:srgbClr val="0D078E"/>
      </a:accent6>
      <a:hlink>
        <a:srgbClr val="5069EC"/>
      </a:hlink>
      <a:folHlink>
        <a:srgbClr val="00003F"/>
      </a:folHlink>
    </a:clrScheme>
    <a:fontScheme name="Custom 2">
      <a:majorFont>
        <a:latin typeface="Aptos SemiBold"/>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JazzX AI- Master Template " id="{884C9180-7B03-E34B-BF8C-EEF0D8FC59A2}" vid="{72DBCEB5-37CA-304F-A3DB-D82958169607}"/>
    </a:ext>
  </a:extLst>
</a:theme>
</file>

<file path=ppt/theme/theme2.xml><?xml version="1.0" encoding="utf-8"?>
<a:theme xmlns:a="http://schemas.openxmlformats.org/drawingml/2006/main" name="2_JazzX Light Theme">
  <a:themeElements>
    <a:clrScheme name="Custom 1">
      <a:dk1>
        <a:srgbClr val="5069EC"/>
      </a:dk1>
      <a:lt1>
        <a:sysClr val="window" lastClr="FFFFFF"/>
      </a:lt1>
      <a:dk2>
        <a:srgbClr val="030066"/>
      </a:dk2>
      <a:lt2>
        <a:srgbClr val="02B3F7"/>
      </a:lt2>
      <a:accent1>
        <a:srgbClr val="FF5329"/>
      </a:accent1>
      <a:accent2>
        <a:srgbClr val="05AA87"/>
      </a:accent2>
      <a:accent3>
        <a:srgbClr val="2169FF"/>
      </a:accent3>
      <a:accent4>
        <a:srgbClr val="8E5BFF"/>
      </a:accent4>
      <a:accent5>
        <a:srgbClr val="E0E7FD"/>
      </a:accent5>
      <a:accent6>
        <a:srgbClr val="CED0FF"/>
      </a:accent6>
      <a:hlink>
        <a:srgbClr val="5069EC"/>
      </a:hlink>
      <a:folHlink>
        <a:srgbClr val="0F238E"/>
      </a:folHlink>
    </a:clrScheme>
    <a:fontScheme name="Custom 2">
      <a:majorFont>
        <a:latin typeface="Aptos SemiBold"/>
        <a:ea typeface=""/>
        <a:cs typeface=""/>
      </a:majorFont>
      <a:minorFont>
        <a:latin typeface="Apto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JazzX AI- Master Template (Open to Make a Copy)" id="{CF01AEC2-AA0F-8644-B70B-602983D3E732}" vid="{8C2083D6-B4C6-C245-B938-113608756AE0}"/>
    </a:ext>
  </a:extLst>
</a:theme>
</file>

<file path=ppt/theme/theme3.xml><?xml version="1.0" encoding="utf-8"?>
<a:theme xmlns:a="http://schemas.openxmlformats.org/drawingml/2006/main" name="3_JazzX Dark Theme">
  <a:themeElements>
    <a:clrScheme name="JazzX">
      <a:dk1>
        <a:srgbClr val="00003F"/>
      </a:dk1>
      <a:lt1>
        <a:srgbClr val="FFFFFF"/>
      </a:lt1>
      <a:dk2>
        <a:srgbClr val="00003F"/>
      </a:dk2>
      <a:lt2>
        <a:srgbClr val="F3F7FF"/>
      </a:lt2>
      <a:accent1>
        <a:srgbClr val="FF592C"/>
      </a:accent1>
      <a:accent2>
        <a:srgbClr val="0D9595"/>
      </a:accent2>
      <a:accent3>
        <a:srgbClr val="5069EC"/>
      </a:accent3>
      <a:accent4>
        <a:srgbClr val="8BA2FF"/>
      </a:accent4>
      <a:accent5>
        <a:srgbClr val="FFFAD2"/>
      </a:accent5>
      <a:accent6>
        <a:srgbClr val="0D078E"/>
      </a:accent6>
      <a:hlink>
        <a:srgbClr val="5069EC"/>
      </a:hlink>
      <a:folHlink>
        <a:srgbClr val="00003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JazzX">
    <a:dk1>
      <a:srgbClr val="00003F"/>
    </a:dk1>
    <a:lt1>
      <a:srgbClr val="FFFFFF"/>
    </a:lt1>
    <a:dk2>
      <a:srgbClr val="00003F"/>
    </a:dk2>
    <a:lt2>
      <a:srgbClr val="F3F7FF"/>
    </a:lt2>
    <a:accent1>
      <a:srgbClr val="FF592C"/>
    </a:accent1>
    <a:accent2>
      <a:srgbClr val="0D9595"/>
    </a:accent2>
    <a:accent3>
      <a:srgbClr val="5069EC"/>
    </a:accent3>
    <a:accent4>
      <a:srgbClr val="8BA2FF"/>
    </a:accent4>
    <a:accent5>
      <a:srgbClr val="FFFAD2"/>
    </a:accent5>
    <a:accent6>
      <a:srgbClr val="0D078E"/>
    </a:accent6>
    <a:hlink>
      <a:srgbClr val="5069EC"/>
    </a:hlink>
    <a:folHlink>
      <a:srgbClr val="00003F"/>
    </a:folHlink>
  </a:clrScheme>
</a:themeOverrid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F99B822E-9C5B-4C31-8E1D-C822F9998463}">
  <we:reference id="WA200010001" version="1.0.0.1" store="Omex" storeType="OMEX"/>
  <we:alternateReferences>
    <we:reference id="WA200010001" version="1.0.0.1" store="WA200010001" storeType="OMEX"/>
  </we:alternateReferences>
  <we:properties>
    <we:property name="claude.fileId" value="&quot;c0afc9af-7bc3-4993-b644-db9ef76abd1b&quot;"/>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tatus xmlns="0d9fbd82-3977-42cb-a27b-92ba60b278b8">Draft</Status>
    <lcf76f155ced4ddcb4097134ff3c332f xmlns="0d9fbd82-3977-42cb-a27b-92ba60b278b8">
      <Terms xmlns="http://schemas.microsoft.com/office/infopath/2007/PartnerControls"/>
    </lcf76f155ced4ddcb4097134ff3c332f>
    <Usefulnessforduediligence xmlns="0d9fbd82-3977-42cb-a27b-92ba60b278b8" xsi:nil="true"/>
    <TaxCatchAll xmlns="7ad23321-c5db-46c7-895a-4aa935785ffe"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1AB99EB85D9B9B4A82583D0B053AA6BF" ma:contentTypeVersion="18" ma:contentTypeDescription="Create a new document." ma:contentTypeScope="" ma:versionID="d5c757a11cbbe6d30755719130aaeeb1">
  <xsd:schema xmlns:xsd="http://www.w3.org/2001/XMLSchema" xmlns:xs="http://www.w3.org/2001/XMLSchema" xmlns:p="http://schemas.microsoft.com/office/2006/metadata/properties" xmlns:ns2="0d9fbd82-3977-42cb-a27b-92ba60b278b8" xmlns:ns3="7ad23321-c5db-46c7-895a-4aa935785ffe" targetNamespace="http://schemas.microsoft.com/office/2006/metadata/properties" ma:root="true" ma:fieldsID="eebb97f6c8ac8eedac67c14ff5818b95" ns2:_="" ns3:_="">
    <xsd:import namespace="0d9fbd82-3977-42cb-a27b-92ba60b278b8"/>
    <xsd:import namespace="7ad23321-c5db-46c7-895a-4aa935785ffe"/>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3:SharedWithUsers" minOccurs="0"/>
                <xsd:element ref="ns3:SharedWithDetails" minOccurs="0"/>
                <xsd:element ref="ns2:lcf76f155ced4ddcb4097134ff3c332f" minOccurs="0"/>
                <xsd:element ref="ns3:TaxCatchAll" minOccurs="0"/>
                <xsd:element ref="ns2:MediaServiceDateTaken" minOccurs="0"/>
                <xsd:element ref="ns2:MediaServiceGenerationTime" minOccurs="0"/>
                <xsd:element ref="ns2:MediaServiceEventHashCode" minOccurs="0"/>
                <xsd:element ref="ns2:MediaLengthInSeconds" minOccurs="0"/>
                <xsd:element ref="ns2:MediaServiceOCR" minOccurs="0"/>
                <xsd:element ref="ns2:Usefulnessforduediligence" minOccurs="0"/>
                <xsd:element ref="ns2:MediaServiceLocation" minOccurs="0"/>
                <xsd:element ref="ns2:MediaServiceBillingMetadata"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d9fbd82-3977-42cb-a27b-92ba60b278b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Image Tags" ma:readOnly="false" ma:fieldId="{5cf76f15-5ced-4ddc-b409-7134ff3c332f}" ma:taxonomyMulti="true" ma:sspId="b6440cdf-29eb-49cd-afa0-d6d3ff089c7c"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LengthInSeconds" ma:index="20" nillable="true" ma:displayName="MediaLengthInSeconds" ma:hidden="true" ma:internalName="MediaLengthInSeconds" ma:readOnly="true">
      <xsd:simpleType>
        <xsd:restriction base="dms:Unknown"/>
      </xsd:simpleType>
    </xsd:element>
    <xsd:element name="MediaServiceOCR" ma:index="21" nillable="true" ma:displayName="Extracted Text" ma:internalName="MediaServiceOCR" ma:readOnly="true">
      <xsd:simpleType>
        <xsd:restriction base="dms:Note">
          <xsd:maxLength value="255"/>
        </xsd:restriction>
      </xsd:simpleType>
    </xsd:element>
    <xsd:element name="Usefulnessforduediligence" ma:index="22" nillable="true" ma:displayName="Usefulness for due diligence " ma:description="Emperical assessment " ma:format="Dropdown" ma:internalName="Usefulnessforduediligence">
      <xsd:simpleType>
        <xsd:restriction base="dms:Text">
          <xsd:maxLength value="255"/>
        </xsd:restriction>
      </xsd:simpleType>
    </xsd:element>
    <xsd:element name="MediaServiceLocation" ma:index="23" nillable="true" ma:displayName="Location" ma:indexed="true" ma:internalName="MediaServiceLocation" ma:readOnly="true">
      <xsd:simpleType>
        <xsd:restriction base="dms:Text"/>
      </xsd:simpleType>
    </xsd:element>
    <xsd:element name="MediaServiceBillingMetadata" ma:index="24" nillable="true" ma:displayName="MediaServiceBillingMetadata" ma:hidden="true" ma:internalName="MediaServiceBillingMetadata" ma:readOnly="true">
      <xsd:simpleType>
        <xsd:restriction base="dms:Note"/>
      </xsd:simpleType>
    </xsd:element>
    <xsd:element name="Status" ma:index="25" nillable="true" ma:displayName="Status" ma:default="Draft" ma:format="Dropdown" ma:internalName="Status">
      <xsd:simpleType>
        <xsd:restriction base="dms:Choice">
          <xsd:enumeration value="Draft"/>
          <xsd:enumeration value="Final"/>
        </xsd:restriction>
      </xsd:simpleType>
    </xsd:element>
  </xsd:schema>
  <xsd:schema xmlns:xsd="http://www.w3.org/2001/XMLSchema" xmlns:xs="http://www.w3.org/2001/XMLSchema" xmlns:dms="http://schemas.microsoft.com/office/2006/documentManagement/types" xmlns:pc="http://schemas.microsoft.com/office/infopath/2007/PartnerControls" targetNamespace="7ad23321-c5db-46c7-895a-4aa935785ffe"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16" nillable="true" ma:displayName="Taxonomy Catch All Column" ma:hidden="true" ma:list="{6d3af4a4-d25b-4467-bd24-93d4d05b0b94}" ma:internalName="TaxCatchAll" ma:showField="CatchAllData" ma:web="7ad23321-c5db-46c7-895a-4aa935785ffe">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E8F2CA93-E4A7-4814-A676-8D50CAA991D5}">
  <ds:schemaRefs>
    <ds:schemaRef ds:uri="http://schemas.microsoft.com/sharepoint/v3/contenttype/forms"/>
  </ds:schemaRefs>
</ds:datastoreItem>
</file>

<file path=customXml/itemProps2.xml><?xml version="1.0" encoding="utf-8"?>
<ds:datastoreItem xmlns:ds="http://schemas.openxmlformats.org/officeDocument/2006/customXml" ds:itemID="{363290D1-1CCC-4A71-8C6E-D7A258CDA8C2}">
  <ds:schemaRefs>
    <ds:schemaRef ds:uri="http://purl.org/dc/dcmitype/"/>
    <ds:schemaRef ds:uri="http://schemas.microsoft.com/office/infopath/2007/PartnerControls"/>
    <ds:schemaRef ds:uri="7ad23321-c5db-46c7-895a-4aa935785ffe"/>
    <ds:schemaRef ds:uri="http://schemas.microsoft.com/office/2006/documentManagement/types"/>
    <ds:schemaRef ds:uri="http://purl.org/dc/elements/1.1/"/>
    <ds:schemaRef ds:uri="0d9fbd82-3977-42cb-a27b-92ba60b278b8"/>
    <ds:schemaRef ds:uri="http://schemas.openxmlformats.org/package/2006/metadata/core-properties"/>
    <ds:schemaRef ds:uri="http://schemas.microsoft.com/office/2006/metadata/properties"/>
    <ds:schemaRef ds:uri="http://www.w3.org/XML/1998/namespace"/>
    <ds:schemaRef ds:uri="http://purl.org/dc/terms/"/>
  </ds:schemaRefs>
</ds:datastoreItem>
</file>

<file path=customXml/itemProps3.xml><?xml version="1.0" encoding="utf-8"?>
<ds:datastoreItem xmlns:ds="http://schemas.openxmlformats.org/officeDocument/2006/customXml" ds:itemID="{C5F32242-1939-4646-A88C-BBB2AECA5748}">
  <ds:schemaRefs>
    <ds:schemaRef ds:uri="0d9fbd82-3977-42cb-a27b-92ba60b278b8"/>
    <ds:schemaRef ds:uri="7ad23321-c5db-46c7-895a-4aa935785ffe"/>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69892463-2b84-463c-b829-a336ebb06f54}" enabled="0" method="" siteId="{69892463-2b84-463c-b829-a336ebb06f54}" removed="1"/>
</clbl:labelList>
</file>

<file path=docProps/app.xml><?xml version="1.0" encoding="utf-8"?>
<Properties xmlns="http://schemas.openxmlformats.org/officeDocument/2006/extended-properties" xmlns:vt="http://schemas.openxmlformats.org/officeDocument/2006/docPropsVTypes">
  <TotalTime>0</TotalTime>
  <Words>12388</Words>
  <Application>Microsoft Macintosh PowerPoint</Application>
  <PresentationFormat>Widescreen</PresentationFormat>
  <Paragraphs>1101</Paragraphs>
  <Slides>38</Slides>
  <Notes>35</Notes>
  <HiddenSlides>0</HiddenSlides>
  <MMClips>1</MMClips>
  <ScaleCrop>false</ScaleCrop>
  <HeadingPairs>
    <vt:vector size="6" baseType="variant">
      <vt:variant>
        <vt:lpstr>Fonts Used</vt:lpstr>
      </vt:variant>
      <vt:variant>
        <vt:i4>9</vt:i4>
      </vt:variant>
      <vt:variant>
        <vt:lpstr>Theme</vt:lpstr>
      </vt:variant>
      <vt:variant>
        <vt:i4>4</vt:i4>
      </vt:variant>
      <vt:variant>
        <vt:lpstr>Slide Titles</vt:lpstr>
      </vt:variant>
      <vt:variant>
        <vt:i4>38</vt:i4>
      </vt:variant>
    </vt:vector>
  </HeadingPairs>
  <TitlesOfParts>
    <vt:vector size="51" baseType="lpstr">
      <vt:lpstr>Aptos</vt:lpstr>
      <vt:lpstr>Aptos SemiBold</vt:lpstr>
      <vt:lpstr>Arial</vt:lpstr>
      <vt:lpstr>Calibri</vt:lpstr>
      <vt:lpstr>Outfit</vt:lpstr>
      <vt:lpstr>Roboto</vt:lpstr>
      <vt:lpstr>Roboto Black</vt:lpstr>
      <vt:lpstr>Segoe UI</vt:lpstr>
      <vt:lpstr>Trebuchet MS</vt:lpstr>
      <vt:lpstr>1_JazzX Dark Theme</vt:lpstr>
      <vt:lpstr>2_JazzX Light Theme</vt:lpstr>
      <vt:lpstr>3_JazzX Dark Theme</vt:lpstr>
      <vt:lpstr>Office Theme</vt:lpstr>
      <vt:lpstr>PowerPoint Presentation</vt:lpstr>
      <vt:lpstr>PowerPoint Presentation</vt:lpstr>
      <vt:lpstr>PowerPoint Presentation</vt:lpstr>
      <vt:lpstr>Proposed Content </vt:lpstr>
      <vt:lpstr>PowerPoint Presentation</vt:lpstr>
      <vt:lpstr>Proposed Content </vt:lpstr>
      <vt:lpstr>SRM use cases range from instant answers to 2–3x cheaper income calculation</vt:lpstr>
      <vt:lpstr>Training effort grows with difficulty, from distillation to SFT plus RLVR</vt:lpstr>
      <vt:lpstr>Fireworks has the lowest published rates to train and serve all three Qwen models</vt:lpstr>
      <vt:lpstr>Underwriter feedback in the Mortgage App trains all three models</vt:lpstr>
      <vt:lpstr>Seven people label 1,000 loans in 11 months, with a go/no-go at month 3</vt:lpstr>
      <vt:lpstr>PowerPoint Presentation</vt:lpstr>
      <vt:lpstr>PowerPoint Presentation</vt:lpstr>
      <vt:lpstr>Agents, processes and reasoners improve from feedback, without retraining</vt:lpstr>
      <vt:lpstr>Lenders teach Jazz their own way of working, one approved correction at a time</vt:lpstr>
      <vt:lpstr>Demo: one approved correction fixes the answer for every underwriter</vt:lpstr>
      <vt:lpstr>Feedback becomes vetted lessons, and evaluation checks their effect</vt:lpstr>
      <vt:lpstr>Feedback is structured once, then retrieved whenever a similar request arrives</vt:lpstr>
      <vt:lpstr>Every learned change is evaluated before it ships, in any component</vt:lpstr>
      <vt:lpstr>Ongoing work makes every lesson relevant, provable and reusable</vt:lpstr>
      <vt:lpstr>PowerPoint Presentation</vt:lpstr>
      <vt:lpstr>In context learning learns from what people say; ROSI learns from what happens</vt:lpstr>
      <vt:lpstr>ROSI targets the costly problems repeating across loan files</vt:lpstr>
      <vt:lpstr>Lenders stop paying for the same mistakes, and every fix arrives with proof</vt:lpstr>
      <vt:lpstr>A governed loop turns recorded outcomes into tested, approved changes</vt:lpstr>
      <vt:lpstr>Every service joins the loop through the SDK, and SMEs decide what changes</vt:lpstr>
      <vt:lpstr>PowerPoint Presentation</vt:lpstr>
      <vt:lpstr>PowerPoint Presentation</vt:lpstr>
      <vt:lpstr>Demo Video</vt:lpstr>
      <vt:lpstr>PowerPoint Presentation</vt:lpstr>
      <vt:lpstr>Acra will judge the AI on its own loans before any production commitment</vt:lpstr>
      <vt:lpstr>Ground truth and Reasoner testing run in parallel with the build</vt:lpstr>
      <vt:lpstr>Benchmarks started: ~3 loan packages underwritten</vt:lpstr>
      <vt:lpstr>Showcase the demo UI to the Acra team</vt:lpstr>
      <vt:lpstr>Four milestones, each with an exit gate</vt:lpstr>
      <vt:lpstr>Independent ground truth makes the proof credible</vt:lpstr>
      <vt:lpstr>Expectations on both sides, and the risks to manage</vt:lpstr>
      <vt:lpstr>Appendix </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JazzX v2.0 Platform Roadmap — Mortgage + AML Synthesis</dc:title>
  <dc:subject>PptxGenJS Presentation</dc:subject>
  <dc:creator>Kunal Patel</dc:creator>
  <cp:lastModifiedBy>Virendra Mehta</cp:lastModifiedBy>
  <cp:revision>2</cp:revision>
  <dcterms:created xsi:type="dcterms:W3CDTF">2026-05-07T19:14:50Z</dcterms:created>
  <dcterms:modified xsi:type="dcterms:W3CDTF">2026-10-13T01:30:30Z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0x0101001AB99EB85D9B9B4A82583D0B053AA6BF</vt:lpwstr>
  </property>
  <property fmtid="{D5CDD505-2E9C-101B-9397-08002B2CF9AE}" pid="3" name="MediaServiceImageTags">
    <vt:lpwstr/>
  </property>
</Properties>
</file>