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147472656" r:id="rId5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6"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concrete first. Jazz Assistant is the home mortgage solution and the proof that the framework cost goes away: a few thousand lines of product code on the InteractiveAgent, and shrinking. Acra DSCR is a different thing, a new use case built on the SDK from the start. Three teams are moving onto SDK frameworks the SDK already provides: the assistant team onto the unified assistant framework, the eval team onto the evaluation framework, and policy workbench onto the policy library when the plan says so. The product manager owns the migration plan; a first group lands in Jamaica. Then the experiments, labelled as experiments, and the honest word on verticals: financial services is real, healthcare is a demo pack, retail has nothing yet.</a:t>
            </a:r>
          </a:p>
          <a:p/>
          <a:p>
            <a:r>
              <a:t>Sources: the user's own status (Oct 12): Jazz Assistant is the home mortgage solution; Acra Lending DSCR is a separate new use case entirely on the SDK; the assistant's code base is small because it relies on the InteractiveAgent and will shrink with the chat pipeline; its work makes the policy workbench assistant's switch quick. 'Jazz Chat Assistant on the Jazz SDK' deck from the assistant team (LOC by component: grounding 1,800, turn lifecycle 800, observability 500, safety gate 450, citations 250, topology 100; tests and prompts 1.6x product code; Hawaii capabilities; dedup removed about 25% of conditions; gate catches 65% of 115 attacks and refuses 98% of out-of-scope questions; latency 4 to 5 minutes today against a 45 to 60 second target, fixes are SDK runtime work); assistant team adopting the unified assistant framework; eval team on the eval framework; policy workbench as a migration candidate; the product manager's migration plan for Jamaica. 'Three Platform Terms, Explained' (six weeks, with caveats). Notion 'Jazzx-Assistant' pages (requirements on japes and plato 2.5.6 chat). japes seed and sample packs; Plato pilot findings doc in japes status (DSCR and clinical intake on a local Plato); jazzx_eval_contracts in the japes repo; FORMAL_EVALUATION.md; plan_sibling_ideas_oct.md (policy-workbench lint and guideline versioning ported into the SDK).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9.xml"/></Relationships>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Jazz Assistant is on it, Acra DSCR is being built on it, two teams are moving over</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USAGE SO FAR</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Who is on it today, what it saved, and what is being tried</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nsumer card"/>
          <p:cNvSpPr/>
          <p:nvPr/>
        </p:nvSpPr>
        <p:spPr>
          <a:xfrm>
            <a:off x="457200"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69" name="Label"/>
          <p:cNvSpPr txBox="1"/>
          <p:nvPr/>
        </p:nvSpPr>
        <p:spPr>
          <a:xfrm>
            <a:off x="612648"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JAZZ ASSISTANT  ·  MORTGAGE</a:t>
            </a:r>
          </a:p>
        </p:txBody>
      </p:sp>
      <p:sp>
        <p:nvSpPr>
          <p:cNvPr id="70" name="Heading"/>
          <p:cNvSpPr txBox="1"/>
          <p:nvPr/>
        </p:nvSpPr>
        <p:spPr>
          <a:xfrm>
            <a:off x="612648"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Small code base on the InteractiveAgent</a:t>
            </a:r>
          </a:p>
        </p:txBody>
      </p:sp>
      <p:sp>
        <p:nvSpPr>
          <p:cNvPr id="71" name="Body"/>
          <p:cNvSpPr txBox="1"/>
          <p:nvPr/>
        </p:nvSpPr>
        <p:spPr>
          <a:xfrm>
            <a:off x="612648"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A profile, a persona and three skills; about 3,900 lines of product code (tests and prompts 1.6x that). Shrinks further with the chat pipeline and as the services it calls move to the SDK and fabric.</a:t>
            </a:r>
          </a:p>
        </p:txBody>
      </p:sp>
      <p:sp>
        <p:nvSpPr>
          <p:cNvPr id="72" name="Value box"/>
          <p:cNvSpPr/>
          <p:nvPr/>
        </p:nvSpPr>
        <p:spPr>
          <a:xfrm>
            <a:off x="548640"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3" name="Value"/>
          <p:cNvSpPr txBox="1"/>
          <p:nvPr/>
        </p:nvSpPr>
        <p:spPr>
          <a:xfrm>
            <a:off x="640080"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Hawaii: streaming, computed citations, a safety gate before retrieval, feedback on every answer. Dedup cut about 25% of conditions. Latency fixes are SDK runtime work and apply to every later assistant.</a:t>
            </a:r>
          </a:p>
        </p:txBody>
      </p:sp>
      <p:sp>
        <p:nvSpPr>
          <p:cNvPr id="74" name="Consumer card"/>
          <p:cNvSpPr/>
          <p:nvPr/>
        </p:nvSpPr>
        <p:spPr>
          <a:xfrm>
            <a:off x="3312871"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75" name="Label"/>
          <p:cNvSpPr txBox="1"/>
          <p:nvPr/>
        </p:nvSpPr>
        <p:spPr>
          <a:xfrm>
            <a:off x="3468319"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ACRA LENDING DSCR  ·  NEW</a:t>
            </a:r>
          </a:p>
        </p:txBody>
      </p:sp>
      <p:sp>
        <p:nvSpPr>
          <p:cNvPr id="76" name="Heading"/>
          <p:cNvSpPr txBox="1"/>
          <p:nvPr/>
        </p:nvSpPr>
        <p:spPr>
          <a:xfrm>
            <a:off x="3468319"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A new use case built entirely on the SDK</a:t>
            </a:r>
          </a:p>
        </p:txBody>
      </p:sp>
      <p:sp>
        <p:nvSpPr>
          <p:cNvPr id="77" name="Body"/>
          <p:cNvSpPr txBox="1"/>
          <p:nvPr/>
        </p:nvSpPr>
        <p:spPr>
          <a:xfrm>
            <a:off x="3468319"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Separate from the assistant: a domain pack (policies, profile, conductor) with deterministic assessment, served from Plato, with gold cases from the start.</a:t>
            </a:r>
          </a:p>
        </p:txBody>
      </p:sp>
      <p:sp>
        <p:nvSpPr>
          <p:cNvPr id="78" name="Value box"/>
          <p:cNvSpPr/>
          <p:nvPr/>
        </p:nvSpPr>
        <p:spPr>
          <a:xfrm>
            <a:off x="3404311"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9" name="Value"/>
          <p:cNvSpPr txBox="1"/>
          <p:nvPr/>
        </p:nvSpPr>
        <p:spPr>
          <a:xfrm>
            <a:off x="3495751"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Three policy files and one profile carry the programs; no Python in the pack. The verdict names the cell and the rule. The adapter, calculators and role bindings are the remaining work.</a:t>
            </a:r>
          </a:p>
        </p:txBody>
      </p:sp>
      <p:sp>
        <p:nvSpPr>
          <p:cNvPr id="80" name="Consumer card"/>
          <p:cNvSpPr/>
          <p:nvPr/>
        </p:nvSpPr>
        <p:spPr>
          <a:xfrm>
            <a:off x="6168542"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1" name="Label"/>
          <p:cNvSpPr txBox="1"/>
          <p:nvPr/>
        </p:nvSpPr>
        <p:spPr>
          <a:xfrm>
            <a:off x="6323990"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EVAL TEAM  ·  STARTED</a:t>
            </a:r>
          </a:p>
        </p:txBody>
      </p:sp>
      <p:sp>
        <p:nvSpPr>
          <p:cNvPr id="82" name="Heading"/>
          <p:cNvSpPr txBox="1"/>
          <p:nvPr/>
        </p:nvSpPr>
        <p:spPr>
          <a:xfrm>
            <a:off x="6323990"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On the SDK evaluation framework</a:t>
            </a:r>
          </a:p>
        </p:txBody>
      </p:sp>
      <p:sp>
        <p:nvSpPr>
          <p:cNvPr id="83" name="Body"/>
          <p:cNvSpPr txBox="1"/>
          <p:nvPr/>
        </p:nvSpPr>
        <p:spPr>
          <a:xfrm>
            <a:off x="6323990"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Shares the contracts package with the SDK; datasets, scorers, experiments and an agent judge now come from the SDK rather than a second implementation.</a:t>
            </a:r>
          </a:p>
        </p:txBody>
      </p:sp>
      <p:sp>
        <p:nvSpPr>
          <p:cNvPr id="84" name="Value box"/>
          <p:cNvSpPr/>
          <p:nvPr/>
        </p:nvSpPr>
        <p:spPr>
          <a:xfrm>
            <a:off x="6259982"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85" name="Value"/>
          <p:cNvSpPr txBox="1"/>
          <p:nvPr/>
        </p:nvSpPr>
        <p:spPr>
          <a:xfrm>
            <a:off x="6351422"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A feedback item, a case and a score mean the same thing in every service.</a:t>
            </a:r>
          </a:p>
        </p:txBody>
      </p:sp>
      <p:sp>
        <p:nvSpPr>
          <p:cNvPr id="86" name="Consumer card"/>
          <p:cNvSpPr/>
          <p:nvPr/>
        </p:nvSpPr>
        <p:spPr>
          <a:xfrm>
            <a:off x="9024213"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abel"/>
          <p:cNvSpPr txBox="1"/>
          <p:nvPr/>
        </p:nvSpPr>
        <p:spPr>
          <a:xfrm>
            <a:off x="9179661"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POLICY WORKBENCH  ·  NEXT</a:t>
            </a:r>
          </a:p>
        </p:txBody>
      </p:sp>
      <p:sp>
        <p:nvSpPr>
          <p:cNvPr id="88" name="Heading"/>
          <p:cNvSpPr txBox="1"/>
          <p:nvPr/>
        </p:nvSpPr>
        <p:spPr>
          <a:xfrm>
            <a:off x="9179661"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Can switch over quickly</a:t>
            </a:r>
          </a:p>
        </p:txBody>
      </p:sp>
      <p:sp>
        <p:nvSpPr>
          <p:cNvPr id="89" name="Body"/>
          <p:cNvSpPr txBox="1"/>
          <p:nvPr/>
        </p:nvSpPr>
        <p:spPr>
          <a:xfrm>
            <a:off x="9179661"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Its assistant can take the same profile, persona and skills shape the mortgage assistant proved. The policy library (document to JTBDs, lint, guideline versioning) covers the rest.</a:t>
            </a:r>
          </a:p>
        </p:txBody>
      </p:sp>
      <p:sp>
        <p:nvSpPr>
          <p:cNvPr id="90" name="Value box"/>
          <p:cNvSpPr/>
          <p:nvPr/>
        </p:nvSpPr>
        <p:spPr>
          <a:xfrm>
            <a:off x="9115653"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91" name="Value"/>
          <p:cNvSpPr txBox="1"/>
          <p:nvPr/>
        </p:nvSpPr>
        <p:spPr>
          <a:xfrm>
            <a:off x="9207093"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One extraction and review path for every pack, and an assistant that is configured rather than coded.</a:t>
            </a:r>
          </a:p>
        </p:txBody>
      </p:sp>
      <p:sp>
        <p:nvSpPr>
          <p:cNvPr id="92" name="Migration plan"/>
          <p:cNvSpPr/>
          <p:nvPr/>
        </p:nvSpPr>
        <p:spPr>
          <a:xfrm>
            <a:off x="457200" y="5074920"/>
            <a:ext cx="11274552" cy="603504"/>
          </a:xfrm>
          <a:prstGeom prst="roundRect">
            <a:avLst>
              <a:gd name="adj" fmla="val 8000"/>
            </a:avLst>
          </a:prstGeom>
          <a:solidFill>
            <a:srgbClr val="F3F6FF"/>
          </a:solidFill>
          <a:ln w="9525">
            <a:solidFill>
              <a:srgbClr val="D6DDF3"/>
            </a:solidFill>
          </a:ln>
          <a:effectLst/>
        </p:spPr>
        <p:txBody>
          <a:bodyPr rtlCol="0" anchor="ctr"/>
          <a:lstStyle/>
          <a:p/>
        </p:txBody>
      </p:sp>
      <p:sp>
        <p:nvSpPr>
          <p:cNvPr id="93" name="Migration text"/>
          <p:cNvSpPr txBox="1"/>
          <p:nvPr/>
        </p:nvSpPr>
        <p:spPr>
          <a:xfrm>
            <a:off x="640080" y="5074920"/>
            <a:ext cx="10927080" cy="603504"/>
          </a:xfrm>
          <a:prstGeom prst="rect">
            <a:avLst/>
          </a:prstGeom>
          <a:noFill/>
        </p:spPr>
        <p:txBody>
          <a:bodyPr wrap="square" lIns="0" rIns="0" tIns="0" bIns="0" anchor="ctr">
            <a:spAutoFit/>
          </a:bodyPr>
          <a:lstStyle/>
          <a:p>
            <a:pPr algn="l"/>
            <a:r>
              <a:rPr sz="950" b="1" i="0" spc="200">
                <a:solidFill>
                  <a:srgbClr val="5069EC"/>
                </a:solidFill>
                <a:latin typeface="Calibri"/>
              </a:rPr>
              <a:t>MIGRATION PLAN   </a:t>
            </a:r>
            <a:r>
              <a:rPr sz="1000" b="0" i="0">
                <a:solidFill>
                  <a:srgbClr val="1B0065"/>
                </a:solidFill>
                <a:latin typeface="Calibri"/>
              </a:rPr>
              <a:t>The assistant team is moving to the unified assistant framework and the chat pipeline. The product manager is drafting a plan to move every consumer onto the SDK, a first group in the Jamaica release. Also proven on it: the commercial lending packs (C&amp;I spread, CRE, AML investigation loop), and two packs (DSCR, clinical intake) run end to end on a local Plato.</a:t>
            </a:r>
          </a:p>
        </p:txBody>
      </p:sp>
      <p:sp>
        <p:nvSpPr>
          <p:cNvPr id="94" name="Label"/>
          <p:cNvSpPr txBox="1"/>
          <p:nvPr/>
        </p:nvSpPr>
        <p:spPr>
          <a:xfrm>
            <a:off x="457200" y="5760720"/>
            <a:ext cx="5486400" cy="182880"/>
          </a:xfrm>
          <a:prstGeom prst="rect">
            <a:avLst/>
          </a:prstGeom>
          <a:noFill/>
        </p:spPr>
        <p:txBody>
          <a:bodyPr wrap="square" lIns="0" rIns="0" tIns="0" bIns="0" anchor="t">
            <a:spAutoFit/>
          </a:bodyPr>
          <a:lstStyle/>
          <a:p>
            <a:pPr algn="l"/>
            <a:r>
              <a:rPr sz="900" b="1" i="0" spc="200">
                <a:solidFill>
                  <a:srgbClr val="5B2D8E"/>
                </a:solidFill>
                <a:latin typeface="Calibri"/>
              </a:rPr>
              <a:t>IN EXPERIMENT  ·  AND OTHER VERTICALS</a:t>
            </a:r>
          </a:p>
        </p:txBody>
      </p:sp>
      <p:sp>
        <p:nvSpPr>
          <p:cNvPr id="95" name="Experiment text"/>
          <p:cNvSpPr txBox="1"/>
          <p:nvPr/>
        </p:nvSpPr>
        <p:spPr>
          <a:xfrm>
            <a:off x="457200"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CRE spread  </a:t>
            </a:r>
            <a:r>
              <a:rPr sz="1000" b="0" i="0">
                <a:solidFill>
                  <a:srgbClr val="1E293B"/>
                </a:solidFill>
                <a:latin typeface="Calibri"/>
              </a:rPr>
              <a:t>multifamily spreads as a pack: account mapping and normalization rules by property type</a:t>
            </a:r>
          </a:p>
        </p:txBody>
      </p:sp>
      <p:sp>
        <p:nvSpPr>
          <p:cNvPr id="96" name="Experiment text"/>
          <p:cNvSpPr txBox="1"/>
          <p:nvPr/>
        </p:nvSpPr>
        <p:spPr>
          <a:xfrm>
            <a:off x="3312871"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Clinical intake  </a:t>
            </a:r>
            <a:r>
              <a:rPr sz="1000" b="0" i="0">
                <a:solidFill>
                  <a:srgbClr val="1E293B"/>
                </a:solidFill>
                <a:latin typeface="Calibri"/>
              </a:rPr>
              <a:t>a healthcare assistant pack with red-flag escalation, on Plato</a:t>
            </a:r>
          </a:p>
        </p:txBody>
      </p:sp>
      <p:sp>
        <p:nvSpPr>
          <p:cNvPr id="97" name="Experiment text"/>
          <p:cNvSpPr txBox="1"/>
          <p:nvPr/>
        </p:nvSpPr>
        <p:spPr>
          <a:xfrm>
            <a:off x="6168542"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Formal policy checks  </a:t>
            </a:r>
            <a:r>
              <a:rPr sz="1000" b="0" i="0">
                <a:solidFill>
                  <a:srgbClr val="1E293B"/>
                </a:solidFill>
                <a:latin typeface="Calibri"/>
              </a:rPr>
              <a:t>Z3 claims compiled from the canonical policy; local today</a:t>
            </a:r>
          </a:p>
        </p:txBody>
      </p:sp>
      <p:sp>
        <p:nvSpPr>
          <p:cNvPr id="98" name="Experiment text"/>
          <p:cNvSpPr txBox="1"/>
          <p:nvPr/>
        </p:nvSpPr>
        <p:spPr>
          <a:xfrm>
            <a:off x="9024213"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Retail  </a:t>
            </a:r>
            <a:r>
              <a:rPr sz="1000" b="0" i="0">
                <a:solidFill>
                  <a:srgbClr val="1E293B"/>
                </a:solidFill>
                <a:latin typeface="Calibri"/>
              </a:rPr>
              <a:t>no pack yet; the same shape applies: policy, documents, workflow</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