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3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4"/>
    <p:sldMasterId id="2147483696" r:id="rId5"/>
    <p:sldMasterId id="2147483712" r:id="rId6"/>
    <p:sldMasterId id="2147483723" r:id="rId7"/>
  </p:sldMasterIdLst>
  <p:notesMasterIdLst>
    <p:notesMasterId r:id="rId46"/>
  </p:notesMasterIdLst>
  <p:sldIdLst>
    <p:sldId id="2147472654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D3D5DE-9632-4DD5-9641-08FA1024B95B}">
          <p14:sldIdLst>
            <p14:sldId id="256"/>
            <p14:sldId id="2147472500"/>
            <p14:sldId id="2147472613"/>
            <p14:sldId id="2147472617"/>
            <p14:sldId id="2147472614"/>
            <p14:sldId id="2147472618"/>
            <p14:sldId id="2147472642"/>
            <p14:sldId id="2147472643"/>
            <p14:sldId id="2147472647"/>
            <p14:sldId id="2147472646"/>
            <p14:sldId id="2147472652"/>
            <p14:sldId id="2147472616"/>
          </p14:sldIdLst>
        </p14:section>
        <p14:section name="ICL" id="{C005D3A7-F7AB-4449-BB97-7632866A1ADC}">
          <p14:sldIdLst>
            <p14:sldId id="2147472581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OSI" id="{CCB79832-B3C3-4FB7-A090-1F07D415DDCD}">
          <p14:sldIdLst>
            <p14:sldId id="264"/>
            <p14:sldId id="265"/>
            <p14:sldId id="266"/>
            <p14:sldId id="267"/>
            <p14:sldId id="268"/>
            <p14:sldId id="269"/>
            <p14:sldId id="2147472610"/>
            <p14:sldId id="2147472611"/>
            <p14:sldId id="2147472612"/>
          </p14:sldIdLst>
        </p14:section>
        <p14:section name="DSCR For Acra" id="{64AD67EB-9459-4C0F-986E-CE3345B4EE66}">
          <p14:sldIdLst>
            <p14:sldId id="2147472589"/>
            <p14:sldId id="2147472590"/>
            <p14:sldId id="2147472591"/>
            <p14:sldId id="2147472600"/>
            <p14:sldId id="2147472601"/>
            <p14:sldId id="2147472602"/>
            <p14:sldId id="2147472604"/>
            <p14:sldId id="2147472603"/>
          </p14:sldIdLst>
        </p14:section>
        <p14:section name="Appendix" id="{C1054E2B-1457-4166-A296-A1DE9A4C5A16}">
          <p14:sldIdLst>
            <p14:sldId id="2147472356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DFB240-F3C2-17AA-D3D6-DBFA52B76598}" name="Eshwar Belani" initials="EB" userId="S::eshwar@saigroup.ai::d1335035-1243-44a7-af81-85bf29af237d" providerId="AD"/>
  <p188:author id="{08C50667-531C-BBE5-02F7-09A19769DEC2}" name="Kunal Patel" initials="KP" userId="S::kunal.patel@jazzx.ai::eeb0e759-ff50-4713-987e-f86c85929e83" providerId="AD"/>
  <p188:author id="{601F8D6A-8853-A74E-D832-C2041338EC55}" name="Virendra Mehta" initials="" userId="S::virendra.mehta@jazzx.ai::53f47e6e-0a9d-4da6-b2dd-b57d3e8d2dcf" providerId="AD"/>
  <p188:author id="{2CEBC3AC-CE6B-4924-213B-EA5B02ADF98B}" name="Vijay Narayanan" initials="VN" userId="S::vijay.narayanan@saigroup.ai::1b2d5543-7f2b-4450-923d-a1d3bdf5cedd" providerId="AD"/>
  <p188:author id="{A969DAAE-A227-F506-1527-2D003B6C7283}" name="Sourav Chakraborty" initials="SC" userId="S::sourav.chakraborty@jazzx.ai::56a9bb12-a005-4931-ace3-90e1f7d304ca" providerId="AD"/>
  <p188:author id="{FCBF59E7-EBE9-B848-6C0F-603354413C6D}" name="Raghavendra Subbanna" initials="" userId="S::raghavendra.subbanna@jazzx.ai::e02efecc-8065-4bb7-aba3-122b63d7413c" providerId="AD"/>
  <p188:author id="{455F63E9-40D0-3DA4-7E13-9A012A15451E}" name="Nimar Arora" initials="" userId="S::nimar.arora@jazzx.ai::328619cb-4370-42ee-a864-bc909f9058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6E7A"/>
    <a:srgbClr val="E4D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C2AD3-F86A-7FB1-C43E-9537710540EA}" v="2219" dt="2026-10-12T18:03:19.911"/>
    <p1510:client id="{1913C305-969A-C948-8D8A-D36C660AB99C}" v="1" dt="2026-10-13T01:30:30.234"/>
    <p1510:client id="{2BFE9053-C539-2AC8-C19E-F2A7893B06DA}" v="183" dt="2026-10-12T05:14:51.905"/>
    <p1510:client id="{352C41F3-A221-B76F-D423-DF947BCDC554}" v="1" dt="2026-10-12T19:51:54.265"/>
    <p1510:client id="{5A22BB6B-915A-8A88-1812-4891BBE3452C}" v="19" dt="2026-10-12T23:52:29.397"/>
    <p1510:client id="{61451A74-D969-D74F-BAF1-37433CA69003}" v="144" dt="2026-10-13T01:27:37.209"/>
    <p1510:client id="{61F32B03-7550-4BA2-8610-4F9E5F1A23AF}" v="1" dt="2026-10-13T01:10:22.898"/>
    <p1510:client id="{FC767DE7-364C-CE2E-C402-B0E4DEEC4236}" v="1" dt="2026-10-12T20:35:10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Relationship Id="rId52" Type="http://schemas.microsoft.com/office/2018/10/relationships/authors" Target="authors.xml"/><Relationship Id="rId5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E98C7-C9A0-4F40-9E92-C69557D422F9}" type="datetimeFigureOut"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9648-2426-4A2A-8AB1-A778AA41ED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hold the three apart by lifecycle stage. jstack makes it cheap to run the whole platform while developing; the SDK is what products are built from and is the layer designed to work across domains; Juno lets people who cannot open a repo author configurations. The useful question is not which wins but where the seams sit, and the seams are generational: Juno and jstack are v1 and mortgage-shaped, the SDK is v2.</a:t>
            </a:r>
          </a:p>
          <a:p/>
          <a:p>
            <a:r>
              <a:t>Sources: 'Three Platform Terms, Explained' (11 Aug 2026, side-by-side table) with scope updated to Oct 2026 from the japes repo (sample and seed packs: clinical intake, Acra DSCR, CRE spread, home mortgage, C&amp;I spread); architect assessment 'jstack, JAPES and Juno' R5 (generations table, Juno emits kernel agent rows, jstack runs about 30 services); Plato service architecture and build plan (Juno/Studio as an authoring UI over Plato's control plane; jstack gets one Plato service definition). The Notion copy of the three-terms page still says SDK v1.9.5; the figures here are from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Single Corner Rectangle 7">
            <a:extLst>
              <a:ext uri="{FF2B5EF4-FFF2-40B4-BE49-F238E27FC236}">
                <a16:creationId xmlns:a16="http://schemas.microsoft.com/office/drawing/2014/main" id="{C31C688F-B23D-2E03-7F9B-7EE8C871813E}"/>
              </a:ext>
            </a:extLst>
          </p:cNvPr>
          <p:cNvSpPr/>
          <p:nvPr userDrawn="1"/>
        </p:nvSpPr>
        <p:spPr>
          <a:xfrm>
            <a:off x="0" y="313442"/>
            <a:ext cx="7221891" cy="6544558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9DDF83-9035-1EEC-6EA7-5253EEF4B0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6639" y="644578"/>
            <a:ext cx="5296234" cy="216982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defRPr lang="en-US" sz="5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" pitchFamily="2" charset="0"/>
              </a:defRPr>
            </a:lvl1pPr>
          </a:lstStyle>
          <a:p>
            <a:pPr marL="0" lvl="0">
              <a:spcAft>
                <a:spcPts val="1800"/>
              </a:spcAft>
            </a:pPr>
            <a:r>
              <a:rPr lang="en-US"/>
              <a:t>Click to add Presentation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CBC8692-9604-290A-498E-FF6BD92DA4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6639" y="3114340"/>
            <a:ext cx="5296234" cy="1116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0" i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</a:lstStyle>
          <a:p>
            <a:pPr marL="0" lvl="0">
              <a:spcAft>
                <a:spcPts val="1800"/>
              </a:spcAft>
            </a:pPr>
            <a:r>
              <a:rPr lang="en-US"/>
              <a:t>Click to add subtitle</a:t>
            </a:r>
          </a:p>
          <a:p>
            <a:pPr marL="0" lvl="0">
              <a:spcAft>
                <a:spcPts val="1800"/>
              </a:spcAft>
            </a:pP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3313EBE-08CE-CC4A-3B9A-075046819D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6639" y="5467440"/>
            <a:ext cx="221235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b="0" i="0" dirty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Date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3265BAC-335F-0BDF-2920-C80FFDE569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6639" y="5942212"/>
            <a:ext cx="221235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b="0" i="0" dirty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Presenter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D9B48DB-BD17-78C9-723C-FCFFA7F4A2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643" y="4771309"/>
            <a:ext cx="2352368" cy="47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9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534BF60E-56D7-E476-4354-77087FE84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528608"/>
            <a:ext cx="11345023" cy="53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3200" b="1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A4A3B-8A26-00B6-9AD3-03B8B9E3B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3633" y="1828800"/>
            <a:ext cx="11345022" cy="4500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1"/>
              </a:buClr>
              <a:defRPr lang="en-US" sz="1800" b="0" i="0" dirty="0" smtClean="0">
                <a:solidFill>
                  <a:schemeClr val="bg1"/>
                </a:solidFill>
                <a:latin typeface="Outfit" pitchFamily="2" charset="0"/>
              </a:defRPr>
            </a:lvl1pPr>
            <a:lvl2pPr>
              <a:buClr>
                <a:schemeClr val="accent1"/>
              </a:buClr>
              <a:defRPr lang="en-US" sz="1800" b="0" i="0" dirty="0" smtClean="0">
                <a:solidFill>
                  <a:schemeClr val="bg1"/>
                </a:solidFill>
                <a:latin typeface="Outfit" pitchFamily="2" charset="0"/>
              </a:defRPr>
            </a:lvl2pPr>
            <a:lvl3pPr>
              <a:buClr>
                <a:schemeClr val="accent1"/>
              </a:buClr>
              <a:defRPr lang="en-US" sz="1800" b="0" i="0" dirty="0" smtClean="0">
                <a:solidFill>
                  <a:schemeClr val="bg1"/>
                </a:solidFill>
                <a:latin typeface="Outfit" pitchFamily="2" charset="0"/>
              </a:defRPr>
            </a:lvl3pPr>
            <a:lvl4pPr>
              <a:buClr>
                <a:schemeClr val="accent1"/>
              </a:buClr>
              <a:defRPr lang="en-US" b="0" i="0" dirty="0" smtClean="0">
                <a:solidFill>
                  <a:schemeClr val="bg1"/>
                </a:solidFill>
                <a:latin typeface="Outfit" pitchFamily="2" charset="0"/>
              </a:defRPr>
            </a:lvl4pPr>
            <a:lvl5pPr>
              <a:buClr>
                <a:schemeClr val="accent1"/>
              </a:buClr>
              <a:defRPr lang="en-US" b="0" i="0" dirty="0">
                <a:solidFill>
                  <a:schemeClr val="bg1"/>
                </a:solidFill>
                <a:latin typeface="Outfit" pitchFamily="2" charset="0"/>
              </a:defRPr>
            </a:lvl5pPr>
          </a:lstStyle>
          <a:p>
            <a:pPr marL="285750" lvl="0" indent="-285750">
              <a:buClr>
                <a:schemeClr val="accent1"/>
              </a:buClr>
            </a:pPr>
            <a:r>
              <a:rPr lang="en-US"/>
              <a:t>Click to edit Master text styles</a:t>
            </a:r>
          </a:p>
          <a:p>
            <a:pPr marL="742950" lvl="1" indent="-285750">
              <a:buClr>
                <a:schemeClr val="accent1"/>
              </a:buClr>
            </a:pPr>
            <a:r>
              <a:rPr lang="en-US"/>
              <a:t>Second level</a:t>
            </a:r>
          </a:p>
          <a:p>
            <a:pPr marL="1200150" lvl="2" indent="-285750">
              <a:buClr>
                <a:schemeClr val="accent1"/>
              </a:buClr>
            </a:pPr>
            <a:r>
              <a:rPr lang="en-US"/>
              <a:t>Third level</a:t>
            </a:r>
          </a:p>
          <a:p>
            <a:pPr marL="1657350" lvl="3" indent="-285750">
              <a:buClr>
                <a:schemeClr val="accent1"/>
              </a:buClr>
            </a:pPr>
            <a:r>
              <a:rPr lang="en-US"/>
              <a:t>Fourth level</a:t>
            </a:r>
          </a:p>
          <a:p>
            <a:pPr marL="2114550" lvl="4" indent="-285750">
              <a:buClr>
                <a:schemeClr val="accent1"/>
              </a:buClr>
            </a:pPr>
            <a:r>
              <a:rPr lang="en-US"/>
              <a:t>Fifth level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AF044B7-FB98-9D22-ECD8-5F027D959B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5434" y="1090046"/>
            <a:ext cx="11391611" cy="4111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Outfit" pitchFamily="2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327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5B362CE7-DA10-7167-EF19-E06A319DFD82}"/>
              </a:ext>
            </a:extLst>
          </p:cNvPr>
          <p:cNvSpPr/>
          <p:nvPr userDrawn="1"/>
        </p:nvSpPr>
        <p:spPr>
          <a:xfrm>
            <a:off x="0" y="313442"/>
            <a:ext cx="7221891" cy="6544558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331" y="2231056"/>
            <a:ext cx="4662942" cy="14817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slide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C8D54D1-F04C-5AB1-69E3-2EA74D27FE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330" y="4196232"/>
            <a:ext cx="3838487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000" b="0" i="0" smtClean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F4FFE77-7A7C-59C2-9268-D35E21FA63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13182" y="4196232"/>
            <a:ext cx="3838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lang="en-US" sz="4000" b="0" i="0" smtClean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Add bold statement here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9931200-016E-34E8-35AE-432F1A9A0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464" y="6523642"/>
            <a:ext cx="999086" cy="2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0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Rectangle 3">
            <a:extLst>
              <a:ext uri="{FF2B5EF4-FFF2-40B4-BE49-F238E27FC236}">
                <a16:creationId xmlns:a16="http://schemas.microsoft.com/office/drawing/2014/main" id="{933CF759-74C5-A617-BDB3-765A40D252FE}"/>
              </a:ext>
            </a:extLst>
          </p:cNvPr>
          <p:cNvSpPr/>
          <p:nvPr userDrawn="1"/>
        </p:nvSpPr>
        <p:spPr>
          <a:xfrm>
            <a:off x="0" y="424206"/>
            <a:ext cx="7221891" cy="5854046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331" y="2137848"/>
            <a:ext cx="4662942" cy="2174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divider slide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E43B4-3B98-AAB2-FEF8-2D96DC1A2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0331" y="1646858"/>
            <a:ext cx="4662942" cy="424732"/>
          </a:xfrm>
          <a:prstGeom prst="rect">
            <a:avLst/>
          </a:prstGeom>
          <a:noFill/>
        </p:spPr>
        <p:txBody>
          <a:bodyPr wrap="square" lIns="91440" tIns="45720" rIns="91440" bIns="45720" anchor="b">
            <a:spAutoFit/>
          </a:bodyPr>
          <a:lstStyle>
            <a:lvl1pPr marL="0" indent="0">
              <a:buNone/>
              <a:defRPr lang="en-US" sz="2400" b="0" i="0" smtClean="0">
                <a:solidFill>
                  <a:srgbClr val="FF592D"/>
                </a:solidFill>
                <a:latin typeface="Outfit" pitchFamily="2" charset="0"/>
                <a:ea typeface="+mn-lt"/>
                <a:cs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C8D54D1-F04C-5AB1-69E3-2EA74D27FE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330" y="4977633"/>
            <a:ext cx="3838487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000" b="0" i="0" smtClean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709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4E61F7B3-DF90-D2B6-64CB-9AD2CA42CE64}"/>
              </a:ext>
            </a:extLst>
          </p:cNvPr>
          <p:cNvSpPr/>
          <p:nvPr userDrawn="1"/>
        </p:nvSpPr>
        <p:spPr>
          <a:xfrm>
            <a:off x="0" y="1168026"/>
            <a:ext cx="5382705" cy="4131297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815" y="2061572"/>
            <a:ext cx="4292652" cy="120032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>
            <a:lvl1pPr>
              <a:defRPr lang="en-US" sz="4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slide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35DB2-90B3-B091-05FC-80D1F3959D24}"/>
              </a:ext>
            </a:extLst>
          </p:cNvPr>
          <p:cNvSpPr txBox="1"/>
          <p:nvPr userDrawn="1"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000" b="0" i="0" smtClean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4441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FABC16FE-3935-56B3-E2EF-5F47EA1A1662}"/>
              </a:ext>
            </a:extLst>
          </p:cNvPr>
          <p:cNvSpPr/>
          <p:nvPr userDrawn="1"/>
        </p:nvSpPr>
        <p:spPr>
          <a:xfrm flipH="1">
            <a:off x="4675694" y="424206"/>
            <a:ext cx="7516305" cy="5854046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5187" y="2137848"/>
            <a:ext cx="5632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divider slide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E43B4-3B98-AAB2-FEF8-2D96DC1A2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5187" y="1646858"/>
            <a:ext cx="5632760" cy="4247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lvl1pPr marL="0" indent="0">
              <a:buNone/>
              <a:defRPr lang="en-US" sz="2400" b="0" i="0" smtClean="0">
                <a:solidFill>
                  <a:srgbClr val="FF592D"/>
                </a:solidFill>
                <a:latin typeface="Outfit" pitchFamily="2" charset="0"/>
                <a:ea typeface="+mn-lt"/>
                <a:cs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EE8242-0EB7-FCB0-9D33-57A63A353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45186" y="4472479"/>
            <a:ext cx="5703731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600" b="0" i="0" smtClean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9D6FF-3AD2-A773-D8B2-BAD405B26BBE}"/>
              </a:ext>
            </a:extLst>
          </p:cNvPr>
          <p:cNvSpPr txBox="1"/>
          <p:nvPr userDrawn="1"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000" b="0" i="0" smtClean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892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7223" y="2296609"/>
            <a:ext cx="5840594" cy="14817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>
              <a:defRPr lang="en-US" sz="5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divider slide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E43B4-3B98-AAB2-FEF8-2D96DC1A2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27223" y="1805619"/>
            <a:ext cx="5840594" cy="424732"/>
          </a:xfrm>
          <a:prstGeom prst="rect">
            <a:avLst/>
          </a:prstGeom>
          <a:noFill/>
        </p:spPr>
        <p:txBody>
          <a:bodyPr wrap="square" lIns="91440" tIns="45720" rIns="91440" bIns="45720" anchor="b">
            <a:spAutoFit/>
          </a:bodyPr>
          <a:lstStyle>
            <a:lvl1pPr marL="0" indent="0" algn="ctr">
              <a:buNone/>
              <a:defRPr lang="en-US" sz="2400" b="0" i="0" smtClean="0">
                <a:solidFill>
                  <a:srgbClr val="FF592D"/>
                </a:solidFill>
                <a:latin typeface="Outfit" pitchFamily="2" charset="0"/>
                <a:ea typeface="+mn-lt"/>
                <a:cs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C8D54D1-F04C-5AB1-69E3-2EA74D27FE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51276" y="4472479"/>
            <a:ext cx="3838487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lang="en-US" sz="2000" b="0" i="0" smtClean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066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30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E1D76D8-7834-92F0-2DD9-A1540A9A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9161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51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E1D76D8-7834-92F0-2DD9-A1540A9A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9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816813-C165-8A0F-321C-5D02AA51A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3224" y="1921791"/>
            <a:ext cx="11391611" cy="439588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D69DD5-7036-0E36-7287-8F6A2026EF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5434" y="1059050"/>
            <a:ext cx="11391611" cy="411163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70266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- H1 H2">
  <p:cSld name="White - H1 H2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02336" y="231648"/>
            <a:ext cx="11411600" cy="9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68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Black"/>
              <a:buNone/>
              <a:defRPr sz="3733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402336" y="1060704"/>
            <a:ext cx="11411600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68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sz="1867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0577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E1D76D8-7834-92F0-2DD9-A1540A9A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9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816813-C165-8A0F-321C-5D02AA51A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3224" y="1921791"/>
            <a:ext cx="11391611" cy="439588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D69DD5-7036-0E36-7287-8F6A2026EF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224" y="1059050"/>
            <a:ext cx="11403821" cy="411163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7239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E1D76D8-7834-92F0-2DD9-A1540A9A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9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4830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879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gradFill>
          <a:gsLst>
            <a:gs pos="23000">
              <a:srgbClr val="E3E8FF"/>
            </a:gs>
            <a:gs pos="100000">
              <a:schemeClr val="bg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cument 82">
            <a:extLst>
              <a:ext uri="{FF2B5EF4-FFF2-40B4-BE49-F238E27FC236}">
                <a16:creationId xmlns:a16="http://schemas.microsoft.com/office/drawing/2014/main" id="{59E3677C-A32A-F9C8-C993-DC292398ABD8}"/>
              </a:ext>
            </a:extLst>
          </p:cNvPr>
          <p:cNvSpPr/>
          <p:nvPr userDrawn="1"/>
        </p:nvSpPr>
        <p:spPr>
          <a:xfrm rot="16200000" flipH="1">
            <a:off x="212724" y="-209101"/>
            <a:ext cx="6869881" cy="7295317"/>
          </a:xfrm>
          <a:prstGeom prst="flowChartDocument">
            <a:avLst/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3693A0-FE5B-75D6-8A3D-4A881ACC50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08275" y="4859282"/>
            <a:ext cx="2332490" cy="38771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09CEEF1-4022-35D2-C540-8397F41984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6639" y="1332651"/>
            <a:ext cx="5296234" cy="148175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defRPr lang="en-US" sz="5000" dirty="0">
                <a:solidFill>
                  <a:schemeClr val="tx1"/>
                </a:solidFill>
                <a:latin typeface="+mj-lt"/>
                <a:ea typeface="+mn-ea"/>
                <a:cs typeface="Archivo" pitchFamily="2" charset="0"/>
              </a:defRPr>
            </a:lvl1pPr>
          </a:lstStyle>
          <a:p>
            <a:pPr marL="0" lvl="0">
              <a:spcAft>
                <a:spcPts val="1800"/>
              </a:spcAft>
            </a:pPr>
            <a:r>
              <a:rPr lang="en-US"/>
              <a:t>Click to add Presentation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BA90BEE-1469-0F44-87AD-D3E702CDA7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6639" y="3069552"/>
            <a:ext cx="5296234" cy="1116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>
                <a:solidFill>
                  <a:schemeClr val="tx1"/>
                </a:solidFill>
                <a:latin typeface="+mn-lt"/>
                <a:cs typeface="Archivo Light" pitchFamily="2" charset="77"/>
              </a:defRPr>
            </a:lvl1pPr>
          </a:lstStyle>
          <a:p>
            <a:pPr marL="0" lvl="0">
              <a:spcAft>
                <a:spcPts val="1800"/>
              </a:spcAft>
            </a:pPr>
            <a:r>
              <a:rPr lang="en-US"/>
              <a:t>Click to add subtitle</a:t>
            </a:r>
          </a:p>
          <a:p>
            <a:pPr marL="0" lvl="0">
              <a:spcAft>
                <a:spcPts val="1800"/>
              </a:spcAft>
            </a:pPr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9570129-F6F5-A246-FBB9-2A39F62853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6639" y="5467440"/>
            <a:ext cx="221235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dirty="0">
                <a:solidFill>
                  <a:schemeClr val="tx1"/>
                </a:solidFill>
                <a:latin typeface="+mn-lt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Date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74995CF-287B-06BC-73DE-53FA61002D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6639" y="5942212"/>
            <a:ext cx="221235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800" dirty="0">
                <a:solidFill>
                  <a:schemeClr val="tx1"/>
                </a:solidFill>
                <a:latin typeface="+mn-lt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1490240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cument 82">
            <a:extLst>
              <a:ext uri="{FF2B5EF4-FFF2-40B4-BE49-F238E27FC236}">
                <a16:creationId xmlns:a16="http://schemas.microsoft.com/office/drawing/2014/main" id="{98634527-6230-C3A9-382A-EE1CF9783CAA}"/>
              </a:ext>
            </a:extLst>
          </p:cNvPr>
          <p:cNvSpPr/>
          <p:nvPr userDrawn="1"/>
        </p:nvSpPr>
        <p:spPr>
          <a:xfrm rot="16200000" flipH="1">
            <a:off x="-81903" y="70022"/>
            <a:ext cx="6863566" cy="6699760"/>
          </a:xfrm>
          <a:prstGeom prst="flowChartDocument">
            <a:avLst/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331" y="2137848"/>
            <a:ext cx="4662942" cy="2174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dirty="0">
                <a:solidFill>
                  <a:schemeClr val="tx1"/>
                </a:solidFill>
                <a:latin typeface="+mj-lt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E43B4-3B98-AAB2-FEF8-2D96DC1A2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0331" y="1646858"/>
            <a:ext cx="4581380" cy="4247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lvl1pPr marL="0" indent="0">
              <a:buNone/>
              <a:defRPr lang="en-US" sz="2400" b="1" smtClean="0">
                <a:solidFill>
                  <a:schemeClr val="accent1"/>
                </a:solidFill>
                <a:latin typeface="+mj-lt"/>
                <a:ea typeface="+mn-lt"/>
                <a:cs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C8D54D1-F04C-5AB1-69E3-2EA74D27FE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330" y="4472479"/>
            <a:ext cx="3838487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000" smtClean="0">
                <a:solidFill>
                  <a:schemeClr val="tx2"/>
                </a:solidFill>
                <a:latin typeface="+mn-lt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5E7DCFA-FEA4-F7F9-FF2F-16E0354D1A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5566" y="1409870"/>
            <a:ext cx="41961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lang="en-US" sz="4000" smtClean="0">
                <a:solidFill>
                  <a:schemeClr val="tx2"/>
                </a:solidFill>
                <a:latin typeface="+mn-lt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Add bold statement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857B2-039E-AFF2-1E8A-E8ADA4B13CB4}"/>
              </a:ext>
            </a:extLst>
          </p:cNvPr>
          <p:cNvSpPr txBox="1"/>
          <p:nvPr userDrawn="1"/>
        </p:nvSpPr>
        <p:spPr>
          <a:xfrm>
            <a:off x="9036283" y="6526817"/>
            <a:ext cx="3096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100" smtClean="0">
                <a:solidFill>
                  <a:srgbClr val="1A0E76"/>
                </a:solidFill>
                <a:latin typeface="+mn-lt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71836E-8539-7AD9-18DC-27EAF02805AB}"/>
              </a:ext>
            </a:extLst>
          </p:cNvPr>
          <p:cNvSpPr/>
          <p:nvPr userDrawn="1"/>
        </p:nvSpPr>
        <p:spPr>
          <a:xfrm>
            <a:off x="8869911" y="6577601"/>
            <a:ext cx="149064" cy="1558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A9C85836-13C6-CE90-7299-A343407911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55566" y="2941221"/>
            <a:ext cx="4196104" cy="240534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811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ivider">
    <p:bg>
      <p:bgPr>
        <a:gradFill>
          <a:gsLst>
            <a:gs pos="1000">
              <a:srgbClr val="E0E8FF"/>
            </a:gs>
            <a:gs pos="100000">
              <a:schemeClr val="bg1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cument 7">
            <a:extLst>
              <a:ext uri="{FF2B5EF4-FFF2-40B4-BE49-F238E27FC236}">
                <a16:creationId xmlns:a16="http://schemas.microsoft.com/office/drawing/2014/main" id="{83796536-52DE-4D4C-AE91-0A4D836FDA7F}"/>
              </a:ext>
            </a:extLst>
          </p:cNvPr>
          <p:cNvSpPr/>
          <p:nvPr userDrawn="1"/>
        </p:nvSpPr>
        <p:spPr>
          <a:xfrm rot="16200000" flipH="1" flipV="1">
            <a:off x="4932527" y="-401467"/>
            <a:ext cx="6858001" cy="7660943"/>
          </a:xfrm>
          <a:prstGeom prst="flowChartDocument">
            <a:avLst/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1E38D-B922-7201-2AEC-2D6429902A55}"/>
              </a:ext>
            </a:extLst>
          </p:cNvPr>
          <p:cNvSpPr txBox="1"/>
          <p:nvPr userDrawn="1"/>
        </p:nvSpPr>
        <p:spPr>
          <a:xfrm>
            <a:off x="9036283" y="6526817"/>
            <a:ext cx="3096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100" smtClean="0">
                <a:solidFill>
                  <a:srgbClr val="1A0E76"/>
                </a:solidFill>
                <a:latin typeface="+mn-lt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6DCE74-D606-0661-CAE9-5F435C985B13}"/>
              </a:ext>
            </a:extLst>
          </p:cNvPr>
          <p:cNvSpPr/>
          <p:nvPr userDrawn="1"/>
        </p:nvSpPr>
        <p:spPr>
          <a:xfrm>
            <a:off x="8869911" y="6577601"/>
            <a:ext cx="149064" cy="1558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95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435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E1D76D8-7834-92F0-2DD9-A1540A9A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9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337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E1D76D8-7834-92F0-2DD9-A1540A9A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91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816813-C165-8A0F-321C-5D02AA51A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3224" y="1921791"/>
            <a:ext cx="11391611" cy="439588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D69DD5-7036-0E36-7287-8F6A2026EF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224" y="1059050"/>
            <a:ext cx="11403821" cy="411163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4196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itle + Content">
    <p:bg>
      <p:bgPr>
        <a:gradFill>
          <a:gsLst>
            <a:gs pos="0">
              <a:srgbClr val="DFE8FF"/>
            </a:gs>
            <a:gs pos="100000">
              <a:schemeClr val="accent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cument 9">
            <a:extLst>
              <a:ext uri="{FF2B5EF4-FFF2-40B4-BE49-F238E27FC236}">
                <a16:creationId xmlns:a16="http://schemas.microsoft.com/office/drawing/2014/main" id="{779FC737-02B5-7DCC-72AF-95DE31B1BC2E}"/>
              </a:ext>
            </a:extLst>
          </p:cNvPr>
          <p:cNvSpPr/>
          <p:nvPr userDrawn="1"/>
        </p:nvSpPr>
        <p:spPr>
          <a:xfrm rot="10800000" flipH="1">
            <a:off x="0" y="1186868"/>
            <a:ext cx="12192000" cy="5676595"/>
          </a:xfrm>
          <a:prstGeom prst="flowChartDocument">
            <a:avLst/>
          </a:prstGeom>
          <a:gradFill>
            <a:gsLst>
              <a:gs pos="54000">
                <a:schemeClr val="bg1"/>
              </a:gs>
              <a:gs pos="0">
                <a:srgbClr val="E8EF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01" y="392099"/>
            <a:ext cx="10629634" cy="6498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4000" dirty="0">
                <a:solidFill>
                  <a:schemeClr val="tx1"/>
                </a:solidFill>
                <a:latin typeface="+mj-lt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EE8242-0EB7-FCB0-9D33-57A63A353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339" y="1902514"/>
            <a:ext cx="5429562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400" smtClean="0">
                <a:solidFill>
                  <a:schemeClr val="tx2"/>
                </a:solidFill>
                <a:latin typeface="+mn-lt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98E7FB4-6263-16A9-98C2-3D089B941E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340" y="2673625"/>
            <a:ext cx="10823598" cy="3604291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F6AA8-8854-19C2-E691-736B237EF125}"/>
              </a:ext>
            </a:extLst>
          </p:cNvPr>
          <p:cNvSpPr txBox="1"/>
          <p:nvPr userDrawn="1"/>
        </p:nvSpPr>
        <p:spPr>
          <a:xfrm>
            <a:off x="9036283" y="6526817"/>
            <a:ext cx="3096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100" smtClean="0">
                <a:solidFill>
                  <a:srgbClr val="1A0E76"/>
                </a:solidFill>
                <a:latin typeface="+mn-lt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DF5DB1-8336-CEDB-8E43-4BEB172446FE}"/>
              </a:ext>
            </a:extLst>
          </p:cNvPr>
          <p:cNvSpPr/>
          <p:nvPr userDrawn="1"/>
        </p:nvSpPr>
        <p:spPr>
          <a:xfrm>
            <a:off x="8869911" y="6577601"/>
            <a:ext cx="149064" cy="1558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EEE0F4-1210-98DC-EBD6-C81CC64DE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73" y="6494735"/>
            <a:ext cx="1061670" cy="3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73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itle + Content2">
    <p:bg>
      <p:bgPr>
        <a:gradFill>
          <a:gsLst>
            <a:gs pos="1000">
              <a:srgbClr val="E0E8FF"/>
            </a:gs>
            <a:gs pos="100000">
              <a:schemeClr val="bg1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332" y="2137848"/>
            <a:ext cx="345398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dirty="0">
                <a:solidFill>
                  <a:schemeClr val="tx1"/>
                </a:solidFill>
                <a:latin typeface="+mj-lt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83796536-52DE-4D4C-AE91-0A4D836FDA7F}"/>
              </a:ext>
            </a:extLst>
          </p:cNvPr>
          <p:cNvSpPr/>
          <p:nvPr userDrawn="1"/>
        </p:nvSpPr>
        <p:spPr>
          <a:xfrm rot="16200000" flipH="1" flipV="1">
            <a:off x="4932527" y="-401467"/>
            <a:ext cx="6858001" cy="7660943"/>
          </a:xfrm>
          <a:prstGeom prst="flowChartDocument">
            <a:avLst/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EE8242-0EB7-FCB0-9D33-57A63A353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330" y="4472479"/>
            <a:ext cx="4388261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000" smtClean="0">
                <a:solidFill>
                  <a:schemeClr val="tx2"/>
                </a:solidFill>
                <a:latin typeface="+mn-lt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2E55160-AEBC-93A3-7AA5-EED259646B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7313" y="1159522"/>
            <a:ext cx="6326006" cy="5384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lvl1pPr marL="0" indent="0">
              <a:buNone/>
              <a:defRPr lang="en-US" sz="3200" b="1" dirty="0">
                <a:solidFill>
                  <a:schemeClr val="tx1"/>
                </a:solidFill>
                <a:latin typeface="+mj-lt"/>
                <a:cs typeface="Archivo" pitchFamily="2" charset="77"/>
              </a:defRPr>
            </a:lvl1pPr>
          </a:lstStyle>
          <a:p>
            <a:pPr marL="0" lvl="0"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E1FBBBC-1460-AF96-D1DF-A898A87A2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7314" y="1958093"/>
            <a:ext cx="6326005" cy="469916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1E38D-B922-7201-2AEC-2D6429902A55}"/>
              </a:ext>
            </a:extLst>
          </p:cNvPr>
          <p:cNvSpPr txBox="1"/>
          <p:nvPr userDrawn="1"/>
        </p:nvSpPr>
        <p:spPr>
          <a:xfrm>
            <a:off x="9036283" y="6526817"/>
            <a:ext cx="3096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100" smtClean="0">
                <a:solidFill>
                  <a:srgbClr val="1A0E76"/>
                </a:solidFill>
                <a:latin typeface="+mn-lt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6DCE74-D606-0661-CAE9-5F435C985B13}"/>
              </a:ext>
            </a:extLst>
          </p:cNvPr>
          <p:cNvSpPr/>
          <p:nvPr userDrawn="1"/>
        </p:nvSpPr>
        <p:spPr>
          <a:xfrm>
            <a:off x="8869911" y="6577601"/>
            <a:ext cx="149064" cy="1558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18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itle + Content3">
    <p:bg>
      <p:bgPr>
        <a:gradFill>
          <a:gsLst>
            <a:gs pos="5000">
              <a:srgbClr val="E8ECFF"/>
            </a:gs>
            <a:gs pos="85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cument 35">
            <a:extLst>
              <a:ext uri="{FF2B5EF4-FFF2-40B4-BE49-F238E27FC236}">
                <a16:creationId xmlns:a16="http://schemas.microsoft.com/office/drawing/2014/main" id="{C2482607-8849-FB5C-7E3D-BAB86B6F1A66}"/>
              </a:ext>
            </a:extLst>
          </p:cNvPr>
          <p:cNvSpPr/>
          <p:nvPr userDrawn="1"/>
        </p:nvSpPr>
        <p:spPr>
          <a:xfrm rot="16200000" flipV="1">
            <a:off x="3709433" y="-1633426"/>
            <a:ext cx="6860348" cy="10104777"/>
          </a:xfrm>
          <a:prstGeom prst="flowChartDocument">
            <a:avLst/>
          </a:prstGeom>
          <a:gradFill>
            <a:gsLst>
              <a:gs pos="100000">
                <a:schemeClr val="accent5"/>
              </a:gs>
              <a:gs pos="0">
                <a:schemeClr val="accent6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70" y="400159"/>
            <a:ext cx="7141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dirty="0">
                <a:solidFill>
                  <a:schemeClr val="tx1"/>
                </a:solidFill>
                <a:latin typeface="+mj-lt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EE8242-0EB7-FCB0-9D33-57A63A353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2913" y="2049294"/>
            <a:ext cx="7141014" cy="5941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360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5F80F48-677C-1A6B-C927-C0427D7A52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2913" y="2925053"/>
            <a:ext cx="7141014" cy="362774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356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cument 82">
            <a:extLst>
              <a:ext uri="{FF2B5EF4-FFF2-40B4-BE49-F238E27FC236}">
                <a16:creationId xmlns:a16="http://schemas.microsoft.com/office/drawing/2014/main" id="{54C06756-8F48-8F71-C91B-9B4E626541F4}"/>
              </a:ext>
            </a:extLst>
          </p:cNvPr>
          <p:cNvSpPr/>
          <p:nvPr userDrawn="1"/>
        </p:nvSpPr>
        <p:spPr>
          <a:xfrm rot="16200000" flipH="1">
            <a:off x="-117080" y="105204"/>
            <a:ext cx="6863566" cy="6629395"/>
          </a:xfrm>
          <a:prstGeom prst="flowChartDocument">
            <a:avLst/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E40738F-CBD4-FB1C-C7BE-C95DDB62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5663" y="2882631"/>
            <a:ext cx="5018112" cy="109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0884C7-363B-660D-78D4-AD5E733E19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6427" y="4161810"/>
            <a:ext cx="5008562" cy="207096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tx2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  <a:lvl4pPr marL="1657350" indent="-285750">
              <a:buFont typeface="Arial" panose="020B0604020202020204" pitchFamily="34" charset="0"/>
              <a:buChar char="•"/>
              <a:defRPr sz="1400"/>
            </a:lvl4pPr>
            <a:lvl5pPr marL="211455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A61409B-67FD-6ED7-6930-97C568D5C1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871" y="2307467"/>
            <a:ext cx="5105164" cy="2185020"/>
          </a:xfrm>
        </p:spPr>
        <p:txBody>
          <a:bodyPr>
            <a:noAutofit/>
          </a:bodyPr>
          <a:lstStyle>
            <a:lvl1pPr marL="0" indent="0">
              <a:buNone/>
              <a:defRPr sz="5000">
                <a:solidFill>
                  <a:schemeClr val="tx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7DD87614-69F6-145F-DE48-DA274092E5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5663" y="290845"/>
            <a:ext cx="5008562" cy="240534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8827EF-1335-9B80-105E-84B07CDF9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73" y="6494735"/>
            <a:ext cx="1061670" cy="3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43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Statement 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cument 32">
            <a:extLst>
              <a:ext uri="{FF2B5EF4-FFF2-40B4-BE49-F238E27FC236}">
                <a16:creationId xmlns:a16="http://schemas.microsoft.com/office/drawing/2014/main" id="{465EC87E-8866-0FC1-F00E-231903B1D14B}"/>
              </a:ext>
            </a:extLst>
          </p:cNvPr>
          <p:cNvSpPr/>
          <p:nvPr userDrawn="1"/>
        </p:nvSpPr>
        <p:spPr>
          <a:xfrm rot="16200000" flipH="1">
            <a:off x="-1172948" y="1182623"/>
            <a:ext cx="6848326" cy="4502430"/>
          </a:xfrm>
          <a:prstGeom prst="flowChartDocument">
            <a:avLst/>
          </a:prstGeom>
          <a:gradFill>
            <a:gsLst>
              <a:gs pos="0">
                <a:schemeClr val="accent6"/>
              </a:gs>
              <a:gs pos="100000">
                <a:schemeClr val="accent5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73" y="1782338"/>
            <a:ext cx="3185192" cy="17578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4000" dirty="0">
                <a:solidFill>
                  <a:schemeClr val="tx1"/>
                </a:solidFill>
                <a:latin typeface="+mj-lt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C8D54D1-F04C-5AB1-69E3-2EA74D27FE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59017" y="4094165"/>
            <a:ext cx="3528391" cy="3710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000" smtClean="0">
                <a:solidFill>
                  <a:schemeClr val="tx2"/>
                </a:solidFill>
                <a:latin typeface="+mn-lt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add subtitle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5E7DCFA-FEA4-F7F9-FF2F-16E0354D1A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9017" y="1870418"/>
            <a:ext cx="63926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lang="en-US" sz="4000" smtClean="0">
                <a:solidFill>
                  <a:schemeClr val="tx2"/>
                </a:solidFill>
                <a:latin typeface="+mn-lt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Add bold statement here</a:t>
            </a:r>
          </a:p>
        </p:txBody>
      </p:sp>
    </p:spTree>
    <p:extLst>
      <p:ext uri="{BB962C8B-B14F-4D97-AF65-F5344CB8AC3E}">
        <p14:creationId xmlns:p14="http://schemas.microsoft.com/office/powerpoint/2010/main" val="4190147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loc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E40738F-CBD4-FB1C-C7BE-C95DDB62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3" y="391806"/>
            <a:ext cx="11336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2FA83E-03E4-C6E6-C2D5-96F0C96BFC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639" y="1579418"/>
            <a:ext cx="5527460" cy="276138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88A1CEC-E40B-A000-8069-00B296F131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3224" y="4655127"/>
            <a:ext cx="11336193" cy="166254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0884C7-363B-660D-78D4-AD5E733E19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1957" y="1579418"/>
            <a:ext cx="5527460" cy="276138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14356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FD037F5-A501-D7B7-0D56-00D5D58BD0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035175"/>
            <a:ext cx="3659188" cy="48228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534BF60E-56D7-E476-4354-77087FE84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4" y="528608"/>
            <a:ext cx="10515600" cy="53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019F7DD-5A14-9457-0998-3D1E13E79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97451" y="2046424"/>
            <a:ext cx="3528002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>
              <a:buNone/>
              <a:defRPr lang="en-US" sz="1600" b="1" dirty="0">
                <a:solidFill>
                  <a:srgbClr val="FF5329"/>
                </a:solidFill>
                <a:effectLst/>
                <a:latin typeface="+mj-lt"/>
                <a:cs typeface="Archivo" pitchFamily="2" charset="77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38213E4-4FE0-2469-A814-AD03F5A9AD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97231" y="2433638"/>
            <a:ext cx="2965450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400" dirty="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CC9822D3-4CF4-A4D7-65B9-6F2AD1DCB1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17549" y="3520085"/>
            <a:ext cx="3528002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>
              <a:buNone/>
              <a:defRPr lang="en-US" sz="1600" b="1" dirty="0">
                <a:solidFill>
                  <a:srgbClr val="FF5329"/>
                </a:solidFill>
                <a:effectLst/>
                <a:latin typeface="+mj-lt"/>
                <a:cs typeface="Archivo" pitchFamily="2" charset="77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27A56C3-FEC8-39A9-6122-9079537EE7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17329" y="3907299"/>
            <a:ext cx="2965450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400" dirty="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2F283C09-6074-6C3E-FBAF-2D9EF2C566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97451" y="4993746"/>
            <a:ext cx="3528002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>
              <a:buNone/>
              <a:defRPr lang="en-US" sz="1600" b="1" dirty="0">
                <a:solidFill>
                  <a:srgbClr val="FF5329"/>
                </a:solidFill>
                <a:effectLst/>
                <a:latin typeface="+mj-lt"/>
                <a:cs typeface="Archivo" pitchFamily="2" charset="77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0BDC122-75CC-CB89-A29E-5703374B9E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97231" y="5380960"/>
            <a:ext cx="2965450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400" dirty="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8F07E679-CB9F-B20B-B621-2DA5643342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1440" y="2035175"/>
            <a:ext cx="3528002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>
              <a:buNone/>
              <a:defRPr lang="en-US" sz="1600" b="1" dirty="0">
                <a:solidFill>
                  <a:srgbClr val="FF5329"/>
                </a:solidFill>
                <a:effectLst/>
                <a:latin typeface="+mj-lt"/>
                <a:cs typeface="Archivo" pitchFamily="2" charset="77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CA907FD9-C51D-5512-5C1A-B38A49B325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71220" y="2422389"/>
            <a:ext cx="2965450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400" dirty="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2E9072C3-5311-47C6-FCB7-920B8205CC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91538" y="3508836"/>
            <a:ext cx="3528002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>
              <a:buNone/>
              <a:defRPr lang="en-US" sz="1600" b="1" dirty="0">
                <a:solidFill>
                  <a:srgbClr val="FF5329"/>
                </a:solidFill>
                <a:effectLst/>
                <a:latin typeface="+mj-lt"/>
                <a:cs typeface="Archivo" pitchFamily="2" charset="77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DA5B75E9-2BD3-5CAB-81E2-2009593F50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91318" y="3896050"/>
            <a:ext cx="2965450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400" dirty="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7" name="Text Placeholder 25">
            <a:extLst>
              <a:ext uri="{FF2B5EF4-FFF2-40B4-BE49-F238E27FC236}">
                <a16:creationId xmlns:a16="http://schemas.microsoft.com/office/drawing/2014/main" id="{496B864B-F030-A472-7AA4-5E125A302F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71440" y="4982497"/>
            <a:ext cx="3528002" cy="313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indent="0">
              <a:buNone/>
              <a:defRPr lang="en-US" sz="1600" b="1" dirty="0">
                <a:solidFill>
                  <a:srgbClr val="FF5329"/>
                </a:solidFill>
                <a:effectLst/>
                <a:latin typeface="+mj-lt"/>
                <a:cs typeface="Archivo" pitchFamily="2" charset="77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391D6780-CECA-6BBB-39E8-E05E8510C3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71220" y="5369711"/>
            <a:ext cx="2965450" cy="2875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1400" dirty="0" smtClean="0">
                <a:solidFill>
                  <a:schemeClr val="tx2"/>
                </a:solidFill>
                <a:latin typeface="+mn-lt"/>
                <a:cs typeface="Archivo Light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46809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104105"/>
            <a:ext cx="1625600" cy="9144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2028" fontAlgn="base">
                <a:spcBef>
                  <a:spcPct val="0"/>
                </a:spcBef>
                <a:spcAft>
                  <a:spcPct val="0"/>
                </a:spcAft>
              </a:pPr>
              <a:endParaRPr lang="en-US" sz="476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07" b="40595"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202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31566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331" y="2137848"/>
            <a:ext cx="4662942" cy="2174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5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divider slide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E43B4-3B98-AAB2-FEF8-2D96DC1A2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0331" y="1646858"/>
            <a:ext cx="4662942" cy="424732"/>
          </a:xfrm>
          <a:prstGeom prst="rect">
            <a:avLst/>
          </a:prstGeom>
          <a:noFill/>
        </p:spPr>
        <p:txBody>
          <a:bodyPr wrap="square" lIns="91440" tIns="45720" rIns="91440" bIns="45720" anchor="b">
            <a:spAutoFit/>
          </a:bodyPr>
          <a:lstStyle>
            <a:lvl1pPr marL="0" indent="0">
              <a:buNone/>
              <a:defRPr lang="en-US" sz="2400" b="0" i="0" smtClean="0">
                <a:solidFill>
                  <a:srgbClr val="FF592D"/>
                </a:solidFill>
                <a:latin typeface="Outfit" pitchFamily="2" charset="0"/>
                <a:ea typeface="+mn-lt"/>
                <a:cs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8C8D54D1-F04C-5AB1-69E3-2EA74D27FE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330" y="4525146"/>
            <a:ext cx="3838487" cy="3711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en-US" sz="2000" b="0" i="0" smtClean="0">
                <a:solidFill>
                  <a:schemeClr val="bg1"/>
                </a:solidFill>
                <a:latin typeface="Outfit" pitchFamily="2" charset="0"/>
                <a:cs typeface="Archivo Light" pitchFamily="2" charset="77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9675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6"/>
          <p:cNvSpPr/>
          <p:nvPr/>
        </p:nvSpPr>
        <p:spPr>
          <a:xfrm>
            <a:off x="0" y="1168026"/>
            <a:ext cx="5382705" cy="4131297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4" name="Google Shape;94;p46"/>
          <p:cNvSpPr txBox="1">
            <a:spLocks noGrp="1"/>
          </p:cNvSpPr>
          <p:nvPr>
            <p:ph type="title"/>
          </p:nvPr>
        </p:nvSpPr>
        <p:spPr>
          <a:xfrm>
            <a:off x="740331" y="2137848"/>
            <a:ext cx="3790725" cy="148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"/>
              <a:buNone/>
              <a:defRPr sz="50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46"/>
          <p:cNvSpPr txBox="1">
            <a:spLocks noGrp="1"/>
          </p:cNvSpPr>
          <p:nvPr>
            <p:ph type="body" idx="1"/>
          </p:nvPr>
        </p:nvSpPr>
        <p:spPr>
          <a:xfrm>
            <a:off x="740330" y="4472479"/>
            <a:ext cx="3838487" cy="37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46"/>
          <p:cNvSpPr txBox="1">
            <a:spLocks noGrp="1"/>
          </p:cNvSpPr>
          <p:nvPr>
            <p:ph type="body" idx="2"/>
          </p:nvPr>
        </p:nvSpPr>
        <p:spPr>
          <a:xfrm>
            <a:off x="5693941" y="2137848"/>
            <a:ext cx="4696968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46"/>
          <p:cNvSpPr txBox="1">
            <a:spLocks noGrp="1"/>
          </p:cNvSpPr>
          <p:nvPr>
            <p:ph type="body" idx="3"/>
          </p:nvPr>
        </p:nvSpPr>
        <p:spPr>
          <a:xfrm>
            <a:off x="740330" y="1586958"/>
            <a:ext cx="3285018" cy="42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92D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592D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46"/>
          <p:cNvSpPr txBox="1"/>
          <p:nvPr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Confidential &amp; Proprietary  |  © 2026 JazzX AI    </a:t>
            </a: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r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59095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Right Photo Divider">
  <p:cSld name="1_Right Photo Divi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4"/>
          <p:cNvSpPr/>
          <p:nvPr/>
        </p:nvSpPr>
        <p:spPr>
          <a:xfrm>
            <a:off x="0" y="313442"/>
            <a:ext cx="7221891" cy="6544558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1" name="Google Shape;101;p64"/>
          <p:cNvSpPr txBox="1">
            <a:spLocks noGrp="1"/>
          </p:cNvSpPr>
          <p:nvPr>
            <p:ph type="ctrTitle"/>
          </p:nvPr>
        </p:nvSpPr>
        <p:spPr>
          <a:xfrm>
            <a:off x="716639" y="644578"/>
            <a:ext cx="5296234" cy="216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"/>
              <a:buNone/>
              <a:defRPr sz="50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64"/>
          <p:cNvSpPr txBox="1">
            <a:spLocks noGrp="1"/>
          </p:cNvSpPr>
          <p:nvPr>
            <p:ph type="subTitle" idx="1"/>
          </p:nvPr>
        </p:nvSpPr>
        <p:spPr>
          <a:xfrm>
            <a:off x="716639" y="3114340"/>
            <a:ext cx="5296234" cy="11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64"/>
          <p:cNvSpPr txBox="1">
            <a:spLocks noGrp="1"/>
          </p:cNvSpPr>
          <p:nvPr>
            <p:ph type="body" idx="2"/>
          </p:nvPr>
        </p:nvSpPr>
        <p:spPr>
          <a:xfrm>
            <a:off x="716639" y="5467440"/>
            <a:ext cx="2212358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64"/>
          <p:cNvSpPr txBox="1">
            <a:spLocks noGrp="1"/>
          </p:cNvSpPr>
          <p:nvPr>
            <p:ph type="body" idx="3"/>
          </p:nvPr>
        </p:nvSpPr>
        <p:spPr>
          <a:xfrm>
            <a:off x="716639" y="5942212"/>
            <a:ext cx="2212358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5" name="Google Shape;105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643" y="4771309"/>
            <a:ext cx="2352368" cy="4756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90749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5"/>
          <p:cNvSpPr txBox="1">
            <a:spLocks noGrp="1"/>
          </p:cNvSpPr>
          <p:nvPr>
            <p:ph type="title"/>
          </p:nvPr>
        </p:nvSpPr>
        <p:spPr>
          <a:xfrm>
            <a:off x="403633" y="528608"/>
            <a:ext cx="11345023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utfit"/>
              <a:buNone/>
              <a:defRPr sz="32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65"/>
          <p:cNvSpPr txBox="1">
            <a:spLocks noGrp="1"/>
          </p:cNvSpPr>
          <p:nvPr>
            <p:ph type="body" idx="1"/>
          </p:nvPr>
        </p:nvSpPr>
        <p:spPr>
          <a:xfrm>
            <a:off x="403633" y="1828800"/>
            <a:ext cx="11345022" cy="450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65"/>
          <p:cNvSpPr txBox="1">
            <a:spLocks noGrp="1"/>
          </p:cNvSpPr>
          <p:nvPr>
            <p:ph type="body" idx="2"/>
          </p:nvPr>
        </p:nvSpPr>
        <p:spPr>
          <a:xfrm>
            <a:off x="415434" y="1090046"/>
            <a:ext cx="11391611" cy="41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7333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6"/>
          <p:cNvSpPr/>
          <p:nvPr/>
        </p:nvSpPr>
        <p:spPr>
          <a:xfrm>
            <a:off x="0" y="313442"/>
            <a:ext cx="7221891" cy="6544558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2" name="Google Shape;112;p66"/>
          <p:cNvSpPr txBox="1">
            <a:spLocks noGrp="1"/>
          </p:cNvSpPr>
          <p:nvPr>
            <p:ph type="title"/>
          </p:nvPr>
        </p:nvSpPr>
        <p:spPr>
          <a:xfrm>
            <a:off x="740331" y="2231056"/>
            <a:ext cx="4662942" cy="148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"/>
              <a:buNone/>
              <a:defRPr sz="50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66"/>
          <p:cNvSpPr txBox="1">
            <a:spLocks noGrp="1"/>
          </p:cNvSpPr>
          <p:nvPr>
            <p:ph type="body" idx="1"/>
          </p:nvPr>
        </p:nvSpPr>
        <p:spPr>
          <a:xfrm>
            <a:off x="740330" y="4196232"/>
            <a:ext cx="3838487" cy="37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66"/>
          <p:cNvSpPr txBox="1">
            <a:spLocks noGrp="1"/>
          </p:cNvSpPr>
          <p:nvPr>
            <p:ph type="body" idx="2"/>
          </p:nvPr>
        </p:nvSpPr>
        <p:spPr>
          <a:xfrm>
            <a:off x="7613182" y="4196232"/>
            <a:ext cx="3838487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5" name="Google Shape;115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464" y="6523642"/>
            <a:ext cx="999086" cy="202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75457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7"/>
          <p:cNvSpPr/>
          <p:nvPr/>
        </p:nvSpPr>
        <p:spPr>
          <a:xfrm>
            <a:off x="0" y="424206"/>
            <a:ext cx="7221891" cy="5854046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8" name="Google Shape;118;p67"/>
          <p:cNvSpPr txBox="1">
            <a:spLocks noGrp="1"/>
          </p:cNvSpPr>
          <p:nvPr>
            <p:ph type="title"/>
          </p:nvPr>
        </p:nvSpPr>
        <p:spPr>
          <a:xfrm>
            <a:off x="740331" y="2137848"/>
            <a:ext cx="4662942" cy="217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"/>
              <a:buNone/>
              <a:defRPr sz="50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67"/>
          <p:cNvSpPr txBox="1">
            <a:spLocks noGrp="1"/>
          </p:cNvSpPr>
          <p:nvPr>
            <p:ph type="body" idx="1"/>
          </p:nvPr>
        </p:nvSpPr>
        <p:spPr>
          <a:xfrm>
            <a:off x="740331" y="1646858"/>
            <a:ext cx="4662942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92D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592D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67"/>
          <p:cNvSpPr txBox="1">
            <a:spLocks noGrp="1"/>
          </p:cNvSpPr>
          <p:nvPr>
            <p:ph type="body" idx="2"/>
          </p:nvPr>
        </p:nvSpPr>
        <p:spPr>
          <a:xfrm>
            <a:off x="740330" y="4977633"/>
            <a:ext cx="3838487" cy="37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5418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8"/>
          <p:cNvSpPr/>
          <p:nvPr/>
        </p:nvSpPr>
        <p:spPr>
          <a:xfrm flipH="1">
            <a:off x="4675694" y="424206"/>
            <a:ext cx="7516305" cy="5854046"/>
          </a:xfrm>
          <a:prstGeom prst="snip1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3" name="Google Shape;123;p68"/>
          <p:cNvSpPr txBox="1">
            <a:spLocks noGrp="1"/>
          </p:cNvSpPr>
          <p:nvPr>
            <p:ph type="title"/>
          </p:nvPr>
        </p:nvSpPr>
        <p:spPr>
          <a:xfrm>
            <a:off x="5745187" y="2137848"/>
            <a:ext cx="563276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"/>
              <a:buNone/>
              <a:defRPr sz="50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68"/>
          <p:cNvSpPr txBox="1">
            <a:spLocks noGrp="1"/>
          </p:cNvSpPr>
          <p:nvPr>
            <p:ph type="body" idx="1"/>
          </p:nvPr>
        </p:nvSpPr>
        <p:spPr>
          <a:xfrm>
            <a:off x="5745187" y="1646858"/>
            <a:ext cx="563276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92D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592D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68"/>
          <p:cNvSpPr txBox="1">
            <a:spLocks noGrp="1"/>
          </p:cNvSpPr>
          <p:nvPr>
            <p:ph type="body" idx="2"/>
          </p:nvPr>
        </p:nvSpPr>
        <p:spPr>
          <a:xfrm>
            <a:off x="5745186" y="4472479"/>
            <a:ext cx="5703731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68"/>
          <p:cNvSpPr txBox="1"/>
          <p:nvPr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Confidential &amp; Proprietary  |  © 2026 JazzX AI    </a:t>
            </a: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r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70150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9"/>
          <p:cNvSpPr txBox="1">
            <a:spLocks noGrp="1"/>
          </p:cNvSpPr>
          <p:nvPr>
            <p:ph type="title"/>
          </p:nvPr>
        </p:nvSpPr>
        <p:spPr>
          <a:xfrm>
            <a:off x="2927223" y="2296609"/>
            <a:ext cx="5840594" cy="148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"/>
              <a:buNone/>
              <a:defRPr sz="50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69"/>
          <p:cNvSpPr txBox="1">
            <a:spLocks noGrp="1"/>
          </p:cNvSpPr>
          <p:nvPr>
            <p:ph type="body" idx="1"/>
          </p:nvPr>
        </p:nvSpPr>
        <p:spPr>
          <a:xfrm>
            <a:off x="2927223" y="1805619"/>
            <a:ext cx="5840594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592D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592D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69"/>
          <p:cNvSpPr txBox="1">
            <a:spLocks noGrp="1"/>
          </p:cNvSpPr>
          <p:nvPr>
            <p:ph type="body" idx="2"/>
          </p:nvPr>
        </p:nvSpPr>
        <p:spPr>
          <a:xfrm>
            <a:off x="3851276" y="4472479"/>
            <a:ext cx="3838487" cy="371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0256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4864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5">
            <a:extLst>
              <a:ext uri="{FF2B5EF4-FFF2-40B4-BE49-F238E27FC236}">
                <a16:creationId xmlns:a16="http://schemas.microsoft.com/office/drawing/2014/main" id="{4E61F7B3-DF90-D2B6-64CB-9AD2CA42CE64}"/>
              </a:ext>
            </a:extLst>
          </p:cNvPr>
          <p:cNvSpPr/>
          <p:nvPr userDrawn="1"/>
        </p:nvSpPr>
        <p:spPr>
          <a:xfrm>
            <a:off x="0" y="1168026"/>
            <a:ext cx="5382705" cy="4131297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DCE05-ECDB-C3F2-D8B1-D09DDE379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815" y="2061572"/>
            <a:ext cx="4292652" cy="120032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>
            <a:lvl1pPr>
              <a:defRPr lang="en-US" sz="4000" b="1" dirty="0">
                <a:solidFill>
                  <a:schemeClr val="bg1"/>
                </a:solidFill>
                <a:latin typeface="Outfit" pitchFamily="2" charset="0"/>
                <a:ea typeface="+mn-ea"/>
                <a:cs typeface="Archivo Light" pitchFamily="2" charset="77"/>
              </a:defRPr>
            </a:lvl1pPr>
          </a:lstStyle>
          <a:p>
            <a:pPr marL="0" lvl="0"/>
            <a:r>
              <a:rPr lang="en-US"/>
              <a:t>Click to add slide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35DB2-90B3-B091-05FC-80D1F3959D24}"/>
              </a:ext>
            </a:extLst>
          </p:cNvPr>
          <p:cNvSpPr txBox="1"/>
          <p:nvPr userDrawn="1"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000" b="0" i="0" smtClean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13697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8685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8852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AZZX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6437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B0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© 2026 JazzX AI</a:t>
            </a:r>
            <a:endParaRPr lang="en-US" sz="9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02920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36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3017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006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01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AZZX_DIVIDER">
    <p:bg>
      <p:bgPr>
        <a:solidFill>
          <a:srgbClr val="0D07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3017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446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9817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JAZZX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61120" y="64373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1B0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Proprietary  |  © 2026 JazzX AI</a:t>
            </a:r>
            <a:endParaRPr lang="en-US" sz="90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502920"/>
            <a:ext cx="1127455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360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3017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006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442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JAZZX_DIVIDER">
    <p:bg>
      <p:bgPr>
        <a:solidFill>
          <a:srgbClr val="0D07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3017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8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009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theme" Target="../theme/theme2.xml"/><Relationship Id="rId17" Type="http://schemas.openxmlformats.org/officeDocument/2006/relationships/image" Target="../media/image5.png"/><Relationship Id="rId18" Type="http://schemas.openxmlformats.org/officeDocument/2006/relationships/image" Target="../media/image6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theme" Target="../theme/theme3.xml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B64488-EE61-7FC8-AE51-CB6EC79AA062}"/>
              </a:ext>
            </a:extLst>
          </p:cNvPr>
          <p:cNvSpPr txBox="1"/>
          <p:nvPr userDrawn="1"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000" b="0" i="0" smtClean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b="0" i="0">
                <a:solidFill>
                  <a:schemeClr val="bg1"/>
                </a:solidFill>
                <a:latin typeface="Outfit" pitchFamily="2" charset="0"/>
                <a:cs typeface="Archivo" pitchFamily="2" charset="0"/>
              </a:rPr>
              <a:t>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43DF548-D85A-65ED-475A-AD2C7CA393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9464" y="6523642"/>
            <a:ext cx="999086" cy="2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4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8EFFF"/>
            </a:gs>
            <a:gs pos="46000">
              <a:schemeClr val="bg1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108DB-42B7-8EBE-C9A7-99A308C5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34" y="314315"/>
            <a:ext cx="10515600" cy="53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4F788-FBED-DE6D-11B2-5D6E4B264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634" y="1069384"/>
            <a:ext cx="10515600" cy="4636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75132-5D8C-A2B6-0488-7496C93BEA94}"/>
              </a:ext>
            </a:extLst>
          </p:cNvPr>
          <p:cNvSpPr txBox="1"/>
          <p:nvPr userDrawn="1"/>
        </p:nvSpPr>
        <p:spPr>
          <a:xfrm>
            <a:off x="9036283" y="6526817"/>
            <a:ext cx="3096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Confidential &amp; Proprietary  |  © 2026 JazzX AI    </a:t>
            </a:r>
            <a:fld id="{9F90C545-CD09-0447-A167-744DB4FB2CC5}" type="slidenum">
              <a:rPr lang="en-US" sz="1100" smtClean="0">
                <a:solidFill>
                  <a:srgbClr val="1A0E76"/>
                </a:solidFill>
                <a:latin typeface="+mn-lt"/>
                <a:cs typeface="Archivo" pitchFamily="2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100">
                <a:solidFill>
                  <a:srgbClr val="1A0E76"/>
                </a:solidFill>
                <a:latin typeface="+mn-lt"/>
                <a:cs typeface="Archivo" pitchFamily="2" charset="0"/>
              </a:rPr>
              <a:t>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1B7E23-AA0F-20A1-809E-EE33173A027A}"/>
              </a:ext>
            </a:extLst>
          </p:cNvPr>
          <p:cNvSpPr/>
          <p:nvPr userDrawn="1"/>
        </p:nvSpPr>
        <p:spPr>
          <a:xfrm>
            <a:off x="8869911" y="6577601"/>
            <a:ext cx="149064" cy="1558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251858-BD51-E792-33CE-20EB4C48BDD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573" y="6494735"/>
            <a:ext cx="1061670" cy="3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1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0" kern="1200" dirty="0">
          <a:solidFill>
            <a:schemeClr val="tx1"/>
          </a:solidFill>
          <a:latin typeface="+mj-lt"/>
          <a:ea typeface="+mn-ea"/>
          <a:cs typeface="Archivo Light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Archivo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Archivo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Archivo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Archivo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Archivo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5"/>
          <p:cNvSpPr txBox="1"/>
          <p:nvPr/>
        </p:nvSpPr>
        <p:spPr>
          <a:xfrm>
            <a:off x="9036283" y="6526817"/>
            <a:ext cx="3096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Confidential &amp; Proprietary  |  © 2026 JazzX AI    </a:t>
            </a: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‹#›</a:t>
            </a:fld>
            <a:r>
              <a:rPr lang="en-US" sz="10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5"/>
          <p:cNvSpPr/>
          <p:nvPr/>
        </p:nvSpPr>
        <p:spPr>
          <a:xfrm>
            <a:off x="8869911" y="6576987"/>
            <a:ext cx="149064" cy="1558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91" name="Google Shape;91;p4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49464" y="6523642"/>
            <a:ext cx="999086" cy="202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39731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3017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006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1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32" r:id="rId4"/>
    <p:sldLayoutId id="2147483733" r:id="rId5"/>
    <p:sldLayoutId id="2147483734" r:id="rId6"/>
    <p:sldLayoutId id="214748373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>
          <a:xfrm>
            <a:off x="457200" y="502920"/>
            <a:ext cx="11274552" cy="566928"/>
          </a:xfrm>
        </p:spPr>
        <p:txBody>
          <a:bodyPr lIns="0" rIns="0" tIns="0" bIns="0"/>
          <a:lstStyle/>
          <a:p>
            <a:r>
              <a:rPr sz="2600" b="1" i="0">
                <a:solidFill>
                  <a:srgbClr val="3600AD"/>
                </a:solidFill>
                <a:latin typeface="Calibri"/>
              </a:rPr>
              <a:t>jstack runs the platform locally, the SDK is what we build on, Juno authors configs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457200" y="256032"/>
            <a:ext cx="112745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5069EC"/>
                </a:solidFill>
                <a:latin typeface="Calibri"/>
              </a:rPr>
              <a:t>SDK  ·  JAPES, JUNO AND JSTACK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69848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5B2D8E"/>
                </a:solidFill>
                <a:latin typeface="Calibri"/>
              </a:rPr>
              <a:t>Three names that come up together; they do different jobs at different points in the lifecycle</a:t>
            </a:r>
          </a:p>
        </p:txBody>
      </p:sp>
      <p:sp>
        <p:nvSpPr>
          <p:cNvPr id="4" name="Wordmark"/>
          <p:cNvSpPr txBox="1"/>
          <p:nvPr/>
        </p:nvSpPr>
        <p:spPr>
          <a:xfrm>
            <a:off x="411480" y="6419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B006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Jazz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592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B006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dot"/>
          <p:cNvSpPr/>
          <p:nvPr/>
        </p:nvSpPr>
        <p:spPr>
          <a:xfrm>
            <a:off x="8814816" y="6533388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37376"/>
            <a:ext cx="3017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0065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B006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B0065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8" name="Col header"/>
          <p:cNvSpPr/>
          <p:nvPr/>
        </p:nvSpPr>
        <p:spPr>
          <a:xfrm>
            <a:off x="2103120" y="146304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E6F8F4"/>
          </a:solidFill>
          <a:ln w="9525">
            <a:solidFill>
              <a:srgbClr val="9FE3D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9" name="Col header text"/>
          <p:cNvSpPr txBox="1"/>
          <p:nvPr/>
        </p:nvSpPr>
        <p:spPr>
          <a:xfrm>
            <a:off x="2240280" y="1463040"/>
            <a:ext cx="2971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 spc="200">
                <a:solidFill>
                  <a:srgbClr val="0D9488"/>
                </a:solidFill>
                <a:latin typeface="Calibri"/>
              </a:rPr>
              <a:t>JAPES  ·  THE SDK</a:t>
            </a:r>
          </a:p>
          <a:p>
            <a:pPr algn="l"/>
            <a:r>
              <a:rPr sz="1200" b="1" i="0">
                <a:solidFill>
                  <a:srgbClr val="1B0065"/>
                </a:solidFill>
                <a:latin typeface="Calibri"/>
              </a:rPr>
              <a:t>jazzx_sdk, plus Plato (Platform v2) to host it</a:t>
            </a:r>
          </a:p>
        </p:txBody>
      </p:sp>
      <p:sp>
        <p:nvSpPr>
          <p:cNvPr id="70" name="Col header"/>
          <p:cNvSpPr/>
          <p:nvPr/>
        </p:nvSpPr>
        <p:spPr>
          <a:xfrm>
            <a:off x="5532120" y="1463040"/>
            <a:ext cx="2926080" cy="566928"/>
          </a:xfrm>
          <a:prstGeom prst="roundRect">
            <a:avLst>
              <a:gd name="adj" fmla="val 8000"/>
            </a:avLst>
          </a:prstGeom>
          <a:solidFill>
            <a:srgbClr val="F3F6FF"/>
          </a:solidFill>
          <a:ln w="9525">
            <a:solidFill>
              <a:srgbClr val="D6DDF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1" name="Col header text"/>
          <p:cNvSpPr txBox="1"/>
          <p:nvPr/>
        </p:nvSpPr>
        <p:spPr>
          <a:xfrm>
            <a:off x="5669280" y="146304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 spc="200">
                <a:solidFill>
                  <a:srgbClr val="5069EC"/>
                </a:solidFill>
                <a:latin typeface="Calibri"/>
              </a:rPr>
              <a:t>JUNO</a:t>
            </a:r>
          </a:p>
          <a:p>
            <a:pPr algn="l"/>
            <a:r>
              <a:rPr sz="1200" b="1" i="0">
                <a:solidFill>
                  <a:srgbClr val="1B0065"/>
                </a:solidFill>
                <a:latin typeface="Calibri"/>
              </a:rPr>
              <a:t>The copilot inside Builder Studio</a:t>
            </a:r>
          </a:p>
        </p:txBody>
      </p:sp>
      <p:sp>
        <p:nvSpPr>
          <p:cNvPr id="72" name="Col header"/>
          <p:cNvSpPr/>
          <p:nvPr/>
        </p:nvSpPr>
        <p:spPr>
          <a:xfrm>
            <a:off x="8641080" y="1463040"/>
            <a:ext cx="2953512" cy="566928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 w="9525">
            <a:solidFill>
              <a:srgbClr val="D6DDF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3" name="Col header text"/>
          <p:cNvSpPr txBox="1"/>
          <p:nvPr/>
        </p:nvSpPr>
        <p:spPr>
          <a:xfrm>
            <a:off x="8778240" y="1463040"/>
            <a:ext cx="267919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 spc="200">
                <a:solidFill>
                  <a:srgbClr val="5B6472"/>
                </a:solidFill>
                <a:latin typeface="Calibri"/>
              </a:rPr>
              <a:t>JSTACK</a:t>
            </a:r>
          </a:p>
          <a:p>
            <a:pPr algn="l"/>
            <a:r>
              <a:rPr sz="1200" b="1" i="0">
                <a:solidFill>
                  <a:srgbClr val="1B0065"/>
                </a:solidFill>
                <a:latin typeface="Calibri"/>
              </a:rPr>
              <a:t>The local development environment</a:t>
            </a:r>
          </a:p>
        </p:txBody>
      </p:sp>
      <p:sp>
        <p:nvSpPr>
          <p:cNvPr id="74" name="Row label"/>
          <p:cNvSpPr txBox="1"/>
          <p:nvPr/>
        </p:nvSpPr>
        <p:spPr>
          <a:xfrm>
            <a:off x="457200" y="2121408"/>
            <a:ext cx="16459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0065"/>
                </a:solidFill>
                <a:latin typeface="Calibri"/>
              </a:rPr>
              <a:t>Job</a:t>
            </a:r>
          </a:p>
        </p:txBody>
      </p:sp>
      <p:sp>
        <p:nvSpPr>
          <p:cNvPr id="75" name="Cell"/>
          <p:cNvSpPr txBox="1"/>
          <p:nvPr/>
        </p:nvSpPr>
        <p:spPr>
          <a:xfrm>
            <a:off x="2240280" y="2121408"/>
            <a:ext cx="29718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0065"/>
                </a:solidFill>
                <a:latin typeface="Calibri"/>
              </a:rPr>
              <a:t>Build capabilities on the platform: one library over its services, and a hosted service for packs</a:t>
            </a:r>
          </a:p>
        </p:txBody>
      </p:sp>
      <p:sp>
        <p:nvSpPr>
          <p:cNvPr id="76" name="Cell"/>
          <p:cNvSpPr txBox="1"/>
          <p:nvPr/>
        </p:nvSpPr>
        <p:spPr>
          <a:xfrm>
            <a:off x="5669280" y="2121408"/>
            <a:ext cx="2651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Author agents, tools, integrations and workflows by describing them; a person reviews and applies</a:t>
            </a:r>
          </a:p>
        </p:txBody>
      </p:sp>
      <p:sp>
        <p:nvSpPr>
          <p:cNvPr id="77" name="Cell"/>
          <p:cNvSpPr txBox="1"/>
          <p:nvPr/>
        </p:nvSpPr>
        <p:spPr>
          <a:xfrm>
            <a:off x="8778240" y="2121408"/>
            <a:ext cx="267919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Bring the whole v1 platform up on one laptop and test a change end to end</a:t>
            </a:r>
          </a:p>
        </p:txBody>
      </p:sp>
      <p:cxnSp>
        <p:nvCxnSpPr>
          <p:cNvPr id="78" name="Row rule"/>
          <p:cNvCxnSpPr/>
          <p:nvPr/>
        </p:nvCxnSpPr>
        <p:spPr>
          <a:xfrm>
            <a:off x="457200" y="2889503"/>
            <a:ext cx="11274552" cy="0"/>
          </a:xfrm>
          <a:prstGeom prst="line">
            <a:avLst/>
          </a:prstGeom>
          <a:ln w="9525">
            <a:solidFill>
              <a:srgbClr val="D6DDF3"/>
            </a:solidFill>
          </a:ln>
        </p:spPr>
      </p:cxnSp>
      <p:sp>
        <p:nvSpPr>
          <p:cNvPr id="79" name="Row label"/>
          <p:cNvSpPr txBox="1"/>
          <p:nvPr/>
        </p:nvSpPr>
        <p:spPr>
          <a:xfrm>
            <a:off x="457200" y="2889503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0065"/>
                </a:solidFill>
                <a:latin typeface="Calibri"/>
              </a:rPr>
              <a:t>Who uses it</a:t>
            </a:r>
          </a:p>
        </p:txBody>
      </p:sp>
      <p:sp>
        <p:nvSpPr>
          <p:cNvPr id="80" name="Cell"/>
          <p:cNvSpPr txBox="1"/>
          <p:nvPr/>
        </p:nvSpPr>
        <p:spPr>
          <a:xfrm>
            <a:off x="2240280" y="2889503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0065"/>
                </a:solidFill>
                <a:latin typeface="Calibri"/>
              </a:rPr>
              <a:t>Product and solution engineers</a:t>
            </a:r>
          </a:p>
        </p:txBody>
      </p:sp>
      <p:sp>
        <p:nvSpPr>
          <p:cNvPr id="81" name="Cell"/>
          <p:cNvSpPr txBox="1"/>
          <p:nvPr/>
        </p:nvSpPr>
        <p:spPr>
          <a:xfrm>
            <a:off x="5669280" y="2889503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Builder Studio users, including non-engineers</a:t>
            </a:r>
          </a:p>
        </p:txBody>
      </p:sp>
      <p:sp>
        <p:nvSpPr>
          <p:cNvPr id="82" name="Cell"/>
          <p:cNvSpPr txBox="1"/>
          <p:nvPr/>
        </p:nvSpPr>
        <p:spPr>
          <a:xfrm>
            <a:off x="8778240" y="2889503"/>
            <a:ext cx="2679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Engineers</a:t>
            </a:r>
          </a:p>
        </p:txBody>
      </p:sp>
      <p:cxnSp>
        <p:nvCxnSpPr>
          <p:cNvPr id="83" name="Row rule"/>
          <p:cNvCxnSpPr/>
          <p:nvPr/>
        </p:nvCxnSpPr>
        <p:spPr>
          <a:xfrm>
            <a:off x="457200" y="3364991"/>
            <a:ext cx="11274552" cy="0"/>
          </a:xfrm>
          <a:prstGeom prst="line">
            <a:avLst/>
          </a:prstGeom>
          <a:ln w="9525">
            <a:solidFill>
              <a:srgbClr val="D6DDF3"/>
            </a:solidFill>
          </a:ln>
        </p:spPr>
      </p:cxnSp>
      <p:sp>
        <p:nvSpPr>
          <p:cNvPr id="84" name="Row label"/>
          <p:cNvSpPr txBox="1"/>
          <p:nvPr/>
        </p:nvSpPr>
        <p:spPr>
          <a:xfrm>
            <a:off x="457200" y="3364991"/>
            <a:ext cx="164592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0065"/>
                </a:solidFill>
                <a:latin typeface="Calibri"/>
              </a:rPr>
              <a:t>Generation and scope</a:t>
            </a:r>
          </a:p>
        </p:txBody>
      </p:sp>
      <p:sp>
        <p:nvSpPr>
          <p:cNvPr id="85" name="Cell"/>
          <p:cNvSpPr txBox="1"/>
          <p:nvPr/>
        </p:nvSpPr>
        <p:spPr>
          <a:xfrm>
            <a:off x="2240280" y="3364991"/>
            <a:ext cx="29718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0065"/>
                </a:solidFill>
                <a:latin typeface="Calibri"/>
              </a:rPr>
              <a:t>v2. Multi-domain by design: mortgage, commercial lending, DSCR, AML, clinical intake</a:t>
            </a:r>
          </a:p>
        </p:txBody>
      </p:sp>
      <p:sp>
        <p:nvSpPr>
          <p:cNvPr id="86" name="Cell"/>
          <p:cNvSpPr txBox="1"/>
          <p:nvPr/>
        </p:nvSpPr>
        <p:spPr>
          <a:xfrm>
            <a:off x="5669280" y="3364991"/>
            <a:ext cx="265176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v1. Mortgage, through Builder Studio; writes kernel agent rows</a:t>
            </a:r>
          </a:p>
        </p:txBody>
      </p:sp>
      <p:sp>
        <p:nvSpPr>
          <p:cNvPr id="87" name="Cell"/>
          <p:cNvSpPr txBox="1"/>
          <p:nvPr/>
        </p:nvSpPr>
        <p:spPr>
          <a:xfrm>
            <a:off x="8778240" y="3364991"/>
            <a:ext cx="267919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v1. The mortgage estate, about 30 services</a:t>
            </a:r>
          </a:p>
        </p:txBody>
      </p:sp>
      <p:cxnSp>
        <p:nvCxnSpPr>
          <p:cNvPr id="88" name="Row rule"/>
          <p:cNvCxnSpPr/>
          <p:nvPr/>
        </p:nvCxnSpPr>
        <p:spPr>
          <a:xfrm>
            <a:off x="457200" y="4133087"/>
            <a:ext cx="11274552" cy="0"/>
          </a:xfrm>
          <a:prstGeom prst="line">
            <a:avLst/>
          </a:prstGeom>
          <a:ln w="9525">
            <a:solidFill>
              <a:srgbClr val="D6DDF3"/>
            </a:solidFill>
          </a:ln>
        </p:spPr>
      </p:cxnSp>
      <p:sp>
        <p:nvSpPr>
          <p:cNvPr id="89" name="Row label"/>
          <p:cNvSpPr txBox="1"/>
          <p:nvPr/>
        </p:nvSpPr>
        <p:spPr>
          <a:xfrm>
            <a:off x="457200" y="4133087"/>
            <a:ext cx="1645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0065"/>
                </a:solidFill>
                <a:latin typeface="Calibri"/>
              </a:rPr>
              <a:t>Output</a:t>
            </a:r>
          </a:p>
        </p:txBody>
      </p:sp>
      <p:sp>
        <p:nvSpPr>
          <p:cNvPr id="90" name="Cell"/>
          <p:cNvSpPr txBox="1"/>
          <p:nvPr/>
        </p:nvSpPr>
        <p:spPr>
          <a:xfrm>
            <a:off x="2240280" y="4133087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0065"/>
                </a:solidFill>
                <a:latin typeface="Calibri"/>
              </a:rPr>
              <a:t>Packs, specs and capabilities, versioned in git or published to Plato</a:t>
            </a:r>
          </a:p>
        </p:txBody>
      </p:sp>
      <p:sp>
        <p:nvSpPr>
          <p:cNvPr id="91" name="Cell"/>
          <p:cNvSpPr txBox="1"/>
          <p:nvPr/>
        </p:nvSpPr>
        <p:spPr>
          <a:xfrm>
            <a:off x="5669280" y="4133087"/>
            <a:ext cx="2651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Configured agents, tools, connectors and BPMN processes</a:t>
            </a:r>
          </a:p>
        </p:txBody>
      </p:sp>
      <p:sp>
        <p:nvSpPr>
          <p:cNvPr id="92" name="Cell"/>
          <p:cNvSpPr txBox="1"/>
          <p:nvPr/>
        </p:nvSpPr>
        <p:spPr>
          <a:xfrm>
            <a:off x="8778240" y="4133087"/>
            <a:ext cx="267919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Tested, reviewed code changes</a:t>
            </a:r>
          </a:p>
        </p:txBody>
      </p:sp>
      <p:cxnSp>
        <p:nvCxnSpPr>
          <p:cNvPr id="93" name="Row rule"/>
          <p:cNvCxnSpPr/>
          <p:nvPr/>
        </p:nvCxnSpPr>
        <p:spPr>
          <a:xfrm>
            <a:off x="457200" y="4736592"/>
            <a:ext cx="11274552" cy="0"/>
          </a:xfrm>
          <a:prstGeom prst="line">
            <a:avLst/>
          </a:prstGeom>
          <a:ln w="9525">
            <a:solidFill>
              <a:srgbClr val="D6DDF3"/>
            </a:solidFill>
          </a:ln>
        </p:spPr>
      </p:cxnSp>
      <p:sp>
        <p:nvSpPr>
          <p:cNvPr id="94" name="Row label"/>
          <p:cNvSpPr txBox="1"/>
          <p:nvPr/>
        </p:nvSpPr>
        <p:spPr>
          <a:xfrm>
            <a:off x="457200" y="4736592"/>
            <a:ext cx="1645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0065"/>
                </a:solidFill>
                <a:latin typeface="Calibri"/>
              </a:rPr>
              <a:t>Without it</a:t>
            </a:r>
          </a:p>
        </p:txBody>
      </p:sp>
      <p:sp>
        <p:nvSpPr>
          <p:cNvPr id="95" name="Cell"/>
          <p:cNvSpPr txBox="1"/>
          <p:nvPr/>
        </p:nvSpPr>
        <p:spPr>
          <a:xfrm>
            <a:off x="2240280" y="4736592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0065"/>
                </a:solidFill>
                <a:latin typeface="Calibri"/>
              </a:rPr>
              <a:t>Every team relearns the platform and rebuilds the regulated machinery</a:t>
            </a:r>
          </a:p>
        </p:txBody>
      </p:sp>
      <p:sp>
        <p:nvSpPr>
          <p:cNvPr id="96" name="Cell"/>
          <p:cNvSpPr txBox="1"/>
          <p:nvPr/>
        </p:nvSpPr>
        <p:spPr>
          <a:xfrm>
            <a:off x="5669280" y="4736592"/>
            <a:ext cx="2651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Only engineers can author</a:t>
            </a:r>
          </a:p>
        </p:txBody>
      </p:sp>
      <p:sp>
        <p:nvSpPr>
          <p:cNvPr id="97" name="Cell"/>
          <p:cNvSpPr txBox="1"/>
          <p:nvPr/>
        </p:nvSpPr>
        <p:spPr>
          <a:xfrm>
            <a:off x="8778240" y="4736592"/>
            <a:ext cx="267919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Slower, riskier development</a:t>
            </a:r>
          </a:p>
        </p:txBody>
      </p:sp>
      <p:cxnSp>
        <p:nvCxnSpPr>
          <p:cNvPr id="98" name="Row rule"/>
          <p:cNvCxnSpPr/>
          <p:nvPr/>
        </p:nvCxnSpPr>
        <p:spPr>
          <a:xfrm>
            <a:off x="457200" y="5340096"/>
            <a:ext cx="11274552" cy="0"/>
          </a:xfrm>
          <a:prstGeom prst="line">
            <a:avLst/>
          </a:prstGeom>
          <a:ln w="9525">
            <a:solidFill>
              <a:srgbClr val="D6DDF3"/>
            </a:solidFill>
          </a:ln>
        </p:spPr>
      </p:cxnSp>
      <p:sp>
        <p:nvSpPr>
          <p:cNvPr id="99" name="Band"/>
          <p:cNvSpPr/>
          <p:nvPr/>
        </p:nvSpPr>
        <p:spPr>
          <a:xfrm>
            <a:off x="457200" y="5532120"/>
            <a:ext cx="11274552" cy="758952"/>
          </a:xfrm>
          <a:prstGeom prst="roundRect">
            <a:avLst>
              <a:gd name="adj" fmla="val 8000"/>
            </a:avLst>
          </a:prstGeom>
          <a:solidFill>
            <a:srgbClr val="1B0065"/>
          </a:solidFill>
          <a:ln w="9525">
            <a:solidFill>
              <a:srgbClr val="1B006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0" name="Band text"/>
          <p:cNvSpPr txBox="1"/>
          <p:nvPr/>
        </p:nvSpPr>
        <p:spPr>
          <a:xfrm>
            <a:off x="685800" y="5532120"/>
            <a:ext cx="1088136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150">
                <a:solidFill>
                  <a:srgbClr val="03CBA9"/>
                </a:solidFill>
                <a:latin typeface="Calibri"/>
              </a:rPr>
              <a:t>HOW THEY FIT   </a:t>
            </a:r>
            <a:r>
              <a:rPr sz="1050" b="1" i="0">
                <a:solidFill>
                  <a:srgbClr val="FFFFFF"/>
                </a:solidFill>
                <a:latin typeface="Calibri"/>
              </a:rPr>
              <a:t>None replaces another. The next seam: Juno writes into Plato's control plane instead of kernel agent rows, and jstack gets a Plato service definition. eval-service stays the record for feedback, experiments and evaluation results; it is not one of the three.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JazzX Dark Theme">
  <a:themeElements>
    <a:clrScheme name="JazzX">
      <a:dk1>
        <a:srgbClr val="00003F"/>
      </a:dk1>
      <a:lt1>
        <a:srgbClr val="FFFFFF"/>
      </a:lt1>
      <a:dk2>
        <a:srgbClr val="00003F"/>
      </a:dk2>
      <a:lt2>
        <a:srgbClr val="F3F7FF"/>
      </a:lt2>
      <a:accent1>
        <a:srgbClr val="FF592C"/>
      </a:accent1>
      <a:accent2>
        <a:srgbClr val="0D9595"/>
      </a:accent2>
      <a:accent3>
        <a:srgbClr val="5069EC"/>
      </a:accent3>
      <a:accent4>
        <a:srgbClr val="8BA2FF"/>
      </a:accent4>
      <a:accent5>
        <a:srgbClr val="FFFAD2"/>
      </a:accent5>
      <a:accent6>
        <a:srgbClr val="0D078E"/>
      </a:accent6>
      <a:hlink>
        <a:srgbClr val="5069EC"/>
      </a:hlink>
      <a:folHlink>
        <a:srgbClr val="00003F"/>
      </a:folHlink>
    </a:clrScheme>
    <a:fontScheme name="Custom 2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azzX AI- Master Template " id="{884C9180-7B03-E34B-BF8C-EEF0D8FC59A2}" vid="{72DBCEB5-37CA-304F-A3DB-D82958169607}"/>
    </a:ext>
  </a:extLst>
</a:theme>
</file>

<file path=ppt/theme/theme2.xml><?xml version="1.0" encoding="utf-8"?>
<a:theme xmlns:a="http://schemas.openxmlformats.org/drawingml/2006/main" name="2_JazzX Light Theme">
  <a:themeElements>
    <a:clrScheme name="Custom 1">
      <a:dk1>
        <a:srgbClr val="5069EC"/>
      </a:dk1>
      <a:lt1>
        <a:sysClr val="window" lastClr="FFFFFF"/>
      </a:lt1>
      <a:dk2>
        <a:srgbClr val="030066"/>
      </a:dk2>
      <a:lt2>
        <a:srgbClr val="02B3F7"/>
      </a:lt2>
      <a:accent1>
        <a:srgbClr val="FF5329"/>
      </a:accent1>
      <a:accent2>
        <a:srgbClr val="05AA87"/>
      </a:accent2>
      <a:accent3>
        <a:srgbClr val="2169FF"/>
      </a:accent3>
      <a:accent4>
        <a:srgbClr val="8E5BFF"/>
      </a:accent4>
      <a:accent5>
        <a:srgbClr val="E0E7FD"/>
      </a:accent5>
      <a:accent6>
        <a:srgbClr val="CED0FF"/>
      </a:accent6>
      <a:hlink>
        <a:srgbClr val="5069EC"/>
      </a:hlink>
      <a:folHlink>
        <a:srgbClr val="0F238E"/>
      </a:folHlink>
    </a:clrScheme>
    <a:fontScheme name="Custom 2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JazzX AI- Master Template (Open to Make a Copy)" id="{CF01AEC2-AA0F-8644-B70B-602983D3E732}" vid="{8C2083D6-B4C6-C245-B938-113608756AE0}"/>
    </a:ext>
  </a:extLst>
</a:theme>
</file>

<file path=ppt/theme/theme3.xml><?xml version="1.0" encoding="utf-8"?>
<a:theme xmlns:a="http://schemas.openxmlformats.org/drawingml/2006/main" name="3_JazzX Dark Theme">
  <a:themeElements>
    <a:clrScheme name="JazzX">
      <a:dk1>
        <a:srgbClr val="00003F"/>
      </a:dk1>
      <a:lt1>
        <a:srgbClr val="FFFFFF"/>
      </a:lt1>
      <a:dk2>
        <a:srgbClr val="00003F"/>
      </a:dk2>
      <a:lt2>
        <a:srgbClr val="F3F7FF"/>
      </a:lt2>
      <a:accent1>
        <a:srgbClr val="FF592C"/>
      </a:accent1>
      <a:accent2>
        <a:srgbClr val="0D9595"/>
      </a:accent2>
      <a:accent3>
        <a:srgbClr val="5069EC"/>
      </a:accent3>
      <a:accent4>
        <a:srgbClr val="8BA2FF"/>
      </a:accent4>
      <a:accent5>
        <a:srgbClr val="FFFAD2"/>
      </a:accent5>
      <a:accent6>
        <a:srgbClr val="0D078E"/>
      </a:accent6>
      <a:hlink>
        <a:srgbClr val="5069EC"/>
      </a:hlink>
      <a:folHlink>
        <a:srgbClr val="0000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9B822E-9C5B-4C31-8E1D-C822F999846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afc9af-7bc3-4993-b644-db9ef76abd1b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0d9fbd82-3977-42cb-a27b-92ba60b278b8">Draft</Status>
    <lcf76f155ced4ddcb4097134ff3c332f xmlns="0d9fbd82-3977-42cb-a27b-92ba60b278b8">
      <Terms xmlns="http://schemas.microsoft.com/office/infopath/2007/PartnerControls"/>
    </lcf76f155ced4ddcb4097134ff3c332f>
    <Usefulnessforduediligence xmlns="0d9fbd82-3977-42cb-a27b-92ba60b278b8" xsi:nil="true"/>
    <TaxCatchAll xmlns="7ad23321-c5db-46c7-895a-4aa935785ff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B99EB85D9B9B4A82583D0B053AA6BF" ma:contentTypeVersion="18" ma:contentTypeDescription="Create a new document." ma:contentTypeScope="" ma:versionID="d5c757a11cbbe6d30755719130aaeeb1">
  <xsd:schema xmlns:xsd="http://www.w3.org/2001/XMLSchema" xmlns:xs="http://www.w3.org/2001/XMLSchema" xmlns:p="http://schemas.microsoft.com/office/2006/metadata/properties" xmlns:ns2="0d9fbd82-3977-42cb-a27b-92ba60b278b8" xmlns:ns3="7ad23321-c5db-46c7-895a-4aa935785ffe" targetNamespace="http://schemas.microsoft.com/office/2006/metadata/properties" ma:root="true" ma:fieldsID="eebb97f6c8ac8eedac67c14ff5818b95" ns2:_="" ns3:_="">
    <xsd:import namespace="0d9fbd82-3977-42cb-a27b-92ba60b278b8"/>
    <xsd:import namespace="7ad23321-c5db-46c7-895a-4aa935785f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Usefulnessforduediligence" minOccurs="0"/>
                <xsd:element ref="ns2:MediaServiceLocation" minOccurs="0"/>
                <xsd:element ref="ns2:MediaServiceBillingMetadata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9fbd82-3977-42cb-a27b-92ba60b27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6440cdf-29eb-49cd-afa0-d6d3ff089c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Usefulnessforduediligence" ma:index="22" nillable="true" ma:displayName="Usefulness for due diligence " ma:description="Emperical assessment " ma:format="Dropdown" ma:internalName="Usefulnessforduediligence">
      <xsd:simpleType>
        <xsd:restriction base="dms:Text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Status" ma:index="25" nillable="true" ma:displayName="Status" ma:default="Draft" ma:format="Dropdown" ma:internalName="Status">
      <xsd:simpleType>
        <xsd:restriction base="dms:Choice">
          <xsd:enumeration value="Draft"/>
          <xsd:enumeration value="Final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d23321-c5db-46c7-895a-4aa935785ff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d3af4a4-d25b-4467-bd24-93d4d05b0b94}" ma:internalName="TaxCatchAll" ma:showField="CatchAllData" ma:web="7ad23321-c5db-46c7-895a-4aa935785f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F2CA93-E4A7-4814-A676-8D50CAA991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3290D1-1CCC-4A71-8C6E-D7A258CDA8C2}">
  <ds:schemaRefs>
    <ds:schemaRef ds:uri="http://purl.org/dc/dcmitype/"/>
    <ds:schemaRef ds:uri="http://schemas.microsoft.com/office/infopath/2007/PartnerControls"/>
    <ds:schemaRef ds:uri="7ad23321-c5db-46c7-895a-4aa935785ffe"/>
    <ds:schemaRef ds:uri="http://schemas.microsoft.com/office/2006/documentManagement/types"/>
    <ds:schemaRef ds:uri="http://purl.org/dc/elements/1.1/"/>
    <ds:schemaRef ds:uri="0d9fbd82-3977-42cb-a27b-92ba60b278b8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5F32242-1939-4646-A88C-BBB2AECA5748}">
  <ds:schemaRefs>
    <ds:schemaRef ds:uri="0d9fbd82-3977-42cb-a27b-92ba60b278b8"/>
    <ds:schemaRef ds:uri="7ad23321-c5db-46c7-895a-4aa935785f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9892463-2b84-463c-b829-a336ebb06f54}" enabled="0" method="" siteId="{69892463-2b84-463c-b829-a336ebb06f5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12388</Words>
  <Application>Microsoft Macintosh PowerPoint</Application>
  <PresentationFormat>Widescreen</PresentationFormat>
  <Paragraphs>1101</Paragraphs>
  <Slides>38</Slides>
  <Notes>35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Aptos</vt:lpstr>
      <vt:lpstr>Aptos SemiBold</vt:lpstr>
      <vt:lpstr>Arial</vt:lpstr>
      <vt:lpstr>Calibri</vt:lpstr>
      <vt:lpstr>Outfit</vt:lpstr>
      <vt:lpstr>Roboto</vt:lpstr>
      <vt:lpstr>Roboto Black</vt:lpstr>
      <vt:lpstr>Segoe UI</vt:lpstr>
      <vt:lpstr>Trebuchet MS</vt:lpstr>
      <vt:lpstr>1_JazzX Dark Theme</vt:lpstr>
      <vt:lpstr>2_JazzX Light Theme</vt:lpstr>
      <vt:lpstr>3_JazzX Dark Theme</vt:lpstr>
      <vt:lpstr>Office Theme</vt:lpstr>
      <vt:lpstr>PowerPoint Presentation</vt:lpstr>
      <vt:lpstr>PowerPoint Presentation</vt:lpstr>
      <vt:lpstr>PowerPoint Presentation</vt:lpstr>
      <vt:lpstr>Proposed Content </vt:lpstr>
      <vt:lpstr>PowerPoint Presentation</vt:lpstr>
      <vt:lpstr>Proposed Content </vt:lpstr>
      <vt:lpstr>SRM use cases range from instant answers to 2–3x cheaper income calculation</vt:lpstr>
      <vt:lpstr>Training effort grows with difficulty, from distillation to SFT plus RLVR</vt:lpstr>
      <vt:lpstr>Fireworks has the lowest published rates to train and serve all three Qwen models</vt:lpstr>
      <vt:lpstr>Underwriter feedback in the Mortgage App trains all three models</vt:lpstr>
      <vt:lpstr>Seven people label 1,000 loans in 11 months, with a go/no-go at month 3</vt:lpstr>
      <vt:lpstr>PowerPoint Presentation</vt:lpstr>
      <vt:lpstr>PowerPoint Presentation</vt:lpstr>
      <vt:lpstr>Agents, processes and reasoners improve from feedback, without retraining</vt:lpstr>
      <vt:lpstr>Lenders teach Jazz their own way of working, one approved correction at a time</vt:lpstr>
      <vt:lpstr>Demo: one approved correction fixes the answer for every underwriter</vt:lpstr>
      <vt:lpstr>Feedback becomes vetted lessons, and evaluation checks their effect</vt:lpstr>
      <vt:lpstr>Feedback is structured once, then retrieved whenever a similar request arrives</vt:lpstr>
      <vt:lpstr>Every learned change is evaluated before it ships, in any component</vt:lpstr>
      <vt:lpstr>Ongoing work makes every lesson relevant, provable and reusable</vt:lpstr>
      <vt:lpstr>PowerPoint Presentation</vt:lpstr>
      <vt:lpstr>In context learning learns from what people say; ROSI learns from what happens</vt:lpstr>
      <vt:lpstr>ROSI targets the costly problems repeating across loan files</vt:lpstr>
      <vt:lpstr>Lenders stop paying for the same mistakes, and every fix arrives with proof</vt:lpstr>
      <vt:lpstr>A governed loop turns recorded outcomes into tested, approved changes</vt:lpstr>
      <vt:lpstr>Every service joins the loop through the SDK, and SMEs decide what changes</vt:lpstr>
      <vt:lpstr>PowerPoint Presentation</vt:lpstr>
      <vt:lpstr>PowerPoint Presentation</vt:lpstr>
      <vt:lpstr>Demo Video</vt:lpstr>
      <vt:lpstr>PowerPoint Presentation</vt:lpstr>
      <vt:lpstr>Acra will judge the AI on its own loans before any production commitment</vt:lpstr>
      <vt:lpstr>Ground truth and Reasoner testing run in parallel with the build</vt:lpstr>
      <vt:lpstr>Benchmarks started: ~3 loan packages underwritten</vt:lpstr>
      <vt:lpstr>Showcase the demo UI to the Acra team</vt:lpstr>
      <vt:lpstr>Four milestones, each with an exit gate</vt:lpstr>
      <vt:lpstr>Independent ground truth makes the proof credible</vt:lpstr>
      <vt:lpstr>Expectations on both sides, and the risks to manage</vt:lpstr>
      <vt:lpstr>Appendix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JazzX v2.0 Platform Roadmap — Mortgage + AML Synthesis</dc:title>
  <dc:subject>PptxGenJS Presentation</dc:subject>
  <dc:creator>Kunal Patel</dc:creator>
  <cp:lastModifiedBy>Virendra Mehta</cp:lastModifiedBy>
  <cp:revision>2</cp:revision>
  <dcterms:created xsi:type="dcterms:W3CDTF">2026-05-07T19:14:50Z</dcterms:created>
  <dcterms:modified xsi:type="dcterms:W3CDTF">2026-10-13T01:30:30Z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0x0101001AB99EB85D9B9B4A82583D0B053AA6BF</vt:lpwstr>
  </property>
  <property fmtid="{D5CDD505-2E9C-101B-9397-08002B2CF9AE}" pid="3" name="MediaServiceImageTags">
    <vt:lpwstr/>
  </property>
</Properties>
</file>