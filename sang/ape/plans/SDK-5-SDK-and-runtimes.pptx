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147472657"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7"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SDK is one library with one handler contract, and the runtime is a deployment choice, not a code change. Today we run it as a distributed system: images built on the SDK, one per extension, triggered off storage queues as Azure Container Apps jobs. Plato is the SDK hosted: one container takes a pack definition and serves every capability from it, multi-tenant, scaling horizontally on load, with publish and activate instead of a deploy. A hybrid keeps Plato in front for interactive work and the control plane, and sends long batch work to SDK jobs through the same queue contract. The client package matters for customers and partners: they integrate against Plato's routes and never hold the SDK, so the policy IR, prompts and contracts stay inside the container.</a:t>
            </a:r>
          </a:p>
          <a:p/>
          <a:p>
            <a:r>
              <a:t>Convergence: Plato proxies Kernel and converts agents one at a time (metric: kernel agent rows with no v2 representation, weekly); Jazz Assistant becomes a manifest and a pack; Studio writes into Plato's control plane (decisions with the Studio owner); eval-service is consumed first, then scorer thresholds resolve from the pack's policy, absorption decided separately. Open: who owns process start. The roadmap date is a placeholder for this draft; confirm before presenting.</a:t>
            </a:r>
          </a:p>
          <a:p/>
          <a:p>
            <a:r>
              <a:t>Sources: docs/ARCHITECTURE.md and README at 2.6.2 (queue, server, dual, Plato; jazzx-plato-client install with no SDK); Plato service architecture and build plan (five planes, absorption path, decisions D1 to D5); the 'why not ship the library' position from the Plato plan (a wheel is source code with a different extension; outsiders get the hosted container); CHANGELOG 2.6.0 (Plato client package for clients working with Plato without jazzx_sdk).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SDK, three ways to run it: distributed jobs, Plato, or a hybrid</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SDK AND RUNTIMES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Same library and handler contract under each runtime; Plato runs it as a service; the client package keeps the SDK out of customer hands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SDK bar"/>
          <p:cNvSpPr/>
          <p:nvPr/>
        </p:nvSpPr>
        <p:spPr>
          <a:xfrm>
            <a:off x="457200" y="1463040"/>
            <a:ext cx="11274552" cy="566928"/>
          </a:xfrm>
          <a:prstGeom prst="roundRect">
            <a:avLst>
              <a:gd name="adj" fmla="val 8000"/>
            </a:avLst>
          </a:prstGeom>
          <a:solidFill>
            <a:srgbClr val="1B0065"/>
          </a:solidFill>
          <a:ln w="9525">
            <a:solidFill>
              <a:srgbClr val="1B0065"/>
            </a:solidFill>
          </a:ln>
          <a:effectLst/>
        </p:spPr>
        <p:txBody>
          <a:bodyPr rtlCol="0" anchor="ctr"/>
          <a:lstStyle/>
          <a:p/>
        </p:txBody>
      </p:sp>
      <p:sp>
        <p:nvSpPr>
          <p:cNvPr id="69" name="SDK bar text"/>
          <p:cNvSpPr txBox="1"/>
          <p:nvPr/>
        </p:nvSpPr>
        <p:spPr>
          <a:xfrm>
            <a:off x="685800" y="1463040"/>
            <a:ext cx="10881360" cy="566928"/>
          </a:xfrm>
          <a:prstGeom prst="rect">
            <a:avLst/>
          </a:prstGeom>
          <a:noFill/>
        </p:spPr>
        <p:txBody>
          <a:bodyPr wrap="square" lIns="0" rIns="0" tIns="0" bIns="0" anchor="ctr">
            <a:spAutoFit/>
          </a:bodyPr>
          <a:lstStyle/>
          <a:p>
            <a:pPr algn="l"/>
            <a:r>
              <a:rPr sz="1300" b="1" i="0">
                <a:solidFill>
                  <a:srgbClr val="03CBA9"/>
                </a:solidFill>
                <a:latin typeface="Calibri"/>
              </a:rPr>
              <a:t>jazzx_sdk   </a:t>
            </a:r>
            <a:r>
              <a:rPr sz="1100" b="0" i="0">
                <a:solidFill>
                  <a:srgbClr val="FFFFFF"/>
                </a:solidFill>
                <a:latin typeface="Calibri"/>
              </a:rPr>
              <a:t>one library and one handler contract: contracts, fabric, agent execution, platform agents, pipelines, policy, evaluation</a:t>
            </a:r>
          </a:p>
        </p:txBody>
      </p:sp>
      <p:sp>
        <p:nvSpPr>
          <p:cNvPr id="70" name="Runtime card"/>
          <p:cNvSpPr/>
          <p:nvPr/>
        </p:nvSpPr>
        <p:spPr>
          <a:xfrm>
            <a:off x="457200"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71" name="Label"/>
          <p:cNvSpPr txBox="1"/>
          <p:nvPr/>
        </p:nvSpPr>
        <p:spPr>
          <a:xfrm>
            <a:off x="612648"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TODAY  ·  DISTRIBUTED</a:t>
            </a:r>
          </a:p>
        </p:txBody>
      </p:sp>
      <p:sp>
        <p:nvSpPr>
          <p:cNvPr id="72" name="Runtime heading"/>
          <p:cNvSpPr txBox="1"/>
          <p:nvPr/>
        </p:nvSpPr>
        <p:spPr>
          <a:xfrm>
            <a:off x="612648"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Images built on the SDK, run as jobs</a:t>
            </a:r>
          </a:p>
        </p:txBody>
      </p:sp>
      <p:sp>
        <p:nvSpPr>
          <p:cNvPr id="73" name="Mini"/>
          <p:cNvSpPr/>
          <p:nvPr/>
        </p:nvSpPr>
        <p:spPr>
          <a:xfrm>
            <a:off x="612648"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74" name="Mini text"/>
          <p:cNvSpPr txBox="1"/>
          <p:nvPr/>
        </p:nvSpPr>
        <p:spPr>
          <a:xfrm>
            <a:off x="612648"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75" name="Arrow"/>
          <p:cNvCxnSpPr/>
          <p:nvPr/>
        </p:nvCxnSpPr>
        <p:spPr>
          <a:xfrm>
            <a:off x="1417320" y="3044952"/>
            <a:ext cx="274320" cy="0"/>
          </a:xfrm>
          <a:prstGeom prst="line">
            <a:avLst/>
          </a:prstGeom>
          <a:ln w="15875">
            <a:solidFill>
              <a:srgbClr val="5069EC"/>
            </a:solidFill>
            <a:tailEnd type="triangle" w="med" len="med"/>
          </a:ln>
        </p:spPr>
      </p:cxnSp>
      <p:sp>
        <p:nvSpPr>
          <p:cNvPr id="76" name="Mini"/>
          <p:cNvSpPr/>
          <p:nvPr/>
        </p:nvSpPr>
        <p:spPr>
          <a:xfrm>
            <a:off x="173736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7" name="Mini text"/>
          <p:cNvSpPr txBox="1"/>
          <p:nvPr/>
        </p:nvSpPr>
        <p:spPr>
          <a:xfrm>
            <a:off x="173736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78" name="Mini"/>
          <p:cNvSpPr/>
          <p:nvPr/>
        </p:nvSpPr>
        <p:spPr>
          <a:xfrm>
            <a:off x="246888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9" name="Mini text"/>
          <p:cNvSpPr txBox="1"/>
          <p:nvPr/>
        </p:nvSpPr>
        <p:spPr>
          <a:xfrm>
            <a:off x="246888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0" name="Mini"/>
          <p:cNvSpPr/>
          <p:nvPr/>
        </p:nvSpPr>
        <p:spPr>
          <a:xfrm>
            <a:off x="320040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81" name="Mini text"/>
          <p:cNvSpPr txBox="1"/>
          <p:nvPr/>
        </p:nvSpPr>
        <p:spPr>
          <a:xfrm>
            <a:off x="320040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2" name="Runtime body"/>
          <p:cNvSpPr txBox="1"/>
          <p:nvPr/>
        </p:nvSpPr>
        <p:spPr>
          <a:xfrm>
            <a:off x="612648"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One image per extension, triggered by Azure Storage Queues and run as Azure Container Apps jobs: start on work, drain the queue, exit. A distributed system of small services.</a:t>
            </a:r>
          </a:p>
        </p:txBody>
      </p:sp>
      <p:sp>
        <p:nvSpPr>
          <p:cNvPr id="83" name="Tradeoff box"/>
          <p:cNvSpPr/>
          <p:nvPr/>
        </p:nvSpPr>
        <p:spPr>
          <a:xfrm>
            <a:off x="548640"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84" name="Tradeoff"/>
          <p:cNvSpPr txBox="1"/>
          <p:nvPr/>
        </p:nvSpPr>
        <p:spPr>
          <a:xfrm>
            <a:off x="640080"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Isolation per capability; scales with the queue. The cost is one image and one deploy per capability.</a:t>
            </a:r>
          </a:p>
        </p:txBody>
      </p:sp>
      <p:sp>
        <p:nvSpPr>
          <p:cNvPr id="85" name="Runtime card"/>
          <p:cNvSpPr/>
          <p:nvPr/>
        </p:nvSpPr>
        <p:spPr>
          <a:xfrm>
            <a:off x="4283964"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86" name="Label"/>
          <p:cNvSpPr txBox="1"/>
          <p:nvPr/>
        </p:nvSpPr>
        <p:spPr>
          <a:xfrm>
            <a:off x="4439412"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PLATO  ·  HOSTED</a:t>
            </a:r>
          </a:p>
        </p:txBody>
      </p:sp>
      <p:sp>
        <p:nvSpPr>
          <p:cNvPr id="87" name="Runtime heading"/>
          <p:cNvSpPr txBox="1"/>
          <p:nvPr/>
        </p:nvSpPr>
        <p:spPr>
          <a:xfrm>
            <a:off x="4439412"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One container serves a pack</a:t>
            </a:r>
          </a:p>
        </p:txBody>
      </p:sp>
      <p:sp>
        <p:nvSpPr>
          <p:cNvPr id="88" name="Mini"/>
          <p:cNvSpPr/>
          <p:nvPr/>
        </p:nvSpPr>
        <p:spPr>
          <a:xfrm>
            <a:off x="4439412" y="2852928"/>
            <a:ext cx="777240" cy="384048"/>
          </a:xfrm>
          <a:prstGeom prst="roundRect">
            <a:avLst>
              <a:gd name="adj" fmla="val 8000"/>
            </a:avLst>
          </a:prstGeom>
          <a:solidFill>
            <a:srgbClr val="E6F8F4"/>
          </a:solidFill>
          <a:ln w="9525">
            <a:solidFill>
              <a:srgbClr val="9FE3D6"/>
            </a:solidFill>
          </a:ln>
          <a:effectLst/>
        </p:spPr>
        <p:txBody>
          <a:bodyPr rtlCol="0" anchor="ctr"/>
          <a:lstStyle/>
          <a:p/>
        </p:txBody>
      </p:sp>
      <p:sp>
        <p:nvSpPr>
          <p:cNvPr id="89" name="Mini text"/>
          <p:cNvSpPr txBox="1"/>
          <p:nvPr/>
        </p:nvSpPr>
        <p:spPr>
          <a:xfrm>
            <a:off x="4439412"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pack</a:t>
            </a:r>
          </a:p>
        </p:txBody>
      </p:sp>
      <p:cxnSp>
        <p:nvCxnSpPr>
          <p:cNvPr id="90" name="Arrow"/>
          <p:cNvCxnSpPr/>
          <p:nvPr/>
        </p:nvCxnSpPr>
        <p:spPr>
          <a:xfrm>
            <a:off x="5244083" y="3044952"/>
            <a:ext cx="274320" cy="0"/>
          </a:xfrm>
          <a:prstGeom prst="line">
            <a:avLst/>
          </a:prstGeom>
          <a:ln w="15875">
            <a:solidFill>
              <a:srgbClr val="5069EC"/>
            </a:solidFill>
            <a:tailEnd type="triangle" w="med" len="med"/>
          </a:ln>
        </p:spPr>
      </p:cxnSp>
      <p:sp>
        <p:nvSpPr>
          <p:cNvPr id="91" name="Mini"/>
          <p:cNvSpPr/>
          <p:nvPr/>
        </p:nvSpPr>
        <p:spPr>
          <a:xfrm>
            <a:off x="5564123" y="2852928"/>
            <a:ext cx="11887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92" name="Mini text"/>
          <p:cNvSpPr txBox="1"/>
          <p:nvPr/>
        </p:nvSpPr>
        <p:spPr>
          <a:xfrm>
            <a:off x="5564123" y="2852928"/>
            <a:ext cx="11887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sp>
        <p:nvSpPr>
          <p:cNvPr id="93" name="Scale note"/>
          <p:cNvSpPr txBox="1"/>
          <p:nvPr/>
        </p:nvSpPr>
        <p:spPr>
          <a:xfrm>
            <a:off x="6825996" y="2852928"/>
            <a:ext cx="914400" cy="384048"/>
          </a:xfrm>
          <a:prstGeom prst="rect">
            <a:avLst/>
          </a:prstGeom>
          <a:noFill/>
        </p:spPr>
        <p:txBody>
          <a:bodyPr wrap="square" lIns="0" rIns="0" tIns="0" bIns="0" anchor="ctr">
            <a:spAutoFit/>
          </a:bodyPr>
          <a:lstStyle/>
          <a:p>
            <a:pPr algn="l"/>
            <a:r>
              <a:rPr sz="900" b="0" i="1">
                <a:solidFill>
                  <a:srgbClr val="5B6472"/>
                </a:solidFill>
                <a:latin typeface="Calibri"/>
              </a:rPr>
              <a:t>scales on load</a:t>
            </a:r>
          </a:p>
        </p:txBody>
      </p:sp>
      <p:sp>
        <p:nvSpPr>
          <p:cNvPr id="94" name="Runtime body"/>
          <p:cNvSpPr txBox="1"/>
          <p:nvPr/>
        </p:nvSpPr>
        <p:spPr>
          <a:xfrm>
            <a:off x="4439412"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takes a published pack definition and serves every capability from it: chat, runs, assessments, feedback and evaluation, multi-tenant, with its own control plane.</a:t>
            </a:r>
          </a:p>
        </p:txBody>
      </p:sp>
      <p:sp>
        <p:nvSpPr>
          <p:cNvPr id="95" name="Tradeoff box"/>
          <p:cNvSpPr/>
          <p:nvPr/>
        </p:nvSpPr>
        <p:spPr>
          <a:xfrm>
            <a:off x="4375403"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6" name="Tradeoff"/>
          <p:cNvSpPr txBox="1"/>
          <p:nvPr/>
        </p:nvSpPr>
        <p:spPr>
          <a:xfrm>
            <a:off x="4466844"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Horizontal scaling on load; publish and activate a pack with no deploy; one image, several roles.</a:t>
            </a:r>
          </a:p>
        </p:txBody>
      </p:sp>
      <p:sp>
        <p:nvSpPr>
          <p:cNvPr id="97" name="Runtime card"/>
          <p:cNvSpPr/>
          <p:nvPr/>
        </p:nvSpPr>
        <p:spPr>
          <a:xfrm>
            <a:off x="8110727"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98" name="Label"/>
          <p:cNvSpPr txBox="1"/>
          <p:nvPr/>
        </p:nvSpPr>
        <p:spPr>
          <a:xfrm>
            <a:off x="8266175"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HYBRID</a:t>
            </a:r>
          </a:p>
        </p:txBody>
      </p:sp>
      <p:sp>
        <p:nvSpPr>
          <p:cNvPr id="99" name="Runtime heading"/>
          <p:cNvSpPr txBox="1"/>
          <p:nvPr/>
        </p:nvSpPr>
        <p:spPr>
          <a:xfrm>
            <a:off x="8266175"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Plato in front, jobs behind</a:t>
            </a:r>
          </a:p>
        </p:txBody>
      </p:sp>
      <p:sp>
        <p:nvSpPr>
          <p:cNvPr id="100" name="Mini"/>
          <p:cNvSpPr/>
          <p:nvPr/>
        </p:nvSpPr>
        <p:spPr>
          <a:xfrm>
            <a:off x="8266175" y="2852928"/>
            <a:ext cx="9601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101" name="Mini text"/>
          <p:cNvSpPr txBox="1"/>
          <p:nvPr/>
        </p:nvSpPr>
        <p:spPr>
          <a:xfrm>
            <a:off x="8266175" y="2852928"/>
            <a:ext cx="9601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cxnSp>
        <p:nvCxnSpPr>
          <p:cNvPr id="102" name="Arrow"/>
          <p:cNvCxnSpPr/>
          <p:nvPr/>
        </p:nvCxnSpPr>
        <p:spPr>
          <a:xfrm>
            <a:off x="9253728" y="3044952"/>
            <a:ext cx="274320" cy="0"/>
          </a:xfrm>
          <a:prstGeom prst="line">
            <a:avLst/>
          </a:prstGeom>
          <a:ln w="15875">
            <a:solidFill>
              <a:srgbClr val="5069EC"/>
            </a:solidFill>
            <a:tailEnd type="triangle" w="med" len="med"/>
          </a:ln>
        </p:spPr>
      </p:cxnSp>
      <p:sp>
        <p:nvSpPr>
          <p:cNvPr id="103" name="Mini"/>
          <p:cNvSpPr/>
          <p:nvPr/>
        </p:nvSpPr>
        <p:spPr>
          <a:xfrm>
            <a:off x="9573767"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104" name="Mini text"/>
          <p:cNvSpPr txBox="1"/>
          <p:nvPr/>
        </p:nvSpPr>
        <p:spPr>
          <a:xfrm>
            <a:off x="9573767"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105" name="Arrow"/>
          <p:cNvCxnSpPr/>
          <p:nvPr/>
        </p:nvCxnSpPr>
        <p:spPr>
          <a:xfrm>
            <a:off x="10378440" y="3044952"/>
            <a:ext cx="274320" cy="0"/>
          </a:xfrm>
          <a:prstGeom prst="line">
            <a:avLst/>
          </a:prstGeom>
          <a:ln w="15875">
            <a:solidFill>
              <a:srgbClr val="5069EC"/>
            </a:solidFill>
            <a:tailEnd type="triangle" w="med" len="med"/>
          </a:ln>
        </p:spPr>
      </p:cxnSp>
      <p:sp>
        <p:nvSpPr>
          <p:cNvPr id="106" name="Mini"/>
          <p:cNvSpPr/>
          <p:nvPr/>
        </p:nvSpPr>
        <p:spPr>
          <a:xfrm>
            <a:off x="10698480" y="2852928"/>
            <a:ext cx="868680"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107" name="Mini text"/>
          <p:cNvSpPr txBox="1"/>
          <p:nvPr/>
        </p:nvSpPr>
        <p:spPr>
          <a:xfrm>
            <a:off x="10698480" y="2852928"/>
            <a:ext cx="868680" cy="384048"/>
          </a:xfrm>
          <a:prstGeom prst="rect">
            <a:avLst/>
          </a:prstGeom>
          <a:noFill/>
        </p:spPr>
        <p:txBody>
          <a:bodyPr wrap="square" lIns="0" rIns="0" tIns="0" bIns="0" anchor="ctr">
            <a:spAutoFit/>
          </a:bodyPr>
          <a:lstStyle/>
          <a:p>
            <a:pPr algn="ctr"/>
            <a:r>
              <a:rPr sz="900" b="1" i="0">
                <a:solidFill>
                  <a:srgbClr val="FFFFFF"/>
                </a:solidFill>
                <a:latin typeface="Calibri"/>
              </a:rPr>
              <a:t>SDK jobs</a:t>
            </a:r>
          </a:p>
        </p:txBody>
      </p:sp>
      <p:sp>
        <p:nvSpPr>
          <p:cNvPr id="108" name="Runtime body"/>
          <p:cNvSpPr txBox="1"/>
          <p:nvPr/>
        </p:nvSpPr>
        <p:spPr>
          <a:xfrm>
            <a:off x="8266175"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serves the interactive surface and the control plane; long work (document ingest, replays, batch runs) goes to SDK jobs through the same queue contract.</a:t>
            </a:r>
          </a:p>
        </p:txBody>
      </p:sp>
      <p:sp>
        <p:nvSpPr>
          <p:cNvPr id="109" name="Tradeoff box"/>
          <p:cNvSpPr/>
          <p:nvPr/>
        </p:nvSpPr>
        <p:spPr>
          <a:xfrm>
            <a:off x="8202167"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110" name="Tradeoff"/>
          <p:cNvSpPr txBox="1"/>
          <p:nvPr/>
        </p:nvSpPr>
        <p:spPr>
          <a:xfrm>
            <a:off x="8293607"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The serving tier scales on requests, the batch tier on queue depth; one SDK version across both.</a:t>
            </a:r>
          </a:p>
        </p:txBody>
      </p:sp>
      <p:sp>
        <p:nvSpPr>
          <p:cNvPr id="111" name="Client bar"/>
          <p:cNvSpPr/>
          <p:nvPr/>
        </p:nvSpPr>
        <p:spPr>
          <a:xfrm>
            <a:off x="457200" y="5074920"/>
            <a:ext cx="11274552"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112" name="Client bar text"/>
          <p:cNvSpPr txBox="1"/>
          <p:nvPr/>
        </p:nvSpPr>
        <p:spPr>
          <a:xfrm>
            <a:off x="685800" y="5074920"/>
            <a:ext cx="10881360" cy="566928"/>
          </a:xfrm>
          <a:prstGeom prst="rect">
            <a:avLst/>
          </a:prstGeom>
          <a:noFill/>
        </p:spPr>
        <p:txBody>
          <a:bodyPr wrap="square" lIns="0" rIns="0" tIns="0" bIns="0" anchor="ctr">
            <a:spAutoFit/>
          </a:bodyPr>
          <a:lstStyle/>
          <a:p>
            <a:pPr algn="l"/>
            <a:r>
              <a:rPr sz="1100" b="1" i="0">
                <a:solidFill>
                  <a:srgbClr val="0D9488"/>
                </a:solidFill>
                <a:latin typeface="Calibri"/>
              </a:rPr>
              <a:t>jazzx-plato-client   </a:t>
            </a:r>
            <a:r>
              <a:rPr sz="1050" b="0" i="0">
                <a:solidFill>
                  <a:srgbClr val="1B0065"/>
                </a:solidFill>
                <a:latin typeface="Calibri"/>
              </a:rPr>
              <a:t>a client package with no SDK dependency. A customer or partner integrates against Plato's routes and never sees the SDK: the policy IR, mode prompts and fabric contracts stay inside the container. The hosted service is the IP boundary.</a:t>
            </a:r>
          </a:p>
        </p:txBody>
      </p:sp>
      <p:sp>
        <p:nvSpPr>
          <p:cNvPr id="113"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114"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CONVERGENCE AND ROADMAP   </a:t>
            </a:r>
            <a:r>
              <a:rPr sz="1050" b="1" i="0">
                <a:solidFill>
                  <a:srgbClr val="FFFFFF"/>
                </a:solidFill>
                <a:latin typeface="Calibri"/>
              </a:rPr>
              <a:t>Plato becomes the v2 control plane: Kernel agents converted one at a time, Jazz Assistant becomes a pack, Studio writes to Plato, eval-service consumed before anything is absorbed. Q4 roadmap: draft for review by Oct 31, 2026 (work in progress; date to confirm).</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