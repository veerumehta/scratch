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147472655" r:id="rId5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5"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read the left column bottom up. The execution service wraps the OpenAI Agents SDK and makes it governed: one gateway for three providers, retries, tracing, cost. Platform agents are task agents defined as data. Pipelines are declared step sequences the Conductor runs. The middle column is what everything reads and writes: canonical objects, with Policy as the one that matters most because rules live as typed data and are checked deterministically and formally, over one fabric that fronts every store. The right column is the library built from those pieces: policy document to JTBDs, document to code, JTBD to code, documents to data, the unified assistant framework and the evaluation framework.</a:t>
            </a:r>
          </a:p>
          <a:p/>
          <a:p>
            <a:r>
              <a:t>Status: 2.6.0 (Plato 0.2.0) merged to main on Oct 5, 2026; 2.6.1 on dev; 2.6.2 on the plato branch, in review; consumers pin 2.5.7. Sources: japes README and docs/ARCHITECTURE.md; CHANGELOG 2.5.7 to 2.6.2 (JTBD ledger, python_jobs, rule trials and rules library, corrections to gold cases, silver reference, scanned documents); plan_sibling_ideas_oct.md; FORMAL_EVALUATION.md. Formal checks run locally today; deployed Plato refuses them until an isolated job service is configured. Numbers counted in the japes working tree on Oct 12, 2026 (find and wc over *.py; grep for def test_; git rev-list; CHANGELOG headings and line-count tags).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8.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An agentic stack, one fabric, canonical objects, and a library built from them</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CURRENT CAPABILITIES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jazzx_sdk 2.6.0 on main since Oct 5, 2.6.2 in review; Plato 0.2 (Platform v2) is the same SDK run as a multi-tenant service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Label"/>
          <p:cNvSpPr txBox="1"/>
          <p:nvPr/>
        </p:nvSpPr>
        <p:spPr>
          <a:xfrm>
            <a:off x="457200" y="1481328"/>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AGENTIC  ·  BUILT BOTTOM UP</a:t>
            </a:r>
          </a:p>
        </p:txBody>
      </p:sp>
      <p:sp>
        <p:nvSpPr>
          <p:cNvPr id="69" name="Pipelines"/>
          <p:cNvSpPr/>
          <p:nvPr/>
        </p:nvSpPr>
        <p:spPr>
          <a:xfrm>
            <a:off x="457200" y="1737360"/>
            <a:ext cx="3611880" cy="1115568"/>
          </a:xfrm>
          <a:prstGeom prst="roundRect">
            <a:avLst>
              <a:gd name="adj" fmla="val 8000"/>
            </a:avLst>
          </a:prstGeom>
          <a:solidFill>
            <a:srgbClr val="1B0065"/>
          </a:solidFill>
          <a:ln w="9525">
            <a:solidFill>
              <a:srgbClr val="1B0065"/>
            </a:solidFill>
          </a:ln>
          <a:effectLst/>
        </p:spPr>
        <p:txBody>
          <a:bodyPr rtlCol="0" anchor="ctr"/>
          <a:lstStyle/>
          <a:p/>
        </p:txBody>
      </p:sp>
      <p:sp>
        <p:nvSpPr>
          <p:cNvPr id="70" name="Pipelines text"/>
          <p:cNvSpPr txBox="1"/>
          <p:nvPr/>
        </p:nvSpPr>
        <p:spPr>
          <a:xfrm>
            <a:off x="594360" y="181051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PIPELINES</a:t>
            </a:r>
          </a:p>
          <a:p>
            <a:pPr algn="l"/>
            <a:r>
              <a:rPr sz="1000" b="0" i="0">
                <a:solidFill>
                  <a:srgbClr val="FFFFFF"/>
                </a:solidFill>
                <a:latin typeface="Calibri"/>
              </a:rPr>
              <a:t>Declared step sequences the Conductor runs: chat lifecycle, document ingest, investigation loop, policy extraction, financial spread. Loops, streaming, durable resume, human checkpoints.</a:t>
            </a:r>
          </a:p>
        </p:txBody>
      </p:sp>
      <p:sp>
        <p:nvSpPr>
          <p:cNvPr id="71" name="Platform agents"/>
          <p:cNvSpPr/>
          <p:nvPr/>
        </p:nvSpPr>
        <p:spPr>
          <a:xfrm>
            <a:off x="457200" y="2926080"/>
            <a:ext cx="3611880" cy="1115568"/>
          </a:xfrm>
          <a:prstGeom prst="roundRect">
            <a:avLst>
              <a:gd name="adj" fmla="val 8000"/>
            </a:avLst>
          </a:prstGeom>
          <a:solidFill>
            <a:srgbClr val="2D1A8A"/>
          </a:solidFill>
          <a:ln w="9525">
            <a:solidFill>
              <a:srgbClr val="2D1A8A"/>
            </a:solidFill>
          </a:ln>
          <a:effectLst/>
        </p:spPr>
        <p:txBody>
          <a:bodyPr rtlCol="0" anchor="ctr"/>
          <a:lstStyle/>
          <a:p/>
        </p:txBody>
      </p:sp>
      <p:sp>
        <p:nvSpPr>
          <p:cNvPr id="72" name="Platform agents text"/>
          <p:cNvSpPr txBox="1"/>
          <p:nvPr/>
        </p:nvSpPr>
        <p:spPr>
          <a:xfrm>
            <a:off x="594360" y="299923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PLATFORM AGENTS</a:t>
            </a:r>
          </a:p>
          <a:p>
            <a:pPr algn="l"/>
            <a:r>
              <a:rPr sz="1000" b="0" i="0">
                <a:solidFill>
                  <a:srgbClr val="FFFFFF"/>
                </a:solidFill>
                <a:latin typeface="Calibri"/>
              </a:rPr>
              <a:t>Task agents defined as data: Interactive (profile, skills, guardrails, scope), Document (classify, extract with provenance), Adjudication (replicated verdicts), Knowledge graph.</a:t>
            </a:r>
          </a:p>
        </p:txBody>
      </p:sp>
      <p:sp>
        <p:nvSpPr>
          <p:cNvPr id="73" name="Agent execution"/>
          <p:cNvSpPr/>
          <p:nvPr/>
        </p:nvSpPr>
        <p:spPr>
          <a:xfrm>
            <a:off x="457200" y="4114800"/>
            <a:ext cx="3611880" cy="1115568"/>
          </a:xfrm>
          <a:prstGeom prst="roundRect">
            <a:avLst>
              <a:gd name="adj" fmla="val 8000"/>
            </a:avLst>
          </a:prstGeom>
          <a:solidFill>
            <a:srgbClr val="4A3AA8"/>
          </a:solidFill>
          <a:ln w="9525">
            <a:solidFill>
              <a:srgbClr val="4A3AA8"/>
            </a:solidFill>
          </a:ln>
          <a:effectLst/>
        </p:spPr>
        <p:txBody>
          <a:bodyPr rtlCol="0" anchor="ctr"/>
          <a:lstStyle/>
          <a:p/>
        </p:txBody>
      </p:sp>
      <p:sp>
        <p:nvSpPr>
          <p:cNvPr id="74" name="Agent execution text"/>
          <p:cNvSpPr txBox="1"/>
          <p:nvPr/>
        </p:nvSpPr>
        <p:spPr>
          <a:xfrm>
            <a:off x="594360" y="4187952"/>
            <a:ext cx="3337560" cy="987552"/>
          </a:xfrm>
          <a:prstGeom prst="rect">
            <a:avLst/>
          </a:prstGeom>
          <a:noFill/>
        </p:spPr>
        <p:txBody>
          <a:bodyPr wrap="square" lIns="0" rIns="0" tIns="0" bIns="0" anchor="t">
            <a:spAutoFit/>
          </a:bodyPr>
          <a:lstStyle/>
          <a:p>
            <a:pPr algn="l">
              <a:spcAft>
                <a:spcPts val="200"/>
              </a:spcAft>
            </a:pPr>
            <a:r>
              <a:rPr sz="900" b="1" i="0" spc="200">
                <a:solidFill>
                  <a:srgbClr val="C9F7EE"/>
                </a:solidFill>
                <a:latin typeface="Calibri"/>
              </a:rPr>
              <a:t>AGENT EXECUTION SERVICE</a:t>
            </a:r>
          </a:p>
          <a:p>
            <a:pPr algn="l"/>
            <a:r>
              <a:rPr sz="1000" b="0" i="0">
                <a:solidFill>
                  <a:srgbClr val="FFFFFF"/>
                </a:solidFill>
                <a:latin typeface="Calibri"/>
              </a:rPr>
              <a:t>On the OpenAI Agents SDK, made governed: OpenAI, Anthropic and Gemini behind one gateway, routing and fallback, retries, tracing, token cost and spend ceilings.</a:t>
            </a:r>
          </a:p>
        </p:txBody>
      </p:sp>
      <p:sp>
        <p:nvSpPr>
          <p:cNvPr id="75" name="Label"/>
          <p:cNvSpPr txBox="1"/>
          <p:nvPr/>
        </p:nvSpPr>
        <p:spPr>
          <a:xfrm>
            <a:off x="4251960" y="1481328"/>
            <a:ext cx="3611880" cy="182880"/>
          </a:xfrm>
          <a:prstGeom prst="rect">
            <a:avLst/>
          </a:prstGeom>
          <a:noFill/>
        </p:spPr>
        <p:txBody>
          <a:bodyPr wrap="square" lIns="0" rIns="0" tIns="0" bIns="0" anchor="t">
            <a:spAutoFit/>
          </a:bodyPr>
          <a:lstStyle/>
          <a:p>
            <a:pPr algn="l"/>
            <a:r>
              <a:rPr sz="900" b="1" i="0" spc="200">
                <a:solidFill>
                  <a:srgbClr val="0D9488"/>
                </a:solidFill>
                <a:latin typeface="Calibri"/>
              </a:rPr>
              <a:t>CANONICAL OBJECTS  ·  POLICY FIRST</a:t>
            </a:r>
          </a:p>
        </p:txBody>
      </p:sp>
      <p:sp>
        <p:nvSpPr>
          <p:cNvPr id="76" name="Canonical"/>
          <p:cNvSpPr/>
          <p:nvPr/>
        </p:nvSpPr>
        <p:spPr>
          <a:xfrm>
            <a:off x="4251960" y="1737360"/>
            <a:ext cx="3611880" cy="1920240"/>
          </a:xfrm>
          <a:prstGeom prst="roundRect">
            <a:avLst>
              <a:gd name="adj" fmla="val 8000"/>
            </a:avLst>
          </a:prstGeom>
          <a:solidFill>
            <a:srgbClr val="E6F8F4"/>
          </a:solidFill>
          <a:ln w="9525">
            <a:solidFill>
              <a:srgbClr val="9FE3D6"/>
            </a:solidFill>
          </a:ln>
          <a:effectLst/>
        </p:spPr>
        <p:txBody>
          <a:bodyPr rtlCol="0" anchor="ctr"/>
          <a:lstStyle/>
          <a:p/>
        </p:txBody>
      </p:sp>
      <p:sp>
        <p:nvSpPr>
          <p:cNvPr id="77" name="Policy"/>
          <p:cNvSpPr txBox="1"/>
          <p:nvPr/>
        </p:nvSpPr>
        <p:spPr>
          <a:xfrm>
            <a:off x="4389120" y="1810512"/>
            <a:ext cx="3337560" cy="274320"/>
          </a:xfrm>
          <a:prstGeom prst="rect">
            <a:avLst/>
          </a:prstGeom>
          <a:noFill/>
        </p:spPr>
        <p:txBody>
          <a:bodyPr wrap="square" lIns="0" rIns="0" tIns="0" bIns="0" anchor="t">
            <a:spAutoFit/>
          </a:bodyPr>
          <a:lstStyle/>
          <a:p>
            <a:pPr algn="l"/>
            <a:r>
              <a:rPr sz="1300" b="1" i="0">
                <a:solidFill>
                  <a:srgbClr val="1B0065"/>
                </a:solidFill>
                <a:latin typeface="Calibri"/>
              </a:rPr>
              <a:t>Policy</a:t>
            </a:r>
          </a:p>
        </p:txBody>
      </p:sp>
      <p:sp>
        <p:nvSpPr>
          <p:cNvPr id="78" name="Policy body"/>
          <p:cNvSpPr txBox="1"/>
          <p:nvPr/>
        </p:nvSpPr>
        <p:spPr>
          <a:xfrm>
            <a:off x="4389120" y="2075688"/>
            <a:ext cx="3337560" cy="731520"/>
          </a:xfrm>
          <a:prstGeom prst="rect">
            <a:avLst/>
          </a:prstGeom>
          <a:noFill/>
        </p:spPr>
        <p:txBody>
          <a:bodyPr wrap="square" lIns="0" rIns="0" tIns="0" bIns="0" anchor="t">
            <a:spAutoFit/>
          </a:bodyPr>
          <a:lstStyle/>
          <a:p>
            <a:pPr algn="l"/>
            <a:r>
              <a:rPr sz="950" b="0" i="0">
                <a:solidFill>
                  <a:srgbClr val="1B0065"/>
                </a:solidFill>
                <a:latin typeface="Calibri"/>
              </a:rPr>
              <a:t>Rules as typed data, not prompt text. A rule can be a comparison against a threshold in the profile, a lookup in a table (Acra's CLTV grid by FICO and loan purpose), a step-by-step procedure an LLM follows, or a small Python function the pack ships, run only in a sandboxed executor. Checked deterministically and formally.</a:t>
            </a:r>
          </a:p>
        </p:txBody>
      </p:sp>
      <p:sp>
        <p:nvSpPr>
          <p:cNvPr id="79" name="Other objects"/>
          <p:cNvSpPr txBox="1"/>
          <p:nvPr/>
        </p:nvSpPr>
        <p:spPr>
          <a:xfrm>
            <a:off x="4389120" y="2852928"/>
            <a:ext cx="3337560" cy="777240"/>
          </a:xfrm>
          <a:prstGeom prst="rect">
            <a:avLst/>
          </a:prstGeom>
          <a:noFill/>
        </p:spPr>
        <p:txBody>
          <a:bodyPr wrap="square" lIns="0" rIns="0" tIns="0" bIns="0" anchor="t">
            <a:spAutoFit/>
          </a:bodyPr>
          <a:lstStyle/>
          <a:p>
            <a:pPr algn="l"/>
            <a:r>
              <a:rPr sz="1100" b="1" i="0">
                <a:solidFill>
                  <a:srgbClr val="1B0065"/>
                </a:solidFill>
                <a:latin typeface="Calibri"/>
              </a:rPr>
              <a:t>Evidence  </a:t>
            </a:r>
            <a:r>
              <a:rPr sz="1000" b="0" i="0">
                <a:solidFill>
                  <a:srgbClr val="1B0065"/>
                </a:solidFill>
                <a:latin typeface="Calibri"/>
              </a:rPr>
              <a:t>every value with its source and confidence</a:t>
            </a:r>
          </a:p>
          <a:p>
            <a:pPr algn="l"/>
            <a:r>
              <a:rPr sz="1100" b="1" i="0">
                <a:solidFill>
                  <a:srgbClr val="1B0065"/>
                </a:solidFill>
                <a:latin typeface="Calibri"/>
              </a:rPr>
              <a:t>Decision  </a:t>
            </a:r>
            <a:r>
              <a:rPr sz="1000" b="0" i="0">
                <a:solidFill>
                  <a:srgbClr val="1B0065"/>
                </a:solidFill>
                <a:latin typeface="Calibri"/>
              </a:rPr>
              <a:t>cites the policy and rules it applied</a:t>
            </a:r>
          </a:p>
          <a:p>
            <a:pPr algn="l"/>
            <a:r>
              <a:rPr sz="1100" b="1" i="0">
                <a:solidFill>
                  <a:srgbClr val="1B0065"/>
                </a:solidFill>
                <a:latin typeface="Calibri"/>
              </a:rPr>
              <a:t>Trace  </a:t>
            </a:r>
            <a:r>
              <a:rPr sz="1000" b="0" i="0">
                <a:solidFill>
                  <a:srgbClr val="1B0065"/>
                </a:solidFill>
                <a:latin typeface="Calibri"/>
              </a:rPr>
              <a:t>the run of record, step by step</a:t>
            </a:r>
          </a:p>
          <a:p>
            <a:pPr algn="l"/>
            <a:r>
              <a:rPr sz="1100" b="1" i="0">
                <a:solidFill>
                  <a:srgbClr val="1B0065"/>
                </a:solidFill>
                <a:latin typeface="Calibri"/>
              </a:rPr>
              <a:t>Outcome  </a:t>
            </a:r>
            <a:r>
              <a:rPr sz="1000" b="0" i="0">
                <a:solidFill>
                  <a:srgbClr val="1B0065"/>
                </a:solidFill>
                <a:latin typeface="Calibri"/>
              </a:rPr>
              <a:t>what happened, and what the loop learns from</a:t>
            </a:r>
          </a:p>
        </p:txBody>
      </p:sp>
      <p:sp>
        <p:nvSpPr>
          <p:cNvPr id="80" name="Label"/>
          <p:cNvSpPr txBox="1"/>
          <p:nvPr/>
        </p:nvSpPr>
        <p:spPr>
          <a:xfrm>
            <a:off x="4251960" y="3794760"/>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FABRIC  ·  ONE FRONT TO EVERY STORE</a:t>
            </a:r>
          </a:p>
        </p:txBody>
      </p:sp>
      <p:sp>
        <p:nvSpPr>
          <p:cNvPr id="81" name="Fabric"/>
          <p:cNvSpPr/>
          <p:nvPr/>
        </p:nvSpPr>
        <p:spPr>
          <a:xfrm>
            <a:off x="4251960" y="4041648"/>
            <a:ext cx="3611880" cy="1188720"/>
          </a:xfrm>
          <a:prstGeom prst="roundRect">
            <a:avLst>
              <a:gd name="adj" fmla="val 8000"/>
            </a:avLst>
          </a:prstGeom>
          <a:solidFill>
            <a:srgbClr val="F3F6FF"/>
          </a:solidFill>
          <a:ln w="9525">
            <a:solidFill>
              <a:srgbClr val="D6DDF3"/>
            </a:solidFill>
          </a:ln>
          <a:effectLst/>
        </p:spPr>
        <p:txBody>
          <a:bodyPr rtlCol="0" anchor="ctr"/>
          <a:lstStyle/>
          <a:p/>
        </p:txBody>
      </p:sp>
      <p:sp>
        <p:nvSpPr>
          <p:cNvPr id="82" name="Fabric text"/>
          <p:cNvSpPr txBox="1"/>
          <p:nvPr/>
        </p:nvSpPr>
        <p:spPr>
          <a:xfrm>
            <a:off x="4389120" y="4114800"/>
            <a:ext cx="3337560" cy="1060704"/>
          </a:xfrm>
          <a:prstGeom prst="rect">
            <a:avLst/>
          </a:prstGeom>
          <a:noFill/>
        </p:spPr>
        <p:txBody>
          <a:bodyPr wrap="square" lIns="0" rIns="0" tIns="0" bIns="0" anchor="t">
            <a:spAutoFit/>
          </a:bodyPr>
          <a:lstStyle/>
          <a:p>
            <a:pPr algn="l">
              <a:spcAft>
                <a:spcPts val="200"/>
              </a:spcAft>
            </a:pPr>
            <a:r>
              <a:rPr sz="900" b="1" i="0" spc="200">
                <a:solidFill>
                  <a:srgbClr val="5069EC"/>
                </a:solidFill>
                <a:latin typeface="Calibri"/>
              </a:rPr>
              <a:t>KNOWLEDGE FABRIC</a:t>
            </a:r>
          </a:p>
          <a:p>
            <a:pPr algn="l"/>
            <a:r>
              <a:rPr sz="1000" b="0" i="0">
                <a:solidFill>
                  <a:srgbClr val="1B0065"/>
                </a:solidFill>
                <a:latin typeface="Calibri"/>
              </a:rPr>
              <a:t>Canonical objects, knowledge graph, RAG and documents through Knowledge Hub, entities, relational persistence, Azure blobs, conversation memory. Backends chosen by configuration, not code; a mock for every store, so a pack tests with no Azure.</a:t>
            </a:r>
          </a:p>
        </p:txBody>
      </p:sp>
      <p:sp>
        <p:nvSpPr>
          <p:cNvPr id="83" name="Label"/>
          <p:cNvSpPr txBox="1"/>
          <p:nvPr/>
        </p:nvSpPr>
        <p:spPr>
          <a:xfrm>
            <a:off x="8046720" y="1481328"/>
            <a:ext cx="3685032" cy="182880"/>
          </a:xfrm>
          <a:prstGeom prst="rect">
            <a:avLst/>
          </a:prstGeom>
          <a:noFill/>
        </p:spPr>
        <p:txBody>
          <a:bodyPr wrap="square" lIns="0" rIns="0" tIns="0" bIns="0" anchor="t">
            <a:spAutoFit/>
          </a:bodyPr>
          <a:lstStyle/>
          <a:p>
            <a:pPr algn="l"/>
            <a:r>
              <a:rPr sz="900" b="1" i="0" spc="200">
                <a:solidFill>
                  <a:srgbClr val="5B2D8E"/>
                </a:solidFill>
                <a:latin typeface="Calibri"/>
              </a:rPr>
              <a:t>LIBRARY  ·  BUILT FROM PIPELINES AND AGENTS</a:t>
            </a:r>
          </a:p>
        </p:txBody>
      </p:sp>
      <p:sp>
        <p:nvSpPr>
          <p:cNvPr id="84" name="Lib item"/>
          <p:cNvSpPr/>
          <p:nvPr/>
        </p:nvSpPr>
        <p:spPr>
          <a:xfrm>
            <a:off x="8046720" y="173736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5" name="Lib text"/>
          <p:cNvSpPr txBox="1"/>
          <p:nvPr/>
        </p:nvSpPr>
        <p:spPr>
          <a:xfrm>
            <a:off x="8183880" y="173736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Policy document to JTBDs</a:t>
            </a:r>
          </a:p>
          <a:p>
            <a:pPr algn="l"/>
            <a:r>
              <a:rPr sz="950" b="0" i="0">
                <a:solidFill>
                  <a:srgbClr val="1E293B"/>
                </a:solidFill>
                <a:latin typeface="Calibri"/>
              </a:rPr>
              <a:t>Guideline text to jobs, with a ledger that cross-checks coverage</a:t>
            </a:r>
          </a:p>
        </p:txBody>
      </p:sp>
      <p:sp>
        <p:nvSpPr>
          <p:cNvPr id="86" name="Lib item"/>
          <p:cNvSpPr/>
          <p:nvPr/>
        </p:nvSpPr>
        <p:spPr>
          <a:xfrm>
            <a:off x="8046720" y="2322576"/>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ib text"/>
          <p:cNvSpPr txBox="1"/>
          <p:nvPr/>
        </p:nvSpPr>
        <p:spPr>
          <a:xfrm>
            <a:off x="8183880" y="2322576"/>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 to code</a:t>
            </a:r>
          </a:p>
          <a:p>
            <a:pPr algn="l"/>
            <a:r>
              <a:rPr sz="950" b="0" i="0">
                <a:solidFill>
                  <a:srgbClr val="1E293B"/>
                </a:solidFill>
                <a:latin typeface="Calibri"/>
              </a:rPr>
              <a:t>Rules generated from the policy, trialled against a baseline before they merge</a:t>
            </a:r>
          </a:p>
        </p:txBody>
      </p:sp>
      <p:sp>
        <p:nvSpPr>
          <p:cNvPr id="88" name="Lib item"/>
          <p:cNvSpPr/>
          <p:nvPr/>
        </p:nvSpPr>
        <p:spPr>
          <a:xfrm>
            <a:off x="8046720" y="2907792"/>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9" name="Lib text"/>
          <p:cNvSpPr txBox="1"/>
          <p:nvPr/>
        </p:nvSpPr>
        <p:spPr>
          <a:xfrm>
            <a:off x="8183880" y="2907792"/>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JTBD to code</a:t>
            </a:r>
          </a:p>
          <a:p>
            <a:pPr algn="l"/>
            <a:r>
              <a:rPr sz="950" b="0" i="0">
                <a:solidFill>
                  <a:srgbClr val="1E293B"/>
                </a:solidFill>
                <a:latin typeface="Calibri"/>
              </a:rPr>
              <a:t>Python rules written from jobs, against a shared rules library</a:t>
            </a:r>
          </a:p>
        </p:txBody>
      </p:sp>
      <p:sp>
        <p:nvSpPr>
          <p:cNvPr id="90" name="Lib item"/>
          <p:cNvSpPr/>
          <p:nvPr/>
        </p:nvSpPr>
        <p:spPr>
          <a:xfrm>
            <a:off x="8046720" y="3493008"/>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1" name="Lib text"/>
          <p:cNvSpPr txBox="1"/>
          <p:nvPr/>
        </p:nvSpPr>
        <p:spPr>
          <a:xfrm>
            <a:off x="8183880" y="3493008"/>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Documents to data</a:t>
            </a:r>
          </a:p>
          <a:p>
            <a:pPr algn="l"/>
            <a:r>
              <a:rPr sz="950" b="0" i="0">
                <a:solidFill>
                  <a:srgbClr val="1E293B"/>
                </a:solidFill>
                <a:latin typeface="Calibri"/>
              </a:rPr>
              <a:t>DocumentAgent: convert, classify, extract; weak values refused, not written</a:t>
            </a:r>
          </a:p>
        </p:txBody>
      </p:sp>
      <p:sp>
        <p:nvSpPr>
          <p:cNvPr id="92" name="Lib item"/>
          <p:cNvSpPr/>
          <p:nvPr/>
        </p:nvSpPr>
        <p:spPr>
          <a:xfrm>
            <a:off x="8046720" y="4078224"/>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3" name="Lib text"/>
          <p:cNvSpPr txBox="1"/>
          <p:nvPr/>
        </p:nvSpPr>
        <p:spPr>
          <a:xfrm>
            <a:off x="8183880" y="4078224"/>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Unified assistant framework</a:t>
            </a:r>
          </a:p>
          <a:p>
            <a:pPr algn="l"/>
            <a:r>
              <a:rPr sz="950" b="0" i="0">
                <a:solidFill>
                  <a:srgbClr val="1E293B"/>
                </a:solidFill>
                <a:latin typeface="Calibri"/>
              </a:rPr>
              <a:t>Assistant manifests, skills over HTTP, chat lifecycle, feedback in the loop</a:t>
            </a:r>
          </a:p>
        </p:txBody>
      </p:sp>
      <p:sp>
        <p:nvSpPr>
          <p:cNvPr id="94" name="Lib item"/>
          <p:cNvSpPr/>
          <p:nvPr/>
        </p:nvSpPr>
        <p:spPr>
          <a:xfrm>
            <a:off x="8046720" y="466344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5" name="Lib text"/>
          <p:cNvSpPr txBox="1"/>
          <p:nvPr/>
        </p:nvSpPr>
        <p:spPr>
          <a:xfrm>
            <a:off x="8183880" y="466344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Evaluation framework</a:t>
            </a:r>
          </a:p>
          <a:p>
            <a:pPr algn="l"/>
            <a:r>
              <a:rPr sz="950" b="0" i="0">
                <a:solidFill>
                  <a:srgbClr val="1E293B"/>
                </a:solidFill>
                <a:latin typeface="Calibri"/>
              </a:rPr>
              <a:t>Gold and silver cases, scorers, experiments, corrections that become cases</a:t>
            </a:r>
          </a:p>
        </p:txBody>
      </p:sp>
      <p:sp>
        <p:nvSpPr>
          <p:cNvPr id="96" name="Band"/>
          <p:cNvSpPr/>
          <p:nvPr/>
        </p:nvSpPr>
        <p:spPr>
          <a:xfrm>
            <a:off x="457200" y="5413248"/>
            <a:ext cx="11274552" cy="877824"/>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13248"/>
            <a:ext cx="10881360" cy="877824"/>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BY THE NUMBERS   </a:t>
            </a:r>
            <a:r>
              <a:rPr sz="1000" b="0" i="0">
                <a:solidFill>
                  <a:srgbClr val="FFFFFF"/>
                </a:solidFill>
                <a:latin typeface="Calibri"/>
              </a:rPr>
              <a:t>jazzx_sdk: 647 files, 139k lines, 38 subpackages, 48 versioned prompts. Tests: 7,719 in 585 files, 142k lines, about a line of test per line of code. Plato: 65 files, 11k lines; client package 9 files, 3k lines. 632 commits since Nov 2025, 196 since Sep 1. 11 versions since 2.5.0 on Sep 6, 105 logged changes with line counts.</a:t>
            </a:r>
          </a:p>
          <a:p>
            <a:pPr algn="l"/>
            <a:r>
              <a:rPr sz="1000" b="1" i="0" spc="150">
                <a:solidFill>
                  <a:srgbClr val="03CBA9"/>
                </a:solidFill>
                <a:latin typeface="Calibri"/>
              </a:rPr>
              <a:t>IN WORK, 2.6.2   </a:t>
            </a:r>
            <a:r>
              <a:rPr sz="1000" b="0" i="0">
                <a:solidFill>
                  <a:srgbClr val="FFFFFF"/>
                </a:solidFill>
                <a:latin typeface="Calibri"/>
              </a:rPr>
              <a:t>scanned documents in DocumentAgent under a dollar budget; a reference without gold; acceptance pinned to a baseline; run health; guideline versioning. Next: the chat runtime items Jazz Assistant asked for; comparison, optimizer and webhook features that only eval-service has today.</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