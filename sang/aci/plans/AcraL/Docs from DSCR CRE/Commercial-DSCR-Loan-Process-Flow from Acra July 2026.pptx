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3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07_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0C_0.xml" ContentType="application/vnd.ms-powerpoint.comments+xml"/>
  <Override PartName="/ppt/notesSlides/notesSlide14.xml" ContentType="application/vnd.openxmlformats-officedocument.presentationml.notesSlide+xml"/>
  <Override PartName="/ppt/comments/modernComment_116_BEDD788F.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13_0.xml" ContentType="application/vnd.ms-powerpoint.comments+xml"/>
  <Override PartName="/ppt/notesSlides/notesSlide22.xml" ContentType="application/vnd.openxmlformats-officedocument.presentationml.notesSlide+xml"/>
  <Override PartName="/ppt/comments/modernComment_114_0.xml" ContentType="application/vnd.ms-powerpoint.comments+xml"/>
  <Override PartName="/ppt/notesSlides/notesSlide23.xml" ContentType="application/vnd.openxmlformats-officedocument.presentationml.notesSlide+xml"/>
  <Override PartName="/ppt/comments/modernComment_115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2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78" r:id="rId18"/>
    <p:sldId id="269" r:id="rId19"/>
    <p:sldId id="270" r:id="rId20"/>
    <p:sldId id="271" r:id="rId21"/>
    <p:sldId id="272" r:id="rId22"/>
    <p:sldId id="273" r:id="rId23"/>
    <p:sldId id="274" r:id="rId24"/>
    <p:sldId id="275" r:id="rId25"/>
    <p:sldId id="276" r:id="rId26"/>
    <p:sldId id="277" r:id="rId27"/>
  </p:sldIdLst>
  <p:sldSz cx="9144000" cy="5143500" type="screen16x9"/>
  <p:notesSz cx="5143500" cy="9144000"/>
  <p:embeddedFontLst>
    <p:embeddedFont>
      <p:font typeface="Roboto" panose="02000000000000000000" pitchFamily="2" charset="0"/>
      <p:regular r:id="rId29"/>
      <p:bold r:id="rId30"/>
      <p:italic r:id="rId31"/>
      <p:boldItalic r:id="rId32"/>
    </p:embeddedFont>
    <p:embeddedFont>
      <p:font typeface="Roboto Slab" pitchFamily="2" charset="0"/>
      <p:regular r:id="rId33"/>
      <p:bold r:id="rId34"/>
    </p:embeddedFont>
    <p:embeddedFont>
      <p:font typeface="Roboto Slab Light" panose="020F0302020204030204" pitchFamily="34" charset="0"/>
      <p:regular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6A301294-B6BF-E058-6F7E-F72B41665798}" name="Tyler Bell" initials="TB" userId="S::tyler.bell@acralending.com::54115660-1831-46e6-b053-876e57f752a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F9CD5E-05D1-3345-9982-0CAA134ADCB1}" v="1" dt="2026-07-16T05:20:43.3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p:restoredTop sz="94684"/>
  </p:normalViewPr>
  <p:slideViewPr>
    <p:cSldViewPr snapToGrid="0">
      <p:cViewPr varScale="1">
        <p:scale>
          <a:sx n="146" d="100"/>
          <a:sy n="146" d="100"/>
        </p:scale>
        <p:origin x="7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font" Target="fonts/font6.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theme" Target="theme/theme1.xml"/></Relationships>
</file>

<file path=ppt/comments/modernComment_10C_0.xml><?xml version="1.0" encoding="utf-8"?>
<p188:cmLst xmlns:a="http://schemas.openxmlformats.org/drawingml/2006/main" xmlns:r="http://schemas.openxmlformats.org/officeDocument/2006/relationships" xmlns:p188="http://schemas.microsoft.com/office/powerpoint/2018/8/main">
  <p188:cm id="{F5E3C916-35C1-428E-BA07-E3658BCA6AED}" authorId="{6A301294-B6BF-E058-6F7E-F72B41665798}" created="2026-06-18T20:46:16.681">
    <pc:sldMkLst xmlns:pc="http://schemas.microsoft.com/office/powerpoint/2013/main/command">
      <pc:docMk/>
      <pc:sldMk cId="0" sldId="268"/>
    </pc:sldMkLst>
    <p188:txBody>
      <a:bodyPr/>
      <a:lstStyle/>
      <a:p>
        <a:r>
          <a:rPr lang="en-US"/>
          <a:t>Should we set expectations that the FS is ordered on day 1 if possible? Let identify what scenario it wouldn’t be available.</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5AE0415F-6495-4B0B-850A-8E570F881D6D}" authorId="{6A301294-B6BF-E058-6F7E-F72B41665798}" created="2026-06-18T20:39:39.885">
    <ac:txMkLst xmlns:ac="http://schemas.microsoft.com/office/drawing/2013/main/command">
      <pc:docMk xmlns:pc="http://schemas.microsoft.com/office/powerpoint/2013/main/command"/>
      <pc:sldMk xmlns:pc="http://schemas.microsoft.com/office/powerpoint/2013/main/command" cId="0" sldId="259"/>
      <ac:spMk id="5" creationId="{00000000-0000-0000-0000-000000000000}"/>
      <ac:txMk cp="306" len="45">
        <ac:context len="585" hash="3050619526"/>
      </ac:txMk>
    </ac:txMkLst>
    <p188:pos x="2139925" y="1937891"/>
    <p188:txBody>
      <a:bodyPr/>
      <a:lstStyle/>
      <a:p>
        <a:r>
          <a:rPr lang="en-US"/>
          <a:t>Currently only a condition like this in legacy, will add next week. In legacy it reads “ Lender to provide e-Consent or e-Disclosure agreements” as a condition. However Setup/Disclosure doesn’t add conditions at this stage so may need to adjust this process in the interim. </a:t>
        </a:r>
      </a:p>
    </p188:txBody>
  </p188:cm>
  <p188:cm id="{62541A4A-2E0B-4218-9CAE-29DA19E11B2A}" authorId="{6A301294-B6BF-E058-6F7E-F72B41665798}" created="2026-06-18T20:40:05.822">
    <ac:txMkLst xmlns:ac="http://schemas.microsoft.com/office/drawing/2013/main/command">
      <pc:docMk xmlns:pc="http://schemas.microsoft.com/office/powerpoint/2013/main/command"/>
      <pc:sldMk xmlns:pc="http://schemas.microsoft.com/office/powerpoint/2013/main/command" cId="0" sldId="259"/>
      <ac:spMk id="5" creationId="{00000000-0000-0000-0000-000000000000}"/>
      <ac:txMk cp="584">
        <ac:context len="585" hash="3050619526"/>
      </ac:txMk>
    </ac:txMkLst>
    <p188:pos x="2204219" y="3173760"/>
    <p188:txBody>
      <a:bodyPr/>
      <a:lstStyle/>
      <a:p>
        <a:r>
          <a:rPr lang="en-US"/>
          <a:t>Again review where and how this is placed</a:t>
        </a:r>
      </a:p>
    </p188:txBody>
  </p188:cm>
  <p188:cm id="{4A8E5D7E-7338-46EB-A8D2-BF2FF49EE9B3}" authorId="{6A301294-B6BF-E058-6F7E-F72B41665798}" created="2026-06-18T20:40:35.216">
    <ac:txMkLst xmlns:ac="http://schemas.microsoft.com/office/drawing/2013/main/command">
      <pc:docMk xmlns:pc="http://schemas.microsoft.com/office/powerpoint/2013/main/command"/>
      <pc:sldMk xmlns:pc="http://schemas.microsoft.com/office/powerpoint/2013/main/command" cId="0" sldId="259"/>
      <ac:spMk id="7" creationId="{00000000-0000-0000-0000-000000000000}"/>
      <ac:txMk cp="0" len="137">
        <ac:context len="263" hash="2904502212"/>
      </ac:txMk>
    </ac:txMkLst>
    <p188:pos x="2175123" y="173385"/>
    <p188:txBody>
      <a:bodyPr/>
      <a:lstStyle/>
      <a:p>
        <a:r>
          <a:rPr lang="en-US"/>
          <a:t>Add to automation ticket list?</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E6E1D645-2969-4BFC-993C-9E6733244962}" authorId="{6A301294-B6BF-E058-6F7E-F72B41665798}" created="2026-06-23T15:26:22.025">
    <ac:txMkLst xmlns:ac="http://schemas.microsoft.com/office/drawing/2013/main/command">
      <pc:docMk xmlns:pc="http://schemas.microsoft.com/office/powerpoint/2013/main/command"/>
      <pc:sldMk xmlns:pc="http://schemas.microsoft.com/office/powerpoint/2013/main/command" cId="0" sldId="263"/>
      <ac:spMk id="21" creationId="{00000000-0000-0000-0000-000000000000}"/>
      <ac:txMk cp="107" len="53">
        <ac:context len="161" hash="2039893616"/>
      </ac:txMk>
    </ac:txMkLst>
    <p188:pos x="3374380" y="328493"/>
    <p188:txBody>
      <a:bodyPr/>
      <a:lstStyle/>
      <a:p>
        <a:r>
          <a:rPr lang="en-US"/>
          <a:t>Who is Management </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297E48D3-F209-47A3-AA20-3FE8961FF0B5}" authorId="{6A301294-B6BF-E058-6F7E-F72B41665798}" created="2026-06-18T20:47:25.951">
    <ac:txMkLst xmlns:ac="http://schemas.microsoft.com/office/drawing/2013/main/command">
      <pc:docMk xmlns:pc="http://schemas.microsoft.com/office/powerpoint/2013/main/command"/>
      <pc:sldMk xmlns:pc="http://schemas.microsoft.com/office/powerpoint/2013/main/command" cId="0" sldId="275"/>
      <ac:spMk id="2" creationId="{00000000-0000-0000-0000-000000000000}"/>
      <ac:txMk cp="15" len="11">
        <ac:context len="27" hash="178510728"/>
      </ac:txMk>
    </ac:txMkLst>
    <p188:pos x="4311625" y="169962"/>
    <p188:txBody>
      <a:bodyPr/>
      <a:lstStyle/>
      <a:p>
        <a:r>
          <a:rPr lang="en-US"/>
          <a:t>Think we need to add in: How it is identifed in their pipelines/Queues that it is a DSCR Loan, the post indexing alert to AM/AE &amp; UW so no excuse even through they got the initial assignment notification this is where they should start their “timer”</a:t>
        </a:r>
      </a:p>
    </p188:txBody>
  </p188:cm>
  <p188:cm id="{6804F384-B71B-40FE-86E9-E1946D1BD5FB}" authorId="{6A301294-B6BF-E058-6F7E-F72B41665798}" created="2026-06-25T20:56:53.149">
    <ac:txMkLst xmlns:ac="http://schemas.microsoft.com/office/drawing/2013/main/command">
      <pc:docMk xmlns:pc="http://schemas.microsoft.com/office/powerpoint/2013/main/command"/>
      <pc:sldMk xmlns:pc="http://schemas.microsoft.com/office/powerpoint/2013/main/command" cId="0" sldId="275"/>
      <ac:spMk id="11" creationId="{00000000-0000-0000-0000-000000000000}"/>
      <ac:txMk cp="19" len="148">
        <ac:context len="168" hash="1869094734"/>
      </ac:txMk>
    </ac:txMkLst>
    <p188:pos x="3411502" y="141249"/>
    <p188:txBody>
      <a:bodyPr/>
      <a:lstStyle/>
      <a:p>
        <a:r>
          <a:rPr lang="en-US"/>
          <a:t>Automated first payment date </a:t>
        </a:r>
      </a:p>
    </p188:txBody>
  </p188:cm>
</p188:cmLst>
</file>

<file path=ppt/comments/modernComment_114_0.xml><?xml version="1.0" encoding="utf-8"?>
<p188:cmLst xmlns:a="http://schemas.openxmlformats.org/drawingml/2006/main" xmlns:r="http://schemas.openxmlformats.org/officeDocument/2006/relationships" xmlns:p188="http://schemas.microsoft.com/office/powerpoint/2018/8/main">
  <p188:cm id="{0D360A24-BDEC-45CA-9469-9D150F9A9868}" authorId="{6A301294-B6BF-E058-6F7E-F72B41665798}" created="2026-06-18T20:49:33.355">
    <ac:txMkLst xmlns:ac="http://schemas.microsoft.com/office/drawing/2013/main/command">
      <pc:docMk xmlns:pc="http://schemas.microsoft.com/office/powerpoint/2013/main/command"/>
      <pc:sldMk xmlns:pc="http://schemas.microsoft.com/office/powerpoint/2013/main/command" cId="0" sldId="276"/>
      <ac:spMk id="7" creationId="{00000000-0000-0000-0000-000000000000}"/>
      <ac:txMk cp="88" len="77">
        <ac:context len="581" hash="75334389"/>
      </ac:txMk>
    </ac:txMkLst>
    <p188:pos x="3930179" y="356816"/>
    <p188:replyLst>
      <p188:reply id="{BE280B79-85CD-4E34-AF25-DC0CAA41888F}" authorId="{6A301294-B6BF-E058-6F7E-F72B41665798}" created="2026-06-23T15:32:24.901">
        <p188:txBody>
          <a:bodyPr/>
          <a:lstStyle/>
          <a:p>
            <a:r>
              <a:rPr lang="en-US"/>
              <a:t>Need to talk about in automation convo </a:t>
            </a:r>
          </a:p>
        </p188:txBody>
      </p188:reply>
    </p188:replyLst>
    <p188:txBody>
      <a:bodyPr/>
      <a:lstStyle/>
      <a:p>
        <a:r>
          <a:rPr lang="en-US"/>
          <a:t>[@Suzy Lindblom] They don’t assign conditons so maybe we swich to tasking in the interim? To discuss</a:t>
        </a:r>
      </a:p>
    </p188:txBody>
  </p188:cm>
</p188:cmLst>
</file>

<file path=ppt/comments/modernComment_115_0.xml><?xml version="1.0" encoding="utf-8"?>
<p188:cmLst xmlns:a="http://schemas.openxmlformats.org/drawingml/2006/main" xmlns:r="http://schemas.openxmlformats.org/officeDocument/2006/relationships" xmlns:p188="http://schemas.microsoft.com/office/powerpoint/2018/8/main">
  <p188:cm id="{2B2F394D-029B-4882-9A77-FAE5B8FBB4B5}" authorId="{6A301294-B6BF-E058-6F7E-F72B41665798}" created="2026-06-23T15:24:52.549">
    <ac:txMkLst xmlns:ac="http://schemas.microsoft.com/office/drawing/2013/main/command">
      <pc:docMk xmlns:pc="http://schemas.microsoft.com/office/powerpoint/2013/main/command"/>
      <pc:sldMk xmlns:pc="http://schemas.microsoft.com/office/powerpoint/2013/main/command" cId="0" sldId="277"/>
      <ac:spMk id="20" creationId="{00000000-0000-0000-0000-000000000000}"/>
      <ac:txMk cp="32" len="15">
        <ac:context len="80" hash="3823277728"/>
      </ac:txMk>
    </ac:txMkLst>
    <p188:pos x="1928166" y="138766"/>
    <p188:txBody>
      <a:bodyPr/>
      <a:lstStyle/>
      <a:p>
        <a:r>
          <a:rPr lang="en-US"/>
          <a:t>Figure out what documents </a:t>
        </a:r>
      </a:p>
    </p188:txBody>
  </p188:cm>
</p188:cmLst>
</file>

<file path=ppt/comments/modernComment_116_BEDD788F.xml><?xml version="1.0" encoding="utf-8"?>
<p188:cmLst xmlns:a="http://schemas.openxmlformats.org/drawingml/2006/main" xmlns:r="http://schemas.openxmlformats.org/officeDocument/2006/relationships" xmlns:p188="http://schemas.microsoft.com/office/powerpoint/2018/8/main">
  <p188:cm id="{EE81798E-D053-47A3-9473-A9AD569A32B2}" authorId="{6A301294-B6BF-E058-6F7E-F72B41665798}" created="2026-06-23T15:30:04.960">
    <ac:txMkLst xmlns:ac="http://schemas.microsoft.com/office/drawing/2013/main/command">
      <pc:docMk xmlns:pc="http://schemas.microsoft.com/office/powerpoint/2013/main/command"/>
      <pc:sldMk xmlns:pc="http://schemas.microsoft.com/office/powerpoint/2013/main/command" cId="3202185359" sldId="278"/>
      <ac:spMk id="2" creationId="{79DD296A-1730-0ACD-0A38-5AC72F79E817}"/>
      <ac:txMk cp="0" len="33">
        <ac:context len="34" hash="927241529"/>
      </ac:txMk>
    </ac:txMkLst>
    <p188:pos x="5330250" y="141038"/>
    <p188:txBody>
      <a:bodyPr/>
      <a:lstStyle/>
      <a:p>
        <a:r>
          <a:rPr lang="en-US"/>
          <a:t>Need to build out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5206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5FCE4-21F8-FB22-40B5-F566E7E47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958FE-72CE-F0D7-81BD-7F1BDE108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BC0F4-1FAB-022A-9C50-C8FE73C180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D889FC-485B-7FD5-4C21-E16CBA0CDE3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66950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US"/>
          </a:p>
        </p:txBody>
      </p:sp>
      <p:sp>
        <p:nvSpPr>
          <p:cNvPr id="3" name="Shape 1"/>
          <p:cNvSpPr/>
          <p:nvPr/>
        </p:nvSpPr>
        <p:spPr>
          <a:xfrm>
            <a:off x="0" y="0"/>
            <a:ext cx="9144000" cy="5143500"/>
          </a:xfrm>
          <a:prstGeom prst="rect">
            <a:avLst/>
          </a:prstGeom>
          <a:solidFill>
            <a:srgbClr val="FBFCFE"/>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3" Type="http://schemas.microsoft.com/office/2018/10/relationships/comments" Target="../comments/modernComment_10C_0.xml"/><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svg"/></Relationships>
</file>

<file path=ppt/slides/_rels/slide14.xml.rels><?xml version="1.0" encoding="UTF-8" standalone="yes"?>
<Relationships xmlns="http://schemas.openxmlformats.org/package/2006/relationships"><Relationship Id="rId3" Type="http://schemas.microsoft.com/office/2018/10/relationships/comments" Target="../comments/modernComment_116_BEDD788F.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43.png"/><Relationship Id="rId3" Type="http://schemas.microsoft.com/office/2018/10/relationships/comments" Target="../comments/modernComment_113_0.xml"/><Relationship Id="rId7" Type="http://schemas.openxmlformats.org/officeDocument/2006/relationships/image" Target="../media/image42.svg"/><Relationship Id="rId12"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40.sv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svg"/></Relationships>
</file>

<file path=ppt/slides/_rels/slide22.xml.rels><?xml version="1.0" encoding="UTF-8" standalone="yes"?>
<Relationships xmlns="http://schemas.openxmlformats.org/package/2006/relationships"><Relationship Id="rId3" Type="http://schemas.microsoft.com/office/2018/10/relationships/comments" Target="../comments/modernComment_114_0.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115_0.xm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420960"/>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Commercial DSCR Loan Process Flow</a:t>
            </a:r>
            <a:endParaRPr lang="en-US" sz="2400"/>
          </a:p>
        </p:txBody>
      </p:sp>
      <p:sp>
        <p:nvSpPr>
          <p:cNvPr id="4" name="Text 1"/>
          <p:cNvSpPr/>
          <p:nvPr/>
        </p:nvSpPr>
        <p:spPr>
          <a:xfrm>
            <a:off x="496119" y="1382092"/>
            <a:ext cx="4722763"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 comprehensive operational guide for mortgage processing, underwriting, account management, and closing teams — establishing clear ownership, SLAs, and handoff protocols from broker submission through funded closing.</a:t>
            </a:r>
            <a:endParaRPr lang="en-US" sz="950"/>
          </a:p>
        </p:txBody>
      </p:sp>
      <p:sp>
        <p:nvSpPr>
          <p:cNvPr id="5" name="Shape 2"/>
          <p:cNvSpPr/>
          <p:nvPr/>
        </p:nvSpPr>
        <p:spPr>
          <a:xfrm>
            <a:off x="496119" y="2121768"/>
            <a:ext cx="1044699" cy="233214"/>
          </a:xfrm>
          <a:prstGeom prst="roundRect">
            <a:avLst>
              <a:gd name="adj" fmla="val 6383"/>
            </a:avLst>
          </a:prstGeom>
          <a:solidFill>
            <a:srgbClr val="D7DFF4"/>
          </a:solidFill>
          <a:ln/>
        </p:spPr>
        <p:txBody>
          <a:bodyPr/>
          <a:lstStyle/>
          <a:p>
            <a:endParaRPr lang="en-US"/>
          </a:p>
        </p:txBody>
      </p:sp>
      <p:sp>
        <p:nvSpPr>
          <p:cNvPr id="6" name="Text 3"/>
          <p:cNvSpPr/>
          <p:nvPr/>
        </p:nvSpPr>
        <p:spPr>
          <a:xfrm>
            <a:off x="570533" y="2158975"/>
            <a:ext cx="1353071"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OPERATIONS GUIDE</a:t>
            </a:r>
            <a:endParaRPr lang="en-US" sz="750"/>
          </a:p>
        </p:txBody>
      </p:sp>
      <p:sp>
        <p:nvSpPr>
          <p:cNvPr id="7" name="Shape 4"/>
          <p:cNvSpPr/>
          <p:nvPr/>
        </p:nvSpPr>
        <p:spPr>
          <a:xfrm>
            <a:off x="1602804" y="2117006"/>
            <a:ext cx="1066726" cy="242739"/>
          </a:xfrm>
          <a:prstGeom prst="roundRect">
            <a:avLst>
              <a:gd name="adj" fmla="val 6132"/>
            </a:avLst>
          </a:prstGeom>
          <a:noFill/>
          <a:ln w="4763">
            <a:solidFill>
              <a:srgbClr val="3257B8"/>
            </a:solidFill>
            <a:prstDash val="solid"/>
          </a:ln>
        </p:spPr>
        <p:txBody>
          <a:bodyPr/>
          <a:lstStyle/>
          <a:p>
            <a:endParaRPr lang="en-US"/>
          </a:p>
        </p:txBody>
      </p:sp>
      <p:sp>
        <p:nvSpPr>
          <p:cNvPr id="8" name="Text 5"/>
          <p:cNvSpPr/>
          <p:nvPr/>
        </p:nvSpPr>
        <p:spPr>
          <a:xfrm>
            <a:off x="1681981" y="2158975"/>
            <a:ext cx="1365572" cy="158800"/>
          </a:xfrm>
          <a:prstGeom prst="rect">
            <a:avLst/>
          </a:prstGeom>
          <a:noFill/>
          <a:ln/>
        </p:spPr>
        <p:txBody>
          <a:bodyPr wrap="none" lIns="0" tIns="0" rIns="0" bIns="0" rtlCol="0" anchor="t"/>
          <a:lstStyle/>
          <a:p>
            <a:pPr marL="0" indent="0" algn="l">
              <a:lnSpc>
                <a:spcPct val="133000"/>
              </a:lnSpc>
              <a:buNone/>
            </a:pPr>
            <a:r>
              <a:rPr lang="en-US" sz="750">
                <a:solidFill>
                  <a:srgbClr val="3257B8"/>
                </a:solidFill>
                <a:latin typeface="Roboto" pitchFamily="34" charset="0"/>
                <a:ea typeface="Roboto" pitchFamily="34" charset="-122"/>
                <a:cs typeface="Roboto" pitchFamily="34" charset="-120"/>
              </a:rPr>
              <a:t>COMMERCIAL DSCR</a:t>
            </a:r>
            <a:endParaRPr lang="en-US" sz="750"/>
          </a:p>
        </p:txBody>
      </p:sp>
      <p:sp>
        <p:nvSpPr>
          <p:cNvPr id="9" name="Shape 6"/>
          <p:cNvSpPr/>
          <p:nvPr/>
        </p:nvSpPr>
        <p:spPr>
          <a:xfrm>
            <a:off x="496119" y="2499271"/>
            <a:ext cx="4722763" cy="2223195"/>
          </a:xfrm>
          <a:prstGeom prst="roundRect">
            <a:avLst>
              <a:gd name="adj" fmla="val 837"/>
            </a:avLst>
          </a:prstGeom>
          <a:solidFill>
            <a:srgbClr val="E9ECF2"/>
          </a:solidFill>
          <a:ln/>
        </p:spPr>
        <p:txBody>
          <a:bodyPr/>
          <a:lstStyle/>
          <a:p>
            <a:endParaRPr lang="en-US"/>
          </a:p>
        </p:txBody>
      </p:sp>
      <p:sp>
        <p:nvSpPr>
          <p:cNvPr id="10" name="Shape 7"/>
          <p:cNvSpPr/>
          <p:nvPr/>
        </p:nvSpPr>
        <p:spPr>
          <a:xfrm>
            <a:off x="496119" y="2499271"/>
            <a:ext cx="2361381" cy="1310060"/>
          </a:xfrm>
          <a:prstGeom prst="rect">
            <a:avLst/>
          </a:prstGeom>
          <a:solidFill>
            <a:srgbClr val="E9ECF2"/>
          </a:solidFill>
          <a:ln/>
        </p:spPr>
        <p:txBody>
          <a:bodyPr/>
          <a:lstStyle/>
          <a:p>
            <a:endParaRPr lang="en-US"/>
          </a:p>
        </p:txBody>
      </p:sp>
      <p:sp>
        <p:nvSpPr>
          <p:cNvPr id="11" name="Text 8"/>
          <p:cNvSpPr/>
          <p:nvPr/>
        </p:nvSpPr>
        <p:spPr>
          <a:xfrm>
            <a:off x="620092" y="2623245"/>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Purpose</a:t>
            </a:r>
            <a:endParaRPr lang="en-US" sz="1200"/>
          </a:p>
        </p:txBody>
      </p:sp>
      <p:sp>
        <p:nvSpPr>
          <p:cNvPr id="12" name="Text 9"/>
          <p:cNvSpPr/>
          <p:nvPr/>
        </p:nvSpPr>
        <p:spPr>
          <a:xfrm>
            <a:off x="620092" y="2891507"/>
            <a:ext cx="2113434"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Define clear process ownership, SLAs, and handoff triggers for every stage of the Commercial DSCR pipeline.</a:t>
            </a:r>
            <a:endParaRPr lang="en-US" sz="950"/>
          </a:p>
        </p:txBody>
      </p:sp>
      <p:sp>
        <p:nvSpPr>
          <p:cNvPr id="13" name="Shape 10"/>
          <p:cNvSpPr/>
          <p:nvPr/>
        </p:nvSpPr>
        <p:spPr>
          <a:xfrm>
            <a:off x="2857500" y="2499271"/>
            <a:ext cx="2361381" cy="1310060"/>
          </a:xfrm>
          <a:prstGeom prst="rect">
            <a:avLst/>
          </a:prstGeom>
          <a:solidFill>
            <a:srgbClr val="E9ECF2"/>
          </a:solidFill>
          <a:ln/>
        </p:spPr>
        <p:txBody>
          <a:bodyPr/>
          <a:lstStyle/>
          <a:p>
            <a:endParaRPr lang="en-US"/>
          </a:p>
        </p:txBody>
      </p:sp>
      <p:sp>
        <p:nvSpPr>
          <p:cNvPr id="14" name="Shape 11"/>
          <p:cNvSpPr/>
          <p:nvPr/>
        </p:nvSpPr>
        <p:spPr>
          <a:xfrm>
            <a:off x="2857500" y="2499271"/>
            <a:ext cx="14288" cy="1310060"/>
          </a:xfrm>
          <a:prstGeom prst="roundRect">
            <a:avLst>
              <a:gd name="adj" fmla="val 130228"/>
            </a:avLst>
          </a:prstGeom>
          <a:solidFill>
            <a:srgbClr val="CFD2D8"/>
          </a:solidFill>
          <a:ln/>
        </p:spPr>
        <p:txBody>
          <a:bodyPr/>
          <a:lstStyle/>
          <a:p>
            <a:endParaRPr lang="en-US"/>
          </a:p>
        </p:txBody>
      </p:sp>
      <p:sp>
        <p:nvSpPr>
          <p:cNvPr id="15" name="Text 12"/>
          <p:cNvSpPr/>
          <p:nvPr/>
        </p:nvSpPr>
        <p:spPr>
          <a:xfrm>
            <a:off x="2981474" y="2623245"/>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Audience</a:t>
            </a:r>
            <a:endParaRPr lang="en-US" sz="1200"/>
          </a:p>
        </p:txBody>
      </p:sp>
      <p:sp>
        <p:nvSpPr>
          <p:cNvPr id="16" name="Text 13"/>
          <p:cNvSpPr/>
          <p:nvPr/>
        </p:nvSpPr>
        <p:spPr>
          <a:xfrm>
            <a:off x="2981474" y="2891507"/>
            <a:ext cx="2113434" cy="793849"/>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Setup, Underwriting, Account Management, Legal, and Closing teams operating on commercial DSCR files.</a:t>
            </a:r>
            <a:endParaRPr lang="en-US" sz="950"/>
          </a:p>
        </p:txBody>
      </p:sp>
      <p:sp>
        <p:nvSpPr>
          <p:cNvPr id="17" name="Shape 14"/>
          <p:cNvSpPr/>
          <p:nvPr/>
        </p:nvSpPr>
        <p:spPr>
          <a:xfrm>
            <a:off x="496119" y="3809330"/>
            <a:ext cx="4722763" cy="913135"/>
          </a:xfrm>
          <a:prstGeom prst="rect">
            <a:avLst/>
          </a:prstGeom>
          <a:solidFill>
            <a:srgbClr val="E9ECF2"/>
          </a:solidFill>
          <a:ln/>
        </p:spPr>
        <p:txBody>
          <a:bodyPr/>
          <a:lstStyle/>
          <a:p>
            <a:endParaRPr lang="en-US"/>
          </a:p>
        </p:txBody>
      </p:sp>
      <p:sp>
        <p:nvSpPr>
          <p:cNvPr id="18" name="Shape 15"/>
          <p:cNvSpPr/>
          <p:nvPr/>
        </p:nvSpPr>
        <p:spPr>
          <a:xfrm>
            <a:off x="496119" y="3809330"/>
            <a:ext cx="4722763" cy="14288"/>
          </a:xfrm>
          <a:prstGeom prst="roundRect">
            <a:avLst>
              <a:gd name="adj" fmla="val 130228"/>
            </a:avLst>
          </a:prstGeom>
          <a:solidFill>
            <a:srgbClr val="CFD2D8"/>
          </a:solidFill>
          <a:ln/>
        </p:spPr>
        <p:txBody>
          <a:bodyPr/>
          <a:lstStyle/>
          <a:p>
            <a:endParaRPr lang="en-US"/>
          </a:p>
        </p:txBody>
      </p:sp>
      <p:sp>
        <p:nvSpPr>
          <p:cNvPr id="19" name="Text 16"/>
          <p:cNvSpPr/>
          <p:nvPr/>
        </p:nvSpPr>
        <p:spPr>
          <a:xfrm>
            <a:off x="620092" y="393330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Scope</a:t>
            </a:r>
            <a:endParaRPr lang="en-US" sz="1200"/>
          </a:p>
        </p:txBody>
      </p:sp>
      <p:sp>
        <p:nvSpPr>
          <p:cNvPr id="20" name="Text 17"/>
          <p:cNvSpPr/>
          <p:nvPr/>
        </p:nvSpPr>
        <p:spPr>
          <a:xfrm>
            <a:off x="620092" y="4201567"/>
            <a:ext cx="4474815"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Covers broker submission through funded closing — including entity review, condo eligibility, and system automations.</a:t>
            </a:r>
            <a:endParaRPr lang="en-US" sz="9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50937"/>
            <a:ext cx="4587106" cy="369466"/>
          </a:xfrm>
          <a:prstGeom prst="rect">
            <a:avLst/>
          </a:prstGeom>
          <a:noFill/>
          <a:ln/>
        </p:spPr>
        <p:txBody>
          <a:bodyPr wrap="none" lIns="0" tIns="0" rIns="0" bIns="0" rtlCol="0" anchor="t"/>
          <a:lstStyle/>
          <a:p>
            <a:pPr marL="0" indent="0" algn="l">
              <a:lnSpc>
                <a:spcPct val="104000"/>
              </a:lnSpc>
              <a:buNone/>
            </a:pPr>
            <a:r>
              <a:rPr lang="en-US" sz="2300">
                <a:solidFill>
                  <a:srgbClr val="3257B8"/>
                </a:solidFill>
                <a:latin typeface="Roboto Slab" pitchFamily="34" charset="0"/>
                <a:ea typeface="Roboto Slab" pitchFamily="34" charset="-122"/>
                <a:cs typeface="Roboto Slab" pitchFamily="34" charset="-120"/>
              </a:rPr>
              <a:t>Four-Stage Pipeline Overview</a:t>
            </a:r>
            <a:endParaRPr lang="en-US" sz="2300"/>
          </a:p>
        </p:txBody>
      </p:sp>
      <p:sp>
        <p:nvSpPr>
          <p:cNvPr id="3" name="Text 1"/>
          <p:cNvSpPr/>
          <p:nvPr/>
        </p:nvSpPr>
        <p:spPr>
          <a:xfrm>
            <a:off x="496119" y="945728"/>
            <a:ext cx="8608963" cy="184696"/>
          </a:xfrm>
          <a:prstGeom prst="rect">
            <a:avLst/>
          </a:prstGeom>
          <a:noFill/>
          <a:ln/>
        </p:spPr>
        <p:txBody>
          <a:bodyPr wrap="none" lIns="0" tIns="0" rIns="0" bIns="0" rtlCol="0" anchor="t"/>
          <a:lstStyle/>
          <a:p>
            <a:pPr marL="0" indent="0" algn="l">
              <a:lnSpc>
                <a:spcPct val="130000"/>
              </a:lnSpc>
              <a:buNone/>
            </a:pPr>
            <a:r>
              <a:rPr lang="en-US" sz="900">
                <a:solidFill>
                  <a:srgbClr val="15213F"/>
                </a:solidFill>
                <a:latin typeface="Roboto" pitchFamily="34" charset="0"/>
                <a:ea typeface="Roboto" pitchFamily="34" charset="-122"/>
                <a:cs typeface="Roboto" pitchFamily="34" charset="-120"/>
              </a:rPr>
              <a:t>Every stage has a defined owner, hard SLA, and documented handoff trigger. No step advances without the prior stage's completion criteria being met.</a:t>
            </a:r>
            <a:endParaRPr lang="en-US" sz="900"/>
          </a:p>
        </p:txBody>
      </p:sp>
      <p:pic>
        <p:nvPicPr>
          <p:cNvPr id="4" name="Image 0" descr="preencoded.png"/>
          <p:cNvPicPr>
            <a:picLocks noChangeAspect="1"/>
          </p:cNvPicPr>
          <p:nvPr/>
        </p:nvPicPr>
        <p:blipFill>
          <a:blip r:embed="rId3"/>
          <a:stretch>
            <a:fillRect/>
          </a:stretch>
        </p:blipFill>
        <p:spPr>
          <a:xfrm>
            <a:off x="496119" y="1257151"/>
            <a:ext cx="4075881" cy="472901"/>
          </a:xfrm>
          <a:prstGeom prst="rect">
            <a:avLst/>
          </a:prstGeom>
        </p:spPr>
      </p:pic>
      <p:sp>
        <p:nvSpPr>
          <p:cNvPr id="5" name="Text 2"/>
          <p:cNvSpPr/>
          <p:nvPr/>
        </p:nvSpPr>
        <p:spPr>
          <a:xfrm>
            <a:off x="614288" y="1842715"/>
            <a:ext cx="1503387" cy="184696"/>
          </a:xfrm>
          <a:prstGeom prst="rect">
            <a:avLst/>
          </a:prstGeom>
          <a:noFill/>
          <a:ln/>
        </p:spPr>
        <p:txBody>
          <a:bodyPr wrap="none" lIns="0" tIns="0" rIns="0" bIns="0" rtlCol="0" anchor="t"/>
          <a:lstStyle/>
          <a:p>
            <a:pPr marL="0" indent="0" algn="l">
              <a:lnSpc>
                <a:spcPct val="104000"/>
              </a:lnSpc>
              <a:buNone/>
            </a:pPr>
            <a:r>
              <a:rPr lang="en-US" sz="1150">
                <a:solidFill>
                  <a:srgbClr val="15213F"/>
                </a:solidFill>
                <a:latin typeface="Roboto Slab" pitchFamily="34" charset="0"/>
                <a:ea typeface="Roboto Slab" pitchFamily="34" charset="-122"/>
                <a:cs typeface="Roboto Slab" pitchFamily="34" charset="-120"/>
              </a:rPr>
              <a:t>Stage 1 — Loan Set Up</a:t>
            </a:r>
            <a:endParaRPr lang="en-US" sz="1150"/>
          </a:p>
        </p:txBody>
      </p:sp>
      <p:sp>
        <p:nvSpPr>
          <p:cNvPr id="6" name="Text 3"/>
          <p:cNvSpPr/>
          <p:nvPr/>
        </p:nvSpPr>
        <p:spPr>
          <a:xfrm>
            <a:off x="614288" y="2094979"/>
            <a:ext cx="3839542" cy="369391"/>
          </a:xfrm>
          <a:prstGeom prst="rect">
            <a:avLst/>
          </a:prstGeom>
          <a:noFill/>
          <a:ln/>
        </p:spPr>
        <p:txBody>
          <a:bodyPr wrap="square" lIns="0" tIns="0" rIns="0" bIns="0" rtlCol="0" anchor="t">
            <a:normAutofit/>
          </a:bodyPr>
          <a:lstStyle/>
          <a:p>
            <a:pPr marL="0" indent="0" algn="l">
              <a:lnSpc>
                <a:spcPct val="130000"/>
              </a:lnSpc>
              <a:buNone/>
            </a:pPr>
            <a:r>
              <a:rPr lang="en-US" sz="900">
                <a:solidFill>
                  <a:srgbClr val="15213F"/>
                </a:solidFill>
                <a:latin typeface="Roboto" pitchFamily="34" charset="0"/>
                <a:ea typeface="Roboto" pitchFamily="34" charset="-122"/>
                <a:cs typeface="Roboto" pitchFamily="34" charset="-120"/>
              </a:rPr>
              <a:t>Broker submits via Glide; Setup team indexes, validates, and prepares file for underwriting on </a:t>
            </a:r>
            <a:r>
              <a:rPr lang="en-US" sz="900" b="1">
                <a:solidFill>
                  <a:srgbClr val="15213F"/>
                </a:solidFill>
                <a:latin typeface="Roboto" pitchFamily="34" charset="0"/>
                <a:ea typeface="Roboto" pitchFamily="34" charset="-122"/>
                <a:cs typeface="Roboto" pitchFamily="34" charset="-120"/>
              </a:rPr>
              <a:t>Day 1</a:t>
            </a:r>
            <a:r>
              <a:rPr lang="en-US" sz="900">
                <a:solidFill>
                  <a:srgbClr val="15213F"/>
                </a:solidFill>
                <a:latin typeface="Roboto" pitchFamily="34" charset="0"/>
                <a:ea typeface="Roboto" pitchFamily="34" charset="-122"/>
                <a:cs typeface="Roboto" pitchFamily="34" charset="-120"/>
              </a:rPr>
              <a:t>.</a:t>
            </a:r>
            <a:endParaRPr lang="en-US" sz="900"/>
          </a:p>
        </p:txBody>
      </p:sp>
      <p:pic>
        <p:nvPicPr>
          <p:cNvPr id="7" name="Image 1" descr="preencoded.png"/>
          <p:cNvPicPr>
            <a:picLocks noChangeAspect="1"/>
          </p:cNvPicPr>
          <p:nvPr/>
        </p:nvPicPr>
        <p:blipFill>
          <a:blip r:embed="rId4"/>
          <a:stretch>
            <a:fillRect/>
          </a:stretch>
        </p:blipFill>
        <p:spPr>
          <a:xfrm>
            <a:off x="4572000" y="1257151"/>
            <a:ext cx="4075881" cy="472901"/>
          </a:xfrm>
          <a:prstGeom prst="rect">
            <a:avLst/>
          </a:prstGeom>
        </p:spPr>
      </p:pic>
      <p:sp>
        <p:nvSpPr>
          <p:cNvPr id="8" name="Text 4"/>
          <p:cNvSpPr/>
          <p:nvPr/>
        </p:nvSpPr>
        <p:spPr>
          <a:xfrm>
            <a:off x="4690170" y="1842715"/>
            <a:ext cx="1640830" cy="184696"/>
          </a:xfrm>
          <a:prstGeom prst="rect">
            <a:avLst/>
          </a:prstGeom>
          <a:noFill/>
          <a:ln/>
        </p:spPr>
        <p:txBody>
          <a:bodyPr wrap="none" lIns="0" tIns="0" rIns="0" bIns="0" rtlCol="0" anchor="t"/>
          <a:lstStyle/>
          <a:p>
            <a:pPr marL="0" indent="0" algn="l">
              <a:lnSpc>
                <a:spcPct val="104000"/>
              </a:lnSpc>
              <a:buNone/>
            </a:pPr>
            <a:r>
              <a:rPr lang="en-US" sz="1150">
                <a:solidFill>
                  <a:srgbClr val="15213F"/>
                </a:solidFill>
                <a:latin typeface="Roboto Slab" pitchFamily="34" charset="0"/>
                <a:ea typeface="Roboto Slab" pitchFamily="34" charset="-122"/>
                <a:cs typeface="Roboto Slab" pitchFamily="34" charset="-120"/>
              </a:rPr>
              <a:t>Stage 2 — Underwriting</a:t>
            </a:r>
            <a:endParaRPr lang="en-US" sz="1150"/>
          </a:p>
        </p:txBody>
      </p:sp>
      <p:sp>
        <p:nvSpPr>
          <p:cNvPr id="9" name="Text 5"/>
          <p:cNvSpPr/>
          <p:nvPr/>
        </p:nvSpPr>
        <p:spPr>
          <a:xfrm>
            <a:off x="4690170" y="2094979"/>
            <a:ext cx="3839542" cy="369391"/>
          </a:xfrm>
          <a:prstGeom prst="rect">
            <a:avLst/>
          </a:prstGeom>
          <a:noFill/>
          <a:ln/>
        </p:spPr>
        <p:txBody>
          <a:bodyPr wrap="square" lIns="0" tIns="0" rIns="0" bIns="0" rtlCol="0" anchor="t">
            <a:normAutofit/>
          </a:bodyPr>
          <a:lstStyle/>
          <a:p>
            <a:pPr marL="0" indent="0" algn="l">
              <a:lnSpc>
                <a:spcPct val="130000"/>
              </a:lnSpc>
              <a:buNone/>
            </a:pPr>
            <a:r>
              <a:rPr lang="en-US" sz="900">
                <a:solidFill>
                  <a:srgbClr val="15213F"/>
                </a:solidFill>
                <a:latin typeface="Roboto" pitchFamily="34" charset="0"/>
                <a:ea typeface="Roboto" pitchFamily="34" charset="-122"/>
                <a:cs typeface="Roboto" pitchFamily="34" charset="-120"/>
              </a:rPr>
              <a:t>Underwriter completes full credit, property, and entity analysis within </a:t>
            </a:r>
            <a:r>
              <a:rPr lang="en-US" sz="900" b="1">
                <a:solidFill>
                  <a:srgbClr val="15213F"/>
                </a:solidFill>
                <a:latin typeface="Roboto" pitchFamily="34" charset="0"/>
                <a:ea typeface="Roboto" pitchFamily="34" charset="-122"/>
                <a:cs typeface="Roboto" pitchFamily="34" charset="-120"/>
              </a:rPr>
              <a:t>24 hours</a:t>
            </a:r>
            <a:r>
              <a:rPr lang="en-US" sz="900">
                <a:solidFill>
                  <a:srgbClr val="15213F"/>
                </a:solidFill>
                <a:latin typeface="Roboto" pitchFamily="34" charset="0"/>
                <a:ea typeface="Roboto" pitchFamily="34" charset="-122"/>
                <a:cs typeface="Roboto" pitchFamily="34" charset="-120"/>
              </a:rPr>
              <a:t> of receipt alert.</a:t>
            </a:r>
            <a:endParaRPr lang="en-US" sz="900"/>
          </a:p>
        </p:txBody>
      </p:sp>
      <p:pic>
        <p:nvPicPr>
          <p:cNvPr id="10" name="Image 2" descr="preencoded.png"/>
          <p:cNvPicPr>
            <a:picLocks noChangeAspect="1"/>
          </p:cNvPicPr>
          <p:nvPr/>
        </p:nvPicPr>
        <p:blipFill>
          <a:blip r:embed="rId5"/>
          <a:stretch>
            <a:fillRect/>
          </a:stretch>
        </p:blipFill>
        <p:spPr>
          <a:xfrm>
            <a:off x="496119" y="2582540"/>
            <a:ext cx="4075881" cy="472901"/>
          </a:xfrm>
          <a:prstGeom prst="rect">
            <a:avLst/>
          </a:prstGeom>
        </p:spPr>
      </p:pic>
      <p:sp>
        <p:nvSpPr>
          <p:cNvPr id="11" name="Text 6"/>
          <p:cNvSpPr/>
          <p:nvPr/>
        </p:nvSpPr>
        <p:spPr>
          <a:xfrm>
            <a:off x="614288" y="3168104"/>
            <a:ext cx="2235324" cy="184696"/>
          </a:xfrm>
          <a:prstGeom prst="rect">
            <a:avLst/>
          </a:prstGeom>
          <a:noFill/>
          <a:ln/>
        </p:spPr>
        <p:txBody>
          <a:bodyPr wrap="none" lIns="0" tIns="0" rIns="0" bIns="0" rtlCol="0" anchor="t"/>
          <a:lstStyle/>
          <a:p>
            <a:pPr marL="0" indent="0" algn="l">
              <a:lnSpc>
                <a:spcPct val="104000"/>
              </a:lnSpc>
              <a:buNone/>
            </a:pPr>
            <a:r>
              <a:rPr lang="en-US" sz="1150">
                <a:solidFill>
                  <a:srgbClr val="15213F"/>
                </a:solidFill>
                <a:latin typeface="Roboto Slab" pitchFamily="34" charset="0"/>
                <a:ea typeface="Roboto Slab" pitchFamily="34" charset="-122"/>
                <a:cs typeface="Roboto Slab" pitchFamily="34" charset="-120"/>
              </a:rPr>
              <a:t>Stage 3 — Account Management</a:t>
            </a:r>
            <a:endParaRPr lang="en-US" sz="1150"/>
          </a:p>
        </p:txBody>
      </p:sp>
      <p:sp>
        <p:nvSpPr>
          <p:cNvPr id="12" name="Text 7"/>
          <p:cNvSpPr/>
          <p:nvPr/>
        </p:nvSpPr>
        <p:spPr>
          <a:xfrm>
            <a:off x="614288" y="3420368"/>
            <a:ext cx="3839542" cy="369391"/>
          </a:xfrm>
          <a:prstGeom prst="rect">
            <a:avLst/>
          </a:prstGeom>
          <a:noFill/>
          <a:ln/>
        </p:spPr>
        <p:txBody>
          <a:bodyPr wrap="square" lIns="0" tIns="0" rIns="0" bIns="0" rtlCol="0" anchor="t">
            <a:normAutofit/>
          </a:bodyPr>
          <a:lstStyle/>
          <a:p>
            <a:pPr marL="0" indent="0" algn="l">
              <a:lnSpc>
                <a:spcPct val="130000"/>
              </a:lnSpc>
              <a:buNone/>
            </a:pPr>
            <a:r>
              <a:rPr lang="en-US" sz="900">
                <a:solidFill>
                  <a:srgbClr val="15213F"/>
                </a:solidFill>
                <a:latin typeface="Roboto" pitchFamily="34" charset="0"/>
                <a:ea typeface="Roboto" pitchFamily="34" charset="-122"/>
                <a:cs typeface="Roboto" pitchFamily="34" charset="-120"/>
              </a:rPr>
              <a:t>AM manages conditions, LLC/Condo review, ordered reports, and borrower communication </a:t>
            </a:r>
            <a:r>
              <a:rPr lang="en-US" sz="900" b="1">
                <a:solidFill>
                  <a:srgbClr val="15213F"/>
                </a:solidFill>
                <a:latin typeface="Roboto" pitchFamily="34" charset="0"/>
                <a:ea typeface="Roboto" pitchFamily="34" charset="-122"/>
                <a:cs typeface="Roboto" pitchFamily="34" charset="-120"/>
              </a:rPr>
              <a:t>concurrently</a:t>
            </a:r>
            <a:r>
              <a:rPr lang="en-US" sz="900">
                <a:solidFill>
                  <a:srgbClr val="15213F"/>
                </a:solidFill>
                <a:latin typeface="Roboto" pitchFamily="34" charset="0"/>
                <a:ea typeface="Roboto" pitchFamily="34" charset="-122"/>
                <a:cs typeface="Roboto" pitchFamily="34" charset="-120"/>
              </a:rPr>
              <a:t> with underwriting.</a:t>
            </a:r>
            <a:endParaRPr lang="en-US" sz="900"/>
          </a:p>
        </p:txBody>
      </p:sp>
      <p:pic>
        <p:nvPicPr>
          <p:cNvPr id="13" name="Image 3" descr="preencoded.png"/>
          <p:cNvPicPr>
            <a:picLocks noChangeAspect="1"/>
          </p:cNvPicPr>
          <p:nvPr/>
        </p:nvPicPr>
        <p:blipFill>
          <a:blip r:embed="rId6"/>
          <a:stretch>
            <a:fillRect/>
          </a:stretch>
        </p:blipFill>
        <p:spPr>
          <a:xfrm>
            <a:off x="4572000" y="2582540"/>
            <a:ext cx="4075881" cy="472901"/>
          </a:xfrm>
          <a:prstGeom prst="rect">
            <a:avLst/>
          </a:prstGeom>
        </p:spPr>
      </p:pic>
      <p:sp>
        <p:nvSpPr>
          <p:cNvPr id="14" name="Text 8"/>
          <p:cNvSpPr/>
          <p:nvPr/>
        </p:nvSpPr>
        <p:spPr>
          <a:xfrm>
            <a:off x="4690170" y="3168104"/>
            <a:ext cx="1477863" cy="184696"/>
          </a:xfrm>
          <a:prstGeom prst="rect">
            <a:avLst/>
          </a:prstGeom>
          <a:noFill/>
          <a:ln/>
        </p:spPr>
        <p:txBody>
          <a:bodyPr wrap="none" lIns="0" tIns="0" rIns="0" bIns="0" rtlCol="0" anchor="t"/>
          <a:lstStyle/>
          <a:p>
            <a:pPr marL="0" indent="0" algn="l">
              <a:lnSpc>
                <a:spcPct val="104000"/>
              </a:lnSpc>
              <a:buNone/>
            </a:pPr>
            <a:r>
              <a:rPr lang="en-US" sz="1150">
                <a:solidFill>
                  <a:srgbClr val="15213F"/>
                </a:solidFill>
                <a:latin typeface="Roboto Slab" pitchFamily="34" charset="0"/>
                <a:ea typeface="Roboto Slab" pitchFamily="34" charset="-122"/>
                <a:cs typeface="Roboto Slab" pitchFamily="34" charset="-120"/>
              </a:rPr>
              <a:t>Stage 4 — Closing</a:t>
            </a:r>
            <a:endParaRPr lang="en-US" sz="1150"/>
          </a:p>
        </p:txBody>
      </p:sp>
      <p:sp>
        <p:nvSpPr>
          <p:cNvPr id="15" name="Text 9"/>
          <p:cNvSpPr/>
          <p:nvPr/>
        </p:nvSpPr>
        <p:spPr>
          <a:xfrm>
            <a:off x="4690170" y="3420368"/>
            <a:ext cx="3839542" cy="369391"/>
          </a:xfrm>
          <a:prstGeom prst="rect">
            <a:avLst/>
          </a:prstGeom>
          <a:noFill/>
          <a:ln/>
        </p:spPr>
        <p:txBody>
          <a:bodyPr wrap="square" lIns="0" tIns="0" rIns="0" bIns="0" rtlCol="0" anchor="t">
            <a:normAutofit/>
          </a:bodyPr>
          <a:lstStyle/>
          <a:p>
            <a:pPr marL="0" indent="0" algn="l">
              <a:lnSpc>
                <a:spcPct val="130000"/>
              </a:lnSpc>
              <a:buNone/>
            </a:pPr>
            <a:r>
              <a:rPr lang="en-US" sz="900">
                <a:solidFill>
                  <a:srgbClr val="15213F"/>
                </a:solidFill>
                <a:latin typeface="Roboto" pitchFamily="34" charset="0"/>
                <a:ea typeface="Roboto" pitchFamily="34" charset="-122"/>
                <a:cs typeface="Roboto" pitchFamily="34" charset="-120"/>
              </a:rPr>
              <a:t>Upon CTC, Closer is alerted immediately; closing package prepared with same-day priority; funded within </a:t>
            </a:r>
            <a:r>
              <a:rPr lang="en-US" sz="900" b="1">
                <a:solidFill>
                  <a:srgbClr val="15213F"/>
                </a:solidFill>
                <a:latin typeface="Roboto" pitchFamily="34" charset="0"/>
                <a:ea typeface="Roboto" pitchFamily="34" charset="-122"/>
                <a:cs typeface="Roboto" pitchFamily="34" charset="-120"/>
              </a:rPr>
              <a:t>24 hours</a:t>
            </a:r>
            <a:r>
              <a:rPr lang="en-US" sz="900">
                <a:solidFill>
                  <a:srgbClr val="15213F"/>
                </a:solidFill>
                <a:latin typeface="Roboto" pitchFamily="34" charset="0"/>
                <a:ea typeface="Roboto" pitchFamily="34" charset="-122"/>
                <a:cs typeface="Roboto" pitchFamily="34" charset="-120"/>
              </a:rPr>
              <a:t>.</a:t>
            </a:r>
            <a:endParaRPr lang="en-US" sz="900"/>
          </a:p>
        </p:txBody>
      </p:sp>
      <p:sp>
        <p:nvSpPr>
          <p:cNvPr id="16" name="Shape 10"/>
          <p:cNvSpPr/>
          <p:nvPr/>
        </p:nvSpPr>
        <p:spPr>
          <a:xfrm>
            <a:off x="496119" y="4034656"/>
            <a:ext cx="8151763" cy="631180"/>
          </a:xfrm>
          <a:prstGeom prst="roundRect">
            <a:avLst>
              <a:gd name="adj" fmla="val 2810"/>
            </a:avLst>
          </a:prstGeom>
          <a:solidFill>
            <a:srgbClr val="B6D6FC"/>
          </a:solidFill>
          <a:ln/>
        </p:spPr>
        <p:txBody>
          <a:bodyPr/>
          <a:lstStyle/>
          <a:p>
            <a:endParaRPr lang="en-US"/>
          </a:p>
        </p:txBody>
      </p:sp>
      <p:pic>
        <p:nvPicPr>
          <p:cNvPr id="17" name="Image 4" descr="preencoded.png"/>
          <p:cNvPicPr>
            <a:picLocks noChangeAspect="1"/>
          </p:cNvPicPr>
          <p:nvPr/>
        </p:nvPicPr>
        <p:blipFill>
          <a:blip r:embed="rId7"/>
          <a:stretch>
            <a:fillRect/>
          </a:stretch>
        </p:blipFill>
        <p:spPr>
          <a:xfrm>
            <a:off x="614288" y="4202757"/>
            <a:ext cx="147786" cy="118170"/>
          </a:xfrm>
          <a:prstGeom prst="rect">
            <a:avLst/>
          </a:prstGeom>
        </p:spPr>
      </p:pic>
      <p:sp>
        <p:nvSpPr>
          <p:cNvPr id="18" name="Text 11"/>
          <p:cNvSpPr/>
          <p:nvPr/>
        </p:nvSpPr>
        <p:spPr>
          <a:xfrm>
            <a:off x="880244" y="4165550"/>
            <a:ext cx="7649468" cy="369391"/>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000000"/>
                </a:solidFill>
                <a:latin typeface="Roboto" pitchFamily="34" charset="0"/>
                <a:ea typeface="Roboto" pitchFamily="34" charset="-122"/>
                <a:cs typeface="Roboto" pitchFamily="34" charset="-120"/>
              </a:rPr>
              <a:t>All four stages run under documented handoff protocols. Automated alerts notify AM, Underwriter, and AE simultaneously at key trigger points — no manual relay required.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1058317"/>
            <a:ext cx="669354"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1095524"/>
            <a:ext cx="977726"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1</a:t>
            </a:r>
            <a:endParaRPr lang="en-US" sz="750"/>
          </a:p>
        </p:txBody>
      </p:sp>
      <p:sp>
        <p:nvSpPr>
          <p:cNvPr id="4" name="Text 2"/>
          <p:cNvSpPr/>
          <p:nvPr/>
        </p:nvSpPr>
        <p:spPr>
          <a:xfrm>
            <a:off x="496119" y="1341090"/>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Stage 1</a:t>
            </a:r>
            <a:endParaRPr lang="en-US" sz="3350"/>
          </a:p>
        </p:txBody>
      </p:sp>
      <p:sp>
        <p:nvSpPr>
          <p:cNvPr id="5" name="Text 3"/>
          <p:cNvSpPr/>
          <p:nvPr/>
        </p:nvSpPr>
        <p:spPr>
          <a:xfrm>
            <a:off x="496119" y="2062014"/>
            <a:ext cx="3558332"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Loan Set Up</a:t>
            </a:r>
            <a:endParaRPr lang="en-US" sz="2400"/>
          </a:p>
        </p:txBody>
      </p:sp>
      <p:sp>
        <p:nvSpPr>
          <p:cNvPr id="6" name="Text 4"/>
          <p:cNvSpPr/>
          <p:nvPr/>
        </p:nvSpPr>
        <p:spPr>
          <a:xfrm>
            <a:off x="496119" y="2635597"/>
            <a:ext cx="8151763"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All files enter through a single submission channel. Setup owns Day 1 indexing, validation, and third-party ordering — triggering simultaneous alerts to the full processing team.</a:t>
            </a:r>
            <a:endParaRPr lang="en-US" sz="950"/>
          </a:p>
        </p:txBody>
      </p:sp>
      <p:sp>
        <p:nvSpPr>
          <p:cNvPr id="7" name="Shape 5"/>
          <p:cNvSpPr/>
          <p:nvPr/>
        </p:nvSpPr>
        <p:spPr>
          <a:xfrm>
            <a:off x="496119" y="3172048"/>
            <a:ext cx="2634555" cy="913135"/>
          </a:xfrm>
          <a:prstGeom prst="roundRect">
            <a:avLst>
              <a:gd name="adj" fmla="val 2038"/>
            </a:avLst>
          </a:prstGeom>
          <a:solidFill>
            <a:srgbClr val="E9ECF2"/>
          </a:solidFill>
          <a:ln/>
        </p:spPr>
        <p:txBody>
          <a:bodyPr/>
          <a:lstStyle/>
          <a:p>
            <a:endParaRPr lang="en-US"/>
          </a:p>
        </p:txBody>
      </p:sp>
      <p:sp>
        <p:nvSpPr>
          <p:cNvPr id="8" name="Text 6"/>
          <p:cNvSpPr/>
          <p:nvPr/>
        </p:nvSpPr>
        <p:spPr>
          <a:xfrm>
            <a:off x="620092"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Owner</a:t>
            </a:r>
            <a:endParaRPr lang="en-US" sz="1200"/>
          </a:p>
        </p:txBody>
      </p:sp>
      <p:sp>
        <p:nvSpPr>
          <p:cNvPr id="9" name="Text 7"/>
          <p:cNvSpPr/>
          <p:nvPr/>
        </p:nvSpPr>
        <p:spPr>
          <a:xfrm>
            <a:off x="620092" y="3564285"/>
            <a:ext cx="2386608"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Setup / Processor</a:t>
            </a:r>
            <a:endParaRPr lang="en-US" sz="950"/>
          </a:p>
        </p:txBody>
      </p:sp>
      <p:sp>
        <p:nvSpPr>
          <p:cNvPr id="10" name="Shape 8"/>
          <p:cNvSpPr/>
          <p:nvPr/>
        </p:nvSpPr>
        <p:spPr>
          <a:xfrm>
            <a:off x="3254685" y="3172048"/>
            <a:ext cx="2634630" cy="913135"/>
          </a:xfrm>
          <a:prstGeom prst="roundRect">
            <a:avLst>
              <a:gd name="adj" fmla="val 2038"/>
            </a:avLst>
          </a:prstGeom>
          <a:solidFill>
            <a:srgbClr val="E9ECF2"/>
          </a:solidFill>
          <a:ln/>
        </p:spPr>
        <p:txBody>
          <a:bodyPr/>
          <a:lstStyle/>
          <a:p>
            <a:endParaRPr lang="en-US"/>
          </a:p>
        </p:txBody>
      </p:sp>
      <p:sp>
        <p:nvSpPr>
          <p:cNvPr id="11" name="Text 9"/>
          <p:cNvSpPr/>
          <p:nvPr/>
        </p:nvSpPr>
        <p:spPr>
          <a:xfrm>
            <a:off x="3378622"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SLA</a:t>
            </a:r>
            <a:endParaRPr lang="en-US" sz="1200"/>
          </a:p>
        </p:txBody>
      </p:sp>
      <p:sp>
        <p:nvSpPr>
          <p:cNvPr id="12" name="Text 10"/>
          <p:cNvSpPr/>
          <p:nvPr/>
        </p:nvSpPr>
        <p:spPr>
          <a:xfrm>
            <a:off x="3378622" y="3564285"/>
            <a:ext cx="2386682"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Day 1 — Immediate upon submission</a:t>
            </a:r>
            <a:endParaRPr lang="en-US" sz="950"/>
          </a:p>
        </p:txBody>
      </p:sp>
      <p:sp>
        <p:nvSpPr>
          <p:cNvPr id="13" name="Shape 11"/>
          <p:cNvSpPr/>
          <p:nvPr/>
        </p:nvSpPr>
        <p:spPr>
          <a:xfrm>
            <a:off x="6013252" y="3172048"/>
            <a:ext cx="2634555" cy="913135"/>
          </a:xfrm>
          <a:prstGeom prst="roundRect">
            <a:avLst>
              <a:gd name="adj" fmla="val 2038"/>
            </a:avLst>
          </a:prstGeom>
          <a:solidFill>
            <a:srgbClr val="E9ECF2"/>
          </a:solidFill>
          <a:ln/>
        </p:spPr>
        <p:txBody>
          <a:bodyPr/>
          <a:lstStyle/>
          <a:p>
            <a:endParaRPr lang="en-US"/>
          </a:p>
        </p:txBody>
      </p:sp>
      <p:sp>
        <p:nvSpPr>
          <p:cNvPr id="14" name="Text 12"/>
          <p:cNvSpPr/>
          <p:nvPr/>
        </p:nvSpPr>
        <p:spPr>
          <a:xfrm>
            <a:off x="6137225"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Handoff Trigger</a:t>
            </a:r>
            <a:endParaRPr lang="en-US" sz="1200"/>
          </a:p>
        </p:txBody>
      </p:sp>
      <p:sp>
        <p:nvSpPr>
          <p:cNvPr id="15" name="Text 13"/>
          <p:cNvSpPr/>
          <p:nvPr/>
        </p:nvSpPr>
        <p:spPr>
          <a:xfrm>
            <a:off x="6137225" y="3564285"/>
            <a:ext cx="2386608"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Automated alert to AM, Underwriter, and AE upon indexing completion</a:t>
            </a:r>
            <a:endParaRPr lang="en-US" sz="9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5715000" y="0"/>
            <a:ext cx="3429000" cy="5143500"/>
          </a:xfrm>
          <a:prstGeom prst="rect">
            <a:avLst/>
          </a:prstGeom>
        </p:spPr>
      </p:pic>
      <p:sp>
        <p:nvSpPr>
          <p:cNvPr id="3" name="Text 0"/>
          <p:cNvSpPr/>
          <p:nvPr/>
        </p:nvSpPr>
        <p:spPr>
          <a:xfrm>
            <a:off x="496119" y="500286"/>
            <a:ext cx="5154364" cy="363364"/>
          </a:xfrm>
          <a:prstGeom prst="rect">
            <a:avLst/>
          </a:prstGeom>
          <a:noFill/>
          <a:ln/>
        </p:spPr>
        <p:txBody>
          <a:bodyPr wrap="none" lIns="0" tIns="0" rIns="0" bIns="0" rtlCol="0" anchor="t"/>
          <a:lstStyle/>
          <a:p>
            <a:pPr marL="0" indent="0" algn="l">
              <a:lnSpc>
                <a:spcPct val="104000"/>
              </a:lnSpc>
              <a:buNone/>
            </a:pPr>
            <a:r>
              <a:rPr lang="en-US" sz="2250">
                <a:solidFill>
                  <a:srgbClr val="3257B8"/>
                </a:solidFill>
                <a:latin typeface="Roboto Slab" pitchFamily="34" charset="0"/>
                <a:ea typeface="Roboto Slab" pitchFamily="34" charset="-122"/>
                <a:cs typeface="Roboto Slab" pitchFamily="34" charset="-120"/>
              </a:rPr>
              <a:t>Broker Submission &amp; Initial Intake</a:t>
            </a:r>
            <a:endParaRPr lang="en-US" sz="2250"/>
          </a:p>
        </p:txBody>
      </p:sp>
      <p:sp>
        <p:nvSpPr>
          <p:cNvPr id="4" name="Text 1"/>
          <p:cNvSpPr/>
          <p:nvPr/>
        </p:nvSpPr>
        <p:spPr>
          <a:xfrm>
            <a:off x="496119" y="1136154"/>
            <a:ext cx="2582540" cy="181645"/>
          </a:xfrm>
          <a:prstGeom prst="rect">
            <a:avLst/>
          </a:prstGeom>
          <a:noFill/>
          <a:ln/>
        </p:spPr>
        <p:txBody>
          <a:bodyPr wrap="none" lIns="0" tIns="0" rIns="0" bIns="0" rtlCol="0" anchor="t"/>
          <a:lstStyle/>
          <a:p>
            <a:pPr marL="0" indent="0" algn="l">
              <a:lnSpc>
                <a:spcPct val="104000"/>
              </a:lnSpc>
              <a:buNone/>
            </a:pPr>
            <a:r>
              <a:rPr lang="en-US" sz="1100">
                <a:solidFill>
                  <a:srgbClr val="3257B8"/>
                </a:solidFill>
                <a:latin typeface="Roboto Slab" pitchFamily="34" charset="0"/>
                <a:ea typeface="Roboto Slab" pitchFamily="34" charset="-122"/>
                <a:cs typeface="Roboto Slab" pitchFamily="34" charset="-120"/>
              </a:rPr>
              <a:t>Submission Channel &amp; Routing</a:t>
            </a:r>
            <a:endParaRPr lang="en-US" sz="1100"/>
          </a:p>
        </p:txBody>
      </p:sp>
      <p:sp>
        <p:nvSpPr>
          <p:cNvPr id="5" name="Text 2"/>
          <p:cNvSpPr/>
          <p:nvPr/>
        </p:nvSpPr>
        <p:spPr>
          <a:xfrm>
            <a:off x="496119" y="1426815"/>
            <a:ext cx="2219548" cy="3178225"/>
          </a:xfrm>
          <a:prstGeom prst="rect">
            <a:avLst/>
          </a:prstGeom>
          <a:noFill/>
          <a:ln/>
        </p:spPr>
        <p:txBody>
          <a:bodyPr wrap="square" lIns="0" tIns="0" rIns="0" bIns="0" rtlCol="0" anchor="t">
            <a:normAutofit lnSpcReduction="10000"/>
          </a:bodyPr>
          <a:lstStyle/>
          <a:p>
            <a:pPr marL="342900" indent="-342900" algn="l">
              <a:lnSpc>
                <a:spcPct val="129000"/>
              </a:lnSpc>
              <a:buSzPct val="100000"/>
              <a:buChar char="•"/>
            </a:pPr>
            <a:r>
              <a:rPr lang="en-US" sz="900" b="1">
                <a:solidFill>
                  <a:srgbClr val="15213F"/>
                </a:solidFill>
                <a:latin typeface="Roboto" pitchFamily="34" charset="0"/>
                <a:ea typeface="Roboto" pitchFamily="34" charset="-122"/>
                <a:cs typeface="Roboto" pitchFamily="34" charset="-120"/>
              </a:rPr>
              <a:t>All loans enter via Glide</a:t>
            </a:r>
            <a:r>
              <a:rPr lang="en-US" sz="900">
                <a:solidFill>
                  <a:srgbClr val="15213F"/>
                </a:solidFill>
                <a:latin typeface="Roboto" pitchFamily="34" charset="0"/>
                <a:ea typeface="Roboto" pitchFamily="34" charset="-122"/>
                <a:cs typeface="Roboto" pitchFamily="34" charset="-120"/>
              </a:rPr>
              <a:t> — no alternative submission channels accepted under any circumstance</a:t>
            </a:r>
            <a:endParaRPr lang="en-US" sz="900"/>
          </a:p>
          <a:p>
            <a:pPr marL="342900" indent="-342900" algn="l">
              <a:lnSpc>
                <a:spcPct val="129000"/>
              </a:lnSpc>
              <a:buSzPct val="100000"/>
              <a:buChar char="•"/>
            </a:pPr>
            <a:r>
              <a:rPr lang="en-US" sz="900" b="1">
                <a:solidFill>
                  <a:srgbClr val="15213F"/>
                </a:solidFill>
                <a:latin typeface="Roboto"/>
                <a:ea typeface="Roboto"/>
                <a:cs typeface="Roboto"/>
              </a:rPr>
              <a:t>Consumer vs. Commercial routing:</a:t>
            </a:r>
            <a:r>
              <a:rPr lang="en-US" sz="900">
                <a:solidFill>
                  <a:srgbClr val="15213F"/>
                </a:solidFill>
                <a:latin typeface="Roboto"/>
                <a:ea typeface="Roboto"/>
                <a:cs typeface="Roboto"/>
              </a:rPr>
              <a:t> Identify loan type immediately upon submission to trigger the correct disclosure path</a:t>
            </a:r>
            <a:endParaRPr lang="en-US" sz="900">
              <a:latin typeface="Roboto"/>
              <a:ea typeface="Roboto"/>
              <a:cs typeface="Roboto"/>
            </a:endParaRPr>
          </a:p>
          <a:p>
            <a:pPr marL="342900" indent="-342900" algn="l">
              <a:lnSpc>
                <a:spcPct val="129000"/>
              </a:lnSpc>
              <a:buSzPct val="100000"/>
              <a:buChar char="•"/>
            </a:pPr>
            <a:r>
              <a:rPr lang="en-US" sz="900" b="1">
                <a:solidFill>
                  <a:srgbClr val="15213F"/>
                </a:solidFill>
                <a:latin typeface="Roboto"/>
                <a:ea typeface="Roboto"/>
                <a:cs typeface="Roboto"/>
              </a:rPr>
              <a:t>Commercial DSCR path:</a:t>
            </a:r>
            <a:r>
              <a:rPr lang="en-US" sz="900">
                <a:solidFill>
                  <a:srgbClr val="15213F"/>
                </a:solidFill>
                <a:latin typeface="Roboto"/>
                <a:ea typeface="Roboto"/>
                <a:cs typeface="Roboto"/>
              </a:rPr>
              <a:t> No Loan Estimate required; check for E-Consent received through Glide (condition if not present and move forward); verify Broker Fees received through Glide.</a:t>
            </a:r>
          </a:p>
          <a:p>
            <a:pPr marL="342900" indent="-342900">
              <a:lnSpc>
                <a:spcPct val="129000"/>
              </a:lnSpc>
              <a:buSzPct val="100000"/>
              <a:buChar char="•"/>
            </a:pPr>
            <a:r>
              <a:rPr lang="en-US" sz="900" b="1">
                <a:solidFill>
                  <a:srgbClr val="15213F"/>
                </a:solidFill>
                <a:latin typeface="Roboto"/>
                <a:ea typeface="Roboto"/>
                <a:cs typeface="Roboto"/>
              </a:rPr>
              <a:t>Credit Report:  </a:t>
            </a:r>
            <a:r>
              <a:rPr lang="en-US" sz="900">
                <a:solidFill>
                  <a:srgbClr val="15213F"/>
                </a:solidFill>
                <a:latin typeface="Roboto"/>
                <a:ea typeface="Roboto"/>
                <a:cs typeface="Roboto"/>
              </a:rPr>
              <a:t>If Credit Report is not included, then automatically pull credit report.  If credit report is expired, contact broker for updated or ask if Acra can repull new credit report.</a:t>
            </a:r>
          </a:p>
        </p:txBody>
      </p:sp>
      <p:sp>
        <p:nvSpPr>
          <p:cNvPr id="6" name="Text 3"/>
          <p:cNvSpPr/>
          <p:nvPr/>
        </p:nvSpPr>
        <p:spPr>
          <a:xfrm>
            <a:off x="3004096" y="1136154"/>
            <a:ext cx="2041996" cy="181645"/>
          </a:xfrm>
          <a:prstGeom prst="rect">
            <a:avLst/>
          </a:prstGeom>
          <a:noFill/>
          <a:ln/>
        </p:spPr>
        <p:txBody>
          <a:bodyPr wrap="none" lIns="0" tIns="0" rIns="0" bIns="0" rtlCol="0" anchor="t"/>
          <a:lstStyle/>
          <a:p>
            <a:pPr marL="0" indent="0" algn="l">
              <a:lnSpc>
                <a:spcPct val="104000"/>
              </a:lnSpc>
              <a:buNone/>
            </a:pPr>
            <a:r>
              <a:rPr lang="en-US" sz="1100">
                <a:solidFill>
                  <a:srgbClr val="3257B8"/>
                </a:solidFill>
                <a:latin typeface="Roboto Slab" pitchFamily="34" charset="0"/>
                <a:ea typeface="Roboto Slab" pitchFamily="34" charset="-122"/>
                <a:cs typeface="Roboto Slab" pitchFamily="34" charset="-120"/>
              </a:rPr>
              <a:t>Day 1 Alerts &amp; Indexing</a:t>
            </a:r>
            <a:endParaRPr lang="en-US" sz="1100"/>
          </a:p>
        </p:txBody>
      </p:sp>
      <p:sp>
        <p:nvSpPr>
          <p:cNvPr id="7" name="Text 4"/>
          <p:cNvSpPr/>
          <p:nvPr/>
        </p:nvSpPr>
        <p:spPr>
          <a:xfrm>
            <a:off x="3004096" y="1426815"/>
            <a:ext cx="2219548" cy="1479947"/>
          </a:xfrm>
          <a:prstGeom prst="rect">
            <a:avLst/>
          </a:prstGeom>
          <a:noFill/>
          <a:ln/>
        </p:spPr>
        <p:txBody>
          <a:bodyPr wrap="square" lIns="0" tIns="0" rIns="0" bIns="0" rtlCol="0" anchor="t">
            <a:normAutofit lnSpcReduction="10000"/>
          </a:bodyPr>
          <a:lstStyle/>
          <a:p>
            <a:pPr marL="342900" indent="-342900" algn="l">
              <a:lnSpc>
                <a:spcPct val="129000"/>
              </a:lnSpc>
              <a:buSzPct val="100000"/>
              <a:buChar char="•"/>
            </a:pPr>
            <a:r>
              <a:rPr lang="en-US" sz="900" b="1">
                <a:solidFill>
                  <a:srgbClr val="15213F"/>
                </a:solidFill>
                <a:latin typeface="Roboto" pitchFamily="34" charset="0"/>
                <a:ea typeface="Roboto" pitchFamily="34" charset="-122"/>
                <a:cs typeface="Roboto" pitchFamily="34" charset="-120"/>
              </a:rPr>
              <a:t>Day 1 alerts:</a:t>
            </a:r>
            <a:r>
              <a:rPr lang="en-US" sz="900">
                <a:solidFill>
                  <a:srgbClr val="15213F"/>
                </a:solidFill>
                <a:latin typeface="Roboto" pitchFamily="34" charset="0"/>
                <a:ea typeface="Roboto" pitchFamily="34" charset="-122"/>
                <a:cs typeface="Roboto" pitchFamily="34" charset="-120"/>
              </a:rPr>
              <a:t> Upon indexing completion, automated alerts sent simultaneously to AM, Underwriter, and AE — no manual notification required</a:t>
            </a:r>
            <a:endParaRPr lang="en-US" sz="900"/>
          </a:p>
          <a:p>
            <a:pPr marL="342900" indent="-342900" algn="l">
              <a:lnSpc>
                <a:spcPct val="129000"/>
              </a:lnSpc>
              <a:buSzPct val="100000"/>
              <a:buChar char="•"/>
            </a:pPr>
            <a:r>
              <a:rPr lang="en-US" sz="900" b="1">
                <a:solidFill>
                  <a:srgbClr val="15213F"/>
                </a:solidFill>
                <a:latin typeface="Roboto" pitchFamily="34" charset="0"/>
                <a:ea typeface="Roboto" pitchFamily="34" charset="-122"/>
                <a:cs typeface="Roboto" pitchFamily="34" charset="-120"/>
              </a:rPr>
              <a:t>Offshore indexing:</a:t>
            </a:r>
            <a:r>
              <a:rPr lang="en-US" sz="900">
                <a:solidFill>
                  <a:srgbClr val="15213F"/>
                </a:solidFill>
                <a:latin typeface="Roboto" pitchFamily="34" charset="0"/>
                <a:ea typeface="Roboto" pitchFamily="34" charset="-122"/>
                <a:cs typeface="Roboto" pitchFamily="34" charset="-120"/>
              </a:rPr>
              <a:t> All documents indexed by offshore team; note any minimum docs not received or expired at time of indexing</a:t>
            </a:r>
            <a:endParaRPr lang="en-US" sz="900"/>
          </a:p>
        </p:txBody>
      </p:sp>
      <p:sp>
        <p:nvSpPr>
          <p:cNvPr id="8" name="Shape 5"/>
          <p:cNvSpPr/>
          <p:nvPr/>
        </p:nvSpPr>
        <p:spPr>
          <a:xfrm>
            <a:off x="3004096" y="3029396"/>
            <a:ext cx="2219548" cy="1335584"/>
          </a:xfrm>
          <a:prstGeom prst="roundRect">
            <a:avLst>
              <a:gd name="adj" fmla="val 1306"/>
            </a:avLst>
          </a:prstGeom>
          <a:solidFill>
            <a:srgbClr val="C3CFEF"/>
          </a:solidFill>
          <a:ln/>
        </p:spPr>
        <p:txBody>
          <a:bodyPr/>
          <a:lstStyle/>
          <a:p>
            <a:endParaRPr lang="en-US"/>
          </a:p>
        </p:txBody>
      </p:sp>
      <p:pic>
        <p:nvPicPr>
          <p:cNvPr id="9" name="Image 1" descr="preencoded.png"/>
          <p:cNvPicPr>
            <a:picLocks noChangeAspect="1"/>
          </p:cNvPicPr>
          <p:nvPr/>
        </p:nvPicPr>
        <p:blipFill>
          <a:blip r:embed="rId5"/>
          <a:stretch>
            <a:fillRect/>
          </a:stretch>
        </p:blipFill>
        <p:spPr>
          <a:xfrm>
            <a:off x="3120330" y="3201516"/>
            <a:ext cx="145331" cy="116235"/>
          </a:xfrm>
          <a:prstGeom prst="rect">
            <a:avLst/>
          </a:prstGeom>
        </p:spPr>
      </p:pic>
      <p:sp>
        <p:nvSpPr>
          <p:cNvPr id="10" name="Text 6"/>
          <p:cNvSpPr/>
          <p:nvPr/>
        </p:nvSpPr>
        <p:spPr>
          <a:xfrm>
            <a:off x="3381896" y="3156496"/>
            <a:ext cx="1725513" cy="1081385"/>
          </a:xfrm>
          <a:prstGeom prst="rect">
            <a:avLst/>
          </a:prstGeom>
          <a:noFill/>
          <a:ln/>
        </p:spPr>
        <p:txBody>
          <a:bodyPr wrap="square" lIns="0" tIns="0" rIns="0" bIns="0" rtlCol="0" anchor="t">
            <a:normAutofit/>
          </a:bodyPr>
          <a:lstStyle/>
          <a:p>
            <a:pPr marL="0" indent="0" algn="l">
              <a:lnSpc>
                <a:spcPct val="129000"/>
              </a:lnSpc>
              <a:buNone/>
            </a:pPr>
            <a:r>
              <a:rPr lang="en-US" sz="900">
                <a:solidFill>
                  <a:srgbClr val="000000"/>
                </a:solidFill>
                <a:latin typeface="Roboto" pitchFamily="34" charset="0"/>
                <a:ea typeface="Roboto" pitchFamily="34" charset="-122"/>
                <a:cs typeface="Roboto" pitchFamily="34" charset="-120"/>
              </a:rPr>
              <a:t>Commercial DSCR files do </a:t>
            </a:r>
            <a:r>
              <a:rPr lang="en-US" sz="900" b="1">
                <a:solidFill>
                  <a:srgbClr val="000000"/>
                </a:solidFill>
                <a:latin typeface="Roboto" pitchFamily="34" charset="0"/>
                <a:ea typeface="Roboto" pitchFamily="34" charset="-122"/>
                <a:cs typeface="Roboto" pitchFamily="34" charset="-120"/>
              </a:rPr>
              <a:t>not</a:t>
            </a:r>
            <a:r>
              <a:rPr lang="en-US" sz="900">
                <a:solidFill>
                  <a:srgbClr val="000000"/>
                </a:solidFill>
                <a:latin typeface="Roboto" pitchFamily="34" charset="0"/>
                <a:ea typeface="Roboto" pitchFamily="34" charset="-122"/>
                <a:cs typeface="Roboto" pitchFamily="34" charset="-120"/>
              </a:rPr>
              <a:t> require a Loan Estimate. E-Consent may be conditioned rather than held as a hard stop — file moves forward while condition is outstanding.</a:t>
            </a:r>
            <a:endParaRPr lang="en-US" sz="900"/>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19695"/>
            <a:ext cx="5845373"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Property, Credit &amp; Third-Party Orders</a:t>
            </a:r>
            <a:endParaRPr lang="en-US" sz="240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831" y="1055266"/>
            <a:ext cx="4028182" cy="1140172"/>
          </a:xfrm>
          <a:prstGeom prst="rect">
            <a:avLst/>
          </a:prstGeom>
        </p:spPr>
      </p:pic>
      <p:sp>
        <p:nvSpPr>
          <p:cNvPr id="4" name="Text 1"/>
          <p:cNvSpPr/>
          <p:nvPr/>
        </p:nvSpPr>
        <p:spPr>
          <a:xfrm>
            <a:off x="677242" y="1193527"/>
            <a:ext cx="164194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SiteX Property Review</a:t>
            </a:r>
            <a:endParaRPr lang="en-US" sz="1200"/>
          </a:p>
        </p:txBody>
      </p:sp>
      <p:sp>
        <p:nvSpPr>
          <p:cNvPr id="5" name="Text 2"/>
          <p:cNvSpPr/>
          <p:nvPr/>
        </p:nvSpPr>
        <p:spPr>
          <a:xfrm>
            <a:off x="677242" y="1461790"/>
            <a:ext cx="3694509"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Pull SiteX; review subject property details, usage type, and parcel number; input parcel number into system; flag any discrepancies for AM review before advancing.</a:t>
            </a:r>
            <a:endParaRPr lang="en-US" sz="95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9699" y="1055266"/>
            <a:ext cx="4028182" cy="1140172"/>
          </a:xfrm>
          <a:prstGeom prst="rect">
            <a:avLst/>
          </a:prstGeom>
        </p:spPr>
      </p:pic>
      <p:sp>
        <p:nvSpPr>
          <p:cNvPr id="7" name="Text 3"/>
          <p:cNvSpPr/>
          <p:nvPr/>
        </p:nvSpPr>
        <p:spPr>
          <a:xfrm>
            <a:off x="4815111" y="1193527"/>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Pricer / Exceptions</a:t>
            </a:r>
            <a:endParaRPr lang="en-US" sz="1200"/>
          </a:p>
        </p:txBody>
      </p:sp>
      <p:sp>
        <p:nvSpPr>
          <p:cNvPr id="8" name="Text 4"/>
          <p:cNvSpPr/>
          <p:nvPr/>
        </p:nvSpPr>
        <p:spPr>
          <a:xfrm>
            <a:off x="4815111" y="1461790"/>
            <a:ext cx="3694509"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Review pricer </a:t>
            </a:r>
            <a:r>
              <a:rPr lang="en-US" sz="950" b="1">
                <a:solidFill>
                  <a:srgbClr val="15213F"/>
                </a:solidFill>
                <a:latin typeface="Roboto" pitchFamily="34" charset="0"/>
                <a:ea typeface="Roboto" pitchFamily="34" charset="-122"/>
                <a:cs typeface="Roboto" pitchFamily="34" charset="-120"/>
              </a:rPr>
              <a:t>only for exceptions</a:t>
            </a:r>
            <a:r>
              <a:rPr lang="en-US" sz="950">
                <a:solidFill>
                  <a:srgbClr val="15213F"/>
                </a:solidFill>
                <a:latin typeface="Roboto" pitchFamily="34" charset="0"/>
                <a:ea typeface="Roboto" pitchFamily="34" charset="-122"/>
                <a:cs typeface="Roboto" pitchFamily="34" charset="-120"/>
              </a:rPr>
              <a:t> — standard pricing flows automatically from Glide. No manual comparison required for clean files.</a:t>
            </a:r>
            <a:endParaRPr lang="en-US" sz="950"/>
          </a:p>
        </p:txBody>
      </p:sp>
      <p:pic>
        <p:nvPicPr>
          <p:cNvPr id="9"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831" y="2319412"/>
            <a:ext cx="4028182" cy="1140172"/>
          </a:xfrm>
          <a:prstGeom prst="rect">
            <a:avLst/>
          </a:prstGeom>
        </p:spPr>
      </p:pic>
      <p:sp>
        <p:nvSpPr>
          <p:cNvPr id="10" name="Text 5"/>
          <p:cNvSpPr/>
          <p:nvPr/>
        </p:nvSpPr>
        <p:spPr>
          <a:xfrm>
            <a:off x="677242" y="2457673"/>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Flood Certificate</a:t>
            </a:r>
            <a:endParaRPr lang="en-US" sz="1200"/>
          </a:p>
        </p:txBody>
      </p:sp>
      <p:sp>
        <p:nvSpPr>
          <p:cNvPr id="11" name="Text 6"/>
          <p:cNvSpPr/>
          <p:nvPr/>
        </p:nvSpPr>
        <p:spPr>
          <a:xfrm>
            <a:off x="677242" y="2725936"/>
            <a:ext cx="3694509"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Auto-pulled via system integration. If manual research is needed, create a follow-up task and note; enter info and clear task upon receipt.</a:t>
            </a:r>
            <a:endParaRPr lang="en-US" sz="950"/>
          </a:p>
        </p:txBody>
      </p:sp>
      <p:pic>
        <p:nvPicPr>
          <p:cNvPr id="12"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9699" y="2319412"/>
            <a:ext cx="4028182" cy="1140172"/>
          </a:xfrm>
          <a:prstGeom prst="rect">
            <a:avLst/>
          </a:prstGeom>
        </p:spPr>
      </p:pic>
      <p:sp>
        <p:nvSpPr>
          <p:cNvPr id="13" name="Text 7"/>
          <p:cNvSpPr/>
          <p:nvPr/>
        </p:nvSpPr>
        <p:spPr>
          <a:xfrm>
            <a:off x="4815111" y="2457673"/>
            <a:ext cx="1780282"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3rd Party Tax Certificate</a:t>
            </a:r>
            <a:endParaRPr lang="en-US" sz="1200"/>
          </a:p>
        </p:txBody>
      </p:sp>
      <p:sp>
        <p:nvSpPr>
          <p:cNvPr id="14" name="Text 8"/>
          <p:cNvSpPr/>
          <p:nvPr/>
        </p:nvSpPr>
        <p:spPr>
          <a:xfrm>
            <a:off x="4815111" y="2725936"/>
            <a:ext cx="3694509"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Order through </a:t>
            </a:r>
            <a:r>
              <a:rPr lang="en-US" sz="950" b="1">
                <a:solidFill>
                  <a:srgbClr val="15213F"/>
                </a:solidFill>
                <a:latin typeface="Roboto" pitchFamily="34" charset="0"/>
                <a:ea typeface="Roboto" pitchFamily="34" charset="-122"/>
                <a:cs typeface="Roboto" pitchFamily="34" charset="-120"/>
              </a:rPr>
              <a:t>DataTree only</a:t>
            </a:r>
            <a:r>
              <a:rPr lang="en-US" sz="950">
                <a:solidFill>
                  <a:srgbClr val="15213F"/>
                </a:solidFill>
                <a:latin typeface="Roboto" pitchFamily="34" charset="0"/>
                <a:ea typeface="Roboto" pitchFamily="34" charset="-122"/>
                <a:cs typeface="Roboto" pitchFamily="34" charset="-120"/>
              </a:rPr>
              <a:t> — title tax certs are </a:t>
            </a:r>
            <a:r>
              <a:rPr lang="en-US" sz="950" b="1">
                <a:solidFill>
                  <a:srgbClr val="15213F"/>
                </a:solidFill>
                <a:latin typeface="Roboto" pitchFamily="34" charset="0"/>
                <a:ea typeface="Roboto" pitchFamily="34" charset="-122"/>
                <a:cs typeface="Roboto" pitchFamily="34" charset="-120"/>
              </a:rPr>
              <a:t>not acceptable</a:t>
            </a:r>
            <a:r>
              <a:rPr lang="en-US" sz="950">
                <a:solidFill>
                  <a:srgbClr val="15213F"/>
                </a:solidFill>
                <a:latin typeface="Roboto" pitchFamily="34" charset="0"/>
                <a:ea typeface="Roboto" pitchFamily="34" charset="-122"/>
                <a:cs typeface="Roboto" pitchFamily="34" charset="-120"/>
              </a:rPr>
              <a:t> substitutes. Document DataTree order confirmation in processing log without exception.</a:t>
            </a:r>
            <a:endParaRPr lang="en-US" sz="950"/>
          </a:p>
        </p:txBody>
      </p:sp>
      <p:pic>
        <p:nvPicPr>
          <p:cNvPr id="15"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831" y="3583558"/>
            <a:ext cx="4028182" cy="1140172"/>
          </a:xfrm>
          <a:prstGeom prst="rect">
            <a:avLst/>
          </a:prstGeom>
        </p:spPr>
      </p:pic>
      <p:sp>
        <p:nvSpPr>
          <p:cNvPr id="16" name="Text 9"/>
          <p:cNvSpPr/>
          <p:nvPr/>
        </p:nvSpPr>
        <p:spPr>
          <a:xfrm>
            <a:off x="677242" y="3721819"/>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Credit Report</a:t>
            </a:r>
            <a:endParaRPr lang="en-US" sz="1200"/>
          </a:p>
        </p:txBody>
      </p:sp>
      <p:sp>
        <p:nvSpPr>
          <p:cNvPr id="17" name="Text 10"/>
          <p:cNvSpPr/>
          <p:nvPr/>
        </p:nvSpPr>
        <p:spPr>
          <a:xfrm>
            <a:off x="677242" y="3990082"/>
            <a:ext cx="3694509"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If received from broker, order a </a:t>
            </a:r>
            <a:r>
              <a:rPr lang="en-US" sz="950" b="1">
                <a:solidFill>
                  <a:srgbClr val="15213F"/>
                </a:solidFill>
                <a:latin typeface="Roboto" pitchFamily="34" charset="0"/>
                <a:ea typeface="Roboto" pitchFamily="34" charset="-122"/>
                <a:cs typeface="Roboto" pitchFamily="34" charset="-120"/>
              </a:rPr>
              <a:t>reissue</a:t>
            </a:r>
            <a:r>
              <a:rPr lang="en-US" sz="950">
                <a:solidFill>
                  <a:srgbClr val="15213F"/>
                </a:solidFill>
                <a:latin typeface="Roboto" pitchFamily="34" charset="0"/>
                <a:ea typeface="Roboto" pitchFamily="34" charset="-122"/>
                <a:cs typeface="Roboto" pitchFamily="34" charset="-120"/>
              </a:rPr>
              <a:t>. If not received, order a new report directly. Confirm permissible purpose prior to ordering in all cases.</a:t>
            </a:r>
            <a:endParaRPr lang="en-US" sz="950"/>
          </a:p>
        </p:txBody>
      </p:sp>
      <p:pic>
        <p:nvPicPr>
          <p:cNvPr id="18"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9699" y="3583558"/>
            <a:ext cx="4028182" cy="1140172"/>
          </a:xfrm>
          <a:prstGeom prst="rect">
            <a:avLst/>
          </a:prstGeom>
        </p:spPr>
      </p:pic>
      <p:sp>
        <p:nvSpPr>
          <p:cNvPr id="19" name="Text 11"/>
          <p:cNvSpPr/>
          <p:nvPr/>
        </p:nvSpPr>
        <p:spPr>
          <a:xfrm>
            <a:off x="4815111" y="3721819"/>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Appraisal</a:t>
            </a:r>
            <a:endParaRPr lang="en-US" sz="1200"/>
          </a:p>
        </p:txBody>
      </p:sp>
      <p:sp>
        <p:nvSpPr>
          <p:cNvPr id="20" name="Text 12"/>
          <p:cNvSpPr/>
          <p:nvPr/>
        </p:nvSpPr>
        <p:spPr>
          <a:xfrm>
            <a:off x="4815111" y="3990082"/>
            <a:ext cx="3694509"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If received, update appraisal information screen and create task for valuation review. If not yet received, create follow-up task and note expected receipt date.</a:t>
            </a:r>
            <a:endParaRPr lang="en-US" sz="9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80182" y="365001"/>
            <a:ext cx="3487787" cy="284634"/>
          </a:xfrm>
          <a:prstGeom prst="rect">
            <a:avLst/>
          </a:prstGeom>
          <a:noFill/>
          <a:ln/>
        </p:spPr>
        <p:txBody>
          <a:bodyPr wrap="none" lIns="0" tIns="0" rIns="0" bIns="0" rtlCol="0" anchor="t"/>
          <a:lstStyle/>
          <a:p>
            <a:pPr marL="0" indent="0" algn="l">
              <a:lnSpc>
                <a:spcPct val="104000"/>
              </a:lnSpc>
              <a:buNone/>
            </a:pPr>
            <a:r>
              <a:rPr lang="en-US" sz="1750">
                <a:solidFill>
                  <a:srgbClr val="3257B8"/>
                </a:solidFill>
                <a:latin typeface="Roboto Slab" pitchFamily="34" charset="0"/>
                <a:ea typeface="Roboto Slab" pitchFamily="34" charset="-122"/>
                <a:cs typeface="Roboto Slab" pitchFamily="34" charset="-120"/>
              </a:rPr>
              <a:t>Critical Validation Checklist</a:t>
            </a:r>
            <a:endParaRPr lang="en-US" sz="1750"/>
          </a:p>
        </p:txBody>
      </p:sp>
      <p:sp>
        <p:nvSpPr>
          <p:cNvPr id="3" name="Text 1"/>
          <p:cNvSpPr/>
          <p:nvPr/>
        </p:nvSpPr>
        <p:spPr>
          <a:xfrm>
            <a:off x="980182" y="783431"/>
            <a:ext cx="7640762" cy="126355"/>
          </a:xfrm>
          <a:prstGeom prst="rect">
            <a:avLst/>
          </a:prstGeom>
          <a:noFill/>
          <a:ln/>
        </p:spPr>
        <p:txBody>
          <a:bodyPr wrap="none" lIns="0" tIns="0" rIns="0" bIns="0" rtlCol="0" anchor="t"/>
          <a:lstStyle/>
          <a:p>
            <a:pPr marL="0" indent="0" algn="l">
              <a:lnSpc>
                <a:spcPct val="116000"/>
              </a:lnSpc>
              <a:buNone/>
            </a:pPr>
            <a:r>
              <a:rPr lang="en-US" sz="700">
                <a:solidFill>
                  <a:srgbClr val="15213F"/>
                </a:solidFill>
                <a:latin typeface="Roboto" pitchFamily="34" charset="0"/>
                <a:ea typeface="Roboto" pitchFamily="34" charset="-122"/>
                <a:cs typeface="Roboto" pitchFamily="34" charset="-120"/>
              </a:rPr>
              <a:t>All six checks must be completed and documented in the processing log before the file advances to underwriting.</a:t>
            </a:r>
            <a:endParaRPr lang="en-US" sz="70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0182" y="985019"/>
            <a:ext cx="7183562" cy="636315"/>
          </a:xfrm>
          <a:prstGeom prst="rect">
            <a:avLst/>
          </a:prstGeom>
        </p:spPr>
      </p:pic>
      <p:sp>
        <p:nvSpPr>
          <p:cNvPr id="5" name="Text 2"/>
          <p:cNvSpPr/>
          <p:nvPr/>
        </p:nvSpPr>
        <p:spPr>
          <a:xfrm>
            <a:off x="1103561" y="1217786"/>
            <a:ext cx="136624" cy="170780"/>
          </a:xfrm>
          <a:prstGeom prst="rect">
            <a:avLst/>
          </a:prstGeom>
          <a:noFill/>
          <a:ln/>
        </p:spPr>
        <p:txBody>
          <a:bodyPr wrap="none" lIns="0" tIns="0" rIns="0" bIns="0" rtlCol="0" anchor="ctr"/>
          <a:lstStyle/>
          <a:p>
            <a:pPr marL="0" indent="0" algn="ctr">
              <a:lnSpc>
                <a:spcPct val="100000"/>
              </a:lnSpc>
              <a:buNone/>
            </a:pPr>
            <a:r>
              <a:rPr lang="en-US" sz="1050">
                <a:solidFill>
                  <a:srgbClr val="15213F"/>
                </a:solidFill>
                <a:latin typeface="Roboto Slab" pitchFamily="34" charset="0"/>
                <a:ea typeface="Roboto Slab" pitchFamily="34" charset="-122"/>
                <a:cs typeface="Roboto Slab" pitchFamily="34" charset="-120"/>
              </a:rPr>
              <a:t>1</a:t>
            </a:r>
            <a:endParaRPr lang="en-US" sz="1050"/>
          </a:p>
        </p:txBody>
      </p:sp>
      <p:sp>
        <p:nvSpPr>
          <p:cNvPr id="6" name="Text 3"/>
          <p:cNvSpPr/>
          <p:nvPr/>
        </p:nvSpPr>
        <p:spPr>
          <a:xfrm>
            <a:off x="1420937" y="1085627"/>
            <a:ext cx="1191890" cy="142280"/>
          </a:xfrm>
          <a:prstGeom prst="rect">
            <a:avLst/>
          </a:prstGeom>
          <a:noFill/>
          <a:ln/>
        </p:spPr>
        <p:txBody>
          <a:bodyPr wrap="none" lIns="0" tIns="0" rIns="0" bIns="0" rtlCol="0" anchor="t"/>
          <a:lstStyle/>
          <a:p>
            <a:pPr marL="0" indent="0" algn="l">
              <a:lnSpc>
                <a:spcPct val="104000"/>
              </a:lnSpc>
              <a:buNone/>
            </a:pPr>
            <a:r>
              <a:rPr lang="en-US" sz="850">
                <a:solidFill>
                  <a:srgbClr val="15213F"/>
                </a:solidFill>
                <a:latin typeface="Roboto Slab" pitchFamily="34" charset="0"/>
                <a:ea typeface="Roboto Slab" pitchFamily="34" charset="-122"/>
                <a:cs typeface="Roboto Slab" pitchFamily="34" charset="-120"/>
              </a:rPr>
              <a:t>Minimum Docs Check</a:t>
            </a:r>
            <a:endParaRPr lang="en-US" sz="850"/>
          </a:p>
        </p:txBody>
      </p:sp>
      <p:sp>
        <p:nvSpPr>
          <p:cNvPr id="7" name="Text 4"/>
          <p:cNvSpPr/>
          <p:nvPr/>
        </p:nvSpPr>
        <p:spPr>
          <a:xfrm>
            <a:off x="1420937" y="1268016"/>
            <a:ext cx="6642199" cy="252710"/>
          </a:xfrm>
          <a:prstGeom prst="rect">
            <a:avLst/>
          </a:prstGeom>
          <a:noFill/>
          <a:ln/>
        </p:spPr>
        <p:txBody>
          <a:bodyPr wrap="square" lIns="0" tIns="0" rIns="0" bIns="0" rtlCol="0" anchor="t">
            <a:normAutofit/>
          </a:bodyPr>
          <a:lstStyle/>
          <a:p>
            <a:pPr marL="0" indent="0" algn="l">
              <a:lnSpc>
                <a:spcPct val="116000"/>
              </a:lnSpc>
              <a:buNone/>
            </a:pPr>
            <a:r>
              <a:rPr lang="en-US" sz="700">
                <a:solidFill>
                  <a:srgbClr val="15213F"/>
                </a:solidFill>
                <a:latin typeface="Roboto" pitchFamily="34" charset="0"/>
                <a:ea typeface="Roboto" pitchFamily="34" charset="-122"/>
                <a:cs typeface="Roboto" pitchFamily="34" charset="-120"/>
              </a:rPr>
              <a:t>If not received: call Broker and email both Broker and AE. If not submitted within 24 hrs, send second notice. If still not received after second 24-hr window, notify of cancellation.</a:t>
            </a:r>
            <a:endParaRPr lang="en-US" sz="70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0182" y="1688232"/>
            <a:ext cx="7183562" cy="546571"/>
          </a:xfrm>
          <a:prstGeom prst="rect">
            <a:avLst/>
          </a:prstGeom>
        </p:spPr>
      </p:pic>
      <p:sp>
        <p:nvSpPr>
          <p:cNvPr id="9" name="Text 5"/>
          <p:cNvSpPr/>
          <p:nvPr/>
        </p:nvSpPr>
        <p:spPr>
          <a:xfrm>
            <a:off x="1103561" y="1876127"/>
            <a:ext cx="136624" cy="170780"/>
          </a:xfrm>
          <a:prstGeom prst="rect">
            <a:avLst/>
          </a:prstGeom>
          <a:noFill/>
          <a:ln/>
        </p:spPr>
        <p:txBody>
          <a:bodyPr wrap="none" lIns="0" tIns="0" rIns="0" bIns="0" rtlCol="0" anchor="ctr"/>
          <a:lstStyle/>
          <a:p>
            <a:pPr marL="0" indent="0" algn="ctr">
              <a:lnSpc>
                <a:spcPct val="100000"/>
              </a:lnSpc>
              <a:buNone/>
            </a:pPr>
            <a:r>
              <a:rPr lang="en-US" sz="1050">
                <a:solidFill>
                  <a:srgbClr val="15213F"/>
                </a:solidFill>
                <a:latin typeface="Roboto Slab" pitchFamily="34" charset="0"/>
                <a:ea typeface="Roboto Slab" pitchFamily="34" charset="-122"/>
                <a:cs typeface="Roboto Slab" pitchFamily="34" charset="-120"/>
              </a:rPr>
              <a:t>2</a:t>
            </a:r>
            <a:endParaRPr lang="en-US" sz="1050"/>
          </a:p>
        </p:txBody>
      </p:sp>
      <p:sp>
        <p:nvSpPr>
          <p:cNvPr id="10" name="Text 6"/>
          <p:cNvSpPr/>
          <p:nvPr/>
        </p:nvSpPr>
        <p:spPr>
          <a:xfrm>
            <a:off x="1420937" y="1788840"/>
            <a:ext cx="1138684" cy="142280"/>
          </a:xfrm>
          <a:prstGeom prst="rect">
            <a:avLst/>
          </a:prstGeom>
          <a:noFill/>
          <a:ln/>
        </p:spPr>
        <p:txBody>
          <a:bodyPr wrap="none" lIns="0" tIns="0" rIns="0" bIns="0" rtlCol="0" anchor="t"/>
          <a:lstStyle/>
          <a:p>
            <a:pPr marL="0" indent="0" algn="l">
              <a:lnSpc>
                <a:spcPct val="104000"/>
              </a:lnSpc>
              <a:buNone/>
            </a:pPr>
            <a:r>
              <a:rPr lang="en-US" sz="850">
                <a:solidFill>
                  <a:srgbClr val="15213F"/>
                </a:solidFill>
                <a:latin typeface="Roboto Slab" pitchFamily="34" charset="0"/>
                <a:ea typeface="Roboto Slab" pitchFamily="34" charset="-122"/>
                <a:cs typeface="Roboto Slab" pitchFamily="34" charset="-120"/>
              </a:rPr>
              <a:t>Duplicate SSN Check</a:t>
            </a:r>
            <a:endParaRPr lang="en-US" sz="850"/>
          </a:p>
        </p:txBody>
      </p:sp>
      <p:sp>
        <p:nvSpPr>
          <p:cNvPr id="11" name="Text 7"/>
          <p:cNvSpPr/>
          <p:nvPr/>
        </p:nvSpPr>
        <p:spPr>
          <a:xfrm>
            <a:off x="1420937" y="1971229"/>
            <a:ext cx="6642199" cy="126355"/>
          </a:xfrm>
          <a:prstGeom prst="rect">
            <a:avLst/>
          </a:prstGeom>
          <a:noFill/>
          <a:ln/>
        </p:spPr>
        <p:txBody>
          <a:bodyPr wrap="none" lIns="0" tIns="0" rIns="0" bIns="0" rtlCol="0" anchor="t"/>
          <a:lstStyle/>
          <a:p>
            <a:pPr marL="0" indent="0" algn="l">
              <a:lnSpc>
                <a:spcPct val="116000"/>
              </a:lnSpc>
              <a:buNone/>
            </a:pPr>
            <a:r>
              <a:rPr lang="en-US" sz="700">
                <a:solidFill>
                  <a:srgbClr val="15213F"/>
                </a:solidFill>
                <a:latin typeface="Roboto" pitchFamily="34" charset="0"/>
                <a:ea typeface="Roboto" pitchFamily="34" charset="-122"/>
                <a:cs typeface="Roboto" pitchFamily="34" charset="-120"/>
              </a:rPr>
              <a:t>Click "Duplicate SSN Check" on processing log. If duplicate found, ensure the other loan is withdrawn or declined and notification sent </a:t>
            </a:r>
            <a:r>
              <a:rPr lang="en-US" sz="700" b="1">
                <a:solidFill>
                  <a:srgbClr val="15213F"/>
                </a:solidFill>
                <a:latin typeface="Roboto" pitchFamily="34" charset="0"/>
                <a:ea typeface="Roboto" pitchFamily="34" charset="-122"/>
                <a:cs typeface="Roboto" pitchFamily="34" charset="-120"/>
              </a:rPr>
              <a:t>before proceeding</a:t>
            </a:r>
            <a:r>
              <a:rPr lang="en-US" sz="700">
                <a:solidFill>
                  <a:srgbClr val="15213F"/>
                </a:solidFill>
                <a:latin typeface="Roboto" pitchFamily="34" charset="0"/>
                <a:ea typeface="Roboto" pitchFamily="34" charset="-122"/>
                <a:cs typeface="Roboto" pitchFamily="34" charset="-120"/>
              </a:rPr>
              <a:t>.</a:t>
            </a:r>
            <a:endParaRPr lang="en-US" sz="700"/>
          </a:p>
        </p:txBody>
      </p:sp>
      <p:pic>
        <p:nvPicPr>
          <p:cNvPr id="12"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0182" y="2301701"/>
            <a:ext cx="7183562" cy="636315"/>
          </a:xfrm>
          <a:prstGeom prst="rect">
            <a:avLst/>
          </a:prstGeom>
        </p:spPr>
      </p:pic>
      <p:sp>
        <p:nvSpPr>
          <p:cNvPr id="13" name="Text 8"/>
          <p:cNvSpPr/>
          <p:nvPr/>
        </p:nvSpPr>
        <p:spPr>
          <a:xfrm>
            <a:off x="1103561" y="2534469"/>
            <a:ext cx="136624" cy="170780"/>
          </a:xfrm>
          <a:prstGeom prst="rect">
            <a:avLst/>
          </a:prstGeom>
          <a:noFill/>
          <a:ln/>
        </p:spPr>
        <p:txBody>
          <a:bodyPr wrap="none" lIns="0" tIns="0" rIns="0" bIns="0" rtlCol="0" anchor="ctr"/>
          <a:lstStyle/>
          <a:p>
            <a:pPr marL="0" indent="0" algn="ctr">
              <a:lnSpc>
                <a:spcPct val="100000"/>
              </a:lnSpc>
              <a:buNone/>
            </a:pPr>
            <a:r>
              <a:rPr lang="en-US" sz="1050">
                <a:solidFill>
                  <a:srgbClr val="15213F"/>
                </a:solidFill>
                <a:latin typeface="Roboto Slab" pitchFamily="34" charset="0"/>
                <a:ea typeface="Roboto Slab" pitchFamily="34" charset="-122"/>
                <a:cs typeface="Roboto Slab" pitchFamily="34" charset="-120"/>
              </a:rPr>
              <a:t>3</a:t>
            </a:r>
            <a:endParaRPr lang="en-US" sz="1050"/>
          </a:p>
        </p:txBody>
      </p:sp>
      <p:sp>
        <p:nvSpPr>
          <p:cNvPr id="14" name="Text 9"/>
          <p:cNvSpPr/>
          <p:nvPr/>
        </p:nvSpPr>
        <p:spPr>
          <a:xfrm>
            <a:off x="1420937" y="2402309"/>
            <a:ext cx="1138684" cy="142280"/>
          </a:xfrm>
          <a:prstGeom prst="rect">
            <a:avLst/>
          </a:prstGeom>
          <a:noFill/>
          <a:ln/>
        </p:spPr>
        <p:txBody>
          <a:bodyPr wrap="none" lIns="0" tIns="0" rIns="0" bIns="0" rtlCol="0" anchor="t"/>
          <a:lstStyle/>
          <a:p>
            <a:pPr marL="0" indent="0" algn="l">
              <a:lnSpc>
                <a:spcPct val="104000"/>
              </a:lnSpc>
              <a:buNone/>
            </a:pPr>
            <a:r>
              <a:rPr lang="en-US" sz="850">
                <a:solidFill>
                  <a:srgbClr val="15213F"/>
                </a:solidFill>
                <a:latin typeface="Roboto Slab" pitchFamily="34" charset="0"/>
                <a:ea typeface="Roboto Slab" pitchFamily="34" charset="-122"/>
                <a:cs typeface="Roboto Slab" pitchFamily="34" charset="-120"/>
              </a:rPr>
              <a:t>Multi-Pack Flag</a:t>
            </a:r>
            <a:endParaRPr lang="en-US" sz="850"/>
          </a:p>
        </p:txBody>
      </p:sp>
      <p:sp>
        <p:nvSpPr>
          <p:cNvPr id="15" name="Text 10"/>
          <p:cNvSpPr/>
          <p:nvPr/>
        </p:nvSpPr>
        <p:spPr>
          <a:xfrm>
            <a:off x="1420937" y="2584698"/>
            <a:ext cx="6642199" cy="252710"/>
          </a:xfrm>
          <a:prstGeom prst="rect">
            <a:avLst/>
          </a:prstGeom>
          <a:noFill/>
          <a:ln/>
        </p:spPr>
        <p:txBody>
          <a:bodyPr wrap="square" lIns="0" tIns="0" rIns="0" bIns="0" rtlCol="0" anchor="t">
            <a:normAutofit/>
          </a:bodyPr>
          <a:lstStyle/>
          <a:p>
            <a:pPr marL="0" indent="0" algn="l">
              <a:lnSpc>
                <a:spcPct val="116000"/>
              </a:lnSpc>
              <a:buNone/>
            </a:pPr>
            <a:r>
              <a:rPr lang="en-US" sz="700">
                <a:solidFill>
                  <a:srgbClr val="15213F"/>
                </a:solidFill>
                <a:latin typeface="Roboto" pitchFamily="34" charset="0"/>
                <a:ea typeface="Roboto" pitchFamily="34" charset="-122"/>
                <a:cs typeface="Roboto" pitchFamily="34" charset="-120"/>
              </a:rPr>
              <a:t>If loan is part of a portfolio, add all relevant info to processing log for downstream AM and Underwriter communication. Do not leave portfolio context undocumented.</a:t>
            </a:r>
            <a:endParaRPr lang="en-US" sz="700"/>
          </a:p>
        </p:txBody>
      </p:sp>
      <p:pic>
        <p:nvPicPr>
          <p:cNvPr id="16"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0182" y="3004914"/>
            <a:ext cx="7183562" cy="546571"/>
          </a:xfrm>
          <a:prstGeom prst="rect">
            <a:avLst/>
          </a:prstGeom>
        </p:spPr>
      </p:pic>
      <p:sp>
        <p:nvSpPr>
          <p:cNvPr id="17" name="Text 11"/>
          <p:cNvSpPr/>
          <p:nvPr/>
        </p:nvSpPr>
        <p:spPr>
          <a:xfrm>
            <a:off x="1103561" y="3192810"/>
            <a:ext cx="136624" cy="170780"/>
          </a:xfrm>
          <a:prstGeom prst="rect">
            <a:avLst/>
          </a:prstGeom>
          <a:noFill/>
          <a:ln/>
        </p:spPr>
        <p:txBody>
          <a:bodyPr wrap="none" lIns="0" tIns="0" rIns="0" bIns="0" rtlCol="0" anchor="ctr"/>
          <a:lstStyle/>
          <a:p>
            <a:pPr marL="0" indent="0" algn="ctr">
              <a:lnSpc>
                <a:spcPct val="100000"/>
              </a:lnSpc>
              <a:buNone/>
            </a:pPr>
            <a:r>
              <a:rPr lang="en-US" sz="1050">
                <a:solidFill>
                  <a:srgbClr val="15213F"/>
                </a:solidFill>
                <a:latin typeface="Roboto Slab" pitchFamily="34" charset="0"/>
                <a:ea typeface="Roboto Slab" pitchFamily="34" charset="-122"/>
                <a:cs typeface="Roboto Slab" pitchFamily="34" charset="-120"/>
              </a:rPr>
              <a:t>4</a:t>
            </a:r>
            <a:endParaRPr lang="en-US" sz="1050"/>
          </a:p>
        </p:txBody>
      </p:sp>
      <p:sp>
        <p:nvSpPr>
          <p:cNvPr id="18" name="Text 12"/>
          <p:cNvSpPr/>
          <p:nvPr/>
        </p:nvSpPr>
        <p:spPr>
          <a:xfrm>
            <a:off x="1420937" y="3105522"/>
            <a:ext cx="1410072" cy="142280"/>
          </a:xfrm>
          <a:prstGeom prst="rect">
            <a:avLst/>
          </a:prstGeom>
          <a:noFill/>
          <a:ln/>
        </p:spPr>
        <p:txBody>
          <a:bodyPr wrap="none" lIns="0" tIns="0" rIns="0" bIns="0" rtlCol="0" anchor="t"/>
          <a:lstStyle/>
          <a:p>
            <a:pPr marL="0" indent="0" algn="l">
              <a:lnSpc>
                <a:spcPct val="104000"/>
              </a:lnSpc>
              <a:buNone/>
            </a:pPr>
            <a:r>
              <a:rPr lang="en-US" sz="850">
                <a:solidFill>
                  <a:srgbClr val="15213F"/>
                </a:solidFill>
                <a:latin typeface="Roboto Slab" pitchFamily="34" charset="0"/>
                <a:ea typeface="Roboto Slab" pitchFamily="34" charset="-122"/>
                <a:cs typeface="Roboto Slab" pitchFamily="34" charset="-120"/>
              </a:rPr>
              <a:t>Purchase Contract Review</a:t>
            </a:r>
            <a:endParaRPr lang="en-US" sz="850"/>
          </a:p>
        </p:txBody>
      </p:sp>
      <p:sp>
        <p:nvSpPr>
          <p:cNvPr id="19" name="Text 13"/>
          <p:cNvSpPr/>
          <p:nvPr/>
        </p:nvSpPr>
        <p:spPr>
          <a:xfrm>
            <a:off x="1420937" y="3287911"/>
            <a:ext cx="6642199" cy="126355"/>
          </a:xfrm>
          <a:prstGeom prst="rect">
            <a:avLst/>
          </a:prstGeom>
          <a:noFill/>
          <a:ln/>
        </p:spPr>
        <p:txBody>
          <a:bodyPr wrap="none" lIns="0" tIns="0" rIns="0" bIns="0" rtlCol="0" anchor="t"/>
          <a:lstStyle/>
          <a:p>
            <a:pPr>
              <a:lnSpc>
                <a:spcPct val="116000"/>
              </a:lnSpc>
            </a:pPr>
            <a:r>
              <a:rPr lang="en-US" sz="700">
                <a:solidFill>
                  <a:srgbClr val="15213F"/>
                </a:solidFill>
                <a:latin typeface="Roboto"/>
                <a:ea typeface="Roboto"/>
                <a:cs typeface="Roboto"/>
              </a:rPr>
              <a:t>Review for estimated close date ; record in system to align team SLAs and closing prep timelines with the contractual deadline.</a:t>
            </a:r>
            <a:endParaRPr lang="en-US" sz="700">
              <a:latin typeface="Roboto"/>
              <a:ea typeface="Roboto"/>
              <a:cs typeface="Roboto"/>
            </a:endParaRPr>
          </a:p>
        </p:txBody>
      </p:sp>
      <p:pic>
        <p:nvPicPr>
          <p:cNvPr id="20"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0182" y="3618384"/>
            <a:ext cx="7183562" cy="546571"/>
          </a:xfrm>
          <a:prstGeom prst="rect">
            <a:avLst/>
          </a:prstGeom>
        </p:spPr>
      </p:pic>
      <p:sp>
        <p:nvSpPr>
          <p:cNvPr id="21" name="Text 14"/>
          <p:cNvSpPr/>
          <p:nvPr/>
        </p:nvSpPr>
        <p:spPr>
          <a:xfrm>
            <a:off x="1103561" y="3806279"/>
            <a:ext cx="136624" cy="170780"/>
          </a:xfrm>
          <a:prstGeom prst="rect">
            <a:avLst/>
          </a:prstGeom>
          <a:noFill/>
          <a:ln/>
        </p:spPr>
        <p:txBody>
          <a:bodyPr wrap="none" lIns="0" tIns="0" rIns="0" bIns="0" rtlCol="0" anchor="ctr"/>
          <a:lstStyle/>
          <a:p>
            <a:pPr marL="0" indent="0" algn="ctr">
              <a:lnSpc>
                <a:spcPct val="100000"/>
              </a:lnSpc>
              <a:buNone/>
            </a:pPr>
            <a:r>
              <a:rPr lang="en-US" sz="1050">
                <a:solidFill>
                  <a:srgbClr val="15213F"/>
                </a:solidFill>
                <a:latin typeface="Roboto Slab" pitchFamily="34" charset="0"/>
                <a:ea typeface="Roboto Slab" pitchFamily="34" charset="-122"/>
                <a:cs typeface="Roboto Slab" pitchFamily="34" charset="-120"/>
              </a:rPr>
              <a:t>5</a:t>
            </a:r>
            <a:endParaRPr lang="en-US" sz="1050"/>
          </a:p>
        </p:txBody>
      </p:sp>
      <p:sp>
        <p:nvSpPr>
          <p:cNvPr id="22" name="Text 15"/>
          <p:cNvSpPr/>
          <p:nvPr/>
        </p:nvSpPr>
        <p:spPr>
          <a:xfrm>
            <a:off x="1420937" y="3718992"/>
            <a:ext cx="1138684" cy="142280"/>
          </a:xfrm>
          <a:prstGeom prst="rect">
            <a:avLst/>
          </a:prstGeom>
          <a:noFill/>
          <a:ln/>
        </p:spPr>
        <p:txBody>
          <a:bodyPr wrap="none" lIns="0" tIns="0" rIns="0" bIns="0" rtlCol="0" anchor="t"/>
          <a:lstStyle/>
          <a:p>
            <a:pPr marL="0" indent="0" algn="l">
              <a:lnSpc>
                <a:spcPct val="104000"/>
              </a:lnSpc>
              <a:buNone/>
            </a:pPr>
            <a:r>
              <a:rPr lang="en-US" sz="850">
                <a:solidFill>
                  <a:srgbClr val="15213F"/>
                </a:solidFill>
                <a:latin typeface="Roboto Slab" pitchFamily="34" charset="0"/>
                <a:ea typeface="Roboto Slab" pitchFamily="34" charset="-122"/>
                <a:cs typeface="Roboto Slab" pitchFamily="34" charset="-120"/>
              </a:rPr>
              <a:t>NMLS Verification</a:t>
            </a:r>
            <a:endParaRPr lang="en-US" sz="850"/>
          </a:p>
        </p:txBody>
      </p:sp>
      <p:sp>
        <p:nvSpPr>
          <p:cNvPr id="23" name="Text 16"/>
          <p:cNvSpPr/>
          <p:nvPr/>
        </p:nvSpPr>
        <p:spPr>
          <a:xfrm>
            <a:off x="1420937" y="3901380"/>
            <a:ext cx="6642199" cy="126355"/>
          </a:xfrm>
          <a:prstGeom prst="rect">
            <a:avLst/>
          </a:prstGeom>
          <a:noFill/>
          <a:ln/>
        </p:spPr>
        <p:txBody>
          <a:bodyPr wrap="none" lIns="0" tIns="0" rIns="0" bIns="0" rtlCol="0" anchor="t"/>
          <a:lstStyle/>
          <a:p>
            <a:pPr marL="0" indent="0" algn="l">
              <a:lnSpc>
                <a:spcPct val="116000"/>
              </a:lnSpc>
              <a:buNone/>
            </a:pPr>
            <a:r>
              <a:rPr lang="en-US" sz="700">
                <a:solidFill>
                  <a:srgbClr val="15213F"/>
                </a:solidFill>
                <a:latin typeface="Roboto" pitchFamily="34" charset="0"/>
                <a:ea typeface="Roboto" pitchFamily="34" charset="-122"/>
                <a:cs typeface="Roboto" pitchFamily="34" charset="-120"/>
              </a:rPr>
              <a:t>Verify NMLS credentials via 4th page of the 1003, NMLS consumer access and Salesforce for both Broker and Broker's Loan Officer. Document verification result in processing log.</a:t>
            </a:r>
            <a:endParaRPr lang="en-US" sz="700"/>
          </a:p>
        </p:txBody>
      </p:sp>
      <p:pic>
        <p:nvPicPr>
          <p:cNvPr id="24"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0182" y="4231853"/>
            <a:ext cx="7183562" cy="546571"/>
          </a:xfrm>
          <a:prstGeom prst="rect">
            <a:avLst/>
          </a:prstGeom>
        </p:spPr>
      </p:pic>
      <p:sp>
        <p:nvSpPr>
          <p:cNvPr id="25" name="Text 17"/>
          <p:cNvSpPr/>
          <p:nvPr/>
        </p:nvSpPr>
        <p:spPr>
          <a:xfrm>
            <a:off x="1103561" y="4419749"/>
            <a:ext cx="136624" cy="170780"/>
          </a:xfrm>
          <a:prstGeom prst="rect">
            <a:avLst/>
          </a:prstGeom>
          <a:noFill/>
          <a:ln/>
        </p:spPr>
        <p:txBody>
          <a:bodyPr wrap="none" lIns="0" tIns="0" rIns="0" bIns="0" rtlCol="0" anchor="ctr"/>
          <a:lstStyle/>
          <a:p>
            <a:pPr marL="0" indent="0" algn="ctr">
              <a:lnSpc>
                <a:spcPct val="100000"/>
              </a:lnSpc>
              <a:buNone/>
            </a:pPr>
            <a:r>
              <a:rPr lang="en-US" sz="1050">
                <a:solidFill>
                  <a:srgbClr val="15213F"/>
                </a:solidFill>
                <a:latin typeface="Roboto Slab" pitchFamily="34" charset="0"/>
                <a:ea typeface="Roboto Slab" pitchFamily="34" charset="-122"/>
                <a:cs typeface="Roboto Slab" pitchFamily="34" charset="-120"/>
              </a:rPr>
              <a:t>6*</a:t>
            </a:r>
            <a:endParaRPr lang="en-US" sz="1050"/>
          </a:p>
        </p:txBody>
      </p:sp>
      <p:sp>
        <p:nvSpPr>
          <p:cNvPr id="26" name="Text 18"/>
          <p:cNvSpPr/>
          <p:nvPr/>
        </p:nvSpPr>
        <p:spPr>
          <a:xfrm>
            <a:off x="1420937" y="4332461"/>
            <a:ext cx="1428899" cy="142280"/>
          </a:xfrm>
          <a:prstGeom prst="rect">
            <a:avLst/>
          </a:prstGeom>
          <a:noFill/>
          <a:ln/>
        </p:spPr>
        <p:txBody>
          <a:bodyPr wrap="none" lIns="0" tIns="0" rIns="0" bIns="0" rtlCol="0" anchor="t"/>
          <a:lstStyle/>
          <a:p>
            <a:pPr marL="0" indent="0" algn="l">
              <a:lnSpc>
                <a:spcPct val="104000"/>
              </a:lnSpc>
              <a:buNone/>
            </a:pPr>
            <a:r>
              <a:rPr lang="en-US" sz="850">
                <a:solidFill>
                  <a:srgbClr val="15213F"/>
                </a:solidFill>
                <a:latin typeface="Roboto Slab" pitchFamily="34" charset="0"/>
                <a:ea typeface="Roboto Slab" pitchFamily="34" charset="-122"/>
                <a:cs typeface="Roboto Slab" pitchFamily="34" charset="-120"/>
              </a:rPr>
              <a:t>*Refinance Only — Listing Check</a:t>
            </a:r>
            <a:endParaRPr lang="en-US" sz="850"/>
          </a:p>
        </p:txBody>
      </p:sp>
      <p:sp>
        <p:nvSpPr>
          <p:cNvPr id="27" name="Text 19"/>
          <p:cNvSpPr/>
          <p:nvPr/>
        </p:nvSpPr>
        <p:spPr>
          <a:xfrm>
            <a:off x="1420937" y="4514850"/>
            <a:ext cx="6642199" cy="126355"/>
          </a:xfrm>
          <a:prstGeom prst="rect">
            <a:avLst/>
          </a:prstGeom>
          <a:noFill/>
          <a:ln/>
        </p:spPr>
        <p:txBody>
          <a:bodyPr wrap="none" lIns="0" tIns="0" rIns="0" bIns="0" rtlCol="0" anchor="t"/>
          <a:lstStyle/>
          <a:p>
            <a:pPr marL="0" indent="0" algn="l">
              <a:lnSpc>
                <a:spcPct val="116000"/>
              </a:lnSpc>
              <a:buNone/>
            </a:pPr>
            <a:r>
              <a:rPr lang="en-US" sz="700">
                <a:solidFill>
                  <a:srgbClr val="15213F"/>
                </a:solidFill>
                <a:latin typeface="Roboto" pitchFamily="34" charset="0"/>
                <a:ea typeface="Roboto" pitchFamily="34" charset="-122"/>
                <a:cs typeface="Roboto" pitchFamily="34" charset="-120"/>
              </a:rPr>
              <a:t>Confirm subject property is not currently listed for sale via Redfin. Search property address through USPS for accuracy and standardization.</a:t>
            </a:r>
            <a:endParaRPr lang="en-US" sz="7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1058317"/>
            <a:ext cx="731193"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1095524"/>
            <a:ext cx="1039564"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1B</a:t>
            </a:r>
            <a:endParaRPr lang="en-US" sz="750"/>
          </a:p>
        </p:txBody>
      </p:sp>
      <p:sp>
        <p:nvSpPr>
          <p:cNvPr id="4" name="Text 2"/>
          <p:cNvSpPr/>
          <p:nvPr/>
        </p:nvSpPr>
        <p:spPr>
          <a:xfrm>
            <a:off x="496119" y="1341090"/>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Stage 1B</a:t>
            </a:r>
            <a:endParaRPr lang="en-US" sz="3350"/>
          </a:p>
        </p:txBody>
      </p:sp>
      <p:sp>
        <p:nvSpPr>
          <p:cNvPr id="5" name="Text 3"/>
          <p:cNvSpPr/>
          <p:nvPr/>
        </p:nvSpPr>
        <p:spPr>
          <a:xfrm>
            <a:off x="496119" y="2062014"/>
            <a:ext cx="5761509"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Broker Communication &amp; Escalation</a:t>
            </a:r>
            <a:endParaRPr lang="en-US" sz="2400"/>
          </a:p>
        </p:txBody>
      </p:sp>
      <p:sp>
        <p:nvSpPr>
          <p:cNvPr id="6" name="Text 4"/>
          <p:cNvSpPr/>
          <p:nvPr/>
        </p:nvSpPr>
        <p:spPr>
          <a:xfrm>
            <a:off x="496119" y="2635597"/>
            <a:ext cx="8151763"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When minimum documentation is not received at submission, a defined 48-hour outreach and escalation protocol governs all broker communication — creating a clear, defensible audit trail for every cancellation decision.</a:t>
            </a:r>
            <a:endParaRPr lang="en-US" sz="950"/>
          </a:p>
        </p:txBody>
      </p:sp>
      <p:sp>
        <p:nvSpPr>
          <p:cNvPr id="7" name="Shape 5"/>
          <p:cNvSpPr/>
          <p:nvPr/>
        </p:nvSpPr>
        <p:spPr>
          <a:xfrm>
            <a:off x="496119" y="3172048"/>
            <a:ext cx="2634555" cy="913135"/>
          </a:xfrm>
          <a:prstGeom prst="roundRect">
            <a:avLst>
              <a:gd name="adj" fmla="val 2038"/>
            </a:avLst>
          </a:prstGeom>
          <a:solidFill>
            <a:srgbClr val="E9ECF2"/>
          </a:solidFill>
          <a:ln/>
        </p:spPr>
        <p:txBody>
          <a:bodyPr/>
          <a:lstStyle/>
          <a:p>
            <a:endParaRPr lang="en-US"/>
          </a:p>
        </p:txBody>
      </p:sp>
      <p:sp>
        <p:nvSpPr>
          <p:cNvPr id="8" name="Text 6"/>
          <p:cNvSpPr/>
          <p:nvPr/>
        </p:nvSpPr>
        <p:spPr>
          <a:xfrm>
            <a:off x="620092"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Owner</a:t>
            </a:r>
            <a:endParaRPr lang="en-US" sz="1200"/>
          </a:p>
        </p:txBody>
      </p:sp>
      <p:sp>
        <p:nvSpPr>
          <p:cNvPr id="9" name="Text 7"/>
          <p:cNvSpPr/>
          <p:nvPr/>
        </p:nvSpPr>
        <p:spPr>
          <a:xfrm>
            <a:off x="620092" y="3564285"/>
            <a:ext cx="2386608"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a:ea typeface="Roboto"/>
                <a:cs typeface="Roboto"/>
              </a:rPr>
              <a:t>Loan Set Up </a:t>
            </a:r>
            <a:endParaRPr lang="en-US" sz="950">
              <a:latin typeface="Roboto"/>
              <a:ea typeface="Roboto"/>
              <a:cs typeface="Roboto"/>
            </a:endParaRPr>
          </a:p>
        </p:txBody>
      </p:sp>
      <p:sp>
        <p:nvSpPr>
          <p:cNvPr id="10" name="Shape 8"/>
          <p:cNvSpPr/>
          <p:nvPr/>
        </p:nvSpPr>
        <p:spPr>
          <a:xfrm>
            <a:off x="3254648" y="3172048"/>
            <a:ext cx="2634630" cy="913135"/>
          </a:xfrm>
          <a:prstGeom prst="roundRect">
            <a:avLst>
              <a:gd name="adj" fmla="val 2038"/>
            </a:avLst>
          </a:prstGeom>
          <a:solidFill>
            <a:srgbClr val="E9ECF2"/>
          </a:solidFill>
          <a:ln/>
        </p:spPr>
        <p:txBody>
          <a:bodyPr/>
          <a:lstStyle/>
          <a:p>
            <a:endParaRPr lang="en-US"/>
          </a:p>
        </p:txBody>
      </p:sp>
      <p:sp>
        <p:nvSpPr>
          <p:cNvPr id="11" name="Text 9"/>
          <p:cNvSpPr/>
          <p:nvPr/>
        </p:nvSpPr>
        <p:spPr>
          <a:xfrm>
            <a:off x="3378622"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Total Window</a:t>
            </a:r>
            <a:endParaRPr lang="en-US" sz="1200"/>
          </a:p>
        </p:txBody>
      </p:sp>
      <p:sp>
        <p:nvSpPr>
          <p:cNvPr id="12" name="Text 10"/>
          <p:cNvSpPr/>
          <p:nvPr/>
        </p:nvSpPr>
        <p:spPr>
          <a:xfrm>
            <a:off x="3378622" y="3564285"/>
            <a:ext cx="2386682" cy="396925"/>
          </a:xfrm>
          <a:prstGeom prst="rect">
            <a:avLst/>
          </a:prstGeom>
          <a:noFill/>
          <a:ln/>
        </p:spPr>
        <p:txBody>
          <a:bodyPr wrap="square" lIns="0" tIns="0" rIns="0" bIns="0" rtlCol="0" anchor="t">
            <a:normAutofit/>
          </a:bodyPr>
          <a:lstStyle/>
          <a:p>
            <a:pPr>
              <a:lnSpc>
                <a:spcPct val="133000"/>
              </a:lnSpc>
            </a:pPr>
            <a:r>
              <a:rPr lang="en-US" sz="950">
                <a:solidFill>
                  <a:srgbClr val="15213F"/>
                </a:solidFill>
                <a:latin typeface="Roboto"/>
                <a:ea typeface="Roboto"/>
                <a:cs typeface="Roboto"/>
              </a:rPr>
              <a:t>48 hours from initial outreach to 3rd business day cancellation notice .</a:t>
            </a:r>
            <a:endParaRPr lang="en-US" sz="950">
              <a:latin typeface="Roboto"/>
              <a:ea typeface="Roboto"/>
              <a:cs typeface="Roboto"/>
            </a:endParaRPr>
          </a:p>
        </p:txBody>
      </p:sp>
      <p:sp>
        <p:nvSpPr>
          <p:cNvPr id="13" name="Shape 11"/>
          <p:cNvSpPr/>
          <p:nvPr/>
        </p:nvSpPr>
        <p:spPr>
          <a:xfrm>
            <a:off x="6013252" y="3172048"/>
            <a:ext cx="2634555" cy="913135"/>
          </a:xfrm>
          <a:prstGeom prst="roundRect">
            <a:avLst>
              <a:gd name="adj" fmla="val 2038"/>
            </a:avLst>
          </a:prstGeom>
          <a:solidFill>
            <a:srgbClr val="E9ECF2"/>
          </a:solidFill>
          <a:ln/>
        </p:spPr>
        <p:txBody>
          <a:bodyPr/>
          <a:lstStyle/>
          <a:p>
            <a:endParaRPr lang="en-US"/>
          </a:p>
        </p:txBody>
      </p:sp>
      <p:sp>
        <p:nvSpPr>
          <p:cNvPr id="14" name="Text 12"/>
          <p:cNvSpPr/>
          <p:nvPr/>
        </p:nvSpPr>
        <p:spPr>
          <a:xfrm>
            <a:off x="6137225" y="3296022"/>
            <a:ext cx="1819647"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Documentation Required</a:t>
            </a:r>
            <a:endParaRPr lang="en-US" sz="1200"/>
          </a:p>
        </p:txBody>
      </p:sp>
      <p:sp>
        <p:nvSpPr>
          <p:cNvPr id="15" name="Text 13"/>
          <p:cNvSpPr/>
          <p:nvPr/>
        </p:nvSpPr>
        <p:spPr>
          <a:xfrm>
            <a:off x="6137225" y="3564285"/>
            <a:ext cx="2386608"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All calls and emails logged in processing log with timestamps</a:t>
            </a:r>
            <a:endParaRPr lang="en-US" sz="9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43049"/>
            <a:ext cx="7312000" cy="381521"/>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Broker Outreach Protocol — Missing Documents</a:t>
            </a:r>
            <a:endParaRPr lang="en-US" sz="2400"/>
          </a:p>
        </p:txBody>
      </p:sp>
      <p:sp>
        <p:nvSpPr>
          <p:cNvPr id="3" name="Shape 1"/>
          <p:cNvSpPr/>
          <p:nvPr/>
        </p:nvSpPr>
        <p:spPr>
          <a:xfrm>
            <a:off x="4564856" y="964927"/>
            <a:ext cx="14288" cy="2377157"/>
          </a:xfrm>
          <a:prstGeom prst="roundRect">
            <a:avLst>
              <a:gd name="adj" fmla="val 128193"/>
            </a:avLst>
          </a:prstGeom>
          <a:solidFill>
            <a:srgbClr val="CFD2D8"/>
          </a:solidFill>
          <a:ln/>
        </p:spPr>
        <p:txBody>
          <a:bodyPr/>
          <a:lstStyle/>
          <a:p>
            <a:endParaRPr lang="en-US"/>
          </a:p>
        </p:txBody>
      </p:sp>
      <p:sp>
        <p:nvSpPr>
          <p:cNvPr id="4" name="Shape 2"/>
          <p:cNvSpPr/>
          <p:nvPr/>
        </p:nvSpPr>
        <p:spPr>
          <a:xfrm>
            <a:off x="4082653" y="1095152"/>
            <a:ext cx="366266" cy="14288"/>
          </a:xfrm>
          <a:prstGeom prst="roundRect">
            <a:avLst>
              <a:gd name="adj" fmla="val 128193"/>
            </a:avLst>
          </a:prstGeom>
          <a:solidFill>
            <a:srgbClr val="CFD2D8"/>
          </a:solidFill>
          <a:ln/>
        </p:spPr>
        <p:txBody>
          <a:bodyPr/>
          <a:lstStyle/>
          <a:p>
            <a:endParaRPr lang="en-US"/>
          </a:p>
        </p:txBody>
      </p:sp>
      <p:sp>
        <p:nvSpPr>
          <p:cNvPr id="5" name="Shape 3"/>
          <p:cNvSpPr/>
          <p:nvPr/>
        </p:nvSpPr>
        <p:spPr>
          <a:xfrm>
            <a:off x="4434632" y="964927"/>
            <a:ext cx="274737" cy="274737"/>
          </a:xfrm>
          <a:prstGeom prst="roundRect">
            <a:avLst>
              <a:gd name="adj" fmla="val 6667"/>
            </a:avLst>
          </a:prstGeom>
          <a:solidFill>
            <a:srgbClr val="E9ECF2"/>
          </a:solidFill>
          <a:ln/>
        </p:spPr>
        <p:txBody>
          <a:bodyPr/>
          <a:lstStyle/>
          <a:p>
            <a:endParaRPr lang="en-US"/>
          </a:p>
        </p:txBody>
      </p:sp>
      <p:sp>
        <p:nvSpPr>
          <p:cNvPr id="6" name="Text 4"/>
          <p:cNvSpPr/>
          <p:nvPr/>
        </p:nvSpPr>
        <p:spPr>
          <a:xfrm>
            <a:off x="4480433" y="987847"/>
            <a:ext cx="183133" cy="228898"/>
          </a:xfrm>
          <a:prstGeom prst="rect">
            <a:avLst/>
          </a:prstGeom>
          <a:noFill/>
          <a:ln/>
        </p:spPr>
        <p:txBody>
          <a:bodyPr wrap="none" lIns="0" tIns="0" rIns="0" bIns="0" rtlCol="0" anchor="ctr"/>
          <a:lstStyle/>
          <a:p>
            <a:pPr marL="0" indent="0" algn="ctr">
              <a:lnSpc>
                <a:spcPct val="100000"/>
              </a:lnSpc>
              <a:buNone/>
            </a:pPr>
            <a:r>
              <a:rPr lang="en-US" sz="1400">
                <a:solidFill>
                  <a:srgbClr val="15213F"/>
                </a:solidFill>
                <a:latin typeface="Roboto Slab" pitchFamily="34" charset="0"/>
                <a:ea typeface="Roboto Slab" pitchFamily="34" charset="-122"/>
                <a:cs typeface="Roboto Slab" pitchFamily="34" charset="-120"/>
              </a:rPr>
              <a:t>1</a:t>
            </a:r>
            <a:endParaRPr lang="en-US" sz="1400"/>
          </a:p>
        </p:txBody>
      </p:sp>
      <p:sp>
        <p:nvSpPr>
          <p:cNvPr id="7" name="Text 5"/>
          <p:cNvSpPr/>
          <p:nvPr/>
        </p:nvSpPr>
        <p:spPr>
          <a:xfrm>
            <a:off x="2228924" y="1006897"/>
            <a:ext cx="1732583" cy="190723"/>
          </a:xfrm>
          <a:prstGeom prst="rect">
            <a:avLst/>
          </a:prstGeom>
          <a:noFill/>
          <a:ln/>
        </p:spPr>
        <p:txBody>
          <a:bodyPr wrap="none" lIns="0" tIns="0" rIns="0" bIns="0" rtlCol="0" anchor="t"/>
          <a:lstStyle/>
          <a:p>
            <a:pPr marL="0" indent="0" algn="r">
              <a:lnSpc>
                <a:spcPct val="104000"/>
              </a:lnSpc>
              <a:buNone/>
            </a:pPr>
            <a:r>
              <a:rPr lang="en-US" sz="1200">
                <a:solidFill>
                  <a:srgbClr val="15213F"/>
                </a:solidFill>
                <a:latin typeface="Roboto Slab" pitchFamily="34" charset="0"/>
                <a:ea typeface="Roboto Slab" pitchFamily="34" charset="-122"/>
                <a:cs typeface="Roboto Slab" pitchFamily="34" charset="-120"/>
              </a:rPr>
              <a:t>Step 1 — Initial Outreach</a:t>
            </a:r>
            <a:endParaRPr lang="en-US" sz="1200"/>
          </a:p>
        </p:txBody>
      </p:sp>
      <p:sp>
        <p:nvSpPr>
          <p:cNvPr id="8" name="Text 6"/>
          <p:cNvSpPr/>
          <p:nvPr/>
        </p:nvSpPr>
        <p:spPr>
          <a:xfrm>
            <a:off x="496119" y="1269727"/>
            <a:ext cx="3465388" cy="581546"/>
          </a:xfrm>
          <a:prstGeom prst="rect">
            <a:avLst/>
          </a:prstGeom>
          <a:noFill/>
          <a:ln/>
        </p:spPr>
        <p:txBody>
          <a:bodyPr wrap="square" lIns="0" tIns="0" rIns="0" bIns="0" rtlCol="0" anchor="t">
            <a:normAutofit/>
          </a:bodyPr>
          <a:lstStyle/>
          <a:p>
            <a:pPr marL="0" indent="0">
              <a:lnSpc>
                <a:spcPct val="132000"/>
              </a:lnSpc>
              <a:buNone/>
            </a:pPr>
            <a:r>
              <a:rPr lang="en-US" sz="950">
                <a:solidFill>
                  <a:srgbClr val="15213F"/>
                </a:solidFill>
                <a:latin typeface="Roboto" pitchFamily="34" charset="0"/>
                <a:ea typeface="Roboto" pitchFamily="34" charset="-122"/>
                <a:cs typeface="Roboto" pitchFamily="34" charset="-120"/>
              </a:rPr>
              <a:t>Loan Set Up calls Broker to indicate documents needed. Simultaneous email sent to both Broker and AE detailing specific requirements.</a:t>
            </a:r>
            <a:endParaRPr lang="en-US" sz="950">
              <a:ea typeface="Calibri" panose="020F0502020204030204"/>
              <a:cs typeface="Calibri" panose="020F0502020204030204"/>
            </a:endParaRPr>
          </a:p>
        </p:txBody>
      </p:sp>
      <p:sp>
        <p:nvSpPr>
          <p:cNvPr id="9" name="Shape 7"/>
          <p:cNvSpPr/>
          <p:nvPr/>
        </p:nvSpPr>
        <p:spPr>
          <a:xfrm>
            <a:off x="4695081" y="1823889"/>
            <a:ext cx="366266" cy="14288"/>
          </a:xfrm>
          <a:prstGeom prst="roundRect">
            <a:avLst>
              <a:gd name="adj" fmla="val 128193"/>
            </a:avLst>
          </a:prstGeom>
          <a:solidFill>
            <a:srgbClr val="CFD2D8"/>
          </a:solidFill>
          <a:ln/>
        </p:spPr>
        <p:txBody>
          <a:bodyPr/>
          <a:lstStyle/>
          <a:p>
            <a:endParaRPr lang="en-US"/>
          </a:p>
        </p:txBody>
      </p:sp>
      <p:sp>
        <p:nvSpPr>
          <p:cNvPr id="10" name="Shape 8"/>
          <p:cNvSpPr/>
          <p:nvPr/>
        </p:nvSpPr>
        <p:spPr>
          <a:xfrm>
            <a:off x="4434632" y="1693664"/>
            <a:ext cx="274737" cy="274737"/>
          </a:xfrm>
          <a:prstGeom prst="roundRect">
            <a:avLst>
              <a:gd name="adj" fmla="val 6667"/>
            </a:avLst>
          </a:prstGeom>
          <a:solidFill>
            <a:srgbClr val="E9ECF2"/>
          </a:solidFill>
          <a:ln/>
        </p:spPr>
        <p:txBody>
          <a:bodyPr/>
          <a:lstStyle/>
          <a:p>
            <a:endParaRPr lang="en-US"/>
          </a:p>
        </p:txBody>
      </p:sp>
      <p:sp>
        <p:nvSpPr>
          <p:cNvPr id="11" name="Text 9"/>
          <p:cNvSpPr/>
          <p:nvPr/>
        </p:nvSpPr>
        <p:spPr>
          <a:xfrm>
            <a:off x="4480433" y="1716584"/>
            <a:ext cx="183133" cy="228898"/>
          </a:xfrm>
          <a:prstGeom prst="rect">
            <a:avLst/>
          </a:prstGeom>
          <a:noFill/>
          <a:ln/>
        </p:spPr>
        <p:txBody>
          <a:bodyPr wrap="none" lIns="0" tIns="0" rIns="0" bIns="0" rtlCol="0" anchor="ctr"/>
          <a:lstStyle/>
          <a:p>
            <a:pPr marL="0" indent="0" algn="ctr">
              <a:lnSpc>
                <a:spcPct val="100000"/>
              </a:lnSpc>
              <a:buNone/>
            </a:pPr>
            <a:r>
              <a:rPr lang="en-US" sz="1400">
                <a:solidFill>
                  <a:srgbClr val="15213F"/>
                </a:solidFill>
                <a:latin typeface="Roboto Slab" pitchFamily="34" charset="0"/>
                <a:ea typeface="Roboto Slab" pitchFamily="34" charset="-122"/>
                <a:cs typeface="Roboto Slab" pitchFamily="34" charset="-120"/>
              </a:rPr>
              <a:t>2</a:t>
            </a:r>
            <a:endParaRPr lang="en-US" sz="1400"/>
          </a:p>
        </p:txBody>
      </p:sp>
      <p:sp>
        <p:nvSpPr>
          <p:cNvPr id="12" name="Text 10"/>
          <p:cNvSpPr/>
          <p:nvPr/>
        </p:nvSpPr>
        <p:spPr>
          <a:xfrm>
            <a:off x="5182493" y="1735634"/>
            <a:ext cx="1869802" cy="190723"/>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Step 2 — 24-Hour Window</a:t>
            </a:r>
            <a:endParaRPr lang="en-US" sz="1200"/>
          </a:p>
        </p:txBody>
      </p:sp>
      <p:sp>
        <p:nvSpPr>
          <p:cNvPr id="13" name="Text 11"/>
          <p:cNvSpPr/>
          <p:nvPr/>
        </p:nvSpPr>
        <p:spPr>
          <a:xfrm>
            <a:off x="5182493" y="1998464"/>
            <a:ext cx="3465388" cy="581546"/>
          </a:xfrm>
          <a:prstGeom prst="rect">
            <a:avLst/>
          </a:prstGeom>
          <a:noFill/>
          <a:ln/>
        </p:spPr>
        <p:txBody>
          <a:bodyPr wrap="square" lIns="0" tIns="0" rIns="0" bIns="0" rtlCol="0" anchor="t">
            <a:normAutofit/>
          </a:bodyPr>
          <a:lstStyle/>
          <a:p>
            <a:pPr>
              <a:lnSpc>
                <a:spcPct val="132000"/>
              </a:lnSpc>
            </a:pPr>
            <a:r>
              <a:rPr lang="en-US" sz="950">
                <a:solidFill>
                  <a:srgbClr val="15213F"/>
                </a:solidFill>
                <a:latin typeface="Roboto"/>
                <a:ea typeface="Roboto"/>
                <a:cs typeface="Roboto"/>
              </a:rPr>
              <a:t>If broker does not submit required documents within 24 hours of phone call and email, a second email notification is issued to both Broker ,AE and RSM.</a:t>
            </a:r>
            <a:endParaRPr lang="en-US" sz="950">
              <a:latin typeface="Roboto"/>
              <a:ea typeface="Roboto"/>
              <a:cs typeface="Roboto"/>
            </a:endParaRPr>
          </a:p>
        </p:txBody>
      </p:sp>
      <p:sp>
        <p:nvSpPr>
          <p:cNvPr id="14" name="Shape 12"/>
          <p:cNvSpPr/>
          <p:nvPr/>
        </p:nvSpPr>
        <p:spPr>
          <a:xfrm>
            <a:off x="4082653" y="2453432"/>
            <a:ext cx="366266" cy="14288"/>
          </a:xfrm>
          <a:prstGeom prst="roundRect">
            <a:avLst>
              <a:gd name="adj" fmla="val 128193"/>
            </a:avLst>
          </a:prstGeom>
          <a:solidFill>
            <a:srgbClr val="CFD2D8"/>
          </a:solidFill>
          <a:ln/>
        </p:spPr>
        <p:txBody>
          <a:bodyPr/>
          <a:lstStyle/>
          <a:p>
            <a:endParaRPr lang="en-US"/>
          </a:p>
        </p:txBody>
      </p:sp>
      <p:sp>
        <p:nvSpPr>
          <p:cNvPr id="15" name="Shape 13"/>
          <p:cNvSpPr/>
          <p:nvPr/>
        </p:nvSpPr>
        <p:spPr>
          <a:xfrm>
            <a:off x="4434632" y="2323207"/>
            <a:ext cx="274737" cy="274737"/>
          </a:xfrm>
          <a:prstGeom prst="roundRect">
            <a:avLst>
              <a:gd name="adj" fmla="val 6667"/>
            </a:avLst>
          </a:prstGeom>
          <a:solidFill>
            <a:srgbClr val="E9ECF2"/>
          </a:solidFill>
          <a:ln/>
        </p:spPr>
        <p:txBody>
          <a:bodyPr/>
          <a:lstStyle/>
          <a:p>
            <a:endParaRPr lang="en-US"/>
          </a:p>
        </p:txBody>
      </p:sp>
      <p:sp>
        <p:nvSpPr>
          <p:cNvPr id="16" name="Text 14"/>
          <p:cNvSpPr/>
          <p:nvPr/>
        </p:nvSpPr>
        <p:spPr>
          <a:xfrm>
            <a:off x="4480433" y="2346127"/>
            <a:ext cx="183133" cy="228898"/>
          </a:xfrm>
          <a:prstGeom prst="rect">
            <a:avLst/>
          </a:prstGeom>
          <a:noFill/>
          <a:ln/>
        </p:spPr>
        <p:txBody>
          <a:bodyPr wrap="none" lIns="0" tIns="0" rIns="0" bIns="0" rtlCol="0" anchor="ctr"/>
          <a:lstStyle/>
          <a:p>
            <a:pPr marL="0" indent="0" algn="ctr">
              <a:lnSpc>
                <a:spcPct val="100000"/>
              </a:lnSpc>
              <a:buNone/>
            </a:pPr>
            <a:r>
              <a:rPr lang="en-US" sz="1400">
                <a:solidFill>
                  <a:srgbClr val="15213F"/>
                </a:solidFill>
                <a:latin typeface="Roboto Slab" pitchFamily="34" charset="0"/>
                <a:ea typeface="Roboto Slab" pitchFamily="34" charset="-122"/>
                <a:cs typeface="Roboto Slab" pitchFamily="34" charset="-120"/>
              </a:rPr>
              <a:t>3</a:t>
            </a:r>
            <a:endParaRPr lang="en-US" sz="1400"/>
          </a:p>
        </p:txBody>
      </p:sp>
      <p:sp>
        <p:nvSpPr>
          <p:cNvPr id="17" name="Text 15"/>
          <p:cNvSpPr/>
          <p:nvPr/>
        </p:nvSpPr>
        <p:spPr>
          <a:xfrm>
            <a:off x="1922859" y="2365177"/>
            <a:ext cx="2038648" cy="190723"/>
          </a:xfrm>
          <a:prstGeom prst="rect">
            <a:avLst/>
          </a:prstGeom>
          <a:noFill/>
          <a:ln/>
        </p:spPr>
        <p:txBody>
          <a:bodyPr wrap="none" lIns="0" tIns="0" rIns="0" bIns="0" rtlCol="0" anchor="t"/>
          <a:lstStyle/>
          <a:p>
            <a:pPr marL="0" indent="0" algn="r">
              <a:lnSpc>
                <a:spcPct val="104000"/>
              </a:lnSpc>
              <a:buNone/>
            </a:pPr>
            <a:r>
              <a:rPr lang="en-US" sz="1200">
                <a:solidFill>
                  <a:srgbClr val="15213F"/>
                </a:solidFill>
                <a:latin typeface="Roboto Slab" pitchFamily="34" charset="0"/>
                <a:ea typeface="Roboto Slab" pitchFamily="34" charset="-122"/>
                <a:cs typeface="Roboto Slab" pitchFamily="34" charset="-120"/>
              </a:rPr>
              <a:t>Step 3 — Cancellation Notice</a:t>
            </a:r>
            <a:endParaRPr lang="en-US" sz="1200"/>
          </a:p>
        </p:txBody>
      </p:sp>
      <p:sp>
        <p:nvSpPr>
          <p:cNvPr id="18" name="Text 16"/>
          <p:cNvSpPr/>
          <p:nvPr/>
        </p:nvSpPr>
        <p:spPr>
          <a:xfrm>
            <a:off x="496119" y="2628007"/>
            <a:ext cx="3465388" cy="581546"/>
          </a:xfrm>
          <a:prstGeom prst="rect">
            <a:avLst/>
          </a:prstGeom>
          <a:noFill/>
          <a:ln/>
        </p:spPr>
        <p:txBody>
          <a:bodyPr wrap="square" lIns="0" tIns="0" rIns="0" bIns="0" rtlCol="0" anchor="t">
            <a:normAutofit/>
          </a:bodyPr>
          <a:lstStyle/>
          <a:p>
            <a:pPr>
              <a:lnSpc>
                <a:spcPct val="132000"/>
              </a:lnSpc>
            </a:pPr>
            <a:r>
              <a:rPr lang="en-US" sz="950">
                <a:solidFill>
                  <a:srgbClr val="15213F"/>
                </a:solidFill>
                <a:latin typeface="Roboto"/>
                <a:ea typeface="Roboto"/>
                <a:cs typeface="Roboto"/>
              </a:rPr>
              <a:t>If no response after the second 24-hour window, Broker,  AE and RSM  are notified that the loan will be cancelled — creating a clear audit trail.</a:t>
            </a:r>
            <a:endParaRPr lang="en-US" sz="950">
              <a:latin typeface="Roboto"/>
              <a:ea typeface="Roboto"/>
              <a:cs typeface="Roboto"/>
            </a:endParaRPr>
          </a:p>
        </p:txBody>
      </p:sp>
      <p:sp>
        <p:nvSpPr>
          <p:cNvPr id="19" name="Shape 17"/>
          <p:cNvSpPr/>
          <p:nvPr/>
        </p:nvSpPr>
        <p:spPr>
          <a:xfrm>
            <a:off x="496119" y="3612505"/>
            <a:ext cx="3926979" cy="858813"/>
          </a:xfrm>
          <a:prstGeom prst="roundRect">
            <a:avLst>
              <a:gd name="adj" fmla="val 2133"/>
            </a:avLst>
          </a:prstGeom>
          <a:solidFill>
            <a:srgbClr val="FCF2B5"/>
          </a:solidFill>
          <a:ln/>
        </p:spPr>
        <p:txBody>
          <a:bodyPr/>
          <a:lstStyle/>
          <a:p>
            <a:endParaRPr lang="en-US"/>
          </a:p>
        </p:txBody>
      </p:sp>
      <p:pic>
        <p:nvPicPr>
          <p:cNvPr id="20" name="Image 0" descr="preencoded.png"/>
          <p:cNvPicPr>
            <a:picLocks noChangeAspect="1"/>
          </p:cNvPicPr>
          <p:nvPr/>
        </p:nvPicPr>
        <p:blipFill>
          <a:blip r:embed="rId4"/>
          <a:stretch>
            <a:fillRect/>
          </a:stretch>
        </p:blipFill>
        <p:spPr>
          <a:xfrm>
            <a:off x="618158" y="3796382"/>
            <a:ext cx="152623" cy="122039"/>
          </a:xfrm>
          <a:prstGeom prst="rect">
            <a:avLst/>
          </a:prstGeom>
        </p:spPr>
      </p:pic>
      <p:sp>
        <p:nvSpPr>
          <p:cNvPr id="21" name="Text 18"/>
          <p:cNvSpPr/>
          <p:nvPr/>
        </p:nvSpPr>
        <p:spPr>
          <a:xfrm>
            <a:off x="892820" y="3751138"/>
            <a:ext cx="3408238" cy="581546"/>
          </a:xfrm>
          <a:prstGeom prst="rect">
            <a:avLst/>
          </a:prstGeom>
          <a:noFill/>
          <a:ln/>
        </p:spPr>
        <p:txBody>
          <a:bodyPr wrap="square" lIns="0" tIns="0" rIns="0" bIns="0" rtlCol="0" anchor="t">
            <a:normAutofit/>
          </a:bodyPr>
          <a:lstStyle/>
          <a:p>
            <a:pPr marL="0" indent="0" algn="l">
              <a:lnSpc>
                <a:spcPct val="132000"/>
              </a:lnSpc>
              <a:buNone/>
            </a:pPr>
            <a:r>
              <a:rPr lang="en-US" sz="950" b="1">
                <a:solidFill>
                  <a:srgbClr val="000000"/>
                </a:solidFill>
                <a:latin typeface="Roboto" pitchFamily="34" charset="0"/>
                <a:ea typeface="Roboto" pitchFamily="34" charset="-122"/>
                <a:cs typeface="Roboto" pitchFamily="34" charset="-120"/>
              </a:rPr>
              <a:t>48-Hour Hard Stop:</a:t>
            </a:r>
            <a:r>
              <a:rPr lang="en-US" sz="950">
                <a:solidFill>
                  <a:srgbClr val="000000"/>
                </a:solidFill>
                <a:latin typeface="Roboto" pitchFamily="34" charset="0"/>
                <a:ea typeface="Roboto" pitchFamily="34" charset="-122"/>
                <a:cs typeface="Roboto" pitchFamily="34" charset="-120"/>
              </a:rPr>
              <a:t> Total window from initial outreach to cancellation notice is on the third business day. No extensions without documented management approval.</a:t>
            </a:r>
            <a:endParaRPr lang="en-US" sz="950"/>
          </a:p>
        </p:txBody>
      </p:sp>
      <p:sp>
        <p:nvSpPr>
          <p:cNvPr id="22" name="Shape 19"/>
          <p:cNvSpPr/>
          <p:nvPr/>
        </p:nvSpPr>
        <p:spPr>
          <a:xfrm>
            <a:off x="4725665" y="3612505"/>
            <a:ext cx="3926979" cy="1052661"/>
          </a:xfrm>
          <a:prstGeom prst="roundRect">
            <a:avLst>
              <a:gd name="adj" fmla="val 1740"/>
            </a:avLst>
          </a:prstGeom>
          <a:solidFill>
            <a:srgbClr val="B6D6FC"/>
          </a:solidFill>
          <a:ln/>
        </p:spPr>
        <p:txBody>
          <a:bodyPr/>
          <a:lstStyle/>
          <a:p>
            <a:endParaRPr lang="en-US"/>
          </a:p>
        </p:txBody>
      </p:sp>
      <p:pic>
        <p:nvPicPr>
          <p:cNvPr id="23" name="Image 1" descr="preencoded.png"/>
          <p:cNvPicPr>
            <a:picLocks noChangeAspect="1"/>
          </p:cNvPicPr>
          <p:nvPr/>
        </p:nvPicPr>
        <p:blipFill>
          <a:blip r:embed="rId5"/>
          <a:stretch>
            <a:fillRect/>
          </a:stretch>
        </p:blipFill>
        <p:spPr>
          <a:xfrm>
            <a:off x="4847704" y="3796382"/>
            <a:ext cx="152623" cy="122039"/>
          </a:xfrm>
          <a:prstGeom prst="rect">
            <a:avLst/>
          </a:prstGeom>
        </p:spPr>
      </p:pic>
      <p:sp>
        <p:nvSpPr>
          <p:cNvPr id="24" name="Text 20"/>
          <p:cNvSpPr/>
          <p:nvPr/>
        </p:nvSpPr>
        <p:spPr>
          <a:xfrm>
            <a:off x="5122366" y="3751138"/>
            <a:ext cx="3408238" cy="775395"/>
          </a:xfrm>
          <a:prstGeom prst="rect">
            <a:avLst/>
          </a:prstGeom>
          <a:noFill/>
          <a:ln/>
        </p:spPr>
        <p:txBody>
          <a:bodyPr wrap="square" lIns="0" tIns="0" rIns="0" bIns="0" rtlCol="0" anchor="t">
            <a:normAutofit/>
          </a:bodyPr>
          <a:lstStyle/>
          <a:p>
            <a:pPr marL="0" indent="0" algn="l">
              <a:lnSpc>
                <a:spcPct val="132000"/>
              </a:lnSpc>
              <a:buNone/>
            </a:pPr>
            <a:r>
              <a:rPr lang="en-US" sz="950" b="1">
                <a:solidFill>
                  <a:srgbClr val="000000"/>
                </a:solidFill>
                <a:latin typeface="Roboto" pitchFamily="34" charset="0"/>
                <a:ea typeface="Roboto" pitchFamily="34" charset="-122"/>
                <a:cs typeface="Roboto" pitchFamily="34" charset="-120"/>
              </a:rPr>
              <a:t>Documentation requirement:</a:t>
            </a:r>
            <a:r>
              <a:rPr lang="en-US" sz="950">
                <a:solidFill>
                  <a:srgbClr val="000000"/>
                </a:solidFill>
                <a:latin typeface="Roboto" pitchFamily="34" charset="0"/>
                <a:ea typeface="Roboto" pitchFamily="34" charset="-122"/>
                <a:cs typeface="Roboto" pitchFamily="34" charset="-120"/>
              </a:rPr>
              <a:t> All broker calls and emails must be logged in the processing log with timestamps to support the cancellation decision if the file is later reviewed or escalated.</a:t>
            </a:r>
            <a:endParaRPr lang="en-US" sz="950"/>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959048"/>
            <a:ext cx="669354"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996255"/>
            <a:ext cx="977726"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2</a:t>
            </a:r>
            <a:endParaRPr lang="en-US" sz="750"/>
          </a:p>
        </p:txBody>
      </p:sp>
      <p:sp>
        <p:nvSpPr>
          <p:cNvPr id="4" name="Text 2"/>
          <p:cNvSpPr/>
          <p:nvPr/>
        </p:nvSpPr>
        <p:spPr>
          <a:xfrm>
            <a:off x="496119" y="1241822"/>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Stage 2</a:t>
            </a:r>
            <a:endParaRPr lang="en-US" sz="3350"/>
          </a:p>
        </p:txBody>
      </p:sp>
      <p:sp>
        <p:nvSpPr>
          <p:cNvPr id="5" name="Text 3"/>
          <p:cNvSpPr/>
          <p:nvPr/>
        </p:nvSpPr>
        <p:spPr>
          <a:xfrm>
            <a:off x="496119" y="1962745"/>
            <a:ext cx="3558332"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Underwriting</a:t>
            </a:r>
            <a:endParaRPr lang="en-US" sz="2400"/>
          </a:p>
        </p:txBody>
      </p:sp>
      <p:sp>
        <p:nvSpPr>
          <p:cNvPr id="6" name="Text 4"/>
          <p:cNvSpPr/>
          <p:nvPr/>
        </p:nvSpPr>
        <p:spPr>
          <a:xfrm>
            <a:off x="496119" y="2536329"/>
            <a:ext cx="8151763" cy="396925"/>
          </a:xfrm>
          <a:prstGeom prst="rect">
            <a:avLst/>
          </a:prstGeom>
          <a:noFill/>
          <a:ln/>
        </p:spPr>
        <p:txBody>
          <a:bodyPr wrap="square" lIns="0" tIns="0" rIns="0" bIns="0" rtlCol="0" anchor="t">
            <a:normAutofit/>
          </a:bodyPr>
          <a:lstStyle/>
          <a:p>
            <a:pPr>
              <a:lnSpc>
                <a:spcPct val="133000"/>
              </a:lnSpc>
            </a:pPr>
            <a:r>
              <a:rPr lang="en-US" sz="950">
                <a:solidFill>
                  <a:srgbClr val="15213F"/>
                </a:solidFill>
                <a:latin typeface="Roboto"/>
                <a:ea typeface="Roboto"/>
                <a:cs typeface="Roboto"/>
              </a:rPr>
              <a:t>Underwriting begins the moment the Day 1 alert is received. The Underwriter owns the full credit, property, and follow up entity analysis and must deliver a decision — with conditions — within 24 hours. Over-conditioning is an active risk to manage.</a:t>
            </a:r>
            <a:endParaRPr lang="en-US" sz="950">
              <a:latin typeface="Roboto"/>
              <a:ea typeface="Roboto"/>
              <a:cs typeface="Roboto"/>
            </a:endParaRPr>
          </a:p>
        </p:txBody>
      </p:sp>
      <p:sp>
        <p:nvSpPr>
          <p:cNvPr id="7" name="Shape 5"/>
          <p:cNvSpPr/>
          <p:nvPr/>
        </p:nvSpPr>
        <p:spPr>
          <a:xfrm>
            <a:off x="496119" y="3072780"/>
            <a:ext cx="2634555" cy="1111597"/>
          </a:xfrm>
          <a:prstGeom prst="roundRect">
            <a:avLst>
              <a:gd name="adj" fmla="val 1674"/>
            </a:avLst>
          </a:prstGeom>
          <a:solidFill>
            <a:srgbClr val="E9ECF2"/>
          </a:solidFill>
          <a:ln/>
        </p:spPr>
        <p:txBody>
          <a:bodyPr/>
          <a:lstStyle/>
          <a:p>
            <a:endParaRPr lang="en-US"/>
          </a:p>
        </p:txBody>
      </p:sp>
      <p:sp>
        <p:nvSpPr>
          <p:cNvPr id="8" name="Text 6"/>
          <p:cNvSpPr/>
          <p:nvPr/>
        </p:nvSpPr>
        <p:spPr>
          <a:xfrm>
            <a:off x="620092"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Owner</a:t>
            </a:r>
            <a:endParaRPr lang="en-US" sz="1200"/>
          </a:p>
        </p:txBody>
      </p:sp>
      <p:sp>
        <p:nvSpPr>
          <p:cNvPr id="9" name="Text 7"/>
          <p:cNvSpPr/>
          <p:nvPr/>
        </p:nvSpPr>
        <p:spPr>
          <a:xfrm>
            <a:off x="620092" y="3465016"/>
            <a:ext cx="2386608"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Underwriter</a:t>
            </a:r>
            <a:endParaRPr lang="en-US" sz="950"/>
          </a:p>
        </p:txBody>
      </p:sp>
      <p:sp>
        <p:nvSpPr>
          <p:cNvPr id="10" name="Shape 8"/>
          <p:cNvSpPr/>
          <p:nvPr/>
        </p:nvSpPr>
        <p:spPr>
          <a:xfrm>
            <a:off x="3254648" y="3072780"/>
            <a:ext cx="2634630" cy="1111597"/>
          </a:xfrm>
          <a:prstGeom prst="roundRect">
            <a:avLst>
              <a:gd name="adj" fmla="val 1674"/>
            </a:avLst>
          </a:prstGeom>
          <a:solidFill>
            <a:srgbClr val="E9ECF2"/>
          </a:solidFill>
          <a:ln/>
        </p:spPr>
        <p:txBody>
          <a:bodyPr/>
          <a:lstStyle/>
          <a:p>
            <a:endParaRPr lang="en-US"/>
          </a:p>
        </p:txBody>
      </p:sp>
      <p:sp>
        <p:nvSpPr>
          <p:cNvPr id="11" name="Text 9"/>
          <p:cNvSpPr/>
          <p:nvPr/>
        </p:nvSpPr>
        <p:spPr>
          <a:xfrm>
            <a:off x="3378622"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SLA</a:t>
            </a:r>
            <a:endParaRPr lang="en-US" sz="1200"/>
          </a:p>
        </p:txBody>
      </p:sp>
      <p:sp>
        <p:nvSpPr>
          <p:cNvPr id="12" name="Text 10"/>
          <p:cNvSpPr/>
          <p:nvPr/>
        </p:nvSpPr>
        <p:spPr>
          <a:xfrm>
            <a:off x="3378622" y="3465016"/>
            <a:ext cx="2386682"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Within 24 hrs of Day 1 alert receipt</a:t>
            </a:r>
            <a:endParaRPr lang="en-US" sz="950"/>
          </a:p>
        </p:txBody>
      </p:sp>
      <p:sp>
        <p:nvSpPr>
          <p:cNvPr id="13" name="Shape 11"/>
          <p:cNvSpPr/>
          <p:nvPr/>
        </p:nvSpPr>
        <p:spPr>
          <a:xfrm>
            <a:off x="6013252" y="3072780"/>
            <a:ext cx="2634555" cy="1111597"/>
          </a:xfrm>
          <a:prstGeom prst="roundRect">
            <a:avLst>
              <a:gd name="adj" fmla="val 1674"/>
            </a:avLst>
          </a:prstGeom>
          <a:solidFill>
            <a:srgbClr val="E9ECF2"/>
          </a:solidFill>
          <a:ln/>
        </p:spPr>
        <p:txBody>
          <a:bodyPr/>
          <a:lstStyle/>
          <a:p>
            <a:endParaRPr lang="en-US"/>
          </a:p>
        </p:txBody>
      </p:sp>
      <p:sp>
        <p:nvSpPr>
          <p:cNvPr id="14" name="Text 12"/>
          <p:cNvSpPr/>
          <p:nvPr/>
        </p:nvSpPr>
        <p:spPr>
          <a:xfrm>
            <a:off x="6137225"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Handoff Trigger</a:t>
            </a:r>
            <a:endParaRPr lang="en-US" sz="1200"/>
          </a:p>
        </p:txBody>
      </p:sp>
      <p:sp>
        <p:nvSpPr>
          <p:cNvPr id="15" name="Text 13"/>
          <p:cNvSpPr/>
          <p:nvPr/>
        </p:nvSpPr>
        <p:spPr>
          <a:xfrm>
            <a:off x="6137225" y="3465016"/>
            <a:ext cx="2386608"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CTC issued jointly by AM and Underwriter; Closer receives automated alert immediately</a:t>
            </a:r>
            <a:endParaRPr lang="en-US" sz="9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398487"/>
            <a:ext cx="4722763" cy="617786"/>
          </a:xfrm>
          <a:prstGeom prst="rect">
            <a:avLst/>
          </a:prstGeom>
          <a:noFill/>
          <a:ln/>
        </p:spPr>
        <p:txBody>
          <a:bodyPr wrap="square" lIns="0" tIns="0" rIns="0" bIns="0" rtlCol="0" anchor="t">
            <a:normAutofit/>
          </a:bodyPr>
          <a:lstStyle/>
          <a:p>
            <a:pPr marL="0" indent="0" algn="l">
              <a:lnSpc>
                <a:spcPct val="104000"/>
              </a:lnSpc>
              <a:buNone/>
            </a:pPr>
            <a:r>
              <a:rPr lang="en-US" sz="1900">
                <a:solidFill>
                  <a:srgbClr val="3257B8"/>
                </a:solidFill>
                <a:latin typeface="Roboto Slab" pitchFamily="34" charset="0"/>
                <a:ea typeface="Roboto Slab" pitchFamily="34" charset="-122"/>
                <a:cs typeface="Roboto Slab" pitchFamily="34" charset="-120"/>
              </a:rPr>
              <a:t>Underwriting — Day 1 SLA &amp; Decision Flow</a:t>
            </a:r>
            <a:endParaRPr lang="en-US" sz="1900"/>
          </a:p>
        </p:txBody>
      </p:sp>
      <p:sp>
        <p:nvSpPr>
          <p:cNvPr id="4" name="Text 1"/>
          <p:cNvSpPr/>
          <p:nvPr/>
        </p:nvSpPr>
        <p:spPr>
          <a:xfrm>
            <a:off x="496119" y="1134368"/>
            <a:ext cx="197644" cy="123527"/>
          </a:xfrm>
          <a:prstGeom prst="rect">
            <a:avLst/>
          </a:prstGeom>
          <a:noFill/>
          <a:ln/>
        </p:spPr>
        <p:txBody>
          <a:bodyPr wrap="none" lIns="0" tIns="0" rIns="0" bIns="0" rtlCol="0" anchor="ctr"/>
          <a:lstStyle/>
          <a:p>
            <a:pPr marL="0" indent="0" algn="l">
              <a:lnSpc>
                <a:spcPct val="100000"/>
              </a:lnSpc>
              <a:buNone/>
            </a:pPr>
            <a:r>
              <a:rPr lang="en-US" sz="750">
                <a:solidFill>
                  <a:srgbClr val="15213F"/>
                </a:solidFill>
                <a:latin typeface="Roboto Slab Light" pitchFamily="34" charset="0"/>
                <a:ea typeface="Roboto Slab Light" pitchFamily="34" charset="-122"/>
                <a:cs typeface="Roboto Slab Light" pitchFamily="34" charset="-120"/>
              </a:rPr>
              <a:t>01</a:t>
            </a:r>
            <a:endParaRPr lang="en-US" sz="750"/>
          </a:p>
        </p:txBody>
      </p:sp>
      <p:pic>
        <p:nvPicPr>
          <p:cNvPr id="5" name="Image 1" descr="preencoded.png"/>
          <p:cNvPicPr>
            <a:picLocks noChangeAspect="1"/>
          </p:cNvPicPr>
          <p:nvPr/>
        </p:nvPicPr>
        <p:blipFill>
          <a:blip r:embed="rId4"/>
          <a:stretch>
            <a:fillRect/>
          </a:stretch>
        </p:blipFill>
        <p:spPr>
          <a:xfrm>
            <a:off x="496119" y="1288033"/>
            <a:ext cx="2322016" cy="14288"/>
          </a:xfrm>
          <a:prstGeom prst="rect">
            <a:avLst/>
          </a:prstGeom>
        </p:spPr>
      </p:pic>
      <p:sp>
        <p:nvSpPr>
          <p:cNvPr id="6" name="Text 2"/>
          <p:cNvSpPr/>
          <p:nvPr/>
        </p:nvSpPr>
        <p:spPr>
          <a:xfrm>
            <a:off x="496119" y="1366019"/>
            <a:ext cx="1235571" cy="154409"/>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Alert Received</a:t>
            </a:r>
            <a:endParaRPr lang="en-US" sz="950"/>
          </a:p>
        </p:txBody>
      </p:sp>
      <p:sp>
        <p:nvSpPr>
          <p:cNvPr id="7" name="Text 3"/>
          <p:cNvSpPr/>
          <p:nvPr/>
        </p:nvSpPr>
        <p:spPr>
          <a:xfrm>
            <a:off x="496119" y="1567681"/>
            <a:ext cx="2322016" cy="426169"/>
          </a:xfrm>
          <a:prstGeom prst="rect">
            <a:avLst/>
          </a:prstGeom>
          <a:noFill/>
          <a:ln/>
        </p:spPr>
        <p:txBody>
          <a:bodyPr wrap="square" lIns="0" tIns="0" rIns="0" bIns="0" rtlCol="0" anchor="t">
            <a:normAutofit/>
          </a:bodyPr>
          <a:lstStyle/>
          <a:p>
            <a:pPr marL="0" indent="0" algn="l">
              <a:lnSpc>
                <a:spcPct val="120000"/>
              </a:lnSpc>
              <a:buNone/>
            </a:pPr>
            <a:r>
              <a:rPr lang="en-US" sz="750">
                <a:solidFill>
                  <a:srgbClr val="15213F"/>
                </a:solidFill>
                <a:latin typeface="Roboto" pitchFamily="34" charset="0"/>
                <a:ea typeface="Roboto" pitchFamily="34" charset="-122"/>
                <a:cs typeface="Roboto" pitchFamily="34" charset="-120"/>
              </a:rPr>
              <a:t>Setup indexes file; automated alert sent simultaneously to AM, Underwriter, and AE on Day 1. Underwriting clock starts immediately.</a:t>
            </a:r>
            <a:endParaRPr lang="en-US" sz="750"/>
          </a:p>
        </p:txBody>
      </p:sp>
      <p:sp>
        <p:nvSpPr>
          <p:cNvPr id="8" name="Text 4"/>
          <p:cNvSpPr/>
          <p:nvPr/>
        </p:nvSpPr>
        <p:spPr>
          <a:xfrm>
            <a:off x="2896865" y="1134368"/>
            <a:ext cx="197644" cy="123527"/>
          </a:xfrm>
          <a:prstGeom prst="rect">
            <a:avLst/>
          </a:prstGeom>
          <a:noFill/>
          <a:ln/>
        </p:spPr>
        <p:txBody>
          <a:bodyPr wrap="none" lIns="0" tIns="0" rIns="0" bIns="0" rtlCol="0" anchor="ctr"/>
          <a:lstStyle/>
          <a:p>
            <a:pPr marL="0" indent="0" algn="l">
              <a:lnSpc>
                <a:spcPct val="100000"/>
              </a:lnSpc>
              <a:buNone/>
            </a:pPr>
            <a:r>
              <a:rPr lang="en-US" sz="750">
                <a:solidFill>
                  <a:srgbClr val="15213F"/>
                </a:solidFill>
                <a:latin typeface="Roboto Slab Light" pitchFamily="34" charset="0"/>
                <a:ea typeface="Roboto Slab Light" pitchFamily="34" charset="-122"/>
                <a:cs typeface="Roboto Slab Light" pitchFamily="34" charset="-120"/>
              </a:rPr>
              <a:t>02</a:t>
            </a:r>
            <a:endParaRPr lang="en-US" sz="750"/>
          </a:p>
        </p:txBody>
      </p:sp>
      <p:pic>
        <p:nvPicPr>
          <p:cNvPr id="9" name="Image 2" descr="preencoded.png"/>
          <p:cNvPicPr>
            <a:picLocks noChangeAspect="1"/>
          </p:cNvPicPr>
          <p:nvPr/>
        </p:nvPicPr>
        <p:blipFill>
          <a:blip r:embed="rId4"/>
          <a:stretch>
            <a:fillRect/>
          </a:stretch>
        </p:blipFill>
        <p:spPr>
          <a:xfrm>
            <a:off x="2896865" y="1288033"/>
            <a:ext cx="2322016" cy="14288"/>
          </a:xfrm>
          <a:prstGeom prst="rect">
            <a:avLst/>
          </a:prstGeom>
        </p:spPr>
      </p:pic>
      <p:sp>
        <p:nvSpPr>
          <p:cNvPr id="10" name="Text 5"/>
          <p:cNvSpPr/>
          <p:nvPr/>
        </p:nvSpPr>
        <p:spPr>
          <a:xfrm>
            <a:off x="2896865" y="1366019"/>
            <a:ext cx="1258788" cy="154409"/>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Underwriting Review</a:t>
            </a:r>
            <a:endParaRPr lang="en-US" sz="950"/>
          </a:p>
        </p:txBody>
      </p:sp>
      <p:sp>
        <p:nvSpPr>
          <p:cNvPr id="11" name="Text 6"/>
          <p:cNvSpPr/>
          <p:nvPr/>
        </p:nvSpPr>
        <p:spPr>
          <a:xfrm>
            <a:off x="2896865" y="1567681"/>
            <a:ext cx="2322016" cy="426169"/>
          </a:xfrm>
          <a:prstGeom prst="rect">
            <a:avLst/>
          </a:prstGeom>
          <a:noFill/>
          <a:ln/>
        </p:spPr>
        <p:txBody>
          <a:bodyPr wrap="square" lIns="0" tIns="0" rIns="0" bIns="0" rtlCol="0" anchor="t">
            <a:normAutofit/>
          </a:bodyPr>
          <a:lstStyle/>
          <a:p>
            <a:pPr>
              <a:lnSpc>
                <a:spcPct val="120000"/>
              </a:lnSpc>
            </a:pPr>
            <a:r>
              <a:rPr lang="en-US" sz="750">
                <a:solidFill>
                  <a:srgbClr val="15213F"/>
                </a:solidFill>
                <a:latin typeface="Roboto"/>
                <a:ea typeface="Roboto"/>
                <a:cs typeface="Roboto"/>
              </a:rPr>
              <a:t>Underwriter completes full credit, income, property, and entity analysis; reviews DSCR calculations, LTV, title, and add all conditions within </a:t>
            </a:r>
            <a:r>
              <a:rPr lang="en-US" sz="750" b="1">
                <a:solidFill>
                  <a:srgbClr val="15213F"/>
                </a:solidFill>
                <a:latin typeface="Roboto"/>
                <a:ea typeface="Roboto"/>
                <a:cs typeface="Roboto"/>
              </a:rPr>
              <a:t>24 hours</a:t>
            </a:r>
            <a:r>
              <a:rPr lang="en-US" sz="750">
                <a:solidFill>
                  <a:srgbClr val="15213F"/>
                </a:solidFill>
                <a:latin typeface="Roboto"/>
                <a:ea typeface="Roboto"/>
                <a:cs typeface="Roboto"/>
              </a:rPr>
              <a:t>.</a:t>
            </a:r>
            <a:endParaRPr lang="en-US" sz="750">
              <a:latin typeface="Roboto"/>
              <a:ea typeface="Roboto"/>
              <a:cs typeface="Roboto"/>
            </a:endParaRPr>
          </a:p>
        </p:txBody>
      </p:sp>
      <p:sp>
        <p:nvSpPr>
          <p:cNvPr id="12" name="Text 7"/>
          <p:cNvSpPr/>
          <p:nvPr/>
        </p:nvSpPr>
        <p:spPr>
          <a:xfrm>
            <a:off x="496119" y="2146697"/>
            <a:ext cx="197644" cy="123527"/>
          </a:xfrm>
          <a:prstGeom prst="rect">
            <a:avLst/>
          </a:prstGeom>
          <a:noFill/>
          <a:ln/>
        </p:spPr>
        <p:txBody>
          <a:bodyPr wrap="none" lIns="0" tIns="0" rIns="0" bIns="0" rtlCol="0" anchor="ctr"/>
          <a:lstStyle/>
          <a:p>
            <a:pPr marL="0" indent="0" algn="l">
              <a:lnSpc>
                <a:spcPct val="100000"/>
              </a:lnSpc>
              <a:buNone/>
            </a:pPr>
            <a:r>
              <a:rPr lang="en-US" sz="750">
                <a:solidFill>
                  <a:srgbClr val="15213F"/>
                </a:solidFill>
                <a:latin typeface="Roboto Slab Light" pitchFamily="34" charset="0"/>
                <a:ea typeface="Roboto Slab Light" pitchFamily="34" charset="-122"/>
                <a:cs typeface="Roboto Slab Light" pitchFamily="34" charset="-120"/>
              </a:rPr>
              <a:t>03</a:t>
            </a:r>
            <a:endParaRPr lang="en-US" sz="750"/>
          </a:p>
        </p:txBody>
      </p:sp>
      <p:pic>
        <p:nvPicPr>
          <p:cNvPr id="13" name="Image 3" descr="preencoded.png"/>
          <p:cNvPicPr>
            <a:picLocks noChangeAspect="1"/>
          </p:cNvPicPr>
          <p:nvPr/>
        </p:nvPicPr>
        <p:blipFill>
          <a:blip r:embed="rId4"/>
          <a:stretch>
            <a:fillRect/>
          </a:stretch>
        </p:blipFill>
        <p:spPr>
          <a:xfrm>
            <a:off x="496119" y="2290539"/>
            <a:ext cx="2322016" cy="14288"/>
          </a:xfrm>
          <a:prstGeom prst="rect">
            <a:avLst/>
          </a:prstGeom>
        </p:spPr>
      </p:pic>
      <p:sp>
        <p:nvSpPr>
          <p:cNvPr id="14" name="Text 8"/>
          <p:cNvSpPr/>
          <p:nvPr/>
        </p:nvSpPr>
        <p:spPr>
          <a:xfrm>
            <a:off x="496119" y="2378348"/>
            <a:ext cx="1235571" cy="154409"/>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Conditions Received</a:t>
            </a:r>
            <a:endParaRPr lang="en-US" sz="950"/>
          </a:p>
        </p:txBody>
      </p:sp>
      <p:sp>
        <p:nvSpPr>
          <p:cNvPr id="15" name="Text 9"/>
          <p:cNvSpPr/>
          <p:nvPr/>
        </p:nvSpPr>
        <p:spPr>
          <a:xfrm>
            <a:off x="496119" y="2580010"/>
            <a:ext cx="2322016" cy="426169"/>
          </a:xfrm>
          <a:prstGeom prst="rect">
            <a:avLst/>
          </a:prstGeom>
          <a:noFill/>
          <a:ln/>
        </p:spPr>
        <p:txBody>
          <a:bodyPr wrap="square" lIns="0" tIns="0" rIns="0" bIns="0" rtlCol="0" anchor="t">
            <a:normAutofit/>
          </a:bodyPr>
          <a:lstStyle/>
          <a:p>
            <a:pPr marL="0" indent="0" algn="l">
              <a:lnSpc>
                <a:spcPct val="120000"/>
              </a:lnSpc>
              <a:buNone/>
            </a:pPr>
            <a:r>
              <a:rPr lang="en-US" sz="750">
                <a:solidFill>
                  <a:srgbClr val="15213F"/>
                </a:solidFill>
                <a:latin typeface="Roboto" pitchFamily="34" charset="0"/>
                <a:ea typeface="Roboto" pitchFamily="34" charset="-122"/>
                <a:cs typeface="Roboto" pitchFamily="34" charset="-120"/>
              </a:rPr>
              <a:t>Upon receipt of borrower conditions, alert goes immediately back to Underwriter for </a:t>
            </a:r>
            <a:r>
              <a:rPr lang="en-US" sz="750" b="1">
                <a:solidFill>
                  <a:srgbClr val="15213F"/>
                </a:solidFill>
                <a:latin typeface="Roboto" pitchFamily="34" charset="0"/>
                <a:ea typeface="Roboto" pitchFamily="34" charset="-122"/>
                <a:cs typeface="Roboto" pitchFamily="34" charset="-120"/>
              </a:rPr>
              <a:t>same-day review</a:t>
            </a:r>
            <a:r>
              <a:rPr lang="en-US" sz="750">
                <a:solidFill>
                  <a:srgbClr val="15213F"/>
                </a:solidFill>
                <a:latin typeface="Roboto" pitchFamily="34" charset="0"/>
                <a:ea typeface="Roboto" pitchFamily="34" charset="-122"/>
                <a:cs typeface="Roboto" pitchFamily="34" charset="-120"/>
              </a:rPr>
              <a:t> — no queuing, no delay in the conditions loop.</a:t>
            </a:r>
            <a:endParaRPr lang="en-US" sz="750"/>
          </a:p>
        </p:txBody>
      </p:sp>
      <p:sp>
        <p:nvSpPr>
          <p:cNvPr id="16" name="Text 10"/>
          <p:cNvSpPr/>
          <p:nvPr/>
        </p:nvSpPr>
        <p:spPr>
          <a:xfrm>
            <a:off x="2896865" y="2146697"/>
            <a:ext cx="197644" cy="123527"/>
          </a:xfrm>
          <a:prstGeom prst="rect">
            <a:avLst/>
          </a:prstGeom>
          <a:noFill/>
          <a:ln/>
        </p:spPr>
        <p:txBody>
          <a:bodyPr wrap="none" lIns="0" tIns="0" rIns="0" bIns="0" rtlCol="0" anchor="ctr"/>
          <a:lstStyle/>
          <a:p>
            <a:pPr marL="0" indent="0" algn="l">
              <a:lnSpc>
                <a:spcPct val="100000"/>
              </a:lnSpc>
              <a:buNone/>
            </a:pPr>
            <a:r>
              <a:rPr lang="en-US" sz="750">
                <a:solidFill>
                  <a:srgbClr val="15213F"/>
                </a:solidFill>
                <a:latin typeface="Roboto Slab Light" pitchFamily="34" charset="0"/>
                <a:ea typeface="Roboto Slab Light" pitchFamily="34" charset="-122"/>
                <a:cs typeface="Roboto Slab Light" pitchFamily="34" charset="-120"/>
              </a:rPr>
              <a:t>04</a:t>
            </a:r>
            <a:endParaRPr lang="en-US" sz="750"/>
          </a:p>
        </p:txBody>
      </p:sp>
      <p:pic>
        <p:nvPicPr>
          <p:cNvPr id="17" name="Image 4" descr="preencoded.png"/>
          <p:cNvPicPr>
            <a:picLocks noChangeAspect="1"/>
          </p:cNvPicPr>
          <p:nvPr/>
        </p:nvPicPr>
        <p:blipFill>
          <a:blip r:embed="rId4"/>
          <a:stretch>
            <a:fillRect/>
          </a:stretch>
        </p:blipFill>
        <p:spPr>
          <a:xfrm>
            <a:off x="2896865" y="2290539"/>
            <a:ext cx="2322016" cy="14288"/>
          </a:xfrm>
          <a:prstGeom prst="rect">
            <a:avLst/>
          </a:prstGeom>
        </p:spPr>
      </p:pic>
      <p:sp>
        <p:nvSpPr>
          <p:cNvPr id="18" name="Text 11"/>
          <p:cNvSpPr/>
          <p:nvPr/>
        </p:nvSpPr>
        <p:spPr>
          <a:xfrm>
            <a:off x="2896865" y="2378348"/>
            <a:ext cx="1475333" cy="154409"/>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Decision Communication</a:t>
            </a:r>
            <a:endParaRPr lang="en-US" sz="950"/>
          </a:p>
        </p:txBody>
      </p:sp>
      <p:sp>
        <p:nvSpPr>
          <p:cNvPr id="19" name="Text 12"/>
          <p:cNvSpPr/>
          <p:nvPr/>
        </p:nvSpPr>
        <p:spPr>
          <a:xfrm>
            <a:off x="2880537" y="2574568"/>
            <a:ext cx="2338344" cy="703753"/>
          </a:xfrm>
          <a:prstGeom prst="rect">
            <a:avLst/>
          </a:prstGeom>
          <a:noFill/>
          <a:ln/>
        </p:spPr>
        <p:txBody>
          <a:bodyPr wrap="square" lIns="0" tIns="0" rIns="0" bIns="0" rtlCol="0" anchor="t">
            <a:normAutofit/>
          </a:bodyPr>
          <a:lstStyle/>
          <a:p>
            <a:pPr>
              <a:lnSpc>
                <a:spcPct val="120000"/>
              </a:lnSpc>
            </a:pPr>
            <a:r>
              <a:rPr lang="en-US" sz="750">
                <a:solidFill>
                  <a:srgbClr val="15213F"/>
                </a:solidFill>
                <a:latin typeface="Roboto"/>
                <a:ea typeface="Roboto"/>
                <a:cs typeface="Roboto"/>
              </a:rPr>
              <a:t>Email to Broker, AE, AM — from Underwriter. Thank for business, and showing decision with conditions.  If there are any complicated conditions a phone call is expected from the underwriter.</a:t>
            </a:r>
          </a:p>
        </p:txBody>
      </p:sp>
      <p:sp>
        <p:nvSpPr>
          <p:cNvPr id="20" name="Text 13"/>
          <p:cNvSpPr/>
          <p:nvPr/>
        </p:nvSpPr>
        <p:spPr>
          <a:xfrm>
            <a:off x="496119" y="3159026"/>
            <a:ext cx="197644" cy="123527"/>
          </a:xfrm>
          <a:prstGeom prst="rect">
            <a:avLst/>
          </a:prstGeom>
          <a:noFill/>
          <a:ln/>
        </p:spPr>
        <p:txBody>
          <a:bodyPr wrap="none" lIns="0" tIns="0" rIns="0" bIns="0" rtlCol="0" anchor="ctr"/>
          <a:lstStyle/>
          <a:p>
            <a:pPr marL="0" indent="0" algn="l">
              <a:lnSpc>
                <a:spcPct val="100000"/>
              </a:lnSpc>
              <a:buNone/>
            </a:pPr>
            <a:r>
              <a:rPr lang="en-US" sz="750">
                <a:solidFill>
                  <a:srgbClr val="15213F"/>
                </a:solidFill>
                <a:latin typeface="Roboto Slab Light" pitchFamily="34" charset="0"/>
                <a:ea typeface="Roboto Slab Light" pitchFamily="34" charset="-122"/>
                <a:cs typeface="Roboto Slab Light" pitchFamily="34" charset="-120"/>
              </a:rPr>
              <a:t>05</a:t>
            </a:r>
            <a:endParaRPr lang="en-US" sz="750"/>
          </a:p>
        </p:txBody>
      </p:sp>
      <p:pic>
        <p:nvPicPr>
          <p:cNvPr id="21" name="Image 5" descr="preencoded.png"/>
          <p:cNvPicPr>
            <a:picLocks noChangeAspect="1"/>
          </p:cNvPicPr>
          <p:nvPr/>
        </p:nvPicPr>
        <p:blipFill>
          <a:blip r:embed="rId5"/>
          <a:stretch>
            <a:fillRect/>
          </a:stretch>
        </p:blipFill>
        <p:spPr>
          <a:xfrm>
            <a:off x="496119" y="3292971"/>
            <a:ext cx="4722763" cy="14288"/>
          </a:xfrm>
          <a:prstGeom prst="rect">
            <a:avLst/>
          </a:prstGeom>
        </p:spPr>
      </p:pic>
      <p:sp>
        <p:nvSpPr>
          <p:cNvPr id="22" name="Text 14"/>
          <p:cNvSpPr/>
          <p:nvPr/>
        </p:nvSpPr>
        <p:spPr>
          <a:xfrm>
            <a:off x="496119" y="3390677"/>
            <a:ext cx="1235571" cy="154409"/>
          </a:xfrm>
          <a:prstGeom prst="rect">
            <a:avLst/>
          </a:prstGeom>
          <a:noFill/>
          <a:ln/>
        </p:spPr>
        <p:txBody>
          <a:bodyPr wrap="none" lIns="0" tIns="0" rIns="0" bIns="0" rtlCol="0" anchor="t"/>
          <a:lstStyle/>
          <a:p>
            <a:pPr marL="0" indent="0" algn="l">
              <a:lnSpc>
                <a:spcPct val="104000"/>
              </a:lnSpc>
              <a:buNone/>
            </a:pPr>
            <a:endParaRPr lang="en-US" sz="950">
              <a:solidFill>
                <a:srgbClr val="15213F"/>
              </a:solidFill>
              <a:latin typeface="Roboto Slab"/>
              <a:ea typeface="Roboto Slab"/>
              <a:cs typeface="Roboto Slab"/>
            </a:endParaRPr>
          </a:p>
        </p:txBody>
      </p:sp>
      <p:sp>
        <p:nvSpPr>
          <p:cNvPr id="24" name="Shape 16"/>
          <p:cNvSpPr/>
          <p:nvPr/>
        </p:nvSpPr>
        <p:spPr>
          <a:xfrm>
            <a:off x="496119" y="4009579"/>
            <a:ext cx="4722763" cy="617265"/>
          </a:xfrm>
          <a:prstGeom prst="roundRect">
            <a:avLst>
              <a:gd name="adj" fmla="val 2402"/>
            </a:avLst>
          </a:prstGeom>
          <a:solidFill>
            <a:srgbClr val="FCF2B5"/>
          </a:solidFill>
          <a:ln/>
        </p:spPr>
        <p:txBody>
          <a:bodyPr/>
          <a:lstStyle/>
          <a:p>
            <a:endParaRPr lang="en-US"/>
          </a:p>
        </p:txBody>
      </p:sp>
      <p:pic>
        <p:nvPicPr>
          <p:cNvPr id="25" name="Image 6" descr="preencoded.png"/>
          <p:cNvPicPr>
            <a:picLocks noChangeAspect="1"/>
          </p:cNvPicPr>
          <p:nvPr/>
        </p:nvPicPr>
        <p:blipFill>
          <a:blip r:embed="rId6"/>
          <a:stretch>
            <a:fillRect/>
          </a:stretch>
        </p:blipFill>
        <p:spPr>
          <a:xfrm>
            <a:off x="594940" y="4141887"/>
            <a:ext cx="123527" cy="98822"/>
          </a:xfrm>
          <a:prstGeom prst="rect">
            <a:avLst/>
          </a:prstGeom>
        </p:spPr>
      </p:pic>
      <p:sp>
        <p:nvSpPr>
          <p:cNvPr id="26" name="Text 17"/>
          <p:cNvSpPr/>
          <p:nvPr/>
        </p:nvSpPr>
        <p:spPr>
          <a:xfrm>
            <a:off x="817290" y="4134669"/>
            <a:ext cx="4302770" cy="426169"/>
          </a:xfrm>
          <a:prstGeom prst="rect">
            <a:avLst/>
          </a:prstGeom>
          <a:noFill/>
          <a:ln/>
        </p:spPr>
        <p:txBody>
          <a:bodyPr wrap="square" lIns="0" tIns="0" rIns="0" bIns="0" rtlCol="0" anchor="t">
            <a:normAutofit/>
          </a:bodyPr>
          <a:lstStyle/>
          <a:p>
            <a:pPr marL="0" indent="0" algn="l">
              <a:lnSpc>
                <a:spcPct val="120000"/>
              </a:lnSpc>
              <a:buNone/>
            </a:pPr>
            <a:r>
              <a:rPr lang="en-US" sz="750">
                <a:solidFill>
                  <a:srgbClr val="000000"/>
                </a:solidFill>
                <a:latin typeface="Roboto" pitchFamily="34" charset="0"/>
                <a:ea typeface="Roboto" pitchFamily="34" charset="-122"/>
                <a:cs typeface="Roboto" pitchFamily="34" charset="-120"/>
              </a:rPr>
              <a:t>⚠️ </a:t>
            </a:r>
            <a:r>
              <a:rPr lang="en-US" sz="750" b="1">
                <a:solidFill>
                  <a:srgbClr val="000000"/>
                </a:solidFill>
                <a:latin typeface="Roboto" pitchFamily="34" charset="0"/>
                <a:ea typeface="Roboto" pitchFamily="34" charset="-122"/>
                <a:cs typeface="Roboto" pitchFamily="34" charset="-120"/>
              </a:rPr>
              <a:t>Over-conditioning risk:</a:t>
            </a:r>
            <a:r>
              <a:rPr lang="en-US" sz="750">
                <a:solidFill>
                  <a:srgbClr val="000000"/>
                </a:solidFill>
                <a:latin typeface="Roboto" pitchFamily="34" charset="0"/>
                <a:ea typeface="Roboto" pitchFamily="34" charset="-122"/>
                <a:cs typeface="Roboto" pitchFamily="34" charset="-120"/>
              </a:rPr>
              <a:t> Refer to underwriting guidelines to ensure all conditions are material, specific, and required — not duplicative or unnecessary. Each condition issued represents a touchpoint that extends the timeline.</a:t>
            </a:r>
            <a:endParaRPr lang="en-US" sz="750"/>
          </a:p>
        </p:txBody>
      </p:sp>
      <p:sp>
        <p:nvSpPr>
          <p:cNvPr id="27" name="TextBox 26">
            <a:extLst>
              <a:ext uri="{FF2B5EF4-FFF2-40B4-BE49-F238E27FC236}">
                <a16:creationId xmlns:a16="http://schemas.microsoft.com/office/drawing/2014/main" id="{BBA06193-6050-3820-8861-488BCF04FE30}"/>
              </a:ext>
            </a:extLst>
          </p:cNvPr>
          <p:cNvSpPr txBox="1"/>
          <p:nvPr/>
        </p:nvSpPr>
        <p:spPr>
          <a:xfrm>
            <a:off x="655636" y="3544404"/>
            <a:ext cx="261801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ea typeface="Calibri"/>
                <a:cs typeface="Calibri"/>
              </a:rPr>
              <a:t>Underwriter to indicate if pertinent docs are missing </a:t>
            </a:r>
            <a:r>
              <a:rPr lang="en-US" sz="900">
                <a:ea typeface="Calibri"/>
                <a:cs typeface="Calibri"/>
              </a:rPr>
              <a:t>– NOIA letter – 10 days</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867147"/>
            <a:ext cx="5173414"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Underwriting: Key Review Steps</a:t>
            </a:r>
            <a:endParaRPr lang="en-US" sz="2400"/>
          </a:p>
        </p:txBody>
      </p:sp>
      <p:sp>
        <p:nvSpPr>
          <p:cNvPr id="3" name="Shape 1"/>
          <p:cNvSpPr/>
          <p:nvPr/>
        </p:nvSpPr>
        <p:spPr>
          <a:xfrm>
            <a:off x="406822" y="1440731"/>
            <a:ext cx="4103191" cy="2835548"/>
          </a:xfrm>
          <a:prstGeom prst="roundRect">
            <a:avLst>
              <a:gd name="adj" fmla="val 656"/>
            </a:avLst>
          </a:prstGeom>
          <a:solidFill>
            <a:srgbClr val="66A8EE"/>
          </a:solidFill>
          <a:ln/>
        </p:spPr>
        <p:txBody>
          <a:bodyPr/>
          <a:lstStyle/>
          <a:p>
            <a:endParaRPr lang="en-US"/>
          </a:p>
        </p:txBody>
      </p:sp>
      <p:sp>
        <p:nvSpPr>
          <p:cNvPr id="4" name="Text 2"/>
          <p:cNvSpPr/>
          <p:nvPr/>
        </p:nvSpPr>
        <p:spPr>
          <a:xfrm>
            <a:off x="530796" y="1564704"/>
            <a:ext cx="2294855" cy="193849"/>
          </a:xfrm>
          <a:prstGeom prst="rect">
            <a:avLst/>
          </a:prstGeom>
          <a:noFill/>
          <a:ln/>
        </p:spPr>
        <p:txBody>
          <a:bodyPr wrap="none" lIns="0" tIns="0" rIns="0" bIns="0" rtlCol="0" anchor="t"/>
          <a:lstStyle/>
          <a:p>
            <a:pPr marL="0" indent="0" algn="l">
              <a:lnSpc>
                <a:spcPct val="104000"/>
              </a:lnSpc>
              <a:buNone/>
            </a:pPr>
            <a:r>
              <a:rPr lang="en-US" sz="1200">
                <a:solidFill>
                  <a:srgbClr val="000000"/>
                </a:solidFill>
                <a:latin typeface="Roboto Slab" pitchFamily="34" charset="0"/>
                <a:ea typeface="Roboto Slab" pitchFamily="34" charset="-122"/>
                <a:cs typeface="Roboto Slab" pitchFamily="34" charset="-120"/>
              </a:rPr>
              <a:t>Core Underwriting Tasks</a:t>
            </a:r>
            <a:endParaRPr lang="en-US" sz="1200"/>
          </a:p>
        </p:txBody>
      </p:sp>
      <p:sp>
        <p:nvSpPr>
          <p:cNvPr id="5" name="Text 3"/>
          <p:cNvSpPr/>
          <p:nvPr/>
        </p:nvSpPr>
        <p:spPr>
          <a:xfrm>
            <a:off x="530796" y="1882527"/>
            <a:ext cx="3855244" cy="1872928"/>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Underwrite the Loan:</a:t>
            </a:r>
            <a:r>
              <a:rPr lang="en-US" sz="950">
                <a:solidFill>
                  <a:srgbClr val="15213F"/>
                </a:solidFill>
                <a:latin typeface="Roboto" pitchFamily="34" charset="0"/>
                <a:ea typeface="Roboto" pitchFamily="34" charset="-122"/>
                <a:cs typeface="Roboto" pitchFamily="34" charset="-120"/>
              </a:rPr>
              <a:t> Complete full underwriting following the DSCR process; review DSCR calculations, LTV, and all program eligibility criteria</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DataVerify Review:</a:t>
            </a:r>
            <a:r>
              <a:rPr lang="en-US" sz="950">
                <a:solidFill>
                  <a:srgbClr val="15213F"/>
                </a:solidFill>
                <a:latin typeface="Roboto" pitchFamily="34" charset="0"/>
                <a:ea typeface="Roboto" pitchFamily="34" charset="-122"/>
                <a:cs typeface="Roboto" pitchFamily="34" charset="-120"/>
              </a:rPr>
              <a:t> Confirm where borrower lives; verify it matches the 1003; identify recent transfers of subject property; flag any recent foreclosures on personally owned properties</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Appraisal Review:</a:t>
            </a:r>
            <a:r>
              <a:rPr lang="en-US" sz="950">
                <a:solidFill>
                  <a:srgbClr val="15213F"/>
                </a:solidFill>
                <a:latin typeface="Roboto" pitchFamily="34" charset="0"/>
                <a:ea typeface="Roboto" pitchFamily="34" charset="-122"/>
                <a:cs typeface="Roboto" pitchFamily="34" charset="-120"/>
              </a:rPr>
              <a:t> Review appraisal for subject property value, condition, and comparables; confirm valuation supports LTV requirements</a:t>
            </a:r>
            <a:endParaRPr lang="en-US" sz="950"/>
          </a:p>
        </p:txBody>
      </p:sp>
      <p:sp>
        <p:nvSpPr>
          <p:cNvPr id="6" name="Text 4"/>
          <p:cNvSpPr/>
          <p:nvPr/>
        </p:nvSpPr>
        <p:spPr>
          <a:xfrm>
            <a:off x="4728046" y="1564704"/>
            <a:ext cx="2266131" cy="193849"/>
          </a:xfrm>
          <a:prstGeom prst="rect">
            <a:avLst/>
          </a:prstGeom>
          <a:noFill/>
          <a:ln/>
        </p:spPr>
        <p:txBody>
          <a:bodyPr wrap="none" lIns="0" tIns="0" rIns="0" bIns="0" rtlCol="0" anchor="t"/>
          <a:lstStyle/>
          <a:p>
            <a:pPr marL="0" indent="0" algn="l">
              <a:lnSpc>
                <a:spcPct val="104000"/>
              </a:lnSpc>
              <a:buNone/>
            </a:pPr>
            <a:r>
              <a:rPr lang="en-US" sz="1200">
                <a:solidFill>
                  <a:srgbClr val="3257B8"/>
                </a:solidFill>
                <a:latin typeface="Roboto Slab" pitchFamily="34" charset="0"/>
                <a:ea typeface="Roboto Slab" pitchFamily="34" charset="-122"/>
                <a:cs typeface="Roboto Slab" pitchFamily="34" charset="-120"/>
              </a:rPr>
              <a:t>Secondary Review Items</a:t>
            </a:r>
            <a:endParaRPr lang="en-US" sz="1200"/>
          </a:p>
        </p:txBody>
      </p:sp>
      <p:sp>
        <p:nvSpPr>
          <p:cNvPr id="7" name="Text 5"/>
          <p:cNvSpPr/>
          <p:nvPr/>
        </p:nvSpPr>
        <p:spPr>
          <a:xfrm>
            <a:off x="4728046" y="1882527"/>
            <a:ext cx="3924598" cy="123415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b="1">
                <a:solidFill>
                  <a:srgbClr val="15213F"/>
                </a:solidFill>
                <a:latin typeface="Roboto"/>
                <a:ea typeface="Roboto"/>
                <a:cs typeface="Roboto"/>
              </a:rPr>
              <a:t>LLC &amp; Condo Check:</a:t>
            </a:r>
            <a:r>
              <a:rPr lang="en-US" sz="950">
                <a:solidFill>
                  <a:srgbClr val="15213F"/>
                </a:solidFill>
                <a:latin typeface="Roboto"/>
                <a:ea typeface="Roboto"/>
                <a:cs typeface="Roboto"/>
              </a:rPr>
              <a:t> Confirm LLC is listed as Borrower 1; review title to ensure no multiple transfers of property among LLC and guarantors.</a:t>
            </a:r>
            <a:endParaRPr lang="en-US" sz="950"/>
          </a:p>
        </p:txBody>
      </p:sp>
      <p:sp>
        <p:nvSpPr>
          <p:cNvPr id="8" name="Shape 6"/>
          <p:cNvSpPr/>
          <p:nvPr/>
        </p:nvSpPr>
        <p:spPr>
          <a:xfrm>
            <a:off x="4728046" y="3256211"/>
            <a:ext cx="3924598" cy="880542"/>
          </a:xfrm>
          <a:prstGeom prst="roundRect">
            <a:avLst>
              <a:gd name="adj" fmla="val 2113"/>
            </a:avLst>
          </a:prstGeom>
          <a:solidFill>
            <a:srgbClr val="C3CFEF"/>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4852020" y="3440757"/>
            <a:ext cx="155004" cy="123974"/>
          </a:xfrm>
          <a:prstGeom prst="rect">
            <a:avLst/>
          </a:prstGeom>
        </p:spPr>
      </p:pic>
      <p:sp>
        <p:nvSpPr>
          <p:cNvPr id="10" name="Text 7"/>
          <p:cNvSpPr/>
          <p:nvPr/>
        </p:nvSpPr>
        <p:spPr>
          <a:xfrm>
            <a:off x="5130998" y="3398788"/>
            <a:ext cx="3397672"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000000"/>
                </a:solidFill>
                <a:latin typeface="Roboto" pitchFamily="34" charset="0"/>
                <a:ea typeface="Roboto" pitchFamily="34" charset="-122"/>
                <a:cs typeface="Roboto" pitchFamily="34" charset="-120"/>
              </a:rPr>
              <a:t>DataVerify is the primary tool for identifying residence mismatches and recent property transfer activity — use findings proactively to reduce unnecessary conditions.</a:t>
            </a:r>
            <a:endParaRPr lang="en-US" sz="9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96119" y="959048"/>
            <a:ext cx="669354"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996255"/>
            <a:ext cx="977726"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3</a:t>
            </a:r>
            <a:endParaRPr lang="en-US" sz="750"/>
          </a:p>
        </p:txBody>
      </p:sp>
      <p:sp>
        <p:nvSpPr>
          <p:cNvPr id="4" name="Text 2"/>
          <p:cNvSpPr/>
          <p:nvPr/>
        </p:nvSpPr>
        <p:spPr>
          <a:xfrm>
            <a:off x="496119" y="1241822"/>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Stage 3</a:t>
            </a:r>
            <a:endParaRPr lang="en-US" sz="3350"/>
          </a:p>
        </p:txBody>
      </p:sp>
      <p:sp>
        <p:nvSpPr>
          <p:cNvPr id="5" name="Text 3"/>
          <p:cNvSpPr/>
          <p:nvPr/>
        </p:nvSpPr>
        <p:spPr>
          <a:xfrm>
            <a:off x="496119" y="1962745"/>
            <a:ext cx="3707532"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Account Management</a:t>
            </a:r>
            <a:endParaRPr lang="en-US" sz="2400"/>
          </a:p>
        </p:txBody>
      </p:sp>
      <p:sp>
        <p:nvSpPr>
          <p:cNvPr id="6" name="Text 4"/>
          <p:cNvSpPr/>
          <p:nvPr/>
        </p:nvSpPr>
        <p:spPr>
          <a:xfrm>
            <a:off x="496119" y="2536329"/>
            <a:ext cx="8151763"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AM work begins on Day 1 — concurrent with underwriting, not after it. The AM owns broker communication, all ordered reports, LLC and condo review routing, and conditions management through to CTC.</a:t>
            </a:r>
            <a:endParaRPr lang="en-US" sz="950"/>
          </a:p>
        </p:txBody>
      </p:sp>
      <p:sp>
        <p:nvSpPr>
          <p:cNvPr id="7" name="Shape 5"/>
          <p:cNvSpPr/>
          <p:nvPr/>
        </p:nvSpPr>
        <p:spPr>
          <a:xfrm>
            <a:off x="496119" y="3072780"/>
            <a:ext cx="2634555" cy="1111597"/>
          </a:xfrm>
          <a:prstGeom prst="roundRect">
            <a:avLst>
              <a:gd name="adj" fmla="val 1674"/>
            </a:avLst>
          </a:prstGeom>
          <a:solidFill>
            <a:srgbClr val="E9ECF2"/>
          </a:solidFill>
          <a:ln/>
        </p:spPr>
        <p:txBody>
          <a:bodyPr/>
          <a:lstStyle/>
          <a:p>
            <a:endParaRPr lang="en-US"/>
          </a:p>
        </p:txBody>
      </p:sp>
      <p:sp>
        <p:nvSpPr>
          <p:cNvPr id="8" name="Text 6"/>
          <p:cNvSpPr/>
          <p:nvPr/>
        </p:nvSpPr>
        <p:spPr>
          <a:xfrm>
            <a:off x="620092"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Owner</a:t>
            </a:r>
            <a:endParaRPr lang="en-US" sz="1200"/>
          </a:p>
        </p:txBody>
      </p:sp>
      <p:sp>
        <p:nvSpPr>
          <p:cNvPr id="9" name="Text 7"/>
          <p:cNvSpPr/>
          <p:nvPr/>
        </p:nvSpPr>
        <p:spPr>
          <a:xfrm>
            <a:off x="620092" y="3465016"/>
            <a:ext cx="2386608"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AM / Asst. AM</a:t>
            </a:r>
            <a:endParaRPr lang="en-US" sz="950"/>
          </a:p>
        </p:txBody>
      </p:sp>
      <p:sp>
        <p:nvSpPr>
          <p:cNvPr id="10" name="Shape 8"/>
          <p:cNvSpPr/>
          <p:nvPr/>
        </p:nvSpPr>
        <p:spPr>
          <a:xfrm>
            <a:off x="3254648" y="3072780"/>
            <a:ext cx="2634630" cy="1111597"/>
          </a:xfrm>
          <a:prstGeom prst="roundRect">
            <a:avLst>
              <a:gd name="adj" fmla="val 1674"/>
            </a:avLst>
          </a:prstGeom>
          <a:solidFill>
            <a:srgbClr val="E9ECF2"/>
          </a:solidFill>
          <a:ln/>
        </p:spPr>
        <p:txBody>
          <a:bodyPr/>
          <a:lstStyle/>
          <a:p>
            <a:endParaRPr lang="en-US"/>
          </a:p>
        </p:txBody>
      </p:sp>
      <p:sp>
        <p:nvSpPr>
          <p:cNvPr id="11" name="Text 9"/>
          <p:cNvSpPr/>
          <p:nvPr/>
        </p:nvSpPr>
        <p:spPr>
          <a:xfrm>
            <a:off x="3378622"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SLA</a:t>
            </a:r>
            <a:endParaRPr lang="en-US" sz="1200"/>
          </a:p>
        </p:txBody>
      </p:sp>
      <p:sp>
        <p:nvSpPr>
          <p:cNvPr id="12" name="Text 10"/>
          <p:cNvSpPr/>
          <p:nvPr/>
        </p:nvSpPr>
        <p:spPr>
          <a:xfrm>
            <a:off x="3378622" y="3465016"/>
            <a:ext cx="2386682"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Day 1 — Concurrent with Underwriting</a:t>
            </a:r>
            <a:endParaRPr lang="en-US" sz="950"/>
          </a:p>
        </p:txBody>
      </p:sp>
      <p:sp>
        <p:nvSpPr>
          <p:cNvPr id="13" name="Shape 11"/>
          <p:cNvSpPr/>
          <p:nvPr/>
        </p:nvSpPr>
        <p:spPr>
          <a:xfrm>
            <a:off x="6013252" y="3072780"/>
            <a:ext cx="2634555" cy="1111597"/>
          </a:xfrm>
          <a:prstGeom prst="roundRect">
            <a:avLst>
              <a:gd name="adj" fmla="val 1674"/>
            </a:avLst>
          </a:prstGeom>
          <a:solidFill>
            <a:srgbClr val="E9ECF2"/>
          </a:solidFill>
          <a:ln/>
        </p:spPr>
        <p:txBody>
          <a:bodyPr/>
          <a:lstStyle/>
          <a:p>
            <a:endParaRPr lang="en-US"/>
          </a:p>
        </p:txBody>
      </p:sp>
      <p:sp>
        <p:nvSpPr>
          <p:cNvPr id="14" name="Text 12"/>
          <p:cNvSpPr/>
          <p:nvPr/>
        </p:nvSpPr>
        <p:spPr>
          <a:xfrm>
            <a:off x="6137225"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Key Output</a:t>
            </a:r>
            <a:endParaRPr lang="en-US" sz="1200"/>
          </a:p>
        </p:txBody>
      </p:sp>
      <p:sp>
        <p:nvSpPr>
          <p:cNvPr id="15" name="Text 13"/>
          <p:cNvSpPr/>
          <p:nvPr/>
        </p:nvSpPr>
        <p:spPr>
          <a:xfrm>
            <a:off x="6137225" y="3465016"/>
            <a:ext cx="2386608" cy="595387"/>
          </a:xfrm>
          <a:prstGeom prst="rect">
            <a:avLst/>
          </a:prstGeom>
          <a:noFill/>
          <a:ln/>
        </p:spPr>
        <p:txBody>
          <a:bodyPr wrap="square" lIns="0" tIns="0" rIns="0" bIns="0" rtlCol="0" anchor="t">
            <a:normAutofit/>
          </a:bodyPr>
          <a:lstStyle/>
          <a:p>
            <a:pPr>
              <a:lnSpc>
                <a:spcPct val="133000"/>
              </a:lnSpc>
            </a:pPr>
            <a:r>
              <a:rPr lang="en-US" sz="950">
                <a:solidFill>
                  <a:srgbClr val="15213F"/>
                </a:solidFill>
                <a:latin typeface="Roboto"/>
                <a:ea typeface="Roboto"/>
                <a:cs typeface="Roboto"/>
              </a:rPr>
              <a:t>Ensure all third-party reports are ordered, entity/condo docs routed, conditions tracked, closing date established</a:t>
            </a:r>
            <a:endParaRPr lang="en-US" sz="950">
              <a:latin typeface="Roboto"/>
              <a:ea typeface="Roboto"/>
              <a:cs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5829300" y="0"/>
            <a:ext cx="3429000" cy="5143500"/>
          </a:xfrm>
          <a:prstGeom prst="rect">
            <a:avLst/>
          </a:prstGeom>
        </p:spPr>
      </p:pic>
      <p:sp>
        <p:nvSpPr>
          <p:cNvPr id="3" name="Text 0"/>
          <p:cNvSpPr/>
          <p:nvPr/>
        </p:nvSpPr>
        <p:spPr>
          <a:xfrm>
            <a:off x="496119" y="352351"/>
            <a:ext cx="4638303" cy="314920"/>
          </a:xfrm>
          <a:prstGeom prst="rect">
            <a:avLst/>
          </a:prstGeom>
          <a:noFill/>
          <a:ln/>
        </p:spPr>
        <p:txBody>
          <a:bodyPr wrap="none" lIns="0" tIns="0" rIns="0" bIns="0" rtlCol="0" anchor="t"/>
          <a:lstStyle/>
          <a:p>
            <a:pPr marL="0" indent="0" algn="l">
              <a:lnSpc>
                <a:spcPct val="104000"/>
              </a:lnSpc>
              <a:buNone/>
            </a:pPr>
            <a:r>
              <a:rPr lang="en-US" sz="1950">
                <a:solidFill>
                  <a:srgbClr val="3257B8"/>
                </a:solidFill>
                <a:latin typeface="Roboto Slab" pitchFamily="34" charset="0"/>
                <a:ea typeface="Roboto Slab" pitchFamily="34" charset="-122"/>
                <a:cs typeface="Roboto Slab" pitchFamily="34" charset="-120"/>
              </a:rPr>
              <a:t>AM Day 1 Concurrent Workstreams</a:t>
            </a:r>
            <a:endParaRPr lang="en-US" sz="1950"/>
          </a:p>
        </p:txBody>
      </p:sp>
      <p:sp>
        <p:nvSpPr>
          <p:cNvPr id="4" name="Text 1"/>
          <p:cNvSpPr/>
          <p:nvPr/>
        </p:nvSpPr>
        <p:spPr>
          <a:xfrm>
            <a:off x="496119" y="790054"/>
            <a:ext cx="4722763"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AM is alerted simultaneously with the Underwriter upon file indexing. All six workstreams below are initiated on Day 1 — not after underwriting completes.</a:t>
            </a:r>
            <a:endParaRPr lang="en-US" sz="750"/>
          </a:p>
        </p:txBody>
      </p:sp>
      <p:pic>
        <p:nvPicPr>
          <p:cNvPr id="5"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1174328"/>
            <a:ext cx="251966" cy="251966"/>
          </a:xfrm>
          <a:prstGeom prst="rect">
            <a:avLst/>
          </a:prstGeom>
        </p:spPr>
      </p:pic>
      <p:sp>
        <p:nvSpPr>
          <p:cNvPr id="6" name="Text 2"/>
          <p:cNvSpPr/>
          <p:nvPr/>
        </p:nvSpPr>
        <p:spPr>
          <a:xfrm>
            <a:off x="496119" y="1528614"/>
            <a:ext cx="1259830" cy="157460"/>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LLC / Entity Review</a:t>
            </a:r>
            <a:endParaRPr lang="en-US" sz="950"/>
          </a:p>
        </p:txBody>
      </p:sp>
      <p:sp>
        <p:nvSpPr>
          <p:cNvPr id="7" name="Text 3"/>
          <p:cNvSpPr/>
          <p:nvPr/>
        </p:nvSpPr>
        <p:spPr>
          <a:xfrm>
            <a:off x="496119" y="1735187"/>
            <a:ext cx="2310185" cy="438224"/>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Immediately review file for all LLC, Corporation, or Trust documents; call Broker for missing docs; route complete docs to legal within </a:t>
            </a:r>
            <a:r>
              <a:rPr lang="en-US" sz="750" b="1">
                <a:solidFill>
                  <a:srgbClr val="15213F"/>
                </a:solidFill>
                <a:latin typeface="Roboto" pitchFamily="34" charset="0"/>
                <a:ea typeface="Roboto" pitchFamily="34" charset="-122"/>
                <a:cs typeface="Roboto" pitchFamily="34" charset="-120"/>
              </a:rPr>
              <a:t>24 hours</a:t>
            </a:r>
            <a:r>
              <a:rPr lang="en-US" sz="750">
                <a:solidFill>
                  <a:srgbClr val="15213F"/>
                </a:solidFill>
                <a:latin typeface="Roboto" pitchFamily="34" charset="0"/>
                <a:ea typeface="Roboto" pitchFamily="34" charset="-122"/>
                <a:cs typeface="Roboto" pitchFamily="34" charset="-120"/>
              </a:rPr>
              <a:t>.</a:t>
            </a:r>
            <a:endParaRPr lang="en-US" sz="750"/>
          </a:p>
        </p:txBody>
      </p:sp>
      <p:pic>
        <p:nvPicPr>
          <p:cNvPr id="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08622" y="1174328"/>
            <a:ext cx="251966" cy="251966"/>
          </a:xfrm>
          <a:prstGeom prst="rect">
            <a:avLst/>
          </a:prstGeom>
        </p:spPr>
      </p:pic>
      <p:sp>
        <p:nvSpPr>
          <p:cNvPr id="9" name="Text 4"/>
          <p:cNvSpPr/>
          <p:nvPr/>
        </p:nvSpPr>
        <p:spPr>
          <a:xfrm>
            <a:off x="2908622" y="1528614"/>
            <a:ext cx="1259830" cy="157460"/>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Condo Review</a:t>
            </a:r>
            <a:endParaRPr lang="en-US" sz="950"/>
          </a:p>
        </p:txBody>
      </p:sp>
      <p:sp>
        <p:nvSpPr>
          <p:cNvPr id="10" name="Text 5"/>
          <p:cNvSpPr/>
          <p:nvPr/>
        </p:nvSpPr>
        <p:spPr>
          <a:xfrm>
            <a:off x="2908622" y="1735187"/>
            <a:ext cx="2310259" cy="584299"/>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Review HOA documents, budget, litigation status, and owner-occupancy ratio against program guidelines; call Broker immediately for missing condo documentation.</a:t>
            </a:r>
            <a:endParaRPr lang="en-US" sz="750"/>
          </a:p>
        </p:txBody>
      </p:sp>
      <p:pic>
        <p:nvPicPr>
          <p:cNvPr id="1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6119" y="2483197"/>
            <a:ext cx="251966" cy="251966"/>
          </a:xfrm>
          <a:prstGeom prst="rect">
            <a:avLst/>
          </a:prstGeom>
        </p:spPr>
      </p:pic>
      <p:sp>
        <p:nvSpPr>
          <p:cNvPr id="12" name="Text 6"/>
          <p:cNvSpPr/>
          <p:nvPr/>
        </p:nvSpPr>
        <p:spPr>
          <a:xfrm>
            <a:off x="496119" y="2837483"/>
            <a:ext cx="1296516" cy="157460"/>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Day 1 Ordered Reports</a:t>
            </a:r>
            <a:endParaRPr lang="en-US" sz="950"/>
          </a:p>
        </p:txBody>
      </p:sp>
      <p:sp>
        <p:nvSpPr>
          <p:cNvPr id="13" name="Text 7"/>
          <p:cNvSpPr/>
          <p:nvPr/>
        </p:nvSpPr>
        <p:spPr>
          <a:xfrm>
            <a:off x="496119" y="3044056"/>
            <a:ext cx="2310185" cy="584299"/>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Credit Report (confirm or reissue), Lien/Judgment Report (all borrowers and entities), Flood Certificate (confirm auto-pull or order manually), Clear Capital AVM.</a:t>
            </a:r>
            <a:endParaRPr lang="en-US" sz="750"/>
          </a:p>
        </p:txBody>
      </p:sp>
      <p:pic>
        <p:nvPicPr>
          <p:cNvPr id="14"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908622" y="2483197"/>
            <a:ext cx="251966" cy="251966"/>
          </a:xfrm>
          <a:prstGeom prst="rect">
            <a:avLst/>
          </a:prstGeom>
        </p:spPr>
      </p:pic>
      <p:sp>
        <p:nvSpPr>
          <p:cNvPr id="15" name="Text 8"/>
          <p:cNvSpPr/>
          <p:nvPr/>
        </p:nvSpPr>
        <p:spPr>
          <a:xfrm>
            <a:off x="2908622" y="2837483"/>
            <a:ext cx="1259830" cy="157460"/>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3rd Party Services</a:t>
            </a:r>
            <a:endParaRPr lang="en-US" sz="950"/>
          </a:p>
        </p:txBody>
      </p:sp>
      <p:sp>
        <p:nvSpPr>
          <p:cNvPr id="16" name="Text 9"/>
          <p:cNvSpPr/>
          <p:nvPr/>
        </p:nvSpPr>
        <p:spPr>
          <a:xfrm>
            <a:off x="2908622" y="3044056"/>
            <a:ext cx="2310259" cy="438224"/>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Ensure all third-party services have been ordered, received, and indexed appropriately before advancing the file.</a:t>
            </a:r>
            <a:endParaRPr lang="en-US" sz="750"/>
          </a:p>
        </p:txBody>
      </p:sp>
      <p:pic>
        <p:nvPicPr>
          <p:cNvPr id="17"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6119" y="3792066"/>
            <a:ext cx="251966" cy="251966"/>
          </a:xfrm>
          <a:prstGeom prst="rect">
            <a:avLst/>
          </a:prstGeom>
        </p:spPr>
      </p:pic>
      <p:sp>
        <p:nvSpPr>
          <p:cNvPr id="18" name="Text 10"/>
          <p:cNvSpPr/>
          <p:nvPr/>
        </p:nvSpPr>
        <p:spPr>
          <a:xfrm>
            <a:off x="496119" y="4146352"/>
            <a:ext cx="1662633" cy="157460"/>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Post-Underwrite Conditions</a:t>
            </a:r>
            <a:endParaRPr lang="en-US" sz="950"/>
          </a:p>
        </p:txBody>
      </p:sp>
      <p:sp>
        <p:nvSpPr>
          <p:cNvPr id="19" name="Text 11"/>
          <p:cNvSpPr/>
          <p:nvPr/>
        </p:nvSpPr>
        <p:spPr>
          <a:xfrm>
            <a:off x="496119" y="4309384"/>
            <a:ext cx="2179556" cy="6069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Work with Broker and AE to gather all conditions on a timely basis; establish the correct closing date aligned with purchase contract or product default.</a:t>
            </a:r>
            <a:endParaRPr lang="en-US" sz="750"/>
          </a:p>
        </p:txBody>
      </p:sp>
      <p:sp>
        <p:nvSpPr>
          <p:cNvPr id="20" name="TextBox 19">
            <a:extLst>
              <a:ext uri="{FF2B5EF4-FFF2-40B4-BE49-F238E27FC236}">
                <a16:creationId xmlns:a16="http://schemas.microsoft.com/office/drawing/2014/main" id="{B769C83D-AEA8-1840-6F38-B3A453EDF13F}"/>
              </a:ext>
            </a:extLst>
          </p:cNvPr>
          <p:cNvSpPr txBox="1"/>
          <p:nvPr/>
        </p:nvSpPr>
        <p:spPr>
          <a:xfrm>
            <a:off x="3031668" y="4041315"/>
            <a:ext cx="1823361" cy="5155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50" baseline="0">
                <a:solidFill>
                  <a:srgbClr val="15213F"/>
                </a:solidFill>
                <a:latin typeface="Roboto Slab"/>
              </a:rPr>
              <a:t>CTC Issued</a:t>
            </a:r>
            <a:r>
              <a:rPr sz="950">
                <a:latin typeface="Roboto Slab"/>
                <a:ea typeface="Roboto Slab"/>
                <a:cs typeface="Roboto Slab"/>
              </a:rPr>
              <a:t>​</a:t>
            </a:r>
            <a:endParaRPr lang="en-US"/>
          </a:p>
          <a:p>
            <a:pPr algn="ctr"/>
            <a:endParaRPr lang="en-US"/>
          </a:p>
        </p:txBody>
      </p:sp>
      <p:sp>
        <p:nvSpPr>
          <p:cNvPr id="21" name="Text 15">
            <a:extLst>
              <a:ext uri="{FF2B5EF4-FFF2-40B4-BE49-F238E27FC236}">
                <a16:creationId xmlns:a16="http://schemas.microsoft.com/office/drawing/2014/main" id="{13D3D3EF-CB17-2150-87DE-ED3CC316B8CA}"/>
              </a:ext>
            </a:extLst>
          </p:cNvPr>
          <p:cNvSpPr/>
          <p:nvPr/>
        </p:nvSpPr>
        <p:spPr>
          <a:xfrm>
            <a:off x="2809333" y="4316237"/>
            <a:ext cx="2665365" cy="458286"/>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750">
                <a:solidFill>
                  <a:srgbClr val="15213F"/>
                </a:solidFill>
                <a:latin typeface="Roboto"/>
                <a:ea typeface="Roboto"/>
                <a:cs typeface="Roboto"/>
              </a:rPr>
              <a:t>Clear to Close call and email issued by AM  to Broker and AE. Closer receives automated alert immediately to begin closing package.</a:t>
            </a:r>
            <a:endParaRPr lang="en-US" sz="750">
              <a:latin typeface="Roboto"/>
              <a:ea typeface="Roboto"/>
              <a:cs typeface="Roboto"/>
            </a:endParaRPr>
          </a:p>
        </p:txBody>
      </p:sp>
    </p:spTree>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0991E-8A38-9A56-3A08-C7471881E7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9DD296A-1730-0ACD-0A38-5AC72F79E817}"/>
              </a:ext>
            </a:extLst>
          </p:cNvPr>
          <p:cNvSpPr/>
          <p:nvPr/>
        </p:nvSpPr>
        <p:spPr>
          <a:xfrm>
            <a:off x="496119" y="867147"/>
            <a:ext cx="5173414"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Account Manager: Key Review Steps</a:t>
            </a:r>
            <a:endParaRPr lang="en-US" sz="2400"/>
          </a:p>
        </p:txBody>
      </p:sp>
      <p:sp>
        <p:nvSpPr>
          <p:cNvPr id="3" name="Shape 1">
            <a:extLst>
              <a:ext uri="{FF2B5EF4-FFF2-40B4-BE49-F238E27FC236}">
                <a16:creationId xmlns:a16="http://schemas.microsoft.com/office/drawing/2014/main" id="{EBFE5A5E-688E-61CF-A6D4-4AB7DFE883AD}"/>
              </a:ext>
            </a:extLst>
          </p:cNvPr>
          <p:cNvSpPr/>
          <p:nvPr/>
        </p:nvSpPr>
        <p:spPr>
          <a:xfrm>
            <a:off x="406822" y="1440731"/>
            <a:ext cx="7031447" cy="3216548"/>
          </a:xfrm>
          <a:prstGeom prst="roundRect">
            <a:avLst>
              <a:gd name="adj" fmla="val 656"/>
            </a:avLst>
          </a:prstGeom>
          <a:solidFill>
            <a:srgbClr val="66A8EE"/>
          </a:solidFill>
          <a:ln/>
        </p:spPr>
        <p:txBody>
          <a:bodyPr/>
          <a:lstStyle/>
          <a:p>
            <a:endParaRPr lang="en-US"/>
          </a:p>
        </p:txBody>
      </p:sp>
      <p:sp>
        <p:nvSpPr>
          <p:cNvPr id="4" name="Text 2">
            <a:extLst>
              <a:ext uri="{FF2B5EF4-FFF2-40B4-BE49-F238E27FC236}">
                <a16:creationId xmlns:a16="http://schemas.microsoft.com/office/drawing/2014/main" id="{3077F1C9-448E-62C5-A3B1-0D6525B47732}"/>
              </a:ext>
            </a:extLst>
          </p:cNvPr>
          <p:cNvSpPr/>
          <p:nvPr/>
        </p:nvSpPr>
        <p:spPr>
          <a:xfrm>
            <a:off x="530796" y="1564704"/>
            <a:ext cx="2294855" cy="193849"/>
          </a:xfrm>
          <a:prstGeom prst="rect">
            <a:avLst/>
          </a:prstGeom>
          <a:noFill/>
          <a:ln/>
        </p:spPr>
        <p:txBody>
          <a:bodyPr wrap="none" lIns="0" tIns="0" rIns="0" bIns="0" rtlCol="0" anchor="t"/>
          <a:lstStyle/>
          <a:p>
            <a:pPr>
              <a:lnSpc>
                <a:spcPct val="104000"/>
              </a:lnSpc>
            </a:pPr>
            <a:r>
              <a:rPr lang="en-US" sz="1200">
                <a:solidFill>
                  <a:srgbClr val="000000"/>
                </a:solidFill>
                <a:latin typeface="Roboto Slab"/>
                <a:ea typeface="Roboto Slab"/>
                <a:cs typeface="Roboto Slab"/>
              </a:rPr>
              <a:t>Core Account Manager Tasks</a:t>
            </a:r>
            <a:endParaRPr lang="en-US" sz="1200" err="1"/>
          </a:p>
        </p:txBody>
      </p:sp>
      <p:sp>
        <p:nvSpPr>
          <p:cNvPr id="5" name="Text 3">
            <a:extLst>
              <a:ext uri="{FF2B5EF4-FFF2-40B4-BE49-F238E27FC236}">
                <a16:creationId xmlns:a16="http://schemas.microsoft.com/office/drawing/2014/main" id="{DBDC170C-D435-7589-FB5B-8E56031327A3}"/>
              </a:ext>
            </a:extLst>
          </p:cNvPr>
          <p:cNvSpPr/>
          <p:nvPr/>
        </p:nvSpPr>
        <p:spPr>
          <a:xfrm>
            <a:off x="525352" y="1882527"/>
            <a:ext cx="6903244" cy="2580498"/>
          </a:xfrm>
          <a:prstGeom prst="rect">
            <a:avLst/>
          </a:prstGeom>
          <a:noFill/>
          <a:ln/>
        </p:spPr>
        <p:txBody>
          <a:bodyPr wrap="square" lIns="0" tIns="0" rIns="0" bIns="0" rtlCol="0" anchor="t">
            <a:normAutofit/>
          </a:bodyPr>
          <a:lstStyle/>
          <a:p>
            <a:pPr marL="342900" indent="-342900">
              <a:lnSpc>
                <a:spcPct val="133000"/>
              </a:lnSpc>
              <a:buSzPct val="100000"/>
              <a:buChar char="•"/>
            </a:pPr>
            <a:r>
              <a:rPr lang="en-US" sz="950" b="1">
                <a:solidFill>
                  <a:srgbClr val="15213F"/>
                </a:solidFill>
                <a:latin typeface="Roboto"/>
                <a:ea typeface="Roboto"/>
                <a:cs typeface="Roboto"/>
              </a:rPr>
              <a:t>R</a:t>
            </a:r>
            <a:r>
              <a:rPr lang="en-US" sz="1200" b="1">
                <a:solidFill>
                  <a:srgbClr val="15213F"/>
                </a:solidFill>
                <a:latin typeface="Roboto"/>
                <a:ea typeface="Roboto"/>
                <a:cs typeface="Roboto"/>
              </a:rPr>
              <a:t>eview file for LLC/Corp and Condo</a:t>
            </a:r>
            <a:r>
              <a:rPr lang="en-US" sz="1200">
                <a:solidFill>
                  <a:srgbClr val="15213F"/>
                </a:solidFill>
                <a:latin typeface="Roboto"/>
                <a:ea typeface="Roboto"/>
                <a:cs typeface="Roboto"/>
              </a:rPr>
              <a:t>  Review file for any entity requirements and ensure all documentation has been packaged and sent to Polunsky, Beitel and Green through Portal.  Review if property is a condo and submit documentation need to Condo </a:t>
            </a:r>
            <a:r>
              <a:rPr lang="en-US" sz="1200" err="1">
                <a:solidFill>
                  <a:srgbClr val="15213F"/>
                </a:solidFill>
                <a:latin typeface="Roboto"/>
                <a:ea typeface="Roboto"/>
                <a:cs typeface="Roboto"/>
              </a:rPr>
              <a:t>esk</a:t>
            </a:r>
            <a:r>
              <a:rPr lang="en-US" sz="1200">
                <a:solidFill>
                  <a:srgbClr val="15213F"/>
                </a:solidFill>
                <a:latin typeface="Roboto"/>
                <a:ea typeface="Roboto"/>
                <a:cs typeface="Roboto"/>
              </a:rPr>
              <a:t> for review.</a:t>
            </a:r>
            <a:endParaRPr lang="en-US" sz="1200">
              <a:solidFill>
                <a:srgbClr val="000000"/>
              </a:solidFill>
              <a:latin typeface="Roboto"/>
              <a:ea typeface="Roboto"/>
              <a:cs typeface="Roboto"/>
            </a:endParaRPr>
          </a:p>
          <a:p>
            <a:pPr marL="342900" indent="-342900">
              <a:lnSpc>
                <a:spcPct val="133000"/>
              </a:lnSpc>
              <a:buSzPct val="100000"/>
              <a:buChar char="•"/>
            </a:pPr>
            <a:r>
              <a:rPr lang="en-US" sz="1200">
                <a:solidFill>
                  <a:srgbClr val="15213F"/>
                </a:solidFill>
                <a:latin typeface="Roboto"/>
                <a:ea typeface="Roboto"/>
                <a:cs typeface="Roboto"/>
              </a:rPr>
              <a:t>If documentation is not in file, immediately all broker and request needed items. </a:t>
            </a:r>
          </a:p>
          <a:p>
            <a:pPr marL="342900" indent="-342900">
              <a:lnSpc>
                <a:spcPct val="133000"/>
              </a:lnSpc>
              <a:buSzPct val="100000"/>
              <a:buFont typeface="Arial"/>
              <a:buChar char="•"/>
            </a:pPr>
            <a:r>
              <a:rPr lang="en-US" sz="1200" b="1">
                <a:solidFill>
                  <a:srgbClr val="15213F"/>
                </a:solidFill>
                <a:latin typeface="Roboto"/>
                <a:ea typeface="Roboto"/>
                <a:cs typeface="Roboto"/>
              </a:rPr>
              <a:t>Third Party orders – </a:t>
            </a:r>
            <a:r>
              <a:rPr lang="en-US" sz="1200">
                <a:solidFill>
                  <a:srgbClr val="15213F"/>
                </a:solidFill>
                <a:latin typeface="Roboto"/>
                <a:ea typeface="Roboto"/>
                <a:cs typeface="Roboto"/>
              </a:rPr>
              <a:t>Ensure all third party orders have been sent and follow up for  receipt</a:t>
            </a:r>
            <a:r>
              <a:rPr lang="en-US" sz="1200" b="1">
                <a:solidFill>
                  <a:srgbClr val="15213F"/>
                </a:solidFill>
                <a:latin typeface="Roboto"/>
                <a:ea typeface="Roboto"/>
                <a:cs typeface="Roboto"/>
              </a:rPr>
              <a:t>.</a:t>
            </a:r>
          </a:p>
          <a:p>
            <a:pPr marL="342900" indent="-342900">
              <a:lnSpc>
                <a:spcPct val="133000"/>
              </a:lnSpc>
              <a:buSzPct val="100000"/>
              <a:buFont typeface="Arial"/>
              <a:buChar char="•"/>
            </a:pPr>
            <a:r>
              <a:rPr lang="en-US" sz="1200" b="1">
                <a:solidFill>
                  <a:srgbClr val="15213F"/>
                </a:solidFill>
                <a:latin typeface="Roboto"/>
                <a:ea typeface="Roboto"/>
                <a:cs typeface="Roboto"/>
              </a:rPr>
              <a:t>Condition Follow up – </a:t>
            </a:r>
            <a:r>
              <a:rPr lang="en-US" sz="1200">
                <a:solidFill>
                  <a:srgbClr val="15213F"/>
                </a:solidFill>
                <a:latin typeface="Roboto"/>
                <a:ea typeface="Roboto"/>
                <a:cs typeface="Roboto"/>
              </a:rPr>
              <a:t>Continue to work with Underwriter, AE and Broker on collection of conditions.</a:t>
            </a:r>
          </a:p>
          <a:p>
            <a:pPr marL="342900" indent="-342900">
              <a:lnSpc>
                <a:spcPct val="133000"/>
              </a:lnSpc>
              <a:buSzPct val="100000"/>
              <a:buFont typeface="Arial"/>
              <a:buChar char="•"/>
            </a:pPr>
            <a:r>
              <a:rPr lang="en-US" sz="1200" b="1">
                <a:solidFill>
                  <a:srgbClr val="15213F"/>
                </a:solidFill>
                <a:latin typeface="Roboto"/>
                <a:ea typeface="Roboto"/>
                <a:cs typeface="Roboto"/>
              </a:rPr>
              <a:t>Call Title/Closing Agent/Escrow - </a:t>
            </a:r>
            <a:r>
              <a:rPr lang="en-US" sz="1200">
                <a:solidFill>
                  <a:srgbClr val="15213F"/>
                </a:solidFill>
                <a:latin typeface="Roboto"/>
                <a:ea typeface="Roboto"/>
                <a:cs typeface="Roboto"/>
              </a:rPr>
              <a:t>to confirm closing date and vesting and wire instructions.</a:t>
            </a:r>
          </a:p>
          <a:p>
            <a:pPr marL="342900" indent="-342900">
              <a:lnSpc>
                <a:spcPct val="133000"/>
              </a:lnSpc>
              <a:buSzPct val="100000"/>
              <a:buFont typeface="Arial"/>
              <a:buChar char="•"/>
            </a:pPr>
            <a:r>
              <a:rPr lang="en-US" sz="1200" b="1">
                <a:solidFill>
                  <a:srgbClr val="15213F"/>
                </a:solidFill>
                <a:latin typeface="Roboto"/>
                <a:ea typeface="Roboto"/>
                <a:cs typeface="Roboto"/>
              </a:rPr>
              <a:t>Order Funding Shield </a:t>
            </a:r>
            <a:r>
              <a:rPr lang="en-US" sz="1200">
                <a:solidFill>
                  <a:srgbClr val="15213F"/>
                </a:solidFill>
                <a:latin typeface="Roboto"/>
                <a:ea typeface="Roboto"/>
                <a:cs typeface="Roboto"/>
              </a:rPr>
              <a:t>– Account Manager upon receipt orders a Funding Shield Certificate confirming wire instructions.</a:t>
            </a:r>
          </a:p>
          <a:p>
            <a:pPr marL="342900" indent="-342900">
              <a:lnSpc>
                <a:spcPct val="133000"/>
              </a:lnSpc>
              <a:buSzPct val="100000"/>
              <a:buFont typeface="Arial"/>
              <a:buChar char="•"/>
            </a:pPr>
            <a:endParaRPr lang="en-US" sz="950">
              <a:solidFill>
                <a:srgbClr val="15213F"/>
              </a:solidFill>
              <a:latin typeface="Roboto"/>
              <a:ea typeface="Roboto"/>
              <a:cs typeface="Roboto"/>
            </a:endParaRPr>
          </a:p>
        </p:txBody>
      </p:sp>
    </p:spTree>
    <p:extLst>
      <p:ext uri="{BB962C8B-B14F-4D97-AF65-F5344CB8AC3E}">
        <p14:creationId xmlns:p14="http://schemas.microsoft.com/office/powerpoint/2010/main" val="3202185359"/>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96119" y="959048"/>
            <a:ext cx="731193"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996255"/>
            <a:ext cx="1039564"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3B</a:t>
            </a:r>
            <a:endParaRPr lang="en-US" sz="750"/>
          </a:p>
        </p:txBody>
      </p:sp>
      <p:sp>
        <p:nvSpPr>
          <p:cNvPr id="4" name="Text 2"/>
          <p:cNvSpPr/>
          <p:nvPr/>
        </p:nvSpPr>
        <p:spPr>
          <a:xfrm>
            <a:off x="496119" y="1241822"/>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Stage 3B</a:t>
            </a:r>
            <a:endParaRPr lang="en-US" sz="3350"/>
          </a:p>
        </p:txBody>
      </p:sp>
      <p:sp>
        <p:nvSpPr>
          <p:cNvPr id="5" name="Text 3"/>
          <p:cNvSpPr/>
          <p:nvPr/>
        </p:nvSpPr>
        <p:spPr>
          <a:xfrm>
            <a:off x="496119" y="1962745"/>
            <a:ext cx="3784253"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Entity &amp; Condo Review</a:t>
            </a:r>
            <a:endParaRPr lang="en-US" sz="2400"/>
          </a:p>
        </p:txBody>
      </p:sp>
      <p:sp>
        <p:nvSpPr>
          <p:cNvPr id="6" name="Text 4"/>
          <p:cNvSpPr/>
          <p:nvPr/>
        </p:nvSpPr>
        <p:spPr>
          <a:xfrm>
            <a:off x="496119" y="2536329"/>
            <a:ext cx="8151763"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Entity and condo review are initiated by AM on Day 1 — concurrent with underwriting. Legal review of entity documentation carries its own 24-hour SLA from the moment AM forwards complete documents.</a:t>
            </a:r>
            <a:endParaRPr lang="en-US" sz="950"/>
          </a:p>
        </p:txBody>
      </p:sp>
      <p:sp>
        <p:nvSpPr>
          <p:cNvPr id="7" name="Shape 5"/>
          <p:cNvSpPr/>
          <p:nvPr/>
        </p:nvSpPr>
        <p:spPr>
          <a:xfrm>
            <a:off x="496119" y="3072780"/>
            <a:ext cx="2634555" cy="1111597"/>
          </a:xfrm>
          <a:prstGeom prst="roundRect">
            <a:avLst>
              <a:gd name="adj" fmla="val 1674"/>
            </a:avLst>
          </a:prstGeom>
          <a:solidFill>
            <a:srgbClr val="E9ECF2"/>
          </a:solidFill>
          <a:ln/>
        </p:spPr>
        <p:txBody>
          <a:bodyPr/>
          <a:lstStyle/>
          <a:p>
            <a:endParaRPr lang="en-US"/>
          </a:p>
        </p:txBody>
      </p:sp>
      <p:sp>
        <p:nvSpPr>
          <p:cNvPr id="8" name="Text 6"/>
          <p:cNvSpPr/>
          <p:nvPr/>
        </p:nvSpPr>
        <p:spPr>
          <a:xfrm>
            <a:off x="620092" y="3196754"/>
            <a:ext cx="1552129"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Entity Review Owner</a:t>
            </a:r>
            <a:endParaRPr lang="en-US" sz="1200"/>
          </a:p>
        </p:txBody>
      </p:sp>
      <p:sp>
        <p:nvSpPr>
          <p:cNvPr id="9" name="Text 7"/>
          <p:cNvSpPr/>
          <p:nvPr/>
        </p:nvSpPr>
        <p:spPr>
          <a:xfrm>
            <a:off x="620092" y="3465016"/>
            <a:ext cx="2386608" cy="396925"/>
          </a:xfrm>
          <a:prstGeom prst="rect">
            <a:avLst/>
          </a:prstGeom>
          <a:noFill/>
          <a:ln/>
        </p:spPr>
        <p:txBody>
          <a:bodyPr wrap="square" lIns="0" tIns="0" rIns="0" bIns="0" rtlCol="0" anchor="t">
            <a:normAutofit/>
          </a:bodyPr>
          <a:lstStyle/>
          <a:p>
            <a:pPr>
              <a:lnSpc>
                <a:spcPct val="133000"/>
              </a:lnSpc>
            </a:pPr>
            <a:r>
              <a:rPr lang="en-US" sz="950">
                <a:solidFill>
                  <a:srgbClr val="15213F"/>
                </a:solidFill>
                <a:latin typeface="Roboto"/>
                <a:ea typeface="Roboto"/>
                <a:cs typeface="Roboto"/>
              </a:rPr>
              <a:t>AM initiates; PB &amp; G or Legal reviews within 24 </a:t>
            </a:r>
            <a:r>
              <a:rPr lang="en-US" sz="950" err="1">
                <a:solidFill>
                  <a:srgbClr val="15213F"/>
                </a:solidFill>
                <a:latin typeface="Roboto"/>
                <a:ea typeface="Roboto"/>
                <a:cs typeface="Roboto"/>
              </a:rPr>
              <a:t>hrs</a:t>
            </a:r>
            <a:r>
              <a:rPr lang="en-US" sz="950">
                <a:solidFill>
                  <a:srgbClr val="15213F"/>
                </a:solidFill>
                <a:latin typeface="Roboto"/>
                <a:ea typeface="Roboto"/>
                <a:cs typeface="Roboto"/>
              </a:rPr>
              <a:t> of receipt</a:t>
            </a:r>
            <a:endParaRPr lang="en-US" sz="950">
              <a:latin typeface="Roboto"/>
              <a:ea typeface="Roboto"/>
              <a:cs typeface="Roboto"/>
            </a:endParaRPr>
          </a:p>
        </p:txBody>
      </p:sp>
      <p:sp>
        <p:nvSpPr>
          <p:cNvPr id="10" name="Shape 8"/>
          <p:cNvSpPr/>
          <p:nvPr/>
        </p:nvSpPr>
        <p:spPr>
          <a:xfrm>
            <a:off x="3254648" y="3072780"/>
            <a:ext cx="2634630" cy="1111597"/>
          </a:xfrm>
          <a:prstGeom prst="roundRect">
            <a:avLst>
              <a:gd name="adj" fmla="val 1674"/>
            </a:avLst>
          </a:prstGeom>
          <a:solidFill>
            <a:srgbClr val="E9ECF2"/>
          </a:solidFill>
          <a:ln/>
        </p:spPr>
        <p:txBody>
          <a:bodyPr/>
          <a:lstStyle/>
          <a:p>
            <a:endParaRPr lang="en-US"/>
          </a:p>
        </p:txBody>
      </p:sp>
      <p:sp>
        <p:nvSpPr>
          <p:cNvPr id="11" name="Text 9"/>
          <p:cNvSpPr/>
          <p:nvPr/>
        </p:nvSpPr>
        <p:spPr>
          <a:xfrm>
            <a:off x="3378622" y="3196754"/>
            <a:ext cx="1565077"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Condo Review Owner</a:t>
            </a:r>
            <a:endParaRPr lang="en-US" sz="1200"/>
          </a:p>
        </p:txBody>
      </p:sp>
      <p:sp>
        <p:nvSpPr>
          <p:cNvPr id="12" name="Text 10"/>
          <p:cNvSpPr/>
          <p:nvPr/>
        </p:nvSpPr>
        <p:spPr>
          <a:xfrm>
            <a:off x="3378622" y="3465016"/>
            <a:ext cx="2386682"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AM / Asst. AM — concurrent with underwriting</a:t>
            </a:r>
            <a:endParaRPr lang="en-US" sz="950"/>
          </a:p>
        </p:txBody>
      </p:sp>
      <p:sp>
        <p:nvSpPr>
          <p:cNvPr id="13" name="Shape 11"/>
          <p:cNvSpPr/>
          <p:nvPr/>
        </p:nvSpPr>
        <p:spPr>
          <a:xfrm>
            <a:off x="6013252" y="3072780"/>
            <a:ext cx="2634555" cy="1111597"/>
          </a:xfrm>
          <a:prstGeom prst="roundRect">
            <a:avLst>
              <a:gd name="adj" fmla="val 1674"/>
            </a:avLst>
          </a:prstGeom>
          <a:solidFill>
            <a:srgbClr val="E9ECF2"/>
          </a:solidFill>
          <a:ln/>
        </p:spPr>
        <p:txBody>
          <a:bodyPr/>
          <a:lstStyle/>
          <a:p>
            <a:endParaRPr lang="en-US"/>
          </a:p>
        </p:txBody>
      </p:sp>
      <p:sp>
        <p:nvSpPr>
          <p:cNvPr id="14" name="Text 12"/>
          <p:cNvSpPr/>
          <p:nvPr/>
        </p:nvSpPr>
        <p:spPr>
          <a:xfrm>
            <a:off x="6137225"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Fraud Guard</a:t>
            </a:r>
            <a:endParaRPr lang="en-US" sz="1200"/>
          </a:p>
        </p:txBody>
      </p:sp>
      <p:sp>
        <p:nvSpPr>
          <p:cNvPr id="15" name="Text 13"/>
          <p:cNvSpPr/>
          <p:nvPr/>
        </p:nvSpPr>
        <p:spPr>
          <a:xfrm>
            <a:off x="6137225" y="3465016"/>
            <a:ext cx="2386608"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All CPLs and Wire Instructions routed through Funding Shield Fraud Guard — no exceptions</a:t>
            </a:r>
            <a:endParaRPr lang="en-US" sz="9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96119" y="579792"/>
            <a:ext cx="8033147" cy="387548"/>
          </a:xfrm>
          <a:prstGeom prst="rect">
            <a:avLst/>
          </a:prstGeom>
          <a:noFill/>
          <a:ln/>
        </p:spPr>
        <p:txBody>
          <a:bodyPr wrap="none" lIns="0" tIns="0" rIns="0" bIns="0" rtlCol="0" anchor="t"/>
          <a:lstStyle/>
          <a:p>
            <a:pPr>
              <a:lnSpc>
                <a:spcPct val="104000"/>
              </a:lnSpc>
            </a:pPr>
            <a:r>
              <a:rPr lang="en-US" sz="2400">
                <a:solidFill>
                  <a:srgbClr val="3257B8"/>
                </a:solidFill>
                <a:latin typeface="Roboto Slab"/>
                <a:ea typeface="Roboto Slab"/>
                <a:cs typeface="Roboto Slab"/>
              </a:rPr>
              <a:t>LLC / Entity Review and Fraud Guard — Requirements</a:t>
            </a:r>
            <a:endParaRPr lang="en-US" sz="2400">
              <a:latin typeface="Roboto Slab"/>
              <a:ea typeface="Roboto Slab"/>
              <a:cs typeface="Roboto Slab"/>
            </a:endParaRPr>
          </a:p>
        </p:txBody>
      </p:sp>
      <p:sp>
        <p:nvSpPr>
          <p:cNvPr id="3" name="Text 1"/>
          <p:cNvSpPr/>
          <p:nvPr/>
        </p:nvSpPr>
        <p:spPr>
          <a:xfrm>
            <a:off x="496119" y="1222921"/>
            <a:ext cx="2007766" cy="193849"/>
          </a:xfrm>
          <a:prstGeom prst="rect">
            <a:avLst/>
          </a:prstGeom>
          <a:noFill/>
          <a:ln/>
        </p:spPr>
        <p:txBody>
          <a:bodyPr wrap="none" lIns="0" tIns="0" rIns="0" bIns="0" rtlCol="0" anchor="t"/>
          <a:lstStyle/>
          <a:p>
            <a:pPr marL="0" indent="0" algn="l">
              <a:lnSpc>
                <a:spcPct val="104000"/>
              </a:lnSpc>
              <a:buNone/>
            </a:pPr>
            <a:r>
              <a:rPr lang="en-US" sz="1200">
                <a:solidFill>
                  <a:srgbClr val="3257B8"/>
                </a:solidFill>
                <a:latin typeface="Roboto Slab" pitchFamily="34" charset="0"/>
                <a:ea typeface="Roboto Slab" pitchFamily="34" charset="-122"/>
                <a:cs typeface="Roboto Slab" pitchFamily="34" charset="-120"/>
              </a:rPr>
              <a:t>Required Documents</a:t>
            </a:r>
            <a:endParaRPr lang="en-US" sz="1200"/>
          </a:p>
        </p:txBody>
      </p:sp>
      <p:sp>
        <p:nvSpPr>
          <p:cNvPr id="4" name="Text 2"/>
          <p:cNvSpPr/>
          <p:nvPr/>
        </p:nvSpPr>
        <p:spPr>
          <a:xfrm>
            <a:off x="496119" y="1540743"/>
            <a:ext cx="3924598" cy="1079078"/>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Operating Agreement</a:t>
            </a:r>
            <a:r>
              <a:rPr lang="en-US" sz="950">
                <a:solidFill>
                  <a:srgbClr val="15213F"/>
                </a:solidFill>
                <a:latin typeface="Roboto" pitchFamily="34" charset="0"/>
                <a:ea typeface="Roboto" pitchFamily="34" charset="-122"/>
                <a:cs typeface="Roboto" pitchFamily="34" charset="-120"/>
              </a:rPr>
              <a:t> — confirms ownership structure and signatory authority</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Articles of Organization</a:t>
            </a:r>
            <a:r>
              <a:rPr lang="en-US" sz="950">
                <a:solidFill>
                  <a:srgbClr val="15213F"/>
                </a:solidFill>
                <a:latin typeface="Roboto" pitchFamily="34" charset="0"/>
                <a:ea typeface="Roboto" pitchFamily="34" charset="-122"/>
                <a:cs typeface="Roboto" pitchFamily="34" charset="-120"/>
              </a:rPr>
              <a:t> — confirms legal formation of the entity</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Certificate of Good Standing</a:t>
            </a:r>
            <a:r>
              <a:rPr lang="en-US" sz="950">
                <a:solidFill>
                  <a:srgbClr val="15213F"/>
                </a:solidFill>
                <a:latin typeface="Roboto" pitchFamily="34" charset="0"/>
                <a:ea typeface="Roboto" pitchFamily="34" charset="-122"/>
                <a:cs typeface="Roboto" pitchFamily="34" charset="-120"/>
              </a:rPr>
              <a:t> — confirms active status in state of formation</a:t>
            </a:r>
            <a:endParaRPr lang="en-US" sz="950"/>
          </a:p>
        </p:txBody>
      </p:sp>
      <p:sp>
        <p:nvSpPr>
          <p:cNvPr id="5" name="Text 3"/>
          <p:cNvSpPr/>
          <p:nvPr/>
        </p:nvSpPr>
        <p:spPr>
          <a:xfrm>
            <a:off x="496119" y="2743795"/>
            <a:ext cx="2347764" cy="193849"/>
          </a:xfrm>
          <a:prstGeom prst="rect">
            <a:avLst/>
          </a:prstGeom>
          <a:noFill/>
          <a:ln/>
        </p:spPr>
        <p:txBody>
          <a:bodyPr wrap="none" lIns="0" tIns="0" rIns="0" bIns="0" rtlCol="0" anchor="t"/>
          <a:lstStyle/>
          <a:p>
            <a:pPr marL="0" indent="0" algn="l">
              <a:lnSpc>
                <a:spcPct val="104000"/>
              </a:lnSpc>
              <a:buNone/>
            </a:pPr>
            <a:r>
              <a:rPr lang="en-US" sz="1200">
                <a:solidFill>
                  <a:srgbClr val="3257B8"/>
                </a:solidFill>
                <a:latin typeface="Roboto Slab" pitchFamily="34" charset="0"/>
                <a:ea typeface="Roboto Slab" pitchFamily="34" charset="-122"/>
                <a:cs typeface="Roboto Slab" pitchFamily="34" charset="-120"/>
              </a:rPr>
              <a:t>Ownership &amp; Title Review</a:t>
            </a:r>
            <a:endParaRPr lang="en-US" sz="1200"/>
          </a:p>
        </p:txBody>
      </p:sp>
      <p:sp>
        <p:nvSpPr>
          <p:cNvPr id="6" name="Text 4"/>
          <p:cNvSpPr/>
          <p:nvPr/>
        </p:nvSpPr>
        <p:spPr>
          <a:xfrm>
            <a:off x="496119" y="3061618"/>
            <a:ext cx="3924598" cy="1079078"/>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a:solidFill>
                  <a:srgbClr val="15213F"/>
                </a:solidFill>
                <a:latin typeface="Roboto" pitchFamily="34" charset="0"/>
                <a:ea typeface="Roboto" pitchFamily="34" charset="-122"/>
                <a:cs typeface="Roboto" pitchFamily="34" charset="-120"/>
              </a:rPr>
              <a:t>Identify authorized signatories and full ownership structure before routing to legal</a:t>
            </a:r>
            <a:endParaRPr lang="en-US" sz="950"/>
          </a:p>
          <a:p>
            <a:pPr marL="342900" indent="-342900" algn="l">
              <a:lnSpc>
                <a:spcPct val="133000"/>
              </a:lnSpc>
              <a:buSzPct val="100000"/>
              <a:buChar char="•"/>
            </a:pPr>
            <a:r>
              <a:rPr lang="en-US" sz="950">
                <a:solidFill>
                  <a:srgbClr val="15213F"/>
                </a:solidFill>
                <a:latin typeface="Roboto" pitchFamily="34" charset="0"/>
                <a:ea typeface="Roboto" pitchFamily="34" charset="-122"/>
                <a:cs typeface="Roboto" pitchFamily="34" charset="-120"/>
              </a:rPr>
              <a:t>Confirm LLC is listed as </a:t>
            </a:r>
            <a:r>
              <a:rPr lang="en-US" sz="950" b="1">
                <a:solidFill>
                  <a:srgbClr val="15213F"/>
                </a:solidFill>
                <a:latin typeface="Roboto" pitchFamily="34" charset="0"/>
                <a:ea typeface="Roboto" pitchFamily="34" charset="-122"/>
                <a:cs typeface="Roboto" pitchFamily="34" charset="-120"/>
              </a:rPr>
              <a:t>Borrower 1</a:t>
            </a:r>
            <a:r>
              <a:rPr lang="en-US" sz="950">
                <a:solidFill>
                  <a:srgbClr val="15213F"/>
                </a:solidFill>
                <a:latin typeface="Roboto" pitchFamily="34" charset="0"/>
                <a:ea typeface="Roboto" pitchFamily="34" charset="-122"/>
                <a:cs typeface="Roboto" pitchFamily="34" charset="-120"/>
              </a:rPr>
              <a:t> on all loan documents</a:t>
            </a:r>
            <a:endParaRPr lang="en-US" sz="950"/>
          </a:p>
          <a:p>
            <a:pPr marL="342900" indent="-342900" algn="l">
              <a:lnSpc>
                <a:spcPct val="133000"/>
              </a:lnSpc>
              <a:buSzPct val="100000"/>
              <a:buChar char="•"/>
            </a:pPr>
            <a:r>
              <a:rPr lang="en-US" sz="950">
                <a:solidFill>
                  <a:srgbClr val="15213F"/>
                </a:solidFill>
                <a:latin typeface="Roboto" pitchFamily="34" charset="0"/>
                <a:ea typeface="Roboto" pitchFamily="34" charset="-122"/>
                <a:cs typeface="Roboto" pitchFamily="34" charset="-120"/>
              </a:rPr>
              <a:t>Review title to ensure </a:t>
            </a:r>
            <a:r>
              <a:rPr lang="en-US" sz="950" b="1">
                <a:solidFill>
                  <a:srgbClr val="15213F"/>
                </a:solidFill>
                <a:latin typeface="Roboto" pitchFamily="34" charset="0"/>
                <a:ea typeface="Roboto" pitchFamily="34" charset="-122"/>
                <a:cs typeface="Roboto" pitchFamily="34" charset="-120"/>
              </a:rPr>
              <a:t>no multiple transfers</a:t>
            </a:r>
            <a:r>
              <a:rPr lang="en-US" sz="950">
                <a:solidFill>
                  <a:srgbClr val="15213F"/>
                </a:solidFill>
                <a:latin typeface="Roboto" pitchFamily="34" charset="0"/>
                <a:ea typeface="Roboto" pitchFamily="34" charset="-122"/>
                <a:cs typeface="Roboto" pitchFamily="34" charset="-120"/>
              </a:rPr>
              <a:t> of property among LLC and guarantors</a:t>
            </a:r>
            <a:endParaRPr lang="en-US" sz="950"/>
          </a:p>
        </p:txBody>
      </p:sp>
      <p:sp>
        <p:nvSpPr>
          <p:cNvPr id="7" name="Text 5"/>
          <p:cNvSpPr/>
          <p:nvPr/>
        </p:nvSpPr>
        <p:spPr>
          <a:xfrm>
            <a:off x="4728046" y="1222921"/>
            <a:ext cx="2007766" cy="193849"/>
          </a:xfrm>
          <a:prstGeom prst="rect">
            <a:avLst/>
          </a:prstGeom>
          <a:noFill/>
          <a:ln/>
        </p:spPr>
        <p:txBody>
          <a:bodyPr wrap="none" lIns="0" tIns="0" rIns="0" bIns="0" rtlCol="0" anchor="t"/>
          <a:lstStyle/>
          <a:p>
            <a:pPr marL="0" indent="0" algn="l">
              <a:lnSpc>
                <a:spcPct val="104000"/>
              </a:lnSpc>
              <a:buNone/>
            </a:pPr>
            <a:r>
              <a:rPr lang="en-US" sz="1200">
                <a:solidFill>
                  <a:srgbClr val="3257B8"/>
                </a:solidFill>
                <a:latin typeface="Roboto Slab" pitchFamily="34" charset="0"/>
                <a:ea typeface="Roboto Slab" pitchFamily="34" charset="-122"/>
                <a:cs typeface="Roboto Slab" pitchFamily="34" charset="-120"/>
              </a:rPr>
              <a:t>Legal Review SLA</a:t>
            </a:r>
            <a:endParaRPr lang="en-US" sz="1200"/>
          </a:p>
        </p:txBody>
      </p:sp>
      <p:sp>
        <p:nvSpPr>
          <p:cNvPr id="8" name="Text 6"/>
          <p:cNvSpPr/>
          <p:nvPr/>
        </p:nvSpPr>
        <p:spPr>
          <a:xfrm>
            <a:off x="4728046" y="1540743"/>
            <a:ext cx="3924598" cy="638770"/>
          </a:xfrm>
          <a:prstGeom prst="rect">
            <a:avLst/>
          </a:prstGeom>
          <a:noFill/>
          <a:ln/>
        </p:spPr>
        <p:txBody>
          <a:bodyPr wrap="square" lIns="0" tIns="0" rIns="0" bIns="0" rtlCol="0" anchor="t">
            <a:normAutofit fontScale="92500"/>
          </a:bodyPr>
          <a:lstStyle/>
          <a:p>
            <a:pPr marL="342900" indent="-342900">
              <a:lnSpc>
                <a:spcPct val="133000"/>
              </a:lnSpc>
              <a:buSzPct val="100000"/>
              <a:buChar char="•"/>
            </a:pPr>
            <a:r>
              <a:rPr lang="en-US" sz="950">
                <a:solidFill>
                  <a:srgbClr val="15213F"/>
                </a:solidFill>
                <a:latin typeface="Roboto"/>
                <a:ea typeface="Roboto"/>
                <a:cs typeface="Roboto"/>
              </a:rPr>
              <a:t>PB&amp;G or Legal reviews entity docs within </a:t>
            </a:r>
            <a:r>
              <a:rPr lang="en-US" sz="950" b="1">
                <a:solidFill>
                  <a:srgbClr val="15213F"/>
                </a:solidFill>
                <a:latin typeface="Roboto"/>
                <a:ea typeface="Roboto"/>
                <a:cs typeface="Roboto"/>
              </a:rPr>
              <a:t>24 hours</a:t>
            </a:r>
            <a:r>
              <a:rPr lang="en-US" sz="950">
                <a:solidFill>
                  <a:srgbClr val="15213F"/>
                </a:solidFill>
                <a:latin typeface="Roboto"/>
                <a:ea typeface="Roboto"/>
                <a:cs typeface="Roboto"/>
              </a:rPr>
              <a:t> of receipt from AM</a:t>
            </a:r>
            <a:endParaRPr lang="en-US" sz="950">
              <a:latin typeface="Roboto"/>
              <a:ea typeface="Roboto"/>
              <a:cs typeface="Roboto"/>
            </a:endParaRPr>
          </a:p>
          <a:p>
            <a:pPr marL="342900" indent="-342900" algn="l">
              <a:lnSpc>
                <a:spcPct val="133000"/>
              </a:lnSpc>
              <a:buSzPct val="100000"/>
              <a:buChar char="•"/>
            </a:pPr>
            <a:r>
              <a:rPr lang="en-US" sz="950">
                <a:solidFill>
                  <a:srgbClr val="15213F"/>
                </a:solidFill>
                <a:latin typeface="Roboto" pitchFamily="34" charset="0"/>
                <a:ea typeface="Roboto" pitchFamily="34" charset="-122"/>
                <a:cs typeface="Roboto" pitchFamily="34" charset="-120"/>
              </a:rPr>
              <a:t>AM must route complete documentation immediately upon set up completion — do not wait for underwriting decision</a:t>
            </a:r>
            <a:endParaRPr lang="en-US" sz="950"/>
          </a:p>
        </p:txBody>
      </p:sp>
      <p:sp>
        <p:nvSpPr>
          <p:cNvPr id="9" name="Text 7"/>
          <p:cNvSpPr/>
          <p:nvPr/>
        </p:nvSpPr>
        <p:spPr>
          <a:xfrm>
            <a:off x="4728046" y="2303487"/>
            <a:ext cx="2680022" cy="193849"/>
          </a:xfrm>
          <a:prstGeom prst="rect">
            <a:avLst/>
          </a:prstGeom>
          <a:noFill/>
          <a:ln/>
        </p:spPr>
        <p:txBody>
          <a:bodyPr wrap="none" lIns="0" tIns="0" rIns="0" bIns="0" rtlCol="0" anchor="t"/>
          <a:lstStyle/>
          <a:p>
            <a:pPr marL="0" indent="0" algn="l">
              <a:lnSpc>
                <a:spcPct val="104000"/>
              </a:lnSpc>
              <a:buNone/>
            </a:pPr>
            <a:r>
              <a:rPr lang="en-US" sz="1200">
                <a:solidFill>
                  <a:srgbClr val="3257B8"/>
                </a:solidFill>
                <a:latin typeface="Roboto Slab" pitchFamily="34" charset="0"/>
                <a:ea typeface="Roboto Slab" pitchFamily="34" charset="-122"/>
                <a:cs typeface="Roboto Slab" pitchFamily="34" charset="-120"/>
              </a:rPr>
              <a:t>Funding Shield — Fraud Guard</a:t>
            </a:r>
            <a:endParaRPr lang="en-US" sz="1200"/>
          </a:p>
        </p:txBody>
      </p:sp>
      <p:sp>
        <p:nvSpPr>
          <p:cNvPr id="10" name="Text 8"/>
          <p:cNvSpPr/>
          <p:nvPr/>
        </p:nvSpPr>
        <p:spPr>
          <a:xfrm>
            <a:off x="4728046" y="2621310"/>
            <a:ext cx="3924598" cy="837233"/>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a:solidFill>
                  <a:srgbClr val="15213F"/>
                </a:solidFill>
                <a:latin typeface="Roboto" pitchFamily="34" charset="0"/>
                <a:ea typeface="Roboto" pitchFamily="34" charset="-122"/>
                <a:cs typeface="Roboto" pitchFamily="34" charset="-120"/>
              </a:rPr>
              <a:t>All Closing Protection Letters (CPLs) and Wire Instructions go through Fraud Guard</a:t>
            </a:r>
            <a:endParaRPr lang="en-US" sz="950"/>
          </a:p>
          <a:p>
            <a:pPr marL="342900" indent="-342900" algn="l">
              <a:lnSpc>
                <a:spcPct val="133000"/>
              </a:lnSpc>
              <a:buSzPct val="100000"/>
              <a:buChar char="•"/>
            </a:pPr>
            <a:r>
              <a:rPr lang="en-US" sz="950">
                <a:solidFill>
                  <a:srgbClr val="15213F"/>
                </a:solidFill>
                <a:latin typeface="Roboto" pitchFamily="34" charset="0"/>
                <a:ea typeface="Roboto" pitchFamily="34" charset="-122"/>
                <a:cs typeface="Roboto" pitchFamily="34" charset="-120"/>
              </a:rPr>
              <a:t>Funders check certification data at closing — if differences found, </a:t>
            </a:r>
            <a:r>
              <a:rPr lang="en-US" sz="950" b="1">
                <a:solidFill>
                  <a:srgbClr val="15213F"/>
                </a:solidFill>
                <a:latin typeface="Roboto" pitchFamily="34" charset="0"/>
                <a:ea typeface="Roboto" pitchFamily="34" charset="-122"/>
                <a:cs typeface="Roboto" pitchFamily="34" charset="-120"/>
              </a:rPr>
              <a:t>re-run through Fraud Guard</a:t>
            </a:r>
            <a:r>
              <a:rPr lang="en-US" sz="950">
                <a:solidFill>
                  <a:srgbClr val="15213F"/>
                </a:solidFill>
                <a:latin typeface="Roboto" pitchFamily="34" charset="0"/>
                <a:ea typeface="Roboto" pitchFamily="34" charset="-122"/>
                <a:cs typeface="Roboto" pitchFamily="34" charset="-120"/>
              </a:rPr>
              <a:t> before authorizing wire</a:t>
            </a:r>
            <a:endParaRPr lang="en-US" sz="950"/>
          </a:p>
        </p:txBody>
      </p:sp>
      <p:sp>
        <p:nvSpPr>
          <p:cNvPr id="11" name="Shape 9"/>
          <p:cNvSpPr/>
          <p:nvPr/>
        </p:nvSpPr>
        <p:spPr>
          <a:xfrm>
            <a:off x="4728046" y="3598069"/>
            <a:ext cx="3924598" cy="880542"/>
          </a:xfrm>
          <a:prstGeom prst="roundRect">
            <a:avLst>
              <a:gd name="adj" fmla="val 2113"/>
            </a:avLst>
          </a:prstGeom>
          <a:solidFill>
            <a:srgbClr val="FFB3B4"/>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4852020" y="3782616"/>
            <a:ext cx="155004" cy="123974"/>
          </a:xfrm>
          <a:prstGeom prst="rect">
            <a:avLst/>
          </a:prstGeom>
        </p:spPr>
      </p:pic>
      <p:sp>
        <p:nvSpPr>
          <p:cNvPr id="13" name="Text 10"/>
          <p:cNvSpPr/>
          <p:nvPr/>
        </p:nvSpPr>
        <p:spPr>
          <a:xfrm>
            <a:off x="5130998" y="3740646"/>
            <a:ext cx="3397672"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000000"/>
                </a:solidFill>
                <a:latin typeface="Roboto" pitchFamily="34" charset="0"/>
                <a:ea typeface="Roboto" pitchFamily="34" charset="-122"/>
                <a:cs typeface="Roboto" pitchFamily="34" charset="-120"/>
              </a:rPr>
              <a:t>Wire instruction discrepancies must be re-cleared through Fraud Guard before any funding authorization is released. No exceptions to this requirement.</a:t>
            </a:r>
            <a:endParaRPr lang="en-US" sz="9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96119" y="467469"/>
            <a:ext cx="3597846" cy="339179"/>
          </a:xfrm>
          <a:prstGeom prst="rect">
            <a:avLst/>
          </a:prstGeom>
          <a:noFill/>
          <a:ln/>
        </p:spPr>
        <p:txBody>
          <a:bodyPr wrap="none" lIns="0" tIns="0" rIns="0" bIns="0" rtlCol="0" anchor="t"/>
          <a:lstStyle/>
          <a:p>
            <a:pPr marL="0" indent="0" algn="l">
              <a:lnSpc>
                <a:spcPct val="104000"/>
              </a:lnSpc>
              <a:buNone/>
            </a:pPr>
            <a:r>
              <a:rPr lang="en-US" sz="2100">
                <a:solidFill>
                  <a:srgbClr val="3257B8"/>
                </a:solidFill>
                <a:latin typeface="Roboto Slab" pitchFamily="34" charset="0"/>
                <a:ea typeface="Roboto Slab" pitchFamily="34" charset="-122"/>
                <a:cs typeface="Roboto Slab" pitchFamily="34" charset="-120"/>
              </a:rPr>
              <a:t>Condo Eligibility Review</a:t>
            </a:r>
            <a:endParaRPr lang="en-US" sz="210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996553"/>
            <a:ext cx="4028405" cy="1108918"/>
          </a:xfrm>
          <a:prstGeom prst="rect">
            <a:avLst/>
          </a:prstGeom>
        </p:spPr>
      </p:pic>
      <p:sp>
        <p:nvSpPr>
          <p:cNvPr id="4" name="Text 1"/>
          <p:cNvSpPr/>
          <p:nvPr/>
        </p:nvSpPr>
        <p:spPr>
          <a:xfrm>
            <a:off x="2445134" y="1077962"/>
            <a:ext cx="130225" cy="162744"/>
          </a:xfrm>
          <a:prstGeom prst="rect">
            <a:avLst/>
          </a:prstGeom>
          <a:noFill/>
          <a:ln/>
        </p:spPr>
        <p:txBody>
          <a:bodyPr wrap="none" lIns="0" tIns="0" rIns="0" bIns="0" rtlCol="0" anchor="ctr"/>
          <a:lstStyle/>
          <a:p>
            <a:pPr marL="0" indent="0" algn="ctr">
              <a:lnSpc>
                <a:spcPct val="100000"/>
              </a:lnSpc>
              <a:buNone/>
            </a:pPr>
            <a:r>
              <a:rPr lang="en-US" sz="1000">
                <a:solidFill>
                  <a:srgbClr val="FFFFFF"/>
                </a:solidFill>
                <a:latin typeface="Roboto Slab" pitchFamily="34" charset="0"/>
                <a:ea typeface="Roboto Slab" pitchFamily="34" charset="-122"/>
                <a:cs typeface="Roboto Slab" pitchFamily="34" charset="-120"/>
              </a:rPr>
              <a:t>1</a:t>
            </a:r>
            <a:endParaRPr lang="en-US" sz="1000"/>
          </a:p>
        </p:txBody>
      </p:sp>
      <p:sp>
        <p:nvSpPr>
          <p:cNvPr id="5" name="Text 2"/>
          <p:cNvSpPr/>
          <p:nvPr/>
        </p:nvSpPr>
        <p:spPr>
          <a:xfrm>
            <a:off x="618902" y="1430610"/>
            <a:ext cx="1356717" cy="169515"/>
          </a:xfrm>
          <a:prstGeom prst="rect">
            <a:avLst/>
          </a:prstGeom>
          <a:noFill/>
          <a:ln/>
        </p:spPr>
        <p:txBody>
          <a:bodyPr wrap="none" lIns="0" tIns="0" rIns="0" bIns="0" rtlCol="0" anchor="t"/>
          <a:lstStyle/>
          <a:p>
            <a:pPr marL="0" indent="0" algn="l">
              <a:lnSpc>
                <a:spcPct val="104000"/>
              </a:lnSpc>
              <a:buNone/>
            </a:pPr>
            <a:r>
              <a:rPr lang="en-US" sz="1050">
                <a:solidFill>
                  <a:srgbClr val="15213F"/>
                </a:solidFill>
                <a:latin typeface="Roboto Slab" pitchFamily="34" charset="0"/>
                <a:ea typeface="Roboto Slab" pitchFamily="34" charset="-122"/>
                <a:cs typeface="Roboto Slab" pitchFamily="34" charset="-120"/>
              </a:rPr>
              <a:t>Trigger</a:t>
            </a:r>
            <a:endParaRPr lang="en-US" sz="1050"/>
          </a:p>
        </p:txBody>
      </p:sp>
      <p:sp>
        <p:nvSpPr>
          <p:cNvPr id="6" name="Text 3"/>
          <p:cNvSpPr/>
          <p:nvPr/>
        </p:nvSpPr>
        <p:spPr>
          <a:xfrm>
            <a:off x="618902" y="1657052"/>
            <a:ext cx="3782839" cy="325636"/>
          </a:xfrm>
          <a:prstGeom prst="rect">
            <a:avLst/>
          </a:prstGeom>
          <a:noFill/>
          <a:ln/>
        </p:spPr>
        <p:txBody>
          <a:bodyPr wrap="square" lIns="0" tIns="0" rIns="0" bIns="0" rtlCol="0" anchor="t">
            <a:normAutofit/>
          </a:bodyPr>
          <a:lstStyle/>
          <a:p>
            <a:pPr marL="0" indent="0" algn="l">
              <a:lnSpc>
                <a:spcPct val="125000"/>
              </a:lnSpc>
              <a:buNone/>
            </a:pPr>
            <a:r>
              <a:rPr lang="en-US" sz="850">
                <a:solidFill>
                  <a:srgbClr val="15213F"/>
                </a:solidFill>
                <a:latin typeface="Roboto" pitchFamily="34" charset="0"/>
                <a:ea typeface="Roboto" pitchFamily="34" charset="-122"/>
                <a:cs typeface="Roboto" pitchFamily="34" charset="-120"/>
              </a:rPr>
              <a:t>AM conducts condo eligibility review concurrently with underwriting for all condo properties. Do not wait for underwriting to begin this review.</a:t>
            </a:r>
            <a:endParaRPr lang="en-US" sz="85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9476" y="996553"/>
            <a:ext cx="4028405" cy="1108918"/>
          </a:xfrm>
          <a:prstGeom prst="rect">
            <a:avLst/>
          </a:prstGeom>
        </p:spPr>
      </p:pic>
      <p:sp>
        <p:nvSpPr>
          <p:cNvPr id="8" name="Text 4"/>
          <p:cNvSpPr/>
          <p:nvPr/>
        </p:nvSpPr>
        <p:spPr>
          <a:xfrm>
            <a:off x="6568492" y="1077962"/>
            <a:ext cx="130225" cy="162744"/>
          </a:xfrm>
          <a:prstGeom prst="rect">
            <a:avLst/>
          </a:prstGeom>
          <a:noFill/>
          <a:ln/>
        </p:spPr>
        <p:txBody>
          <a:bodyPr wrap="none" lIns="0" tIns="0" rIns="0" bIns="0" rtlCol="0" anchor="ctr"/>
          <a:lstStyle/>
          <a:p>
            <a:pPr marL="0" indent="0" algn="ctr">
              <a:lnSpc>
                <a:spcPct val="100000"/>
              </a:lnSpc>
              <a:buNone/>
            </a:pPr>
            <a:r>
              <a:rPr lang="en-US" sz="1000">
                <a:solidFill>
                  <a:srgbClr val="FFFFFF"/>
                </a:solidFill>
                <a:latin typeface="Roboto Slab" pitchFamily="34" charset="0"/>
                <a:ea typeface="Roboto Slab" pitchFamily="34" charset="-122"/>
                <a:cs typeface="Roboto Slab" pitchFamily="34" charset="-120"/>
              </a:rPr>
              <a:t>2</a:t>
            </a:r>
            <a:endParaRPr lang="en-US" sz="1000"/>
          </a:p>
        </p:txBody>
      </p:sp>
      <p:sp>
        <p:nvSpPr>
          <p:cNvPr id="9" name="Text 5"/>
          <p:cNvSpPr/>
          <p:nvPr/>
        </p:nvSpPr>
        <p:spPr>
          <a:xfrm>
            <a:off x="4742259" y="1430610"/>
            <a:ext cx="1356717" cy="169515"/>
          </a:xfrm>
          <a:prstGeom prst="rect">
            <a:avLst/>
          </a:prstGeom>
          <a:noFill/>
          <a:ln/>
        </p:spPr>
        <p:txBody>
          <a:bodyPr wrap="none" lIns="0" tIns="0" rIns="0" bIns="0" rtlCol="0" anchor="t"/>
          <a:lstStyle/>
          <a:p>
            <a:pPr marL="0" indent="0" algn="l">
              <a:lnSpc>
                <a:spcPct val="104000"/>
              </a:lnSpc>
              <a:buNone/>
            </a:pPr>
            <a:r>
              <a:rPr lang="en-US" sz="1050">
                <a:solidFill>
                  <a:srgbClr val="15213F"/>
                </a:solidFill>
                <a:latin typeface="Roboto Slab" pitchFamily="34" charset="0"/>
                <a:ea typeface="Roboto Slab" pitchFamily="34" charset="-122"/>
                <a:cs typeface="Roboto Slab" pitchFamily="34" charset="-120"/>
              </a:rPr>
              <a:t>HOA Documents</a:t>
            </a:r>
            <a:endParaRPr lang="en-US" sz="1050"/>
          </a:p>
        </p:txBody>
      </p:sp>
      <p:sp>
        <p:nvSpPr>
          <p:cNvPr id="10" name="Text 6"/>
          <p:cNvSpPr/>
          <p:nvPr/>
        </p:nvSpPr>
        <p:spPr>
          <a:xfrm>
            <a:off x="4742259" y="1657052"/>
            <a:ext cx="3782839" cy="325636"/>
          </a:xfrm>
          <a:prstGeom prst="rect">
            <a:avLst/>
          </a:prstGeom>
          <a:noFill/>
          <a:ln/>
        </p:spPr>
        <p:txBody>
          <a:bodyPr wrap="square" lIns="0" tIns="0" rIns="0" bIns="0" rtlCol="0" anchor="t">
            <a:normAutofit/>
          </a:bodyPr>
          <a:lstStyle/>
          <a:p>
            <a:pPr marL="0" indent="0" algn="l">
              <a:lnSpc>
                <a:spcPct val="125000"/>
              </a:lnSpc>
              <a:buNone/>
            </a:pPr>
            <a:r>
              <a:rPr lang="en-US" sz="850">
                <a:solidFill>
                  <a:srgbClr val="15213F"/>
                </a:solidFill>
                <a:latin typeface="Roboto" pitchFamily="34" charset="0"/>
                <a:ea typeface="Roboto" pitchFamily="34" charset="-122"/>
                <a:cs typeface="Roboto" pitchFamily="34" charset="-120"/>
              </a:rPr>
              <a:t>Review HOA documents, budget, and reserve fund adequacy against program guidelines. Flag any reserve shortfalls for underwriter review.</a:t>
            </a:r>
            <a:endParaRPr lang="en-US" sz="85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2200424"/>
            <a:ext cx="4028405" cy="1108918"/>
          </a:xfrm>
          <a:prstGeom prst="rect">
            <a:avLst/>
          </a:prstGeom>
        </p:spPr>
      </p:pic>
      <p:sp>
        <p:nvSpPr>
          <p:cNvPr id="12" name="Text 7"/>
          <p:cNvSpPr/>
          <p:nvPr/>
        </p:nvSpPr>
        <p:spPr>
          <a:xfrm>
            <a:off x="2445134" y="2281833"/>
            <a:ext cx="130225" cy="162744"/>
          </a:xfrm>
          <a:prstGeom prst="rect">
            <a:avLst/>
          </a:prstGeom>
          <a:noFill/>
          <a:ln/>
        </p:spPr>
        <p:txBody>
          <a:bodyPr wrap="none" lIns="0" tIns="0" rIns="0" bIns="0" rtlCol="0" anchor="ctr"/>
          <a:lstStyle/>
          <a:p>
            <a:pPr marL="0" indent="0" algn="ctr">
              <a:lnSpc>
                <a:spcPct val="100000"/>
              </a:lnSpc>
              <a:buNone/>
            </a:pPr>
            <a:r>
              <a:rPr lang="en-US" sz="1000">
                <a:solidFill>
                  <a:srgbClr val="FFFFFF"/>
                </a:solidFill>
                <a:latin typeface="Roboto Slab" pitchFamily="34" charset="0"/>
                <a:ea typeface="Roboto Slab" pitchFamily="34" charset="-122"/>
                <a:cs typeface="Roboto Slab" pitchFamily="34" charset="-120"/>
              </a:rPr>
              <a:t>3</a:t>
            </a:r>
            <a:endParaRPr lang="en-US" sz="1000"/>
          </a:p>
        </p:txBody>
      </p:sp>
      <p:sp>
        <p:nvSpPr>
          <p:cNvPr id="13" name="Text 8"/>
          <p:cNvSpPr/>
          <p:nvPr/>
        </p:nvSpPr>
        <p:spPr>
          <a:xfrm>
            <a:off x="618902" y="2634481"/>
            <a:ext cx="1356717" cy="169515"/>
          </a:xfrm>
          <a:prstGeom prst="rect">
            <a:avLst/>
          </a:prstGeom>
          <a:noFill/>
          <a:ln/>
        </p:spPr>
        <p:txBody>
          <a:bodyPr wrap="none" lIns="0" tIns="0" rIns="0" bIns="0" rtlCol="0" anchor="t"/>
          <a:lstStyle/>
          <a:p>
            <a:pPr marL="0" indent="0" algn="l">
              <a:lnSpc>
                <a:spcPct val="104000"/>
              </a:lnSpc>
              <a:buNone/>
            </a:pPr>
            <a:r>
              <a:rPr lang="en-US" sz="1050">
                <a:solidFill>
                  <a:srgbClr val="15213F"/>
                </a:solidFill>
                <a:latin typeface="Roboto Slab" pitchFamily="34" charset="0"/>
                <a:ea typeface="Roboto Slab" pitchFamily="34" charset="-122"/>
                <a:cs typeface="Roboto Slab" pitchFamily="34" charset="-120"/>
              </a:rPr>
              <a:t>Litigation Status</a:t>
            </a:r>
            <a:endParaRPr lang="en-US" sz="1050"/>
          </a:p>
        </p:txBody>
      </p:sp>
      <p:sp>
        <p:nvSpPr>
          <p:cNvPr id="14" name="Text 9"/>
          <p:cNvSpPr/>
          <p:nvPr/>
        </p:nvSpPr>
        <p:spPr>
          <a:xfrm>
            <a:off x="618902" y="2860923"/>
            <a:ext cx="3782839" cy="325636"/>
          </a:xfrm>
          <a:prstGeom prst="rect">
            <a:avLst/>
          </a:prstGeom>
          <a:noFill/>
          <a:ln/>
        </p:spPr>
        <p:txBody>
          <a:bodyPr wrap="square" lIns="0" tIns="0" rIns="0" bIns="0" rtlCol="0" anchor="t">
            <a:normAutofit/>
          </a:bodyPr>
          <a:lstStyle/>
          <a:p>
            <a:pPr marL="0" indent="0" algn="l">
              <a:lnSpc>
                <a:spcPct val="125000"/>
              </a:lnSpc>
              <a:buNone/>
            </a:pPr>
            <a:r>
              <a:rPr lang="en-US" sz="850">
                <a:solidFill>
                  <a:srgbClr val="15213F"/>
                </a:solidFill>
                <a:latin typeface="Roboto" pitchFamily="34" charset="0"/>
                <a:ea typeface="Roboto" pitchFamily="34" charset="-122"/>
                <a:cs typeface="Roboto" pitchFamily="34" charset="-120"/>
              </a:rPr>
              <a:t>Confirm no active or pending litigation against the HOA or condo association. Any litigation found must be escalated to underwriting immediately.</a:t>
            </a:r>
            <a:endParaRPr lang="en-US" sz="850"/>
          </a:p>
        </p:txBody>
      </p:sp>
      <p:pic>
        <p:nvPicPr>
          <p:cNvPr id="15"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9476" y="2200424"/>
            <a:ext cx="4028405" cy="1108918"/>
          </a:xfrm>
          <a:prstGeom prst="rect">
            <a:avLst/>
          </a:prstGeom>
        </p:spPr>
      </p:pic>
      <p:sp>
        <p:nvSpPr>
          <p:cNvPr id="16" name="Text 10"/>
          <p:cNvSpPr/>
          <p:nvPr/>
        </p:nvSpPr>
        <p:spPr>
          <a:xfrm>
            <a:off x="6568492" y="2281833"/>
            <a:ext cx="130225" cy="162744"/>
          </a:xfrm>
          <a:prstGeom prst="rect">
            <a:avLst/>
          </a:prstGeom>
          <a:noFill/>
          <a:ln/>
        </p:spPr>
        <p:txBody>
          <a:bodyPr wrap="none" lIns="0" tIns="0" rIns="0" bIns="0" rtlCol="0" anchor="ctr"/>
          <a:lstStyle/>
          <a:p>
            <a:pPr marL="0" indent="0" algn="ctr">
              <a:lnSpc>
                <a:spcPct val="100000"/>
              </a:lnSpc>
              <a:buNone/>
            </a:pPr>
            <a:r>
              <a:rPr lang="en-US" sz="1000">
                <a:solidFill>
                  <a:srgbClr val="FFFFFF"/>
                </a:solidFill>
                <a:latin typeface="Roboto Slab" pitchFamily="34" charset="0"/>
                <a:ea typeface="Roboto Slab" pitchFamily="34" charset="-122"/>
                <a:cs typeface="Roboto Slab" pitchFamily="34" charset="-120"/>
              </a:rPr>
              <a:t>4</a:t>
            </a:r>
            <a:endParaRPr lang="en-US" sz="1000"/>
          </a:p>
        </p:txBody>
      </p:sp>
      <p:sp>
        <p:nvSpPr>
          <p:cNvPr id="17" name="Text 11"/>
          <p:cNvSpPr/>
          <p:nvPr/>
        </p:nvSpPr>
        <p:spPr>
          <a:xfrm>
            <a:off x="4742259" y="2634481"/>
            <a:ext cx="1551459" cy="169515"/>
          </a:xfrm>
          <a:prstGeom prst="rect">
            <a:avLst/>
          </a:prstGeom>
          <a:noFill/>
          <a:ln/>
        </p:spPr>
        <p:txBody>
          <a:bodyPr wrap="none" lIns="0" tIns="0" rIns="0" bIns="0" rtlCol="0" anchor="t"/>
          <a:lstStyle/>
          <a:p>
            <a:pPr marL="0" indent="0" algn="l">
              <a:lnSpc>
                <a:spcPct val="104000"/>
              </a:lnSpc>
              <a:buNone/>
            </a:pPr>
            <a:r>
              <a:rPr lang="en-US" sz="1050">
                <a:solidFill>
                  <a:srgbClr val="15213F"/>
                </a:solidFill>
                <a:latin typeface="Roboto Slab" pitchFamily="34" charset="0"/>
                <a:ea typeface="Roboto Slab" pitchFamily="34" charset="-122"/>
                <a:cs typeface="Roboto Slab" pitchFamily="34" charset="-120"/>
              </a:rPr>
              <a:t>Owner-Occupancy Ratio</a:t>
            </a:r>
            <a:endParaRPr lang="en-US" sz="1050"/>
          </a:p>
        </p:txBody>
      </p:sp>
      <p:sp>
        <p:nvSpPr>
          <p:cNvPr id="18" name="Text 12"/>
          <p:cNvSpPr/>
          <p:nvPr/>
        </p:nvSpPr>
        <p:spPr>
          <a:xfrm>
            <a:off x="4742259" y="2860923"/>
            <a:ext cx="3782839" cy="325636"/>
          </a:xfrm>
          <a:prstGeom prst="rect">
            <a:avLst/>
          </a:prstGeom>
          <a:noFill/>
          <a:ln/>
        </p:spPr>
        <p:txBody>
          <a:bodyPr wrap="square" lIns="0" tIns="0" rIns="0" bIns="0" rtlCol="0" anchor="t">
            <a:normAutofit/>
          </a:bodyPr>
          <a:lstStyle/>
          <a:p>
            <a:pPr marL="0" indent="0" algn="l">
              <a:lnSpc>
                <a:spcPct val="125000"/>
              </a:lnSpc>
              <a:buNone/>
            </a:pPr>
            <a:r>
              <a:rPr lang="en-US" sz="850">
                <a:solidFill>
                  <a:srgbClr val="15213F"/>
                </a:solidFill>
                <a:latin typeface="Roboto" pitchFamily="34" charset="0"/>
                <a:ea typeface="Roboto" pitchFamily="34" charset="-122"/>
                <a:cs typeface="Roboto" pitchFamily="34" charset="-120"/>
              </a:rPr>
              <a:t>Verify ratio meets program guidelines. Document the ratio and the source used for verification in the processing log.</a:t>
            </a:r>
            <a:endParaRPr lang="en-US" sz="850"/>
          </a:p>
        </p:txBody>
      </p:sp>
      <p:pic>
        <p:nvPicPr>
          <p:cNvPr id="19"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404295"/>
            <a:ext cx="4028405" cy="1271736"/>
          </a:xfrm>
          <a:prstGeom prst="rect">
            <a:avLst/>
          </a:prstGeom>
        </p:spPr>
      </p:pic>
      <p:sp>
        <p:nvSpPr>
          <p:cNvPr id="20" name="Text 13"/>
          <p:cNvSpPr/>
          <p:nvPr/>
        </p:nvSpPr>
        <p:spPr>
          <a:xfrm>
            <a:off x="2445134" y="3485704"/>
            <a:ext cx="130225" cy="162744"/>
          </a:xfrm>
          <a:prstGeom prst="rect">
            <a:avLst/>
          </a:prstGeom>
          <a:noFill/>
          <a:ln/>
        </p:spPr>
        <p:txBody>
          <a:bodyPr wrap="none" lIns="0" tIns="0" rIns="0" bIns="0" rtlCol="0" anchor="ctr"/>
          <a:lstStyle/>
          <a:p>
            <a:pPr marL="0" indent="0" algn="ctr">
              <a:lnSpc>
                <a:spcPct val="100000"/>
              </a:lnSpc>
              <a:buNone/>
            </a:pPr>
            <a:r>
              <a:rPr lang="en-US" sz="1000">
                <a:solidFill>
                  <a:srgbClr val="FFFFFF"/>
                </a:solidFill>
                <a:latin typeface="Roboto Slab" pitchFamily="34" charset="0"/>
                <a:ea typeface="Roboto Slab" pitchFamily="34" charset="-122"/>
                <a:cs typeface="Roboto Slab" pitchFamily="34" charset="-120"/>
              </a:rPr>
              <a:t>5</a:t>
            </a:r>
            <a:endParaRPr lang="en-US" sz="1000"/>
          </a:p>
        </p:txBody>
      </p:sp>
      <p:sp>
        <p:nvSpPr>
          <p:cNvPr id="21" name="Text 14"/>
          <p:cNvSpPr/>
          <p:nvPr/>
        </p:nvSpPr>
        <p:spPr>
          <a:xfrm>
            <a:off x="618902" y="3838352"/>
            <a:ext cx="1417737" cy="169515"/>
          </a:xfrm>
          <a:prstGeom prst="rect">
            <a:avLst/>
          </a:prstGeom>
          <a:noFill/>
          <a:ln/>
        </p:spPr>
        <p:txBody>
          <a:bodyPr wrap="none" lIns="0" tIns="0" rIns="0" bIns="0" rtlCol="0" anchor="t"/>
          <a:lstStyle/>
          <a:p>
            <a:pPr marL="0" indent="0" algn="l">
              <a:lnSpc>
                <a:spcPct val="104000"/>
              </a:lnSpc>
              <a:buNone/>
            </a:pPr>
            <a:r>
              <a:rPr lang="en-US" sz="1050">
                <a:solidFill>
                  <a:srgbClr val="15213F"/>
                </a:solidFill>
                <a:latin typeface="Roboto Slab" pitchFamily="34" charset="0"/>
                <a:ea typeface="Roboto Slab" pitchFamily="34" charset="-122"/>
                <a:cs typeface="Roboto Slab" pitchFamily="34" charset="-120"/>
              </a:rPr>
              <a:t>Missing Docs Protocol</a:t>
            </a:r>
            <a:endParaRPr lang="en-US" sz="1050"/>
          </a:p>
        </p:txBody>
      </p:sp>
      <p:sp>
        <p:nvSpPr>
          <p:cNvPr id="22" name="Text 15"/>
          <p:cNvSpPr/>
          <p:nvPr/>
        </p:nvSpPr>
        <p:spPr>
          <a:xfrm>
            <a:off x="618902" y="4064794"/>
            <a:ext cx="3782839" cy="488454"/>
          </a:xfrm>
          <a:prstGeom prst="rect">
            <a:avLst/>
          </a:prstGeom>
          <a:noFill/>
          <a:ln/>
        </p:spPr>
        <p:txBody>
          <a:bodyPr wrap="square" lIns="0" tIns="0" rIns="0" bIns="0" rtlCol="0" anchor="t">
            <a:normAutofit/>
          </a:bodyPr>
          <a:lstStyle/>
          <a:p>
            <a:pPr marL="0" indent="0" algn="l">
              <a:lnSpc>
                <a:spcPct val="125000"/>
              </a:lnSpc>
              <a:buNone/>
            </a:pPr>
            <a:r>
              <a:rPr lang="en-US" sz="850">
                <a:solidFill>
                  <a:srgbClr val="15213F"/>
                </a:solidFill>
                <a:latin typeface="Roboto" pitchFamily="34" charset="0"/>
                <a:ea typeface="Roboto" pitchFamily="34" charset="-122"/>
                <a:cs typeface="Roboto" pitchFamily="34" charset="-120"/>
              </a:rPr>
              <a:t>Call Broker immediately for any missing condo documentation. Do not wait for the Underwriting decision to initiate outreach — early action protects the closing timeline.</a:t>
            </a:r>
            <a:endParaRPr lang="en-US" sz="850"/>
          </a:p>
        </p:txBody>
      </p:sp>
      <p:pic>
        <p:nvPicPr>
          <p:cNvPr id="23"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19476" y="3404295"/>
            <a:ext cx="4028405" cy="1271736"/>
          </a:xfrm>
          <a:prstGeom prst="rect">
            <a:avLst/>
          </a:prstGeom>
        </p:spPr>
      </p:pic>
      <p:sp>
        <p:nvSpPr>
          <p:cNvPr id="24" name="Text 16"/>
          <p:cNvSpPr/>
          <p:nvPr/>
        </p:nvSpPr>
        <p:spPr>
          <a:xfrm>
            <a:off x="6568492" y="3485704"/>
            <a:ext cx="130225" cy="162744"/>
          </a:xfrm>
          <a:prstGeom prst="rect">
            <a:avLst/>
          </a:prstGeom>
          <a:noFill/>
          <a:ln/>
        </p:spPr>
        <p:txBody>
          <a:bodyPr wrap="none" lIns="0" tIns="0" rIns="0" bIns="0" rtlCol="0" anchor="ctr"/>
          <a:lstStyle/>
          <a:p>
            <a:pPr marL="0" indent="0" algn="ctr">
              <a:lnSpc>
                <a:spcPct val="100000"/>
              </a:lnSpc>
              <a:buNone/>
            </a:pPr>
            <a:r>
              <a:rPr lang="en-US" sz="1000">
                <a:solidFill>
                  <a:srgbClr val="FFFFFF"/>
                </a:solidFill>
                <a:latin typeface="Roboto Slab" pitchFamily="34" charset="0"/>
                <a:ea typeface="Roboto Slab" pitchFamily="34" charset="-122"/>
                <a:cs typeface="Roboto Slab" pitchFamily="34" charset="-120"/>
              </a:rPr>
              <a:t>6</a:t>
            </a:r>
            <a:endParaRPr lang="en-US" sz="1000"/>
          </a:p>
        </p:txBody>
      </p:sp>
      <p:sp>
        <p:nvSpPr>
          <p:cNvPr id="25" name="Text 17"/>
          <p:cNvSpPr/>
          <p:nvPr/>
        </p:nvSpPr>
        <p:spPr>
          <a:xfrm>
            <a:off x="4742259" y="3838352"/>
            <a:ext cx="1356717" cy="169515"/>
          </a:xfrm>
          <a:prstGeom prst="rect">
            <a:avLst/>
          </a:prstGeom>
          <a:noFill/>
          <a:ln/>
        </p:spPr>
        <p:txBody>
          <a:bodyPr wrap="none" lIns="0" tIns="0" rIns="0" bIns="0" rtlCol="0" anchor="t"/>
          <a:lstStyle/>
          <a:p>
            <a:pPr marL="0" indent="0" algn="l">
              <a:lnSpc>
                <a:spcPct val="104000"/>
              </a:lnSpc>
              <a:buNone/>
            </a:pPr>
            <a:r>
              <a:rPr lang="en-US" sz="1050">
                <a:solidFill>
                  <a:srgbClr val="15213F"/>
                </a:solidFill>
                <a:latin typeface="Roboto Slab" pitchFamily="34" charset="0"/>
                <a:ea typeface="Roboto Slab" pitchFamily="34" charset="-122"/>
                <a:cs typeface="Roboto Slab" pitchFamily="34" charset="-120"/>
              </a:rPr>
              <a:t>Submission</a:t>
            </a:r>
            <a:endParaRPr lang="en-US" sz="1050"/>
          </a:p>
        </p:txBody>
      </p:sp>
      <p:sp>
        <p:nvSpPr>
          <p:cNvPr id="26" name="Text 18"/>
          <p:cNvSpPr/>
          <p:nvPr/>
        </p:nvSpPr>
        <p:spPr>
          <a:xfrm>
            <a:off x="4742259" y="4064794"/>
            <a:ext cx="3782839" cy="325636"/>
          </a:xfrm>
          <a:prstGeom prst="rect">
            <a:avLst/>
          </a:prstGeom>
          <a:noFill/>
          <a:ln/>
        </p:spPr>
        <p:txBody>
          <a:bodyPr wrap="square" lIns="0" tIns="0" rIns="0" bIns="0" rtlCol="0" anchor="t">
            <a:normAutofit/>
          </a:bodyPr>
          <a:lstStyle/>
          <a:p>
            <a:pPr marL="0" indent="0" algn="l">
              <a:lnSpc>
                <a:spcPct val="125000"/>
              </a:lnSpc>
              <a:buNone/>
            </a:pPr>
            <a:r>
              <a:rPr lang="en-US" sz="850">
                <a:solidFill>
                  <a:srgbClr val="15213F"/>
                </a:solidFill>
                <a:latin typeface="Roboto" pitchFamily="34" charset="0"/>
                <a:ea typeface="Roboto" pitchFamily="34" charset="-122"/>
                <a:cs typeface="Roboto" pitchFamily="34" charset="-120"/>
              </a:rPr>
              <a:t>AM or Asst. AM submits all LLC and/or Condo documentation to the appropriate department immediately upon set up completion.</a:t>
            </a:r>
            <a:endParaRPr lang="en-US" sz="8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96119" y="1058317"/>
            <a:ext cx="669354"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1095524"/>
            <a:ext cx="977726"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4</a:t>
            </a:r>
            <a:endParaRPr lang="en-US" sz="750"/>
          </a:p>
        </p:txBody>
      </p:sp>
      <p:sp>
        <p:nvSpPr>
          <p:cNvPr id="4" name="Text 2"/>
          <p:cNvSpPr/>
          <p:nvPr/>
        </p:nvSpPr>
        <p:spPr>
          <a:xfrm>
            <a:off x="496119" y="1341090"/>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Stage 4</a:t>
            </a:r>
            <a:endParaRPr lang="en-US" sz="3350"/>
          </a:p>
        </p:txBody>
      </p:sp>
      <p:sp>
        <p:nvSpPr>
          <p:cNvPr id="5" name="Text 3"/>
          <p:cNvSpPr/>
          <p:nvPr/>
        </p:nvSpPr>
        <p:spPr>
          <a:xfrm>
            <a:off x="496119" y="2062014"/>
            <a:ext cx="3558332"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Closing</a:t>
            </a:r>
            <a:endParaRPr lang="en-US" sz="2400"/>
          </a:p>
        </p:txBody>
      </p:sp>
      <p:sp>
        <p:nvSpPr>
          <p:cNvPr id="6" name="Text 4"/>
          <p:cNvSpPr/>
          <p:nvPr/>
        </p:nvSpPr>
        <p:spPr>
          <a:xfrm>
            <a:off x="496119" y="2635597"/>
            <a:ext cx="8151763"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Closing is the highest-priority stage in the pipeline. Upon CTC, the Closer receives an automated alert and is expected to deliver same-day service. The hard SLA is 24 hours from CTC receipt to funding authorization.</a:t>
            </a:r>
            <a:endParaRPr lang="en-US" sz="950"/>
          </a:p>
        </p:txBody>
      </p:sp>
      <p:sp>
        <p:nvSpPr>
          <p:cNvPr id="7" name="Shape 5"/>
          <p:cNvSpPr/>
          <p:nvPr/>
        </p:nvSpPr>
        <p:spPr>
          <a:xfrm>
            <a:off x="496119" y="3172048"/>
            <a:ext cx="2634555" cy="913135"/>
          </a:xfrm>
          <a:prstGeom prst="roundRect">
            <a:avLst>
              <a:gd name="adj" fmla="val 2038"/>
            </a:avLst>
          </a:prstGeom>
          <a:solidFill>
            <a:srgbClr val="E9ECF2"/>
          </a:solidFill>
          <a:ln/>
        </p:spPr>
        <p:txBody>
          <a:bodyPr/>
          <a:lstStyle/>
          <a:p>
            <a:endParaRPr lang="en-US"/>
          </a:p>
        </p:txBody>
      </p:sp>
      <p:sp>
        <p:nvSpPr>
          <p:cNvPr id="8" name="Text 6"/>
          <p:cNvSpPr/>
          <p:nvPr/>
        </p:nvSpPr>
        <p:spPr>
          <a:xfrm>
            <a:off x="620092"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Owner</a:t>
            </a:r>
            <a:endParaRPr lang="en-US" sz="1200"/>
          </a:p>
        </p:txBody>
      </p:sp>
      <p:sp>
        <p:nvSpPr>
          <p:cNvPr id="9" name="Text 7"/>
          <p:cNvSpPr/>
          <p:nvPr/>
        </p:nvSpPr>
        <p:spPr>
          <a:xfrm>
            <a:off x="620092" y="3564285"/>
            <a:ext cx="2386608"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Closer</a:t>
            </a:r>
            <a:endParaRPr lang="en-US" sz="950"/>
          </a:p>
        </p:txBody>
      </p:sp>
      <p:sp>
        <p:nvSpPr>
          <p:cNvPr id="10" name="Shape 8"/>
          <p:cNvSpPr/>
          <p:nvPr/>
        </p:nvSpPr>
        <p:spPr>
          <a:xfrm>
            <a:off x="3254648" y="3172048"/>
            <a:ext cx="2634630" cy="913135"/>
          </a:xfrm>
          <a:prstGeom prst="roundRect">
            <a:avLst>
              <a:gd name="adj" fmla="val 2038"/>
            </a:avLst>
          </a:prstGeom>
          <a:solidFill>
            <a:srgbClr val="E9ECF2"/>
          </a:solidFill>
          <a:ln/>
        </p:spPr>
        <p:txBody>
          <a:bodyPr/>
          <a:lstStyle/>
          <a:p>
            <a:endParaRPr lang="en-US"/>
          </a:p>
        </p:txBody>
      </p:sp>
      <p:sp>
        <p:nvSpPr>
          <p:cNvPr id="11" name="Text 9"/>
          <p:cNvSpPr/>
          <p:nvPr/>
        </p:nvSpPr>
        <p:spPr>
          <a:xfrm>
            <a:off x="3378622"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SLA</a:t>
            </a:r>
            <a:endParaRPr lang="en-US" sz="1200"/>
          </a:p>
        </p:txBody>
      </p:sp>
      <p:sp>
        <p:nvSpPr>
          <p:cNvPr id="12" name="Text 10"/>
          <p:cNvSpPr/>
          <p:nvPr/>
        </p:nvSpPr>
        <p:spPr>
          <a:xfrm>
            <a:off x="3378622" y="3564285"/>
            <a:ext cx="2386682"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Same day preferred; hard maximum 24 hrs from CTC</a:t>
            </a:r>
            <a:endParaRPr lang="en-US" sz="950"/>
          </a:p>
        </p:txBody>
      </p:sp>
      <p:sp>
        <p:nvSpPr>
          <p:cNvPr id="13" name="Shape 11"/>
          <p:cNvSpPr/>
          <p:nvPr/>
        </p:nvSpPr>
        <p:spPr>
          <a:xfrm>
            <a:off x="6013252" y="3172048"/>
            <a:ext cx="2634555" cy="913135"/>
          </a:xfrm>
          <a:prstGeom prst="roundRect">
            <a:avLst>
              <a:gd name="adj" fmla="val 2038"/>
            </a:avLst>
          </a:prstGeom>
          <a:solidFill>
            <a:srgbClr val="E9ECF2"/>
          </a:solidFill>
          <a:ln/>
        </p:spPr>
        <p:txBody>
          <a:bodyPr/>
          <a:lstStyle/>
          <a:p>
            <a:endParaRPr lang="en-US"/>
          </a:p>
        </p:txBody>
      </p:sp>
      <p:sp>
        <p:nvSpPr>
          <p:cNvPr id="14" name="Text 12"/>
          <p:cNvSpPr/>
          <p:nvPr/>
        </p:nvSpPr>
        <p:spPr>
          <a:xfrm>
            <a:off x="6137225"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Handoff Trigger</a:t>
            </a:r>
            <a:endParaRPr lang="en-US" sz="1200"/>
          </a:p>
        </p:txBody>
      </p:sp>
      <p:sp>
        <p:nvSpPr>
          <p:cNvPr id="15" name="Text 13"/>
          <p:cNvSpPr/>
          <p:nvPr/>
        </p:nvSpPr>
        <p:spPr>
          <a:xfrm>
            <a:off x="6137225" y="3564285"/>
            <a:ext cx="2386608"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Automated alert to Closer upon CTC issued jointly by AM and Underwriter</a:t>
            </a:r>
            <a:endParaRPr lang="en-US" sz="9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345207"/>
            <a:ext cx="4403973" cy="345281"/>
          </a:xfrm>
          <a:prstGeom prst="rect">
            <a:avLst/>
          </a:prstGeom>
          <a:noFill/>
          <a:ln/>
        </p:spPr>
        <p:txBody>
          <a:bodyPr wrap="none" lIns="0" tIns="0" rIns="0" bIns="0" rtlCol="0" anchor="t"/>
          <a:lstStyle/>
          <a:p>
            <a:pPr marL="0" indent="0" algn="l">
              <a:lnSpc>
                <a:spcPct val="104000"/>
              </a:lnSpc>
              <a:buNone/>
            </a:pPr>
            <a:r>
              <a:rPr lang="en-US" sz="2150">
                <a:solidFill>
                  <a:srgbClr val="3257B8"/>
                </a:solidFill>
                <a:latin typeface="Roboto Slab" pitchFamily="34" charset="0"/>
                <a:ea typeface="Roboto Slab" pitchFamily="34" charset="-122"/>
                <a:cs typeface="Roboto Slab" pitchFamily="34" charset="-120"/>
              </a:rPr>
              <a:t>CTC to Funded — Closing Flow</a:t>
            </a:r>
            <a:endParaRPr lang="en-US" sz="2150"/>
          </a:p>
        </p:txBody>
      </p:sp>
      <p:pic>
        <p:nvPicPr>
          <p:cNvPr id="4" name="Image 1" descr="preencoded.png"/>
          <p:cNvPicPr>
            <a:picLocks noChangeAspect="1"/>
          </p:cNvPicPr>
          <p:nvPr/>
        </p:nvPicPr>
        <p:blipFill>
          <a:blip r:embed="rId4"/>
          <a:stretch>
            <a:fillRect/>
          </a:stretch>
        </p:blipFill>
        <p:spPr>
          <a:xfrm>
            <a:off x="496119" y="838051"/>
            <a:ext cx="4722763" cy="2039913"/>
          </a:xfrm>
          <a:prstGeom prst="rect">
            <a:avLst/>
          </a:prstGeom>
        </p:spPr>
      </p:pic>
      <p:sp>
        <p:nvSpPr>
          <p:cNvPr id="5" name="Text 1"/>
          <p:cNvSpPr/>
          <p:nvPr/>
        </p:nvSpPr>
        <p:spPr>
          <a:xfrm>
            <a:off x="1623126" y="2111670"/>
            <a:ext cx="701226" cy="255430"/>
          </a:xfrm>
          <a:prstGeom prst="rect">
            <a:avLst/>
          </a:prstGeom>
          <a:noFill/>
          <a:ln/>
        </p:spPr>
        <p:txBody>
          <a:bodyPr wrap="square" lIns="0" tIns="0" rIns="0" bIns="0" rtlCol="0" anchor="t">
            <a:normAutofit/>
          </a:bodyPr>
          <a:lstStyle/>
          <a:p>
            <a:pPr marL="0" indent="0" algn="ctr">
              <a:lnSpc>
                <a:spcPct val="104000"/>
              </a:lnSpc>
              <a:buNone/>
            </a:pPr>
            <a:r>
              <a:rPr lang="en-US" sz="800">
                <a:solidFill>
                  <a:srgbClr val="15213F"/>
                </a:solidFill>
                <a:latin typeface="Roboto Slab" pitchFamily="34" charset="0"/>
                <a:ea typeface="Roboto Slab" pitchFamily="34" charset="-122"/>
                <a:cs typeface="Roboto Slab" pitchFamily="34" charset="-120"/>
              </a:rPr>
              <a:t>Fee Verification</a:t>
            </a:r>
            <a:endParaRPr lang="en-US" sz="800"/>
          </a:p>
        </p:txBody>
      </p:sp>
      <p:sp>
        <p:nvSpPr>
          <p:cNvPr id="6" name="Text 2"/>
          <p:cNvSpPr/>
          <p:nvPr/>
        </p:nvSpPr>
        <p:spPr>
          <a:xfrm>
            <a:off x="1623126" y="2403428"/>
            <a:ext cx="701226" cy="289700"/>
          </a:xfrm>
          <a:prstGeom prst="rect">
            <a:avLst/>
          </a:prstGeom>
          <a:noFill/>
          <a:ln/>
        </p:spPr>
        <p:txBody>
          <a:bodyPr wrap="square" lIns="0" tIns="0" rIns="0" bIns="0" rtlCol="0" anchor="t">
            <a:normAutofit/>
          </a:bodyPr>
          <a:lstStyle/>
          <a:p>
            <a:pPr marL="0" indent="0" algn="ctr">
              <a:lnSpc>
                <a:spcPct val="98000"/>
              </a:lnSpc>
              <a:buNone/>
            </a:pPr>
            <a:r>
              <a:rPr lang="en-US" sz="600">
                <a:solidFill>
                  <a:srgbClr val="15213F"/>
                </a:solidFill>
                <a:latin typeface="Roboto" pitchFamily="34" charset="0"/>
                <a:ea typeface="Roboto" pitchFamily="34" charset="-122"/>
                <a:cs typeface="Roboto" pitchFamily="34" charset="-120"/>
              </a:rPr>
              <a:t>Reconcile fees; confirm Cash to Close</a:t>
            </a:r>
            <a:endParaRPr lang="en-US" sz="600"/>
          </a:p>
        </p:txBody>
      </p:sp>
      <p:sp>
        <p:nvSpPr>
          <p:cNvPr id="7" name="Text 3"/>
          <p:cNvSpPr/>
          <p:nvPr/>
        </p:nvSpPr>
        <p:spPr>
          <a:xfrm>
            <a:off x="3423694" y="2111670"/>
            <a:ext cx="701226" cy="255430"/>
          </a:xfrm>
          <a:prstGeom prst="rect">
            <a:avLst/>
          </a:prstGeom>
          <a:noFill/>
          <a:ln/>
        </p:spPr>
        <p:txBody>
          <a:bodyPr wrap="square" lIns="0" tIns="0" rIns="0" bIns="0" rtlCol="0" anchor="t">
            <a:normAutofit/>
          </a:bodyPr>
          <a:lstStyle/>
          <a:p>
            <a:pPr marL="0" indent="0" algn="ctr">
              <a:lnSpc>
                <a:spcPct val="104000"/>
              </a:lnSpc>
              <a:buNone/>
            </a:pPr>
            <a:r>
              <a:rPr lang="en-US" sz="800">
                <a:solidFill>
                  <a:srgbClr val="3257B8"/>
                </a:solidFill>
                <a:latin typeface="Roboto Slab" pitchFamily="34" charset="0"/>
                <a:ea typeface="Roboto Slab" pitchFamily="34" charset="-122"/>
                <a:cs typeface="Roboto Slab" pitchFamily="34" charset="-120"/>
              </a:rPr>
              <a:t>Document Draw</a:t>
            </a:r>
            <a:endParaRPr lang="en-US" sz="800"/>
          </a:p>
        </p:txBody>
      </p:sp>
      <p:sp>
        <p:nvSpPr>
          <p:cNvPr id="8" name="Text 4"/>
          <p:cNvSpPr/>
          <p:nvPr/>
        </p:nvSpPr>
        <p:spPr>
          <a:xfrm>
            <a:off x="3423694" y="2403428"/>
            <a:ext cx="701226" cy="289700"/>
          </a:xfrm>
          <a:prstGeom prst="rect">
            <a:avLst/>
          </a:prstGeom>
          <a:noFill/>
          <a:ln/>
        </p:spPr>
        <p:txBody>
          <a:bodyPr wrap="square" lIns="0" tIns="0" rIns="0" bIns="0" rtlCol="0" anchor="t">
            <a:normAutofit/>
          </a:bodyPr>
          <a:lstStyle/>
          <a:p>
            <a:pPr marL="0" indent="0" algn="ctr">
              <a:lnSpc>
                <a:spcPct val="98000"/>
              </a:lnSpc>
              <a:buNone/>
            </a:pPr>
            <a:r>
              <a:rPr lang="en-US" sz="600">
                <a:solidFill>
                  <a:srgbClr val="15213F"/>
                </a:solidFill>
                <a:latin typeface="Roboto" pitchFamily="34" charset="0"/>
                <a:ea typeface="Roboto" pitchFamily="34" charset="-122"/>
                <a:cs typeface="Roboto" pitchFamily="34" charset="-120"/>
              </a:rPr>
              <a:t>Generate docs per LOS Guide Byte Doc Drawer</a:t>
            </a:r>
            <a:endParaRPr lang="en-US" sz="600"/>
          </a:p>
        </p:txBody>
      </p:sp>
      <p:sp>
        <p:nvSpPr>
          <p:cNvPr id="9" name="Text 5"/>
          <p:cNvSpPr/>
          <p:nvPr/>
        </p:nvSpPr>
        <p:spPr>
          <a:xfrm>
            <a:off x="725077" y="1022120"/>
            <a:ext cx="701226" cy="127715"/>
          </a:xfrm>
          <a:prstGeom prst="rect">
            <a:avLst/>
          </a:prstGeom>
          <a:noFill/>
          <a:ln/>
        </p:spPr>
        <p:txBody>
          <a:bodyPr wrap="none" lIns="0" tIns="0" rIns="0" bIns="0" rtlCol="0" anchor="t"/>
          <a:lstStyle/>
          <a:p>
            <a:pPr marL="0" indent="0" algn="ctr">
              <a:lnSpc>
                <a:spcPct val="104000"/>
              </a:lnSpc>
              <a:buNone/>
            </a:pPr>
            <a:r>
              <a:rPr lang="en-US" sz="800">
                <a:solidFill>
                  <a:srgbClr val="15213F"/>
                </a:solidFill>
                <a:latin typeface="Roboto Slab" pitchFamily="34" charset="0"/>
                <a:ea typeface="Roboto Slab" pitchFamily="34" charset="-122"/>
                <a:cs typeface="Roboto Slab" pitchFamily="34" charset="-120"/>
              </a:rPr>
              <a:t>CTC Issued</a:t>
            </a:r>
            <a:endParaRPr lang="en-US" sz="800"/>
          </a:p>
        </p:txBody>
      </p:sp>
      <p:sp>
        <p:nvSpPr>
          <p:cNvPr id="10" name="Text 6"/>
          <p:cNvSpPr/>
          <p:nvPr/>
        </p:nvSpPr>
        <p:spPr>
          <a:xfrm>
            <a:off x="725077" y="1186163"/>
            <a:ext cx="701226" cy="193133"/>
          </a:xfrm>
          <a:prstGeom prst="rect">
            <a:avLst/>
          </a:prstGeom>
          <a:noFill/>
          <a:ln/>
        </p:spPr>
        <p:txBody>
          <a:bodyPr wrap="square" lIns="0" tIns="0" rIns="0" bIns="0" rtlCol="0" anchor="t">
            <a:normAutofit/>
          </a:bodyPr>
          <a:lstStyle/>
          <a:p>
            <a:pPr marL="0" indent="0" algn="ctr">
              <a:lnSpc>
                <a:spcPct val="98000"/>
              </a:lnSpc>
              <a:buNone/>
            </a:pPr>
            <a:r>
              <a:rPr lang="en-US" sz="600">
                <a:solidFill>
                  <a:srgbClr val="15213F"/>
                </a:solidFill>
                <a:latin typeface="Roboto" pitchFamily="34" charset="0"/>
                <a:ea typeface="Roboto" pitchFamily="34" charset="-122"/>
                <a:cs typeface="Roboto" pitchFamily="34" charset="-120"/>
              </a:rPr>
              <a:t>AM &amp; Underwriter notify Broker/AE</a:t>
            </a:r>
            <a:endParaRPr lang="en-US" sz="600"/>
          </a:p>
        </p:txBody>
      </p:sp>
      <p:sp>
        <p:nvSpPr>
          <p:cNvPr id="11" name="Text 7"/>
          <p:cNvSpPr/>
          <p:nvPr/>
        </p:nvSpPr>
        <p:spPr>
          <a:xfrm>
            <a:off x="4294994" y="1022120"/>
            <a:ext cx="701226" cy="255430"/>
          </a:xfrm>
          <a:prstGeom prst="rect">
            <a:avLst/>
          </a:prstGeom>
          <a:noFill/>
          <a:ln/>
        </p:spPr>
        <p:txBody>
          <a:bodyPr wrap="square" lIns="0" tIns="0" rIns="0" bIns="0" rtlCol="0" anchor="t">
            <a:normAutofit/>
          </a:bodyPr>
          <a:lstStyle/>
          <a:p>
            <a:pPr marL="0" indent="0" algn="ctr">
              <a:lnSpc>
                <a:spcPct val="104000"/>
              </a:lnSpc>
              <a:buNone/>
            </a:pPr>
            <a:r>
              <a:rPr lang="en-US" sz="800">
                <a:solidFill>
                  <a:srgbClr val="15213F"/>
                </a:solidFill>
                <a:latin typeface="Roboto Slab" pitchFamily="34" charset="0"/>
                <a:ea typeface="Roboto Slab" pitchFamily="34" charset="-122"/>
                <a:cs typeface="Roboto Slab" pitchFamily="34" charset="-120"/>
              </a:rPr>
              <a:t>Funding Authorization</a:t>
            </a:r>
            <a:endParaRPr lang="en-US" sz="800"/>
          </a:p>
        </p:txBody>
      </p:sp>
      <p:sp>
        <p:nvSpPr>
          <p:cNvPr id="12" name="Text 8"/>
          <p:cNvSpPr/>
          <p:nvPr/>
        </p:nvSpPr>
        <p:spPr>
          <a:xfrm>
            <a:off x="4294994" y="1313878"/>
            <a:ext cx="701226" cy="289700"/>
          </a:xfrm>
          <a:prstGeom prst="rect">
            <a:avLst/>
          </a:prstGeom>
          <a:noFill/>
          <a:ln/>
        </p:spPr>
        <p:txBody>
          <a:bodyPr wrap="square" lIns="0" tIns="0" rIns="0" bIns="0" rtlCol="0" anchor="t">
            <a:normAutofit/>
          </a:bodyPr>
          <a:lstStyle/>
          <a:p>
            <a:pPr marL="0" indent="0" algn="ctr">
              <a:lnSpc>
                <a:spcPct val="98000"/>
              </a:lnSpc>
              <a:buNone/>
            </a:pPr>
            <a:r>
              <a:rPr lang="en-US" sz="600">
                <a:solidFill>
                  <a:srgbClr val="15213F"/>
                </a:solidFill>
                <a:latin typeface="Roboto" pitchFamily="34" charset="0"/>
                <a:ea typeface="Roboto" pitchFamily="34" charset="-122"/>
                <a:cs typeface="Roboto" pitchFamily="34" charset="-120"/>
              </a:rPr>
              <a:t>Verify signed scans, label &amp; authorize wire</a:t>
            </a:r>
            <a:endParaRPr lang="en-US" sz="600"/>
          </a:p>
        </p:txBody>
      </p:sp>
      <p:sp>
        <p:nvSpPr>
          <p:cNvPr id="13" name="Text 9"/>
          <p:cNvSpPr/>
          <p:nvPr/>
        </p:nvSpPr>
        <p:spPr>
          <a:xfrm>
            <a:off x="2534585" y="1022120"/>
            <a:ext cx="701226" cy="255430"/>
          </a:xfrm>
          <a:prstGeom prst="rect">
            <a:avLst/>
          </a:prstGeom>
          <a:noFill/>
          <a:ln/>
        </p:spPr>
        <p:txBody>
          <a:bodyPr wrap="square" lIns="0" tIns="0" rIns="0" bIns="0" rtlCol="0" anchor="t">
            <a:normAutofit/>
          </a:bodyPr>
          <a:lstStyle/>
          <a:p>
            <a:pPr marL="0" indent="0" algn="ctr">
              <a:lnSpc>
                <a:spcPct val="104000"/>
              </a:lnSpc>
              <a:buNone/>
            </a:pPr>
            <a:r>
              <a:rPr lang="en-US" sz="800">
                <a:solidFill>
                  <a:srgbClr val="3257B8"/>
                </a:solidFill>
                <a:latin typeface="Roboto Slab" pitchFamily="34" charset="0"/>
                <a:ea typeface="Roboto Slab" pitchFamily="34" charset="-122"/>
                <a:cs typeface="Roboto Slab" pitchFamily="34" charset="-120"/>
              </a:rPr>
              <a:t>DataVerify Final</a:t>
            </a:r>
            <a:endParaRPr lang="en-US" sz="800"/>
          </a:p>
        </p:txBody>
      </p:sp>
      <p:sp>
        <p:nvSpPr>
          <p:cNvPr id="14" name="Text 10"/>
          <p:cNvSpPr/>
          <p:nvPr/>
        </p:nvSpPr>
        <p:spPr>
          <a:xfrm>
            <a:off x="2534585" y="1313878"/>
            <a:ext cx="701226" cy="289700"/>
          </a:xfrm>
          <a:prstGeom prst="rect">
            <a:avLst/>
          </a:prstGeom>
          <a:noFill/>
          <a:ln/>
        </p:spPr>
        <p:txBody>
          <a:bodyPr wrap="square" lIns="0" tIns="0" rIns="0" bIns="0" rtlCol="0" anchor="t">
            <a:normAutofit/>
          </a:bodyPr>
          <a:lstStyle/>
          <a:p>
            <a:pPr marL="0" indent="0" algn="ctr">
              <a:lnSpc>
                <a:spcPct val="98000"/>
              </a:lnSpc>
              <a:buNone/>
            </a:pPr>
            <a:r>
              <a:rPr lang="en-US" sz="600">
                <a:solidFill>
                  <a:srgbClr val="15213F"/>
                </a:solidFill>
                <a:latin typeface="Roboto" pitchFamily="34" charset="0"/>
                <a:ea typeface="Roboto" pitchFamily="34" charset="-122"/>
                <a:cs typeface="Roboto" pitchFamily="34" charset="-120"/>
              </a:rPr>
              <a:t>Confirm no findings with final parties</a:t>
            </a:r>
            <a:endParaRPr lang="en-US" sz="600"/>
          </a:p>
        </p:txBody>
      </p:sp>
      <p:sp>
        <p:nvSpPr>
          <p:cNvPr id="15" name="Text 11"/>
          <p:cNvSpPr/>
          <p:nvPr/>
        </p:nvSpPr>
        <p:spPr>
          <a:xfrm>
            <a:off x="2858318" y="3086993"/>
            <a:ext cx="3407675" cy="172641"/>
          </a:xfrm>
          <a:prstGeom prst="rect">
            <a:avLst/>
          </a:prstGeom>
          <a:noFill/>
          <a:ln/>
        </p:spPr>
        <p:txBody>
          <a:bodyPr wrap="none" lIns="0" tIns="0" rIns="0" bIns="0" rtlCol="0" anchor="t"/>
          <a:lstStyle/>
          <a:p>
            <a:pPr marL="0" indent="0" algn="l">
              <a:lnSpc>
                <a:spcPct val="104000"/>
              </a:lnSpc>
              <a:buNone/>
            </a:pPr>
            <a:r>
              <a:rPr lang="en-US" sz="1050">
                <a:solidFill>
                  <a:srgbClr val="3257B8"/>
                </a:solidFill>
                <a:latin typeface="Roboto Slab" pitchFamily="34" charset="0"/>
                <a:ea typeface="Roboto Slab" pitchFamily="34" charset="-122"/>
                <a:cs typeface="Roboto Slab" pitchFamily="34" charset="-120"/>
              </a:rPr>
              <a:t>Wet States — Wire Protocol</a:t>
            </a:r>
            <a:endParaRPr lang="en-US" sz="1050"/>
          </a:p>
        </p:txBody>
      </p:sp>
      <p:sp>
        <p:nvSpPr>
          <p:cNvPr id="16" name="Text 12"/>
          <p:cNvSpPr/>
          <p:nvPr/>
        </p:nvSpPr>
        <p:spPr>
          <a:xfrm>
            <a:off x="2901863" y="3358009"/>
            <a:ext cx="2221174" cy="1405830"/>
          </a:xfrm>
          <a:prstGeom prst="rect">
            <a:avLst/>
          </a:prstGeom>
          <a:noFill/>
          <a:ln/>
        </p:spPr>
        <p:txBody>
          <a:bodyPr wrap="square" lIns="0" tIns="0" rIns="0" bIns="0" rtlCol="0" anchor="t">
            <a:normAutofit/>
          </a:bodyPr>
          <a:lstStyle/>
          <a:p>
            <a:pPr marL="342900" indent="-342900" algn="l">
              <a:lnSpc>
                <a:spcPct val="126000"/>
              </a:lnSpc>
              <a:buSzPct val="100000"/>
              <a:buChar char="•"/>
            </a:pPr>
            <a:r>
              <a:rPr lang="en-US" sz="850">
                <a:solidFill>
                  <a:srgbClr val="15213F"/>
                </a:solidFill>
                <a:latin typeface="Roboto" pitchFamily="34" charset="0"/>
                <a:ea typeface="Roboto" pitchFamily="34" charset="-122"/>
                <a:cs typeface="Roboto" pitchFamily="34" charset="-120"/>
              </a:rPr>
              <a:t>Wires ordered for Wet States and </a:t>
            </a:r>
            <a:r>
              <a:rPr lang="en-US" sz="850" b="1">
                <a:solidFill>
                  <a:srgbClr val="15213F"/>
                </a:solidFill>
                <a:latin typeface="Roboto" pitchFamily="34" charset="0"/>
                <a:ea typeface="Roboto" pitchFamily="34" charset="-122"/>
                <a:cs typeface="Roboto" pitchFamily="34" charset="-120"/>
              </a:rPr>
              <a:t>delivered with documents</a:t>
            </a:r>
            <a:endParaRPr lang="en-US" sz="850"/>
          </a:p>
          <a:p>
            <a:pPr marL="342900" indent="-342900" algn="l">
              <a:lnSpc>
                <a:spcPct val="126000"/>
              </a:lnSpc>
              <a:buSzPct val="100000"/>
              <a:buChar char="•"/>
            </a:pPr>
            <a:r>
              <a:rPr lang="en-US" sz="850">
                <a:solidFill>
                  <a:srgbClr val="15213F"/>
                </a:solidFill>
                <a:latin typeface="Roboto" pitchFamily="34" charset="0"/>
                <a:ea typeface="Roboto" pitchFamily="34" charset="-122"/>
                <a:cs typeface="Roboto" pitchFamily="34" charset="-120"/>
              </a:rPr>
              <a:t>Funding authorization released upon receipt of scanned signed documents </a:t>
            </a:r>
            <a:r>
              <a:rPr lang="en-US" sz="850" b="1">
                <a:solidFill>
                  <a:srgbClr val="15213F"/>
                </a:solidFill>
                <a:latin typeface="Roboto" pitchFamily="34" charset="0"/>
                <a:ea typeface="Roboto" pitchFamily="34" charset="-122"/>
                <a:cs typeface="Roboto" pitchFamily="34" charset="-120"/>
              </a:rPr>
              <a:t>and</a:t>
            </a:r>
            <a:r>
              <a:rPr lang="en-US" sz="850">
                <a:solidFill>
                  <a:srgbClr val="15213F"/>
                </a:solidFill>
                <a:latin typeface="Roboto" pitchFamily="34" charset="0"/>
                <a:ea typeface="Roboto" pitchFamily="34" charset="-122"/>
                <a:cs typeface="Roboto" pitchFamily="34" charset="-120"/>
              </a:rPr>
              <a:t> tracking number</a:t>
            </a:r>
            <a:endParaRPr lang="en-US" sz="850"/>
          </a:p>
          <a:p>
            <a:pPr marL="342900" indent="-342900">
              <a:lnSpc>
                <a:spcPct val="126000"/>
              </a:lnSpc>
              <a:buSzPct val="100000"/>
              <a:buChar char="•"/>
            </a:pPr>
            <a:r>
              <a:rPr lang="en-US" sz="850">
                <a:solidFill>
                  <a:srgbClr val="15213F"/>
                </a:solidFill>
                <a:latin typeface="Roboto"/>
                <a:ea typeface="Roboto"/>
                <a:cs typeface="Roboto"/>
              </a:rPr>
              <a:t>Verify correct Acra Lending address for collateral receipt before authorizing shipment</a:t>
            </a:r>
            <a:endParaRPr lang="en-US" sz="850">
              <a:latin typeface="Roboto"/>
              <a:ea typeface="Roboto"/>
              <a:cs typeface="Roboto"/>
            </a:endParaRPr>
          </a:p>
        </p:txBody>
      </p:sp>
      <p:sp>
        <p:nvSpPr>
          <p:cNvPr id="17" name="Text 13"/>
          <p:cNvSpPr/>
          <p:nvPr/>
        </p:nvSpPr>
        <p:spPr>
          <a:xfrm>
            <a:off x="558626" y="3086993"/>
            <a:ext cx="2304604" cy="172641"/>
          </a:xfrm>
          <a:prstGeom prst="rect">
            <a:avLst/>
          </a:prstGeom>
          <a:noFill/>
          <a:ln/>
        </p:spPr>
        <p:txBody>
          <a:bodyPr wrap="none" lIns="0" tIns="0" rIns="0" bIns="0" rtlCol="0" anchor="t"/>
          <a:lstStyle/>
          <a:p>
            <a:pPr marL="0" indent="0" algn="l">
              <a:lnSpc>
                <a:spcPct val="104000"/>
              </a:lnSpc>
              <a:buNone/>
            </a:pPr>
            <a:r>
              <a:rPr lang="en-US" sz="1050">
                <a:solidFill>
                  <a:srgbClr val="3257B8"/>
                </a:solidFill>
                <a:latin typeface="Roboto Slab" pitchFamily="34" charset="0"/>
                <a:ea typeface="Roboto Slab" pitchFamily="34" charset="-122"/>
                <a:cs typeface="Roboto Slab" pitchFamily="34" charset="-120"/>
              </a:rPr>
              <a:t>Fee &amp; Document Verification</a:t>
            </a:r>
            <a:endParaRPr lang="en-US" sz="1050"/>
          </a:p>
        </p:txBody>
      </p:sp>
      <p:sp>
        <p:nvSpPr>
          <p:cNvPr id="18" name="Text 14"/>
          <p:cNvSpPr/>
          <p:nvPr/>
        </p:nvSpPr>
        <p:spPr>
          <a:xfrm>
            <a:off x="504199" y="3358009"/>
            <a:ext cx="1965360" cy="1405830"/>
          </a:xfrm>
          <a:prstGeom prst="rect">
            <a:avLst/>
          </a:prstGeom>
          <a:noFill/>
          <a:ln/>
        </p:spPr>
        <p:txBody>
          <a:bodyPr wrap="square" lIns="0" tIns="0" rIns="0" bIns="0" rtlCol="0" anchor="t">
            <a:normAutofit fontScale="92500"/>
          </a:bodyPr>
          <a:lstStyle/>
          <a:p>
            <a:pPr marL="342900" indent="-342900" algn="l">
              <a:lnSpc>
                <a:spcPct val="126000"/>
              </a:lnSpc>
              <a:buSzPct val="100000"/>
              <a:buChar char="•"/>
            </a:pPr>
            <a:r>
              <a:rPr lang="en-US" sz="850">
                <a:solidFill>
                  <a:srgbClr val="15213F"/>
                </a:solidFill>
                <a:latin typeface="Roboto" pitchFamily="34" charset="0"/>
                <a:ea typeface="Roboto" pitchFamily="34" charset="-122"/>
                <a:cs typeface="Roboto" pitchFamily="34" charset="-120"/>
              </a:rPr>
              <a:t>Balance fees with Broker, Title, and Closing Agent; confirm Cash to Close matches underwriting approval</a:t>
            </a:r>
            <a:endParaRPr lang="en-US" sz="850"/>
          </a:p>
          <a:p>
            <a:pPr marL="342900" indent="-342900" algn="l">
              <a:lnSpc>
                <a:spcPct val="126000"/>
              </a:lnSpc>
              <a:buSzPct val="100000"/>
              <a:buChar char="•"/>
            </a:pPr>
            <a:r>
              <a:rPr lang="en-US" sz="850">
                <a:solidFill>
                  <a:srgbClr val="15213F"/>
                </a:solidFill>
                <a:latin typeface="Roboto" pitchFamily="34" charset="0"/>
                <a:ea typeface="Roboto" pitchFamily="34" charset="-122"/>
                <a:cs typeface="Roboto" pitchFamily="34" charset="-120"/>
              </a:rPr>
              <a:t>DataVerify final check: ensure no new findings introduced by final parties added at closing</a:t>
            </a:r>
            <a:endParaRPr lang="en-US" sz="850"/>
          </a:p>
          <a:p>
            <a:pPr marL="342900" indent="-342900" algn="l">
              <a:lnSpc>
                <a:spcPct val="126000"/>
              </a:lnSpc>
              <a:buSzPct val="100000"/>
              <a:buChar char="•"/>
            </a:pPr>
            <a:r>
              <a:rPr lang="en-US" sz="850">
                <a:solidFill>
                  <a:srgbClr val="15213F"/>
                </a:solidFill>
                <a:latin typeface="Roboto" pitchFamily="34" charset="0"/>
                <a:ea typeface="Roboto" pitchFamily="34" charset="-122"/>
                <a:cs typeface="Roboto" pitchFamily="34" charset="-120"/>
              </a:rPr>
              <a:t>Draw documents per </a:t>
            </a:r>
            <a:r>
              <a:rPr lang="en-US" sz="850" b="1">
                <a:solidFill>
                  <a:srgbClr val="15213F"/>
                </a:solidFill>
                <a:latin typeface="Roboto" pitchFamily="34" charset="0"/>
                <a:ea typeface="Roboto" pitchFamily="34" charset="-122"/>
                <a:cs typeface="Roboto" pitchFamily="34" charset="-120"/>
              </a:rPr>
              <a:t>LOS Guide – Byte Doc Drawer Commercial v2.0</a:t>
            </a:r>
            <a:endParaRPr lang="en-US" sz="8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96119" y="959048"/>
            <a:ext cx="669354"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996255"/>
            <a:ext cx="977726"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5</a:t>
            </a:r>
            <a:endParaRPr lang="en-US" sz="750"/>
          </a:p>
        </p:txBody>
      </p:sp>
      <p:sp>
        <p:nvSpPr>
          <p:cNvPr id="4" name="Text 2"/>
          <p:cNvSpPr/>
          <p:nvPr/>
        </p:nvSpPr>
        <p:spPr>
          <a:xfrm>
            <a:off x="496119" y="1241822"/>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System Upgrades</a:t>
            </a:r>
            <a:endParaRPr lang="en-US" sz="3350"/>
          </a:p>
        </p:txBody>
      </p:sp>
      <p:sp>
        <p:nvSpPr>
          <p:cNvPr id="5" name="Text 3"/>
          <p:cNvSpPr/>
          <p:nvPr/>
        </p:nvSpPr>
        <p:spPr>
          <a:xfrm>
            <a:off x="496119" y="1962745"/>
            <a:ext cx="3558332"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&amp; Process Changes</a:t>
            </a:r>
            <a:endParaRPr lang="en-US" sz="2400"/>
          </a:p>
        </p:txBody>
      </p:sp>
      <p:sp>
        <p:nvSpPr>
          <p:cNvPr id="6" name="Text 4"/>
          <p:cNvSpPr/>
          <p:nvPr/>
        </p:nvSpPr>
        <p:spPr>
          <a:xfrm>
            <a:off x="496119" y="2536329"/>
            <a:ext cx="8151763"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 suite of planned automations and process redesigns will reduce manual intervention, eliminate rework, and accelerate the pipeline at multiple stages. Time savings estimates are pending quantification with IT and Operations leadership.</a:t>
            </a:r>
            <a:endParaRPr lang="en-US" sz="950"/>
          </a:p>
        </p:txBody>
      </p:sp>
      <p:sp>
        <p:nvSpPr>
          <p:cNvPr id="7" name="Shape 5"/>
          <p:cNvSpPr/>
          <p:nvPr/>
        </p:nvSpPr>
        <p:spPr>
          <a:xfrm>
            <a:off x="496119" y="3072780"/>
            <a:ext cx="2634555" cy="1111597"/>
          </a:xfrm>
          <a:prstGeom prst="roundRect">
            <a:avLst>
              <a:gd name="adj" fmla="val 1674"/>
            </a:avLst>
          </a:prstGeom>
          <a:solidFill>
            <a:srgbClr val="E9ECF2"/>
          </a:solidFill>
          <a:ln/>
        </p:spPr>
        <p:txBody>
          <a:bodyPr/>
          <a:lstStyle/>
          <a:p>
            <a:endParaRPr lang="en-US"/>
          </a:p>
        </p:txBody>
      </p:sp>
      <p:sp>
        <p:nvSpPr>
          <p:cNvPr id="8" name="Text 6"/>
          <p:cNvSpPr/>
          <p:nvPr/>
        </p:nvSpPr>
        <p:spPr>
          <a:xfrm>
            <a:off x="620092"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Focus Area</a:t>
            </a:r>
            <a:endParaRPr lang="en-US" sz="1200"/>
          </a:p>
        </p:txBody>
      </p:sp>
      <p:sp>
        <p:nvSpPr>
          <p:cNvPr id="9" name="Text 7"/>
          <p:cNvSpPr/>
          <p:nvPr/>
        </p:nvSpPr>
        <p:spPr>
          <a:xfrm>
            <a:off x="620092" y="3465016"/>
            <a:ext cx="2386608"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Automation of manual assignment, date entry, fee calculation, and third-party ordering</a:t>
            </a:r>
            <a:endParaRPr lang="en-US" sz="950"/>
          </a:p>
        </p:txBody>
      </p:sp>
      <p:sp>
        <p:nvSpPr>
          <p:cNvPr id="10" name="Shape 8"/>
          <p:cNvSpPr/>
          <p:nvPr/>
        </p:nvSpPr>
        <p:spPr>
          <a:xfrm>
            <a:off x="3254648" y="3072780"/>
            <a:ext cx="2634630" cy="1111597"/>
          </a:xfrm>
          <a:prstGeom prst="roundRect">
            <a:avLst>
              <a:gd name="adj" fmla="val 1674"/>
            </a:avLst>
          </a:prstGeom>
          <a:solidFill>
            <a:srgbClr val="E9ECF2"/>
          </a:solidFill>
          <a:ln/>
        </p:spPr>
        <p:txBody>
          <a:bodyPr/>
          <a:lstStyle/>
          <a:p>
            <a:endParaRPr lang="en-US"/>
          </a:p>
        </p:txBody>
      </p:sp>
      <p:sp>
        <p:nvSpPr>
          <p:cNvPr id="11" name="Text 9"/>
          <p:cNvSpPr/>
          <p:nvPr/>
        </p:nvSpPr>
        <p:spPr>
          <a:xfrm>
            <a:off x="3378622"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Impact</a:t>
            </a:r>
            <a:endParaRPr lang="en-US" sz="1200"/>
          </a:p>
        </p:txBody>
      </p:sp>
      <p:sp>
        <p:nvSpPr>
          <p:cNvPr id="12" name="Text 10"/>
          <p:cNvSpPr/>
          <p:nvPr/>
        </p:nvSpPr>
        <p:spPr>
          <a:xfrm>
            <a:off x="3378622" y="3465016"/>
            <a:ext cx="2386682"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Reduced rework, fewer disclosure errors, and faster file advancement at intake</a:t>
            </a:r>
            <a:endParaRPr lang="en-US" sz="950"/>
          </a:p>
        </p:txBody>
      </p:sp>
      <p:sp>
        <p:nvSpPr>
          <p:cNvPr id="13" name="Shape 11"/>
          <p:cNvSpPr/>
          <p:nvPr/>
        </p:nvSpPr>
        <p:spPr>
          <a:xfrm>
            <a:off x="6013252" y="3072780"/>
            <a:ext cx="2634555" cy="1111597"/>
          </a:xfrm>
          <a:prstGeom prst="roundRect">
            <a:avLst>
              <a:gd name="adj" fmla="val 1674"/>
            </a:avLst>
          </a:prstGeom>
          <a:solidFill>
            <a:srgbClr val="E9ECF2"/>
          </a:solidFill>
          <a:ln/>
        </p:spPr>
        <p:txBody>
          <a:bodyPr/>
          <a:lstStyle/>
          <a:p>
            <a:endParaRPr lang="en-US"/>
          </a:p>
        </p:txBody>
      </p:sp>
      <p:sp>
        <p:nvSpPr>
          <p:cNvPr id="14" name="Text 12"/>
          <p:cNvSpPr/>
          <p:nvPr/>
        </p:nvSpPr>
        <p:spPr>
          <a:xfrm>
            <a:off x="6137225"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Status</a:t>
            </a:r>
            <a:endParaRPr lang="en-US" sz="1200"/>
          </a:p>
        </p:txBody>
      </p:sp>
      <p:sp>
        <p:nvSpPr>
          <p:cNvPr id="15" name="Text 13"/>
          <p:cNvSpPr/>
          <p:nvPr/>
        </p:nvSpPr>
        <p:spPr>
          <a:xfrm>
            <a:off x="6137225" y="3465016"/>
            <a:ext cx="2386608"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Time savings TBD — coordinate with IT and Operations before final rollout presentation</a:t>
            </a:r>
            <a:endParaRPr lang="en-US" sz="9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96119" y="587276"/>
            <a:ext cx="4810944"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Planned System Automations</a:t>
            </a:r>
            <a:endParaRPr lang="en-US" sz="2400"/>
          </a:p>
        </p:txBody>
      </p:sp>
      <p:pic>
        <p:nvPicPr>
          <p:cNvPr id="3" name="Image 0"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119" y="1222846"/>
            <a:ext cx="310083" cy="310083"/>
          </a:xfrm>
          <a:prstGeom prst="rect">
            <a:avLst/>
          </a:prstGeom>
        </p:spPr>
      </p:pic>
      <p:sp>
        <p:nvSpPr>
          <p:cNvPr id="4" name="Text 1"/>
          <p:cNvSpPr/>
          <p:nvPr/>
        </p:nvSpPr>
        <p:spPr>
          <a:xfrm>
            <a:off x="961206" y="1222846"/>
            <a:ext cx="2360191"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Auto-Assignment of Team Roles</a:t>
            </a:r>
            <a:endParaRPr lang="en-US" sz="1200"/>
          </a:p>
        </p:txBody>
      </p:sp>
      <p:sp>
        <p:nvSpPr>
          <p:cNvPr id="5" name="Text 2"/>
          <p:cNvSpPr/>
          <p:nvPr/>
        </p:nvSpPr>
        <p:spPr>
          <a:xfrm>
            <a:off x="961206" y="1491109"/>
            <a:ext cx="3533254" cy="793849"/>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System will automatically assign Asst. AM, AM, and AM Lead upon file receipt — mirroring existing Underwriting auto-assignment logic. Eliminates manual assignment delays and ensures no file sits unassigned at intake.</a:t>
            </a:r>
            <a:endParaRPr lang="en-US" sz="950"/>
          </a:p>
        </p:txBody>
      </p:sp>
      <p:pic>
        <p:nvPicPr>
          <p:cNvPr id="6" name="Image 1"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49465" y="1222846"/>
            <a:ext cx="310083" cy="310083"/>
          </a:xfrm>
          <a:prstGeom prst="rect">
            <a:avLst/>
          </a:prstGeom>
        </p:spPr>
      </p:pic>
      <p:sp>
        <p:nvSpPr>
          <p:cNvPr id="7" name="Text 3"/>
          <p:cNvSpPr/>
          <p:nvPr/>
        </p:nvSpPr>
        <p:spPr>
          <a:xfrm>
            <a:off x="5114553" y="1222846"/>
            <a:ext cx="2614613"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Automated Estimated Closing Dates</a:t>
            </a:r>
            <a:endParaRPr lang="en-US" sz="1200"/>
          </a:p>
        </p:txBody>
      </p:sp>
      <p:sp>
        <p:nvSpPr>
          <p:cNvPr id="8" name="Text 4"/>
          <p:cNvSpPr/>
          <p:nvPr/>
        </p:nvSpPr>
        <p:spPr>
          <a:xfrm>
            <a:off x="5114553" y="1491109"/>
            <a:ext cx="3533329" cy="793849"/>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Refinances default to </a:t>
            </a:r>
            <a:r>
              <a:rPr lang="en-US" sz="950" b="1">
                <a:solidFill>
                  <a:srgbClr val="15213F"/>
                </a:solidFill>
                <a:latin typeface="Roboto" pitchFamily="34" charset="0"/>
                <a:ea typeface="Roboto" pitchFamily="34" charset="-122"/>
                <a:cs typeface="Roboto" pitchFamily="34" charset="-120"/>
              </a:rPr>
              <a:t>30 days</a:t>
            </a:r>
            <a:r>
              <a:rPr lang="en-US" sz="950">
                <a:solidFill>
                  <a:srgbClr val="15213F"/>
                </a:solidFill>
                <a:latin typeface="Roboto" pitchFamily="34" charset="0"/>
                <a:ea typeface="Roboto" pitchFamily="34" charset="-122"/>
                <a:cs typeface="Roboto" pitchFamily="34" charset="-120"/>
              </a:rPr>
              <a:t> for all products; DSCR refinances default to </a:t>
            </a:r>
            <a:r>
              <a:rPr lang="en-US" sz="950" b="1">
                <a:solidFill>
                  <a:srgbClr val="15213F"/>
                </a:solidFill>
                <a:latin typeface="Roboto" pitchFamily="34" charset="0"/>
                <a:ea typeface="Roboto" pitchFamily="34" charset="-122"/>
                <a:cs typeface="Roboto" pitchFamily="34" charset="-120"/>
              </a:rPr>
              <a:t>20 days</a:t>
            </a:r>
            <a:r>
              <a:rPr lang="en-US" sz="950">
                <a:solidFill>
                  <a:srgbClr val="15213F"/>
                </a:solidFill>
                <a:latin typeface="Roboto" pitchFamily="34" charset="0"/>
                <a:ea typeface="Roboto" pitchFamily="34" charset="-122"/>
                <a:cs typeface="Roboto" pitchFamily="34" charset="-120"/>
              </a:rPr>
              <a:t> — no manual entry required at intake. Eliminates a common source of date-entry errors that misalign team SLAs.</a:t>
            </a:r>
            <a:endParaRPr lang="en-US" sz="950"/>
          </a:p>
        </p:txBody>
      </p:sp>
      <p:pic>
        <p:nvPicPr>
          <p:cNvPr id="9" name="Image 2"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6119" y="2532980"/>
            <a:ext cx="310083" cy="310083"/>
          </a:xfrm>
          <a:prstGeom prst="rect">
            <a:avLst/>
          </a:prstGeom>
        </p:spPr>
      </p:pic>
      <p:sp>
        <p:nvSpPr>
          <p:cNvPr id="10" name="Text 5"/>
          <p:cNvSpPr/>
          <p:nvPr/>
        </p:nvSpPr>
        <p:spPr>
          <a:xfrm>
            <a:off x="961206" y="2532980"/>
            <a:ext cx="2302371"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Automated PPP Fee Calculation</a:t>
            </a:r>
            <a:endParaRPr lang="en-US" sz="1200"/>
          </a:p>
        </p:txBody>
      </p:sp>
      <p:sp>
        <p:nvSpPr>
          <p:cNvPr id="11" name="Text 6"/>
          <p:cNvSpPr/>
          <p:nvPr/>
        </p:nvSpPr>
        <p:spPr>
          <a:xfrm>
            <a:off x="961206" y="2801243"/>
            <a:ext cx="3533254"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Prepayment Penalty fees automatically calculated and applied where applicable. Reduces manual review burden and potential fee disclosure errors in the closing package.</a:t>
            </a:r>
            <a:endParaRPr lang="en-US" sz="950"/>
          </a:p>
        </p:txBody>
      </p:sp>
      <p:pic>
        <p:nvPicPr>
          <p:cNvPr id="12" name="Image 3"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49465" y="2532980"/>
            <a:ext cx="310083" cy="310083"/>
          </a:xfrm>
          <a:prstGeom prst="rect">
            <a:avLst/>
          </a:prstGeom>
        </p:spPr>
      </p:pic>
      <p:sp>
        <p:nvSpPr>
          <p:cNvPr id="13" name="Text 7"/>
          <p:cNvSpPr/>
          <p:nvPr/>
        </p:nvSpPr>
        <p:spPr>
          <a:xfrm>
            <a:off x="5114553" y="2532980"/>
            <a:ext cx="2381027"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Automated Flood Certificate Pull</a:t>
            </a:r>
            <a:endParaRPr lang="en-US" sz="1200"/>
          </a:p>
        </p:txBody>
      </p:sp>
      <p:sp>
        <p:nvSpPr>
          <p:cNvPr id="14" name="Text 8"/>
          <p:cNvSpPr/>
          <p:nvPr/>
        </p:nvSpPr>
        <p:spPr>
          <a:xfrm>
            <a:off x="5114553" y="2801243"/>
            <a:ext cx="3533329" cy="793849"/>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Flood certs automatically ordered and pulled at intake — eliminates manual vendor ordering in the majority of cases. Manual follow-up task only created when the auto-pull does not return a result.</a:t>
            </a:r>
            <a:endParaRPr lang="en-US" sz="950"/>
          </a:p>
        </p:txBody>
      </p:sp>
      <p:sp>
        <p:nvSpPr>
          <p:cNvPr id="15" name="Shape 9"/>
          <p:cNvSpPr/>
          <p:nvPr/>
        </p:nvSpPr>
        <p:spPr>
          <a:xfrm>
            <a:off x="496119" y="3734619"/>
            <a:ext cx="8151763" cy="682079"/>
          </a:xfrm>
          <a:prstGeom prst="roundRect">
            <a:avLst>
              <a:gd name="adj" fmla="val 2728"/>
            </a:avLst>
          </a:prstGeom>
          <a:solidFill>
            <a:srgbClr val="FCF2B5"/>
          </a:solidFill>
          <a:ln/>
        </p:spPr>
        <p:txBody>
          <a:bodyPr/>
          <a:lstStyle/>
          <a:p>
            <a:endParaRPr lang="en-US"/>
          </a:p>
        </p:txBody>
      </p:sp>
      <p:pic>
        <p:nvPicPr>
          <p:cNvPr id="16" name="Image 4" descr="preencoded.png"/>
          <p:cNvPicPr>
            <a:picLocks noChangeAspect="1"/>
          </p:cNvPicPr>
          <p:nvPr/>
        </p:nvPicPr>
        <p:blipFill>
          <a:blip r:embed="rId12"/>
          <a:stretch>
            <a:fillRect/>
          </a:stretch>
        </p:blipFill>
        <p:spPr>
          <a:xfrm>
            <a:off x="620092" y="3914403"/>
            <a:ext cx="155004" cy="123974"/>
          </a:xfrm>
          <a:prstGeom prst="rect">
            <a:avLst/>
          </a:prstGeom>
        </p:spPr>
      </p:pic>
      <p:sp>
        <p:nvSpPr>
          <p:cNvPr id="17" name="Text 10"/>
          <p:cNvSpPr/>
          <p:nvPr/>
        </p:nvSpPr>
        <p:spPr>
          <a:xfrm>
            <a:off x="899071" y="3877196"/>
            <a:ext cx="7624837"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000000"/>
                </a:solidFill>
                <a:latin typeface="Roboto" pitchFamily="34" charset="0"/>
                <a:ea typeface="Roboto" pitchFamily="34" charset="-122"/>
                <a:cs typeface="Roboto" pitchFamily="34" charset="-120"/>
              </a:rPr>
              <a:t>⚠️ Time savings estimates for each automation item are </a:t>
            </a:r>
            <a:r>
              <a:rPr lang="en-US" sz="950" b="1">
                <a:solidFill>
                  <a:srgbClr val="000000"/>
                </a:solidFill>
                <a:latin typeface="Roboto" pitchFamily="34" charset="0"/>
                <a:ea typeface="Roboto" pitchFamily="34" charset="-122"/>
                <a:cs typeface="Roboto" pitchFamily="34" charset="-120"/>
              </a:rPr>
              <a:t>pending</a:t>
            </a:r>
            <a:r>
              <a:rPr lang="en-US" sz="950">
                <a:solidFill>
                  <a:srgbClr val="000000"/>
                </a:solidFill>
                <a:latin typeface="Roboto" pitchFamily="34" charset="0"/>
                <a:ea typeface="Roboto" pitchFamily="34" charset="-122"/>
                <a:cs typeface="Roboto" pitchFamily="34" charset="-120"/>
              </a:rPr>
              <a:t> — coordinate with IT and Operations leadership to quantify before final presentation to stakeholders.</a:t>
            </a:r>
            <a:endParaRPr lang="en-US" sz="950"/>
          </a:p>
        </p:txBody>
      </p:sp>
    </p:spTree>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96119" y="1006673"/>
            <a:ext cx="6065862"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Key Process Changes: What's Different</a:t>
            </a:r>
            <a:endParaRPr lang="en-US" sz="2400"/>
          </a:p>
        </p:txBody>
      </p:sp>
      <p:sp>
        <p:nvSpPr>
          <p:cNvPr id="3" name="Shape 1"/>
          <p:cNvSpPr/>
          <p:nvPr/>
        </p:nvSpPr>
        <p:spPr>
          <a:xfrm>
            <a:off x="406822" y="1580257"/>
            <a:ext cx="4103191" cy="2556570"/>
          </a:xfrm>
          <a:prstGeom prst="roundRect">
            <a:avLst>
              <a:gd name="adj" fmla="val 728"/>
            </a:avLst>
          </a:prstGeom>
          <a:solidFill>
            <a:srgbClr val="66A8EE"/>
          </a:solidFill>
          <a:ln/>
        </p:spPr>
        <p:txBody>
          <a:bodyPr/>
          <a:lstStyle/>
          <a:p>
            <a:endParaRPr lang="en-US"/>
          </a:p>
        </p:txBody>
      </p:sp>
      <p:sp>
        <p:nvSpPr>
          <p:cNvPr id="4" name="Text 2"/>
          <p:cNvSpPr/>
          <p:nvPr/>
        </p:nvSpPr>
        <p:spPr>
          <a:xfrm>
            <a:off x="530796" y="1704231"/>
            <a:ext cx="2304083" cy="193849"/>
          </a:xfrm>
          <a:prstGeom prst="rect">
            <a:avLst/>
          </a:prstGeom>
          <a:noFill/>
          <a:ln/>
        </p:spPr>
        <p:txBody>
          <a:bodyPr wrap="none" lIns="0" tIns="0" rIns="0" bIns="0" rtlCol="0" anchor="t"/>
          <a:lstStyle/>
          <a:p>
            <a:pPr marL="0" indent="0" algn="l">
              <a:lnSpc>
                <a:spcPct val="104000"/>
              </a:lnSpc>
              <a:buNone/>
            </a:pPr>
            <a:r>
              <a:rPr lang="en-US" sz="1200">
                <a:solidFill>
                  <a:srgbClr val="000000"/>
                </a:solidFill>
                <a:latin typeface="Roboto Slab" pitchFamily="34" charset="0"/>
                <a:ea typeface="Roboto Slab" pitchFamily="34" charset="-122"/>
                <a:cs typeface="Roboto Slab" pitchFamily="34" charset="-120"/>
              </a:rPr>
              <a:t>Eliminated Manual Steps</a:t>
            </a:r>
            <a:endParaRPr lang="en-US" sz="1200"/>
          </a:p>
        </p:txBody>
      </p:sp>
      <p:sp>
        <p:nvSpPr>
          <p:cNvPr id="5" name="Text 3"/>
          <p:cNvSpPr/>
          <p:nvPr/>
        </p:nvSpPr>
        <p:spPr>
          <a:xfrm>
            <a:off x="530796" y="2022053"/>
            <a:ext cx="3855244" cy="1872928"/>
          </a:xfrm>
          <a:prstGeom prst="rect">
            <a:avLst/>
          </a:prstGeom>
          <a:noFill/>
          <a:ln/>
        </p:spPr>
        <p:txBody>
          <a:bodyPr wrap="square" lIns="0" tIns="0" rIns="0" bIns="0" rtlCol="0" anchor="t">
            <a:normAutofit lnSpcReduction="10000"/>
          </a:bodyPr>
          <a:lstStyle/>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No 1003-to-Byte Comparison:</a:t>
            </a:r>
            <a:r>
              <a:rPr lang="en-US" sz="950">
                <a:solidFill>
                  <a:srgbClr val="15213F"/>
                </a:solidFill>
                <a:latin typeface="Roboto" pitchFamily="34" charset="0"/>
                <a:ea typeface="Roboto" pitchFamily="34" charset="-122"/>
                <a:cs typeface="Roboto" pitchFamily="34" charset="-120"/>
              </a:rPr>
              <a:t> All loan data flows directly from Glide into the system; manual comparison eliminated — significant source of rework and delay removed (Time savings TBD)</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Pricer Review — Exceptions Only:</a:t>
            </a:r>
            <a:r>
              <a:rPr lang="en-US" sz="950">
                <a:solidFill>
                  <a:srgbClr val="15213F"/>
                </a:solidFill>
                <a:latin typeface="Roboto" pitchFamily="34" charset="0"/>
                <a:ea typeface="Roboto" pitchFamily="34" charset="-122"/>
                <a:cs typeface="Roboto" pitchFamily="34" charset="-120"/>
              </a:rPr>
              <a:t> Standard pricing flows automatically; staff open pricer only when an exception exists and has been flagged (Time savings TBD)</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Setup Orders Credit Report:</a:t>
            </a:r>
            <a:r>
              <a:rPr lang="en-US" sz="950">
                <a:solidFill>
                  <a:srgbClr val="15213F"/>
                </a:solidFill>
                <a:latin typeface="Roboto" pitchFamily="34" charset="0"/>
                <a:ea typeface="Roboto" pitchFamily="34" charset="-122"/>
                <a:cs typeface="Roboto" pitchFamily="34" charset="-120"/>
              </a:rPr>
              <a:t> If broker does not submit a credit report, Setup orders a new report directly; permissible purpose must be confirmed prior to ordering (Time savings TBD)</a:t>
            </a:r>
            <a:endParaRPr lang="en-US" sz="950"/>
          </a:p>
        </p:txBody>
      </p:sp>
      <p:sp>
        <p:nvSpPr>
          <p:cNvPr id="6" name="Text 4"/>
          <p:cNvSpPr/>
          <p:nvPr/>
        </p:nvSpPr>
        <p:spPr>
          <a:xfrm>
            <a:off x="4728046" y="1704231"/>
            <a:ext cx="2181895" cy="193849"/>
          </a:xfrm>
          <a:prstGeom prst="rect">
            <a:avLst/>
          </a:prstGeom>
          <a:noFill/>
          <a:ln/>
        </p:spPr>
        <p:txBody>
          <a:bodyPr wrap="none" lIns="0" tIns="0" rIns="0" bIns="0" rtlCol="0" anchor="t"/>
          <a:lstStyle/>
          <a:p>
            <a:pPr marL="0" indent="0" algn="l">
              <a:lnSpc>
                <a:spcPct val="104000"/>
              </a:lnSpc>
              <a:buNone/>
            </a:pPr>
            <a:r>
              <a:rPr lang="en-US" sz="1200">
                <a:solidFill>
                  <a:srgbClr val="3257B8"/>
                </a:solidFill>
                <a:latin typeface="Roboto Slab" pitchFamily="34" charset="0"/>
                <a:ea typeface="Roboto Slab" pitchFamily="34" charset="-122"/>
                <a:cs typeface="Roboto Slab" pitchFamily="34" charset="-120"/>
              </a:rPr>
              <a:t>Policy &amp; Scope Changes</a:t>
            </a:r>
            <a:endParaRPr lang="en-US" sz="1200"/>
          </a:p>
        </p:txBody>
      </p:sp>
      <p:sp>
        <p:nvSpPr>
          <p:cNvPr id="7" name="Text 5"/>
          <p:cNvSpPr/>
          <p:nvPr/>
        </p:nvSpPr>
        <p:spPr>
          <a:xfrm>
            <a:off x="4728046" y="2022053"/>
            <a:ext cx="3924598" cy="2071390"/>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E-Consent for Commercial Loans:</a:t>
            </a:r>
            <a:r>
              <a:rPr lang="en-US" sz="950">
                <a:solidFill>
                  <a:srgbClr val="15213F"/>
                </a:solidFill>
                <a:latin typeface="Roboto" pitchFamily="34" charset="0"/>
                <a:ea typeface="Roboto" pitchFamily="34" charset="-122"/>
                <a:cs typeface="Roboto" pitchFamily="34" charset="-120"/>
              </a:rPr>
              <a:t> E-Consent can be conditioned if not received at Set Up; Loan Set Up adds condition prior to moving to Underwriting — file is not held</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REO Scope Reduction:</a:t>
            </a:r>
            <a:r>
              <a:rPr lang="en-US" sz="950">
                <a:solidFill>
                  <a:srgbClr val="15213F"/>
                </a:solidFill>
                <a:latin typeface="Roboto" pitchFamily="34" charset="0"/>
                <a:ea typeface="Roboto" pitchFamily="34" charset="-122"/>
                <a:cs typeface="Roboto" pitchFamily="34" charset="-120"/>
              </a:rPr>
              <a:t> Working to reduce full REO requirement to Primary plus subject property only — no DTI requirement means full REO and mortgage histories on REO properties are unnecessary (in progress — working with Kyle)</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DataVerify vs. Conditions:</a:t>
            </a:r>
            <a:r>
              <a:rPr lang="en-US" sz="950">
                <a:solidFill>
                  <a:srgbClr val="15213F"/>
                </a:solidFill>
                <a:latin typeface="Roboto" pitchFamily="34" charset="0"/>
                <a:ea typeface="Roboto" pitchFamily="34" charset="-122"/>
                <a:cs typeface="Roboto" pitchFamily="34" charset="-120"/>
              </a:rPr>
              <a:t> Use DataVerify report to confirm borrower residence, recent property transfers, and foreclosure history — reducing overall condition volume issued by Underwriting</a:t>
            </a:r>
            <a:endParaRPr lang="en-US" sz="950"/>
          </a:p>
        </p:txBody>
      </p:sp>
    </p:spTree>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5715000" y="0"/>
            <a:ext cx="3429000" cy="5143500"/>
          </a:xfrm>
          <a:prstGeom prst="rect">
            <a:avLst/>
          </a:prstGeom>
        </p:spPr>
      </p:pic>
      <p:sp>
        <p:nvSpPr>
          <p:cNvPr id="3" name="Text 0"/>
          <p:cNvSpPr/>
          <p:nvPr/>
        </p:nvSpPr>
        <p:spPr>
          <a:xfrm>
            <a:off x="496119" y="376833"/>
            <a:ext cx="4722763" cy="629841"/>
          </a:xfrm>
          <a:prstGeom prst="rect">
            <a:avLst/>
          </a:prstGeom>
          <a:noFill/>
          <a:ln/>
        </p:spPr>
        <p:txBody>
          <a:bodyPr wrap="square" lIns="0" tIns="0" rIns="0" bIns="0" rtlCol="0" anchor="t">
            <a:normAutofit/>
          </a:bodyPr>
          <a:lstStyle/>
          <a:p>
            <a:pPr marL="0" indent="0" algn="l">
              <a:lnSpc>
                <a:spcPct val="104000"/>
              </a:lnSpc>
              <a:buNone/>
            </a:pPr>
            <a:r>
              <a:rPr lang="en-US" sz="1950">
                <a:solidFill>
                  <a:srgbClr val="3257B8"/>
                </a:solidFill>
                <a:latin typeface="Roboto Slab" pitchFamily="34" charset="0"/>
                <a:ea typeface="Roboto Slab" pitchFamily="34" charset="-122"/>
                <a:cs typeface="Roboto Slab" pitchFamily="34" charset="-120"/>
              </a:rPr>
              <a:t>Process Summary: Roles, Timelines &amp; Ownership</a:t>
            </a:r>
            <a:endParaRPr lang="en-US" sz="1950"/>
          </a:p>
        </p:txBody>
      </p:sp>
      <p:sp>
        <p:nvSpPr>
          <p:cNvPr id="4" name="Text 1"/>
          <p:cNvSpPr/>
          <p:nvPr/>
        </p:nvSpPr>
        <p:spPr>
          <a:xfrm>
            <a:off x="496119" y="1129457"/>
            <a:ext cx="4722763"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All five roles operate under defined SLAs with documented handoff triggers. No stage advances without the prior stage's completion criteria being met.</a:t>
            </a:r>
            <a:endParaRPr lang="en-US" sz="750"/>
          </a:p>
        </p:txBody>
      </p:sp>
      <p:sp>
        <p:nvSpPr>
          <p:cNvPr id="5" name="Shape 2"/>
          <p:cNvSpPr/>
          <p:nvPr/>
        </p:nvSpPr>
        <p:spPr>
          <a:xfrm>
            <a:off x="496119" y="1513731"/>
            <a:ext cx="4722763" cy="2578819"/>
          </a:xfrm>
          <a:prstGeom prst="roundRect">
            <a:avLst>
              <a:gd name="adj" fmla="val 586"/>
            </a:avLst>
          </a:prstGeom>
          <a:noFill/>
          <a:ln w="4763">
            <a:solidFill>
              <a:srgbClr val="000000">
                <a:alpha val="8000"/>
              </a:srgbClr>
            </a:solidFill>
            <a:prstDash val="solid"/>
          </a:ln>
        </p:spPr>
        <p:txBody>
          <a:bodyPr/>
          <a:lstStyle/>
          <a:p>
            <a:endParaRPr lang="en-US"/>
          </a:p>
        </p:txBody>
      </p:sp>
      <p:sp>
        <p:nvSpPr>
          <p:cNvPr id="6" name="Shape 3"/>
          <p:cNvSpPr/>
          <p:nvPr/>
        </p:nvSpPr>
        <p:spPr>
          <a:xfrm>
            <a:off x="501030" y="1518493"/>
            <a:ext cx="848320" cy="256208"/>
          </a:xfrm>
          <a:prstGeom prst="rect">
            <a:avLst/>
          </a:prstGeom>
          <a:solidFill>
            <a:srgbClr val="66A8EE"/>
          </a:solidFill>
          <a:ln/>
        </p:spPr>
        <p:txBody>
          <a:bodyPr/>
          <a:lstStyle/>
          <a:p>
            <a:endParaRPr lang="en-US"/>
          </a:p>
        </p:txBody>
      </p:sp>
      <p:sp>
        <p:nvSpPr>
          <p:cNvPr id="7" name="Text 4"/>
          <p:cNvSpPr/>
          <p:nvPr/>
        </p:nvSpPr>
        <p:spPr>
          <a:xfrm>
            <a:off x="601787" y="1572369"/>
            <a:ext cx="1104007" cy="146075"/>
          </a:xfrm>
          <a:prstGeom prst="rect">
            <a:avLst/>
          </a:prstGeom>
          <a:noFill/>
          <a:ln/>
        </p:spPr>
        <p:txBody>
          <a:bodyPr wrap="none" lIns="0" tIns="0" rIns="0" bIns="0" rtlCol="0" anchor="t"/>
          <a:lstStyle/>
          <a:p>
            <a:pPr marL="0" indent="0" algn="l">
              <a:lnSpc>
                <a:spcPct val="121000"/>
              </a:lnSpc>
              <a:buNone/>
            </a:pPr>
            <a:r>
              <a:rPr lang="en-US" sz="750" b="1">
                <a:solidFill>
                  <a:srgbClr val="272525"/>
                </a:solidFill>
                <a:latin typeface="Roboto" pitchFamily="34" charset="0"/>
                <a:ea typeface="Roboto" pitchFamily="34" charset="-122"/>
                <a:cs typeface="Roboto" pitchFamily="34" charset="-120"/>
              </a:rPr>
              <a:t>Stage</a:t>
            </a:r>
            <a:endParaRPr lang="en-US" sz="750"/>
          </a:p>
        </p:txBody>
      </p:sp>
      <p:sp>
        <p:nvSpPr>
          <p:cNvPr id="8" name="Shape 5"/>
          <p:cNvSpPr/>
          <p:nvPr/>
        </p:nvSpPr>
        <p:spPr>
          <a:xfrm>
            <a:off x="1349350" y="1518493"/>
            <a:ext cx="754112" cy="256208"/>
          </a:xfrm>
          <a:prstGeom prst="rect">
            <a:avLst/>
          </a:prstGeom>
          <a:solidFill>
            <a:srgbClr val="66A8EE"/>
          </a:solidFill>
          <a:ln/>
        </p:spPr>
        <p:txBody>
          <a:bodyPr/>
          <a:lstStyle/>
          <a:p>
            <a:endParaRPr lang="en-US"/>
          </a:p>
        </p:txBody>
      </p:sp>
      <p:sp>
        <p:nvSpPr>
          <p:cNvPr id="9" name="Text 6"/>
          <p:cNvSpPr/>
          <p:nvPr/>
        </p:nvSpPr>
        <p:spPr>
          <a:xfrm>
            <a:off x="1450107" y="1572369"/>
            <a:ext cx="1009799" cy="146075"/>
          </a:xfrm>
          <a:prstGeom prst="rect">
            <a:avLst/>
          </a:prstGeom>
          <a:noFill/>
          <a:ln/>
        </p:spPr>
        <p:txBody>
          <a:bodyPr wrap="none" lIns="0" tIns="0" rIns="0" bIns="0" rtlCol="0" anchor="t"/>
          <a:lstStyle/>
          <a:p>
            <a:pPr marL="0" indent="0" algn="l">
              <a:lnSpc>
                <a:spcPct val="121000"/>
              </a:lnSpc>
              <a:buNone/>
            </a:pPr>
            <a:r>
              <a:rPr lang="en-US" sz="750" b="1">
                <a:solidFill>
                  <a:srgbClr val="272525"/>
                </a:solidFill>
                <a:latin typeface="Roboto" pitchFamily="34" charset="0"/>
                <a:ea typeface="Roboto" pitchFamily="34" charset="-122"/>
                <a:cs typeface="Roboto" pitchFamily="34" charset="-120"/>
              </a:rPr>
              <a:t>Owner</a:t>
            </a:r>
            <a:endParaRPr lang="en-US" sz="750"/>
          </a:p>
        </p:txBody>
      </p:sp>
      <p:sp>
        <p:nvSpPr>
          <p:cNvPr id="10" name="Shape 7"/>
          <p:cNvSpPr/>
          <p:nvPr/>
        </p:nvSpPr>
        <p:spPr>
          <a:xfrm>
            <a:off x="2103462" y="1518493"/>
            <a:ext cx="2262336" cy="256208"/>
          </a:xfrm>
          <a:prstGeom prst="rect">
            <a:avLst/>
          </a:prstGeom>
          <a:solidFill>
            <a:srgbClr val="66A8EE"/>
          </a:solidFill>
          <a:ln/>
        </p:spPr>
        <p:txBody>
          <a:bodyPr/>
          <a:lstStyle/>
          <a:p>
            <a:endParaRPr lang="en-US"/>
          </a:p>
        </p:txBody>
      </p:sp>
      <p:sp>
        <p:nvSpPr>
          <p:cNvPr id="11" name="Text 8"/>
          <p:cNvSpPr/>
          <p:nvPr/>
        </p:nvSpPr>
        <p:spPr>
          <a:xfrm>
            <a:off x="2204219" y="1572369"/>
            <a:ext cx="2518023" cy="146075"/>
          </a:xfrm>
          <a:prstGeom prst="rect">
            <a:avLst/>
          </a:prstGeom>
          <a:noFill/>
          <a:ln/>
        </p:spPr>
        <p:txBody>
          <a:bodyPr wrap="none" lIns="0" tIns="0" rIns="0" bIns="0" rtlCol="0" anchor="t"/>
          <a:lstStyle/>
          <a:p>
            <a:pPr marL="0" indent="0" algn="l">
              <a:lnSpc>
                <a:spcPct val="121000"/>
              </a:lnSpc>
              <a:buNone/>
            </a:pPr>
            <a:r>
              <a:rPr lang="en-US" sz="750" b="1">
                <a:solidFill>
                  <a:srgbClr val="272525"/>
                </a:solidFill>
                <a:latin typeface="Roboto" pitchFamily="34" charset="0"/>
                <a:ea typeface="Roboto" pitchFamily="34" charset="-122"/>
                <a:cs typeface="Roboto" pitchFamily="34" charset="-120"/>
              </a:rPr>
              <a:t>Key Responsibilities</a:t>
            </a:r>
            <a:endParaRPr lang="en-US" sz="750"/>
          </a:p>
        </p:txBody>
      </p:sp>
      <p:sp>
        <p:nvSpPr>
          <p:cNvPr id="12" name="Shape 9"/>
          <p:cNvSpPr/>
          <p:nvPr/>
        </p:nvSpPr>
        <p:spPr>
          <a:xfrm>
            <a:off x="4365799" y="1518493"/>
            <a:ext cx="848320" cy="256208"/>
          </a:xfrm>
          <a:prstGeom prst="rect">
            <a:avLst/>
          </a:prstGeom>
          <a:solidFill>
            <a:srgbClr val="66A8EE"/>
          </a:solidFill>
          <a:ln/>
        </p:spPr>
        <p:txBody>
          <a:bodyPr/>
          <a:lstStyle/>
          <a:p>
            <a:endParaRPr lang="en-US"/>
          </a:p>
        </p:txBody>
      </p:sp>
      <p:sp>
        <p:nvSpPr>
          <p:cNvPr id="13" name="Text 10"/>
          <p:cNvSpPr/>
          <p:nvPr/>
        </p:nvSpPr>
        <p:spPr>
          <a:xfrm>
            <a:off x="4466555" y="1572369"/>
            <a:ext cx="1104007" cy="146075"/>
          </a:xfrm>
          <a:prstGeom prst="rect">
            <a:avLst/>
          </a:prstGeom>
          <a:noFill/>
          <a:ln/>
        </p:spPr>
        <p:txBody>
          <a:bodyPr wrap="none" lIns="0" tIns="0" rIns="0" bIns="0" rtlCol="0" anchor="t"/>
          <a:lstStyle/>
          <a:p>
            <a:pPr marL="0" indent="0" algn="l">
              <a:lnSpc>
                <a:spcPct val="121000"/>
              </a:lnSpc>
              <a:buNone/>
            </a:pPr>
            <a:r>
              <a:rPr lang="en-US" sz="750" b="1">
                <a:solidFill>
                  <a:srgbClr val="272525"/>
                </a:solidFill>
                <a:latin typeface="Roboto" pitchFamily="34" charset="0"/>
                <a:ea typeface="Roboto" pitchFamily="34" charset="-122"/>
                <a:cs typeface="Roboto" pitchFamily="34" charset="-120"/>
              </a:rPr>
              <a:t>SLA</a:t>
            </a:r>
            <a:endParaRPr lang="en-US" sz="750"/>
          </a:p>
        </p:txBody>
      </p:sp>
      <p:sp>
        <p:nvSpPr>
          <p:cNvPr id="14" name="Text 11"/>
          <p:cNvSpPr/>
          <p:nvPr/>
        </p:nvSpPr>
        <p:spPr>
          <a:xfrm>
            <a:off x="601787" y="1830958"/>
            <a:ext cx="1104007" cy="146075"/>
          </a:xfrm>
          <a:prstGeom prst="rect">
            <a:avLst/>
          </a:prstGeom>
          <a:noFill/>
          <a:ln/>
        </p:spPr>
        <p:txBody>
          <a:bodyPr wrap="none" lIns="0" tIns="0" rIns="0" bIns="0" rtlCol="0" anchor="t"/>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Loan Set Up</a:t>
            </a:r>
            <a:endParaRPr lang="en-US" sz="750"/>
          </a:p>
        </p:txBody>
      </p:sp>
      <p:sp>
        <p:nvSpPr>
          <p:cNvPr id="15" name="Text 12"/>
          <p:cNvSpPr/>
          <p:nvPr/>
        </p:nvSpPr>
        <p:spPr>
          <a:xfrm>
            <a:off x="1450107" y="1830958"/>
            <a:ext cx="552599"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Setup / Processor</a:t>
            </a:r>
            <a:endParaRPr lang="en-US" sz="750"/>
          </a:p>
        </p:txBody>
      </p:sp>
      <p:sp>
        <p:nvSpPr>
          <p:cNvPr id="16" name="Text 13"/>
          <p:cNvSpPr/>
          <p:nvPr/>
        </p:nvSpPr>
        <p:spPr>
          <a:xfrm>
            <a:off x="2204219" y="1830958"/>
            <a:ext cx="2060823" cy="438224"/>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Index docs, validate NMLS, order flood/tax/credit, flag exceptions, duplicate SSN check</a:t>
            </a:r>
            <a:endParaRPr lang="en-US" sz="750"/>
          </a:p>
        </p:txBody>
      </p:sp>
      <p:sp>
        <p:nvSpPr>
          <p:cNvPr id="17" name="Text 14"/>
          <p:cNvSpPr/>
          <p:nvPr/>
        </p:nvSpPr>
        <p:spPr>
          <a:xfrm>
            <a:off x="4466555" y="1830958"/>
            <a:ext cx="646807" cy="292150"/>
          </a:xfrm>
          <a:prstGeom prst="rect">
            <a:avLst/>
          </a:prstGeom>
          <a:noFill/>
          <a:ln/>
        </p:spPr>
        <p:txBody>
          <a:bodyPr wrap="square" lIns="0" tIns="0" rIns="0" bIns="0" rtlCol="0" anchor="t">
            <a:normAutofit/>
          </a:bodyPr>
          <a:lstStyle/>
          <a:p>
            <a:pPr marL="0" indent="0" algn="l">
              <a:lnSpc>
                <a:spcPct val="121000"/>
              </a:lnSpc>
              <a:buNone/>
            </a:pPr>
            <a:r>
              <a:rPr lang="en-US" sz="750" b="1">
                <a:solidFill>
                  <a:srgbClr val="15213F"/>
                </a:solidFill>
                <a:latin typeface="Roboto" pitchFamily="34" charset="0"/>
                <a:ea typeface="Roboto" pitchFamily="34" charset="-122"/>
                <a:cs typeface="Roboto" pitchFamily="34" charset="-120"/>
              </a:rPr>
              <a:t>Day 1 – Immediate</a:t>
            </a:r>
            <a:endParaRPr lang="en-US" sz="750"/>
          </a:p>
        </p:txBody>
      </p:sp>
      <p:sp>
        <p:nvSpPr>
          <p:cNvPr id="18" name="Text 15"/>
          <p:cNvSpPr/>
          <p:nvPr/>
        </p:nvSpPr>
        <p:spPr>
          <a:xfrm>
            <a:off x="601787" y="2381696"/>
            <a:ext cx="1104007" cy="146075"/>
          </a:xfrm>
          <a:prstGeom prst="rect">
            <a:avLst/>
          </a:prstGeom>
          <a:noFill/>
          <a:ln/>
        </p:spPr>
        <p:txBody>
          <a:bodyPr wrap="none" lIns="0" tIns="0" rIns="0" bIns="0" rtlCol="0" anchor="t"/>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Underwriting</a:t>
            </a:r>
            <a:endParaRPr lang="en-US" sz="750"/>
          </a:p>
        </p:txBody>
      </p:sp>
      <p:sp>
        <p:nvSpPr>
          <p:cNvPr id="19" name="Text 16"/>
          <p:cNvSpPr/>
          <p:nvPr/>
        </p:nvSpPr>
        <p:spPr>
          <a:xfrm>
            <a:off x="1450107" y="2381696"/>
            <a:ext cx="1009799" cy="146075"/>
          </a:xfrm>
          <a:prstGeom prst="rect">
            <a:avLst/>
          </a:prstGeom>
          <a:noFill/>
          <a:ln/>
        </p:spPr>
        <p:txBody>
          <a:bodyPr wrap="none" lIns="0" tIns="0" rIns="0" bIns="0" rtlCol="0" anchor="t"/>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Underwriter</a:t>
            </a:r>
            <a:endParaRPr lang="en-US" sz="750"/>
          </a:p>
        </p:txBody>
      </p:sp>
      <p:sp>
        <p:nvSpPr>
          <p:cNvPr id="20" name="Text 17"/>
          <p:cNvSpPr/>
          <p:nvPr/>
        </p:nvSpPr>
        <p:spPr>
          <a:xfrm>
            <a:off x="2204219" y="2381696"/>
            <a:ext cx="2060823"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Full DSCR credit, property, and entity analysis; issue decision with conditions</a:t>
            </a:r>
            <a:endParaRPr lang="en-US" sz="750"/>
          </a:p>
        </p:txBody>
      </p:sp>
      <p:sp>
        <p:nvSpPr>
          <p:cNvPr id="21" name="Text 18"/>
          <p:cNvSpPr/>
          <p:nvPr/>
        </p:nvSpPr>
        <p:spPr>
          <a:xfrm>
            <a:off x="4466555" y="2381696"/>
            <a:ext cx="646807" cy="292150"/>
          </a:xfrm>
          <a:prstGeom prst="rect">
            <a:avLst/>
          </a:prstGeom>
          <a:noFill/>
          <a:ln/>
        </p:spPr>
        <p:txBody>
          <a:bodyPr wrap="square" lIns="0" tIns="0" rIns="0" bIns="0" rtlCol="0" anchor="t">
            <a:normAutofit/>
          </a:bodyPr>
          <a:lstStyle/>
          <a:p>
            <a:pPr marL="0" indent="0" algn="l">
              <a:lnSpc>
                <a:spcPct val="121000"/>
              </a:lnSpc>
              <a:buNone/>
            </a:pPr>
            <a:r>
              <a:rPr lang="en-US" sz="750" b="1">
                <a:solidFill>
                  <a:srgbClr val="15213F"/>
                </a:solidFill>
                <a:latin typeface="Roboto" pitchFamily="34" charset="0"/>
                <a:ea typeface="Roboto" pitchFamily="34" charset="-122"/>
                <a:cs typeface="Roboto" pitchFamily="34" charset="-120"/>
              </a:rPr>
              <a:t>Within 24 hrs of alert</a:t>
            </a:r>
            <a:endParaRPr lang="en-US" sz="750"/>
          </a:p>
        </p:txBody>
      </p:sp>
      <p:sp>
        <p:nvSpPr>
          <p:cNvPr id="22" name="Text 19"/>
          <p:cNvSpPr/>
          <p:nvPr/>
        </p:nvSpPr>
        <p:spPr>
          <a:xfrm>
            <a:off x="601787" y="2786360"/>
            <a:ext cx="646807"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Account Management</a:t>
            </a:r>
            <a:endParaRPr lang="en-US" sz="750"/>
          </a:p>
        </p:txBody>
      </p:sp>
      <p:sp>
        <p:nvSpPr>
          <p:cNvPr id="23" name="Text 20"/>
          <p:cNvSpPr/>
          <p:nvPr/>
        </p:nvSpPr>
        <p:spPr>
          <a:xfrm>
            <a:off x="1450107" y="2786360"/>
            <a:ext cx="552599"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AM / Asst. AM</a:t>
            </a:r>
            <a:endParaRPr lang="en-US" sz="750"/>
          </a:p>
        </p:txBody>
      </p:sp>
      <p:sp>
        <p:nvSpPr>
          <p:cNvPr id="24" name="Text 21"/>
          <p:cNvSpPr/>
          <p:nvPr/>
        </p:nvSpPr>
        <p:spPr>
          <a:xfrm>
            <a:off x="2204219" y="2786360"/>
            <a:ext cx="2060823"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Order reports, LLC/Condo review, conditions tracking, Broker/AE communication</a:t>
            </a:r>
            <a:endParaRPr lang="en-US" sz="750"/>
          </a:p>
        </p:txBody>
      </p:sp>
      <p:sp>
        <p:nvSpPr>
          <p:cNvPr id="25" name="Text 22"/>
          <p:cNvSpPr/>
          <p:nvPr/>
        </p:nvSpPr>
        <p:spPr>
          <a:xfrm>
            <a:off x="4466555" y="2786360"/>
            <a:ext cx="646807" cy="292150"/>
          </a:xfrm>
          <a:prstGeom prst="rect">
            <a:avLst/>
          </a:prstGeom>
          <a:noFill/>
          <a:ln/>
        </p:spPr>
        <p:txBody>
          <a:bodyPr wrap="square" lIns="0" tIns="0" rIns="0" bIns="0" rtlCol="0" anchor="t">
            <a:normAutofit/>
          </a:bodyPr>
          <a:lstStyle/>
          <a:p>
            <a:pPr marL="0" indent="0" algn="l">
              <a:lnSpc>
                <a:spcPct val="121000"/>
              </a:lnSpc>
              <a:buNone/>
            </a:pPr>
            <a:r>
              <a:rPr lang="en-US" sz="750" b="1">
                <a:solidFill>
                  <a:srgbClr val="15213F"/>
                </a:solidFill>
                <a:latin typeface="Roboto" pitchFamily="34" charset="0"/>
                <a:ea typeface="Roboto" pitchFamily="34" charset="-122"/>
                <a:cs typeface="Roboto" pitchFamily="34" charset="-120"/>
              </a:rPr>
              <a:t>Day 1 – Concurrent</a:t>
            </a:r>
            <a:endParaRPr lang="en-US" sz="750"/>
          </a:p>
        </p:txBody>
      </p:sp>
      <p:sp>
        <p:nvSpPr>
          <p:cNvPr id="26" name="Text 23"/>
          <p:cNvSpPr/>
          <p:nvPr/>
        </p:nvSpPr>
        <p:spPr>
          <a:xfrm>
            <a:off x="601787" y="3191024"/>
            <a:ext cx="646807"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Legal / Entity Review</a:t>
            </a:r>
            <a:endParaRPr lang="en-US" sz="750"/>
          </a:p>
        </p:txBody>
      </p:sp>
      <p:sp>
        <p:nvSpPr>
          <p:cNvPr id="27" name="Text 24"/>
          <p:cNvSpPr/>
          <p:nvPr/>
        </p:nvSpPr>
        <p:spPr>
          <a:xfrm>
            <a:off x="1450107" y="3191024"/>
            <a:ext cx="1009799" cy="146075"/>
          </a:xfrm>
          <a:prstGeom prst="rect">
            <a:avLst/>
          </a:prstGeom>
          <a:noFill/>
          <a:ln/>
        </p:spPr>
        <p:txBody>
          <a:bodyPr wrap="none" lIns="0" tIns="0" rIns="0" bIns="0" rtlCol="0" anchor="t"/>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Legal Team</a:t>
            </a:r>
            <a:endParaRPr lang="en-US" sz="750"/>
          </a:p>
        </p:txBody>
      </p:sp>
      <p:sp>
        <p:nvSpPr>
          <p:cNvPr id="28" name="Text 25"/>
          <p:cNvSpPr/>
          <p:nvPr/>
        </p:nvSpPr>
        <p:spPr>
          <a:xfrm>
            <a:off x="2204219" y="3191024"/>
            <a:ext cx="2060823"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Review and approve entity documentation forwarded by AM</a:t>
            </a:r>
            <a:endParaRPr lang="en-US" sz="750"/>
          </a:p>
        </p:txBody>
      </p:sp>
      <p:sp>
        <p:nvSpPr>
          <p:cNvPr id="29" name="Text 26"/>
          <p:cNvSpPr/>
          <p:nvPr/>
        </p:nvSpPr>
        <p:spPr>
          <a:xfrm>
            <a:off x="4466555" y="3191024"/>
            <a:ext cx="646807" cy="292150"/>
          </a:xfrm>
          <a:prstGeom prst="rect">
            <a:avLst/>
          </a:prstGeom>
          <a:noFill/>
          <a:ln/>
        </p:spPr>
        <p:txBody>
          <a:bodyPr wrap="square" lIns="0" tIns="0" rIns="0" bIns="0" rtlCol="0" anchor="t">
            <a:normAutofit/>
          </a:bodyPr>
          <a:lstStyle/>
          <a:p>
            <a:pPr marL="0" indent="0" algn="l">
              <a:lnSpc>
                <a:spcPct val="121000"/>
              </a:lnSpc>
              <a:buNone/>
            </a:pPr>
            <a:r>
              <a:rPr lang="en-US" sz="750" b="1">
                <a:solidFill>
                  <a:srgbClr val="15213F"/>
                </a:solidFill>
                <a:latin typeface="Roboto" pitchFamily="34" charset="0"/>
                <a:ea typeface="Roboto" pitchFamily="34" charset="-122"/>
                <a:cs typeface="Roboto" pitchFamily="34" charset="-120"/>
              </a:rPr>
              <a:t>Within 24 hrs of receipt</a:t>
            </a:r>
            <a:endParaRPr lang="en-US" sz="750"/>
          </a:p>
        </p:txBody>
      </p:sp>
      <p:sp>
        <p:nvSpPr>
          <p:cNvPr id="30" name="Text 27"/>
          <p:cNvSpPr/>
          <p:nvPr/>
        </p:nvSpPr>
        <p:spPr>
          <a:xfrm>
            <a:off x="601787" y="3595688"/>
            <a:ext cx="1104007" cy="146075"/>
          </a:xfrm>
          <a:prstGeom prst="rect">
            <a:avLst/>
          </a:prstGeom>
          <a:noFill/>
          <a:ln/>
        </p:spPr>
        <p:txBody>
          <a:bodyPr wrap="none" lIns="0" tIns="0" rIns="0" bIns="0" rtlCol="0" anchor="t"/>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Closing</a:t>
            </a:r>
            <a:endParaRPr lang="en-US" sz="750"/>
          </a:p>
        </p:txBody>
      </p:sp>
      <p:sp>
        <p:nvSpPr>
          <p:cNvPr id="31" name="Text 28"/>
          <p:cNvSpPr/>
          <p:nvPr/>
        </p:nvSpPr>
        <p:spPr>
          <a:xfrm>
            <a:off x="1450107" y="3595688"/>
            <a:ext cx="1009799" cy="146075"/>
          </a:xfrm>
          <a:prstGeom prst="rect">
            <a:avLst/>
          </a:prstGeom>
          <a:noFill/>
          <a:ln/>
        </p:spPr>
        <p:txBody>
          <a:bodyPr wrap="none" lIns="0" tIns="0" rIns="0" bIns="0" rtlCol="0" anchor="t"/>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Closer</a:t>
            </a:r>
            <a:endParaRPr lang="en-US" sz="750"/>
          </a:p>
        </p:txBody>
      </p:sp>
      <p:sp>
        <p:nvSpPr>
          <p:cNvPr id="32" name="Text 29"/>
          <p:cNvSpPr/>
          <p:nvPr/>
        </p:nvSpPr>
        <p:spPr>
          <a:xfrm>
            <a:off x="2204219" y="3595688"/>
            <a:ext cx="2060823" cy="438224"/>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Prepare closing package, verify fees and DataVerify, draw docs, coordinate funding upon CTC</a:t>
            </a:r>
            <a:endParaRPr lang="en-US" sz="750"/>
          </a:p>
        </p:txBody>
      </p:sp>
      <p:sp>
        <p:nvSpPr>
          <p:cNvPr id="33" name="Text 30"/>
          <p:cNvSpPr/>
          <p:nvPr/>
        </p:nvSpPr>
        <p:spPr>
          <a:xfrm>
            <a:off x="4466555" y="3595688"/>
            <a:ext cx="646807" cy="292150"/>
          </a:xfrm>
          <a:prstGeom prst="rect">
            <a:avLst/>
          </a:prstGeom>
          <a:noFill/>
          <a:ln/>
        </p:spPr>
        <p:txBody>
          <a:bodyPr wrap="square" lIns="0" tIns="0" rIns="0" bIns="0" rtlCol="0" anchor="t">
            <a:normAutofit/>
          </a:bodyPr>
          <a:lstStyle/>
          <a:p>
            <a:pPr marL="0" indent="0" algn="l">
              <a:lnSpc>
                <a:spcPct val="121000"/>
              </a:lnSpc>
              <a:buNone/>
            </a:pPr>
            <a:r>
              <a:rPr lang="en-US" sz="750" b="1">
                <a:solidFill>
                  <a:srgbClr val="15213F"/>
                </a:solidFill>
                <a:latin typeface="Roboto" pitchFamily="34" charset="0"/>
                <a:ea typeface="Roboto" pitchFamily="34" charset="-122"/>
                <a:cs typeface="Roboto" pitchFamily="34" charset="-120"/>
              </a:rPr>
              <a:t>Same day; max 24 hrs</a:t>
            </a:r>
            <a:endParaRPr lang="en-US" sz="750"/>
          </a:p>
        </p:txBody>
      </p:sp>
      <p:sp>
        <p:nvSpPr>
          <p:cNvPr id="34" name="Shape 31"/>
          <p:cNvSpPr/>
          <p:nvPr/>
        </p:nvSpPr>
        <p:spPr>
          <a:xfrm>
            <a:off x="496119" y="4184675"/>
            <a:ext cx="4722763" cy="489793"/>
          </a:xfrm>
          <a:prstGeom prst="roundRect">
            <a:avLst>
              <a:gd name="adj" fmla="val 3087"/>
            </a:avLst>
          </a:prstGeom>
          <a:solidFill>
            <a:srgbClr val="B6D6FC"/>
          </a:solidFill>
          <a:ln/>
        </p:spPr>
        <p:txBody>
          <a:bodyPr/>
          <a:lstStyle/>
          <a:p>
            <a:endParaRPr lang="en-US"/>
          </a:p>
        </p:txBody>
      </p:sp>
      <p:pic>
        <p:nvPicPr>
          <p:cNvPr id="35" name="Image 1" descr="preencoded.png"/>
          <p:cNvPicPr>
            <a:picLocks noChangeAspect="1"/>
          </p:cNvPicPr>
          <p:nvPr/>
        </p:nvPicPr>
        <p:blipFill>
          <a:blip r:embed="rId5"/>
          <a:stretch>
            <a:fillRect/>
          </a:stretch>
        </p:blipFill>
        <p:spPr>
          <a:xfrm>
            <a:off x="596875" y="4322415"/>
            <a:ext cx="125983" cy="100757"/>
          </a:xfrm>
          <a:prstGeom prst="rect">
            <a:avLst/>
          </a:prstGeom>
        </p:spPr>
      </p:pic>
      <p:sp>
        <p:nvSpPr>
          <p:cNvPr id="36" name="Text 32"/>
          <p:cNvSpPr/>
          <p:nvPr/>
        </p:nvSpPr>
        <p:spPr>
          <a:xfrm>
            <a:off x="823615" y="4283497"/>
            <a:ext cx="4294510" cy="292150"/>
          </a:xfrm>
          <a:prstGeom prst="rect">
            <a:avLst/>
          </a:prstGeom>
          <a:noFill/>
          <a:ln/>
        </p:spPr>
        <p:txBody>
          <a:bodyPr wrap="square" lIns="0" tIns="0" rIns="0" bIns="0" rtlCol="0" anchor="t">
            <a:normAutofit/>
          </a:bodyPr>
          <a:lstStyle/>
          <a:p>
            <a:pPr marL="0" indent="0" algn="l">
              <a:lnSpc>
                <a:spcPct val="121000"/>
              </a:lnSpc>
              <a:buNone/>
            </a:pPr>
            <a:r>
              <a:rPr lang="en-US" sz="750" b="1">
                <a:solidFill>
                  <a:srgbClr val="000000"/>
                </a:solidFill>
                <a:latin typeface="Roboto" pitchFamily="34" charset="0"/>
                <a:ea typeface="Roboto" pitchFamily="34" charset="-122"/>
                <a:cs typeface="Roboto" pitchFamily="34" charset="-120"/>
              </a:rPr>
              <a:t>Reference guides:</a:t>
            </a:r>
            <a:r>
              <a:rPr lang="en-US" sz="750">
                <a:solidFill>
                  <a:srgbClr val="000000"/>
                </a:solidFill>
                <a:latin typeface="Roboto" pitchFamily="34" charset="0"/>
                <a:ea typeface="Roboto" pitchFamily="34" charset="-122"/>
                <a:cs typeface="Roboto" pitchFamily="34" charset="-120"/>
              </a:rPr>
              <a:t> LOS Guide – Byte Underwriter Commercial v3.3 | LOS Guide – Byte Doc Drawer Commercial v2.0 | Funder Checklist</a:t>
            </a:r>
            <a:endParaRPr lang="en-US" sz="750"/>
          </a:p>
        </p:txBody>
      </p:sp>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AB99EB85D9B9B4A82583D0B053AA6BF" ma:contentTypeVersion="18" ma:contentTypeDescription="Create a new document." ma:contentTypeScope="" ma:versionID="d5c757a11cbbe6d30755719130aaeeb1">
  <xsd:schema xmlns:xsd="http://www.w3.org/2001/XMLSchema" xmlns:xs="http://www.w3.org/2001/XMLSchema" xmlns:p="http://schemas.microsoft.com/office/2006/metadata/properties" xmlns:ns2="0d9fbd82-3977-42cb-a27b-92ba60b278b8" xmlns:ns3="7ad23321-c5db-46c7-895a-4aa935785ffe" targetNamespace="http://schemas.microsoft.com/office/2006/metadata/properties" ma:root="true" ma:fieldsID="eebb97f6c8ac8eedac67c14ff5818b95" ns2:_="" ns3:_="">
    <xsd:import namespace="0d9fbd82-3977-42cb-a27b-92ba60b278b8"/>
    <xsd:import namespace="7ad23321-c5db-46c7-895a-4aa935785f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Usefulnessforduediligence" minOccurs="0"/>
                <xsd:element ref="ns2:MediaServiceLocation"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9fbd82-3977-42cb-a27b-92ba60b27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6440cdf-29eb-49cd-afa0-d6d3ff089c7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Usefulnessforduediligence" ma:index="22" nillable="true" ma:displayName="Usefulness for due diligence " ma:description="Emperical assessment " ma:format="Dropdown" ma:internalName="Usefulnessforduediligence">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Status" ma:index="25" nillable="true"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7ad23321-c5db-46c7-895a-4aa935785ff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d3af4a4-d25b-4467-bd24-93d4d05b0b94}" ma:internalName="TaxCatchAll" ma:showField="CatchAllData" ma:web="7ad23321-c5db-46c7-895a-4aa935785f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d9fbd82-3977-42cb-a27b-92ba60b278b8">
      <Terms xmlns="http://schemas.microsoft.com/office/infopath/2007/PartnerControls"/>
    </lcf76f155ced4ddcb4097134ff3c332f>
    <Usefulnessforduediligence xmlns="0d9fbd82-3977-42cb-a27b-92ba60b278b8" xsi:nil="true"/>
    <TaxCatchAll xmlns="7ad23321-c5db-46c7-895a-4aa935785ffe" xsi:nil="true"/>
    <Status xmlns="0d9fbd82-3977-42cb-a27b-92ba60b278b8">Draft</Status>
  </documentManagement>
</p:properties>
</file>

<file path=customXml/itemProps1.xml><?xml version="1.0" encoding="utf-8"?>
<ds:datastoreItem xmlns:ds="http://schemas.openxmlformats.org/officeDocument/2006/customXml" ds:itemID="{CE2A5ED8-6E42-487F-B7F0-85FC511D302F}">
  <ds:schemaRefs>
    <ds:schemaRef ds:uri="http://schemas.microsoft.com/sharepoint/v3/contenttype/forms"/>
  </ds:schemaRefs>
</ds:datastoreItem>
</file>

<file path=customXml/itemProps2.xml><?xml version="1.0" encoding="utf-8"?>
<ds:datastoreItem xmlns:ds="http://schemas.openxmlformats.org/officeDocument/2006/customXml" ds:itemID="{3ECC47AC-018D-4AF8-810D-CD3F7FF253E6}"/>
</file>

<file path=customXml/itemProps3.xml><?xml version="1.0" encoding="utf-8"?>
<ds:datastoreItem xmlns:ds="http://schemas.openxmlformats.org/officeDocument/2006/customXml" ds:itemID="{FFADB36C-225C-4473-AAF2-7AAE9A30931B}">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69892463-2b84-463c-b829-a336ebb06f54}" enabled="0" method="" siteId="{69892463-2b84-463c-b829-a336ebb06f54}" removed="1"/>
</clbl:labelList>
</file>

<file path=docProps/app.xml><?xml version="1.0" encoding="utf-8"?>
<Properties xmlns="http://schemas.openxmlformats.org/officeDocument/2006/extended-properties" xmlns:vt="http://schemas.openxmlformats.org/officeDocument/2006/docPropsVTypes">
  <TotalTime>0</TotalTime>
  <Words>3241</Words>
  <Application>Microsoft Macintosh PowerPoint</Application>
  <PresentationFormat>On-screen Show (16:9)</PresentationFormat>
  <Paragraphs>315</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Calibri</vt:lpstr>
      <vt:lpstr>Arial</vt:lpstr>
      <vt:lpstr>Roboto Slab</vt:lpstr>
      <vt:lpstr>Roboto Slab Light</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Pankaj Chugh</cp:lastModifiedBy>
  <cp:revision>13</cp:revision>
  <dcterms:created xsi:type="dcterms:W3CDTF">2026-06-18T20:00:09Z</dcterms:created>
  <dcterms:modified xsi:type="dcterms:W3CDTF">2026-07-16T05:20:43Z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0x0101001AB99EB85D9B9B4A82583D0B053AA6BF</vt:lpwstr>
  </property>
</Properties>
</file>