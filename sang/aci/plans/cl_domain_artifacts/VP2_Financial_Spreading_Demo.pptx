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A648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A6480"/>
                </a:solidFill>
                <a:latin typeface="Calibri"/>
              </a:rPr>
              <a:t>Top SDK subsystems on the spread path (import sites)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A648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finance</c:v>
                  </c:pt>
                  <c:pt idx="1">
                    <c:v>canonical.evidence</c:v>
                  </c:pt>
                  <c:pt idx="2">
                    <c:v>tools</c:v>
                  </c:pt>
                  <c:pt idx="3">
                    <c:v>canonical.values</c:v>
                  </c:pt>
                  <c:pt idx="4">
                    <c:v>conductor</c:v>
                  </c:pt>
                  <c:pt idx="5">
                    <c:v>canonical.refusal</c:v>
                  </c:pt>
                  <c:pt idx="6">
                    <c:v>fabric.canonical</c:v>
                  </c:pt>
                  <c:pt idx="7">
                    <c:v>evaluation.feedback</c:v>
                  </c:pt>
                  <c:pt idx="8">
                    <c:v>agents.service</c:v>
                  </c:pt>
                  <c:pt idx="9">
                    <c:v>expressions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</c:v>
                </c:pt>
                <c:pt idx="1">
                  <c:v>11</c:v>
                </c:pt>
                <c:pt idx="2">
                  <c:v>9</c:v>
                </c:pt>
                <c:pt idx="3">
                  <c:v>9</c:v>
                </c:pt>
                <c:pt idx="4">
                  <c:v>9</c:v>
                </c:pt>
                <c:pt idx="5">
                  <c:v>7</c:v>
                </c:pt>
                <c:pt idx="6">
                  <c:v>7</c:v>
                </c:pt>
                <c:pt idx="7">
                  <c:v>5</c:v>
                </c:pt>
                <c:pt idx="8">
                  <c:v>5</c:v>
                </c:pt>
                <c:pt idx="9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5A648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F3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8DE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VP-2 is the spread. The claim is that the platform produces the customer's own format, not ours — and that almost all of the machinery is SDK, not bespoke jaci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ownership point: the deliverable is the customer's artifact, and the platform is what produced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2743200" cy="2743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VP-2 · FINANCIAL SPREADING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customer's own spread,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produced by the platform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FDE turns a bank's existing workbook into a running capability — and how heavily VP-2 leans on the JazzX SDK.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engineering review  · 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see tomorrow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624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62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5568" y="13258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arrives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06240" y="130759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C&amp;I loan file — five statements at four assurance levels, plus the borrower's application.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0664" y="1783080"/>
            <a:ext cx="0" cy="475488"/>
          </a:xfrm>
          <a:prstGeom prst="line">
            <a:avLst/>
          </a:prstGeom>
          <a:noFill/>
          <a:ln w="19050">
            <a:solidFill>
              <a:srgbClr val="D8DE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2951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95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5568" y="22585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normalise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06240" y="22402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DocumentAgent ingests, converts and classifies. Every artifact becomes a content-addressed SourceFile.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0664" y="2715768"/>
            <a:ext cx="0" cy="475488"/>
          </a:xfrm>
          <a:prstGeom prst="line">
            <a:avLst/>
          </a:prstGeom>
          <a:noFill/>
          <a:ln w="1905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2278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5568" y="31912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produced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06240" y="317296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located deterministically, structured once by an LLM, emitted as a governed SpreadPackage.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40664" y="3648456"/>
            <a:ext cx="0" cy="475488"/>
          </a:xfrm>
          <a:prstGeom prst="line">
            <a:avLst/>
          </a:prstGeom>
          <a:noFill/>
          <a:ln w="19050">
            <a:solidFill>
              <a:srgbClr val="D8DE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1605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15568" y="412394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06240" y="410565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detectors, including the four arithmetic controls. Findings carry a severity and a source.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40664" y="4581144"/>
            <a:ext cx="0" cy="475488"/>
          </a:xfrm>
          <a:prstGeom prst="line">
            <a:avLst/>
          </a:prstGeom>
          <a:noFill/>
          <a:ln w="19050">
            <a:solidFill>
              <a:srgbClr val="D8DE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0932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093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15568" y="50566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workbook, filled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206240" y="503834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bank's own layout — not ours — with provenance on every cell and a review queue for anything uncertain.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touches the pipeline between step 1 and step 5. The human work happened once, at onboarding.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moments. Only two involve a human.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97480" cy="2697480"/>
          </a:xfrm>
          <a:prstGeom prst="roundRect">
            <a:avLst>
              <a:gd name="adj" fmla="val 203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127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00200"/>
            <a:ext cx="2185416" cy="274320"/>
          </a:xfrm>
          <a:prstGeom prst="roundRect">
            <a:avLst>
              <a:gd name="adj" fmla="val 33333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60020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057400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04672" y="2450592"/>
            <a:ext cx="2185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724912"/>
            <a:ext cx="21854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over the spread workbook they already use, plus one sample package.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65576" y="1371600"/>
            <a:ext cx="2697480" cy="2697480"/>
          </a:xfrm>
          <a:prstGeom prst="roundRect">
            <a:avLst>
              <a:gd name="adj" fmla="val 203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12700" dir="5400000">
              <a:srgbClr val="1E276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21608" y="1600200"/>
            <a:ext cx="2185416" cy="274320"/>
          </a:xfrm>
          <a:prstGeom prst="roundRect">
            <a:avLst>
              <a:gd name="adj" fmla="val 33333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3721608" y="160020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Once, hours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721608" y="2057400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Induce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721608" y="2450592"/>
            <a:ext cx="2185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+ AGENT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21608" y="2724912"/>
            <a:ext cx="21854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workbook is parsed into an output template. The FDE reviews and publishes.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82512" y="1371600"/>
            <a:ext cx="2697480" cy="2697480"/>
          </a:xfrm>
          <a:prstGeom prst="roundRect">
            <a:avLst>
              <a:gd name="adj" fmla="val 203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127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38544" y="1600200"/>
            <a:ext cx="2185416" cy="274320"/>
          </a:xfrm>
          <a:prstGeom prst="roundRect">
            <a:avLst>
              <a:gd name="adj" fmla="val 33333"/>
            </a:avLst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6638544" y="160020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Once, plus as cases surface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38544" y="2057400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638544" y="2450592"/>
            <a:ext cx="2185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38544" y="2724912"/>
            <a:ext cx="21854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skills for what the template cannot express.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299448" y="1371600"/>
            <a:ext cx="2697480" cy="2697480"/>
          </a:xfrm>
          <a:prstGeom prst="roundRect">
            <a:avLst>
              <a:gd name="adj" fmla="val 203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12700" dir="5400000">
              <a:srgbClr val="1E2761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555480" y="1600200"/>
            <a:ext cx="2185416" cy="274320"/>
          </a:xfrm>
          <a:prstGeom prst="roundRect">
            <a:avLst>
              <a:gd name="adj" fmla="val 33333"/>
            </a:avLst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9555480" y="160020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555480" y="2057400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555480" y="2450592"/>
            <a:ext cx="2185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555480" y="2724912"/>
            <a:ext cx="21854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agent → fill agent → validation → governed workbook.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measure of success is not the first customer. It is that the tenth is boring to build.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8640" y="49194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spread is an institution's opinion about which lines matter. Two banks reading the same filing produce different spreads, and both are right — so the template is a contract, not a layout.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ONLY THE WORKBOOK COULD TELL 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1 — Regional Bank (C&amp;I)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257800" cy="4114800"/>
          </a:xfrm>
          <a:prstGeom prst="roundRect">
            <a:avLst>
              <a:gd name="adj" fmla="val 133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127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54480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Their EBITDA is not EBITDA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4617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 EBITDA  =  Gross Profit − SG&amp;A − Rent
</a:t>
            </a:r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touches operating income, D&amp;A or interest — and it subtracts rent. It is what their covenants reference, and it exists only in their spreadsheet.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Adj. EBITDAR is a trap.</a:t>
            </a:r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Same word as the pack's existing metric, different lineage, different number. Binding it to the pack metric is a silent, plausible, wrong answer.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406908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rows are labelled “Margin”.</a:t>
            </a:r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Label is not identity — every binding resolves by key.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389888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6437376" y="1325880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LTM rule differs by line semantics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37376" y="1600200"/>
            <a:ext cx="5175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rows roll forward, stock rows take the latest interim. Verified: 61,443 − 44,326 + 57,581 = 74,698, matching their cell exactly.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2432304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437376" y="2368296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hardcoded plugs, in their reference file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37376" y="2642616"/>
            <a:ext cx="5175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analyst typed =10853-1 and =25007-D37 into data cells. We record them as defects rather than reproduce them.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347472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6437376" y="3410712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dressed as figures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37376" y="3685032"/>
            <a:ext cx="5175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capex is a flat 1,000 every period — a convention, not a measurement. It must render as an assumption.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26480" y="4517136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6437376" y="4453128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interest ≠ interest expense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37376" y="4727448"/>
            <a:ext cx="5175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1,892 vs 2,096. Collapsing them corrupts the fixed-charge coverage ratio, which is a covenant.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statement PDFs at four assurance levels. Source precedence is not a nicety here — without it the spread is wrong.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THE CUSTOMER WROTE IN PROSE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2 — Mesa Verde (CRE multifamily)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566160" cy="1600200"/>
          </a:xfrm>
          <a:prstGeom prst="roundRect">
            <a:avLst>
              <a:gd name="adj" fmla="val 342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127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463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+38.0%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2128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Insurance, T-12 vs Year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193,200 → 266,600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51960" y="1325880"/>
            <a:ext cx="3566160" cy="1600200"/>
          </a:xfrm>
          <a:prstGeom prst="roundRect">
            <a:avLst>
              <a:gd name="adj" fmla="val 342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12700" dir="540000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26280" y="1463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+6.2%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26280" y="22128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operating expenses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6280" y="24688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line moves 2–3%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55280" y="1325880"/>
            <a:ext cx="3566160" cy="1600200"/>
          </a:xfrm>
          <a:prstGeom prst="roundRect">
            <a:avLst>
              <a:gd name="adj" fmla="val 342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12700" dir="5400000">
              <a:srgbClr val="1E2761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0" y="1463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1.30x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229600" y="22128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DSCR, T-12 — still pre-flag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24688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 3,559,000 / DS 2,740,000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CADCFC"/>
          </a:solidFill>
          <a:ln/>
          <a:effectLst>
            <a:outerShdw sx="100000" sy="100000" kx="0" ky="0" algn="bl" rotWithShape="0" blurRad="101600" dist="12700" dir="5400000">
              <a:srgbClr val="1E2761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29184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“Note: Insurance and Property Tax pending analyst confirmation. Post-flag NOI/DSCR locks once cleared.”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3703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19 of their sheet, verbatim — and rows 15 and 17 are literally labelled “NOI (pre-flag)” and “DSCR (pre-flag)”. The customer put workflow state in a free-text note because a spreadsheet has nowhere else to put it.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5262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clearest argument for why the template is not the whole contract.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4846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schema of rows and formats can express “these two figures are provisional until a human clears two specific inputs, and while provisional they must not reach the credit decision.” That is a skill — and it becomes a gate with candidate-versus-approved discipline, promoted by a human with an actor recorded.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segment, one-fifth the size, whole dollars instead of thousands — the same mechanism, which is the point.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VP-2 ON THE PLATFORM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stage is an SDK primitive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737360" cy="2286000"/>
          </a:xfrm>
          <a:prstGeom prst="roundRect">
            <a:avLst>
              <a:gd name="adj" fmla="val 315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127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57276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572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011680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9808" y="2340864"/>
            <a:ext cx="1335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SourceFile, content-addressed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315468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agents.document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14016" y="1371600"/>
            <a:ext cx="1737360" cy="2286000"/>
          </a:xfrm>
          <a:prstGeom prst="roundRect">
            <a:avLst>
              <a:gd name="adj" fmla="val 315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12700" dir="5400000">
              <a:srgbClr val="1E276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15184" y="157276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2615184" y="1572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15184" y="2011680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615184" y="2340864"/>
            <a:ext cx="1335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type → ExtractedField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15184" y="315468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agents.document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79392" y="1371600"/>
            <a:ext cx="1737360" cy="2286000"/>
          </a:xfrm>
          <a:prstGeom prst="roundRect">
            <a:avLst>
              <a:gd name="adj" fmla="val 315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127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80560" y="157276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1572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80560" y="2011680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spread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480560" y="2340864"/>
            <a:ext cx="1335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→ structure → SpreadPackage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0560" y="315468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finance · tools.extraction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44768" y="1371600"/>
            <a:ext cx="1737360" cy="2286000"/>
          </a:xfrm>
          <a:prstGeom prst="roundRect">
            <a:avLst>
              <a:gd name="adj" fmla="val 315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12700" dir="5400000">
              <a:srgbClr val="1E2761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45936" y="157276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6345936" y="1572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45936" y="2011680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345936" y="2340864"/>
            <a:ext cx="1335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Exact-decimal recomputation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45936" y="315468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expressions · finance.metrics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010144" y="1371600"/>
            <a:ext cx="1737360" cy="2286000"/>
          </a:xfrm>
          <a:prstGeom prst="roundRect">
            <a:avLst>
              <a:gd name="adj" fmla="val 315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12700" dir="5400000">
              <a:srgbClr val="1E2761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11312" y="157276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8211312" y="1572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11312" y="2011680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211312" y="2340864"/>
            <a:ext cx="1335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detectors, six severities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11312" y="315468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canonical.evidence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875520" y="1371600"/>
            <a:ext cx="1737360" cy="2286000"/>
          </a:xfrm>
          <a:prstGeom prst="roundRect">
            <a:avLst>
              <a:gd name="adj" fmla="val 3158"/>
            </a:avLst>
          </a:prstGeom>
          <a:solidFill>
            <a:srgbClr val="CADCFC"/>
          </a:solidFill>
          <a:ln/>
          <a:effectLst>
            <a:outerShdw sx="100000" sy="100000" kx="0" ky="0" algn="bl" rotWithShape="0" blurRad="101600" dist="12700" dir="5400000">
              <a:srgbClr val="1E2761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076688" y="157276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10076688" y="1572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076688" y="2011680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10076688" y="2340864"/>
            <a:ext cx="1335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 when a blocking finding is open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076688" y="315468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canonical.refusal · authority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48640" y="4069080"/>
            <a:ext cx="11064240" cy="1691640"/>
          </a:xfrm>
          <a:prstGeom prst="roundRect">
            <a:avLst>
              <a:gd name="adj" fmla="val 324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12700" dir="5400000">
              <a:srgbClr val="1E2761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68680" y="42976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pipeline is data, not code.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868680" y="468172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 declared in pipelines.yaml, resolved through the SDK's StepRegistry and run by ConductorEngine. A new segment reorders or swaps steps without touching Python. The lifecycle itself is an SDK StateMachine — illegal transitions return a typed Refusal, not an exception.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 paths above are under jazzx_sdk.  ·  config/packs/…/pipelines.yaml → jazzx_sdk.conductor.StepRegistry → ConductorEngine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ASSERTED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heavily VP-2 leans on the SDK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697480" cy="13716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127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37160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199339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SDK modules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223113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on the spread path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2697480" cy="13716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12700" dir="540000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11880" y="137160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611880" y="199339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statements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11880" y="223113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2697480" cy="13716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12700" dir="5400000">
              <a:srgbClr val="1E2761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137160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446520" y="199339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files on the path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46520" y="223113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of 59 import jazzx_sdk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52560" y="1280160"/>
            <a:ext cx="2697480" cy="13716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12700" dir="5400000">
              <a:srgbClr val="1E2761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81160" y="137160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13,162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281160" y="199339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on the spread path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281160" y="223113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capabilities/ + ci_spread/</a:t>
            </a:r>
            <a:endParaRPr lang="en-US" sz="10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548640" y="2880360"/>
          <a:ext cx="67665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7635240" y="297180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that buys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7635240" y="343814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0"/>
          <p:cNvSpPr/>
          <p:nvPr/>
        </p:nvSpPr>
        <p:spPr>
          <a:xfrm>
            <a:off x="7909560" y="3328416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and confidence on every cell — the XF-1 gate is an SDK assertion, not our convention.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635240" y="4151376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2"/>
          <p:cNvSpPr/>
          <p:nvPr/>
        </p:nvSpPr>
        <p:spPr>
          <a:xfrm>
            <a:off x="7909560" y="4041648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Exact-decimal metrics through the SDK expression DSL, statically validated at pack-load.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635240" y="486460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4"/>
          <p:cNvSpPr/>
          <p:nvPr/>
        </p:nvSpPr>
        <p:spPr>
          <a:xfrm>
            <a:off x="7909560" y="4754880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Authority, refusals and maker-checker from fabric.canonical — governance we did not write.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7635240" y="557784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9" name="Text 26"/>
          <p:cNvSpPr/>
          <p:nvPr/>
        </p:nvSpPr>
        <p:spPr>
          <a:xfrm>
            <a:off x="7909560" y="5468112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export, workbook layout and line vocabulary all delegated to jazzx_sdk.finance.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2026-08-09 over src/jaci/capabilities/ and src/jaci/scenarios/ci_spread/.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LIVES WHERE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layers, and the moat is the middle 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505200" cy="4114800"/>
          </a:xfrm>
          <a:prstGeom prst="roundRect">
            <a:avLst>
              <a:gd name="adj" fmla="val 156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127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554480"/>
            <a:ext cx="1234440" cy="347472"/>
          </a:xfrm>
          <a:prstGeom prst="roundRect">
            <a:avLst>
              <a:gd name="adj" fmla="val 23684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5544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2011680"/>
            <a:ext cx="299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jazzx_sdk — horizontal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1060704" y="2331720"/>
            <a:ext cx="2737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chain: Policy, Evidence, Decision, Trace, Outcome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06324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1060704" y="2953512"/>
            <a:ext cx="2737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Conductor, StepRegistry, StateMachine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68503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1060704" y="3575304"/>
            <a:ext cx="2737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finance: spread schema, vocabulary, workbook, Excel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430682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1060704" y="4197096"/>
            <a:ext cx="2737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expressions DSL · authority · evaluation · agents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04672" y="4937760"/>
            <a:ext cx="2993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across every domain. Nothing lending-specific.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28160" y="1325880"/>
            <a:ext cx="3505200" cy="4114800"/>
          </a:xfrm>
          <a:prstGeom prst="roundRect">
            <a:avLst>
              <a:gd name="adj" fmla="val 156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127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84192" y="1554480"/>
            <a:ext cx="1234440" cy="347472"/>
          </a:xfrm>
          <a:prstGeom prst="roundRect">
            <a:avLst>
              <a:gd name="adj" fmla="val 23684"/>
            </a:avLst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4584192" y="15544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84192" y="2011680"/>
            <a:ext cx="299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config/packs — the moat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02480" y="2441448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4840224" y="2331720"/>
            <a:ext cx="2737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of accounts · metric catalog · add-backs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02480" y="306324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4840224" y="2953512"/>
            <a:ext cx="2737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Reclassifications · break-outs · spread templates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02480" y="368503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4840224" y="3575304"/>
            <a:ext cx="2737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Policies, playbooks, workbook layouts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02480" y="430682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8" name="Text 26"/>
          <p:cNvSpPr/>
          <p:nvPr/>
        </p:nvSpPr>
        <p:spPr>
          <a:xfrm>
            <a:off x="4840224" y="4197096"/>
            <a:ext cx="2737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Per-customer skill overlays (tier 3)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84192" y="4937760"/>
            <a:ext cx="2993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Authored, versioned, certifiable. This is what compounds.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07680" y="1325880"/>
            <a:ext cx="3505200" cy="4114800"/>
          </a:xfrm>
          <a:prstGeom prst="roundRect">
            <a:avLst>
              <a:gd name="adj" fmla="val 156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12700" dir="5400000">
              <a:srgbClr val="1E2761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63712" y="1554480"/>
            <a:ext cx="1234440" cy="347472"/>
          </a:xfrm>
          <a:prstGeom prst="roundRect">
            <a:avLst>
              <a:gd name="adj" fmla="val 23684"/>
            </a:avLst>
          </a:prstGeom>
          <a:solidFill>
            <a:srgbClr val="CADCFC"/>
          </a:solidFill>
          <a:ln/>
        </p:spPr>
      </p:sp>
      <p:sp>
        <p:nvSpPr>
          <p:cNvPr id="32" name="Text 30"/>
          <p:cNvSpPr/>
          <p:nvPr/>
        </p:nvSpPr>
        <p:spPr>
          <a:xfrm>
            <a:off x="8363712" y="15544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63712" y="2011680"/>
            <a:ext cx="299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src/jaci — thin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382000" y="2441448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8619744" y="2331720"/>
            <a:ext cx="2737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manifests + step registration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382000" y="306324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8619744" y="2953512"/>
            <a:ext cx="2737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glue and the demo surfaces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382000" y="368503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8619744" y="3575304"/>
            <a:ext cx="2737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detectors specific to lending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382000" y="430682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8619744" y="4197096"/>
            <a:ext cx="2737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Shrinking as SDK primitives land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363712" y="4937760"/>
            <a:ext cx="2993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keep getting smaller, not bigger.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of the split: a new segment should be pack data plus a capability manifest — not a jaci fork.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by construction, not by review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178308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127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2763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44752" y="16459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Provenance on every cell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44752" y="1975104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value carries a SourceCoordinate back to the document region and a content hash. XF-1 asserts it as a test, not a sample.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394960" cy="178308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1270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62763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14032" y="16459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that means something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14032" y="1975104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how the value was obtained — exact key, alias, label, substring — so the review queue can rank on it.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394960" cy="178308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127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63931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44752" y="36576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before promotion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44752" y="3986784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detectors across six severities, including the four arithmetic controls now live in the governed pipeline.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383280"/>
            <a:ext cx="5394960" cy="178308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127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363931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14032" y="36576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decisions are recorded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14032" y="3986784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Maker-checker over the authority matrix, append-only override lineage, and promotion that never happens on a re-run.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of this is spreading-specific. It is the canonical chain doing its job — which is why the next domain inherits it for free.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real, what is staged, what is not built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505200" cy="3931920"/>
          </a:xfrm>
          <a:prstGeom prst="roundRect">
            <a:avLst>
              <a:gd name="adj" fmla="val 156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127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554480"/>
            <a:ext cx="2993136" cy="329184"/>
          </a:xfrm>
          <a:prstGeom prst="roundRect">
            <a:avLst>
              <a:gd name="adj" fmla="val 25000"/>
            </a:avLst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554480"/>
            <a:ext cx="2993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AND RUNNING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213055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1060704" y="2011680"/>
            <a:ext cx="2737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spread pipeline end-to-end on a real 10-K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78892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1060704" y="2670048"/>
            <a:ext cx="2737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SpreadPackage with provenance on 100% of line items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447288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1060704" y="3328416"/>
            <a:ext cx="2737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validation detectors; four arithmetic controls now wired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105656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1060704" y="3986784"/>
            <a:ext cx="2737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workbook export, review queue, maker-checker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476402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1060704" y="4645152"/>
            <a:ext cx="2737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 reference case reproduces the analyst's LTM column exactly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28160" y="1325880"/>
            <a:ext cx="3505200" cy="3931920"/>
          </a:xfrm>
          <a:prstGeom prst="roundRect">
            <a:avLst>
              <a:gd name="adj" fmla="val 156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127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84192" y="1554480"/>
            <a:ext cx="2993136" cy="329184"/>
          </a:xfrm>
          <a:prstGeom prst="roundRect">
            <a:avLst>
              <a:gd name="adj" fmla="val 25000"/>
            </a:avLst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4584192" y="1554480"/>
            <a:ext cx="2993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FOR THE DEMO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02480" y="213055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4840224" y="2011680"/>
            <a:ext cx="2737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2 and 3 of the demo arc are held pending fixtures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02480" y="278892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4840224" y="2670048"/>
            <a:ext cx="2737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is 4 keys plus a 30-row as-filed table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02480" y="344728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5" name="Text 23"/>
          <p:cNvSpPr/>
          <p:nvPr/>
        </p:nvSpPr>
        <p:spPr>
          <a:xfrm>
            <a:off x="4840224" y="3328416"/>
            <a:ext cx="2737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Per-cell confidence is currently a constant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07680" y="1325880"/>
            <a:ext cx="3505200" cy="3931920"/>
          </a:xfrm>
          <a:prstGeom prst="roundRect">
            <a:avLst>
              <a:gd name="adj" fmla="val 156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12700" dir="5400000">
              <a:srgbClr val="1E2761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363712" y="1554480"/>
            <a:ext cx="2993136" cy="329184"/>
          </a:xfrm>
          <a:prstGeom prst="roundRect">
            <a:avLst>
              <a:gd name="adj" fmla="val 25000"/>
            </a:avLst>
          </a:prstGeom>
          <a:solidFill>
            <a:srgbClr val="5A6480"/>
          </a:solidFill>
          <a:ln/>
        </p:spPr>
      </p:sp>
      <p:sp>
        <p:nvSpPr>
          <p:cNvPr id="28" name="Text 26"/>
          <p:cNvSpPr/>
          <p:nvPr/>
        </p:nvSpPr>
        <p:spPr>
          <a:xfrm>
            <a:off x="8363712" y="1554480"/>
            <a:ext cx="2993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 YET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382000" y="2130552"/>
            <a:ext cx="109728" cy="109728"/>
          </a:xfrm>
          <a:prstGeom prst="ellipse">
            <a:avLst/>
          </a:prstGeom>
          <a:solidFill>
            <a:srgbClr val="5A6480"/>
          </a:solidFill>
          <a:ln/>
        </p:spPr>
      </p:sp>
      <p:sp>
        <p:nvSpPr>
          <p:cNvPr id="30" name="Text 28"/>
          <p:cNvSpPr/>
          <p:nvPr/>
        </p:nvSpPr>
        <p:spPr>
          <a:xfrm>
            <a:off x="8619744" y="2011680"/>
            <a:ext cx="2737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OutputTemplate and TemplateFillAgent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382000" y="2788920"/>
            <a:ext cx="109728" cy="109728"/>
          </a:xfrm>
          <a:prstGeom prst="ellipse">
            <a:avLst/>
          </a:prstGeom>
          <a:solidFill>
            <a:srgbClr val="5A6480"/>
          </a:solidFill>
          <a:ln/>
        </p:spPr>
      </p:sp>
      <p:sp>
        <p:nvSpPr>
          <p:cNvPr id="32" name="Text 30"/>
          <p:cNvSpPr/>
          <p:nvPr/>
        </p:nvSpPr>
        <p:spPr>
          <a:xfrm>
            <a:off x="8619744" y="2670048"/>
            <a:ext cx="2737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Induction from a customer workbook (CLI verb)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382000" y="3447288"/>
            <a:ext cx="109728" cy="109728"/>
          </a:xfrm>
          <a:prstGeom prst="ellipse">
            <a:avLst/>
          </a:prstGeom>
          <a:solidFill>
            <a:srgbClr val="5A6480"/>
          </a:solidFill>
          <a:ln/>
        </p:spPr>
      </p:sp>
      <p:sp>
        <p:nvSpPr>
          <p:cNvPr id="34" name="Text 32"/>
          <p:cNvSpPr/>
          <p:nvPr/>
        </p:nvSpPr>
        <p:spPr>
          <a:xfrm>
            <a:off x="8619744" y="3328416"/>
            <a:ext cx="2737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Skill.applies_to on the SDK Skill model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382000" y="4105656"/>
            <a:ext cx="109728" cy="109728"/>
          </a:xfrm>
          <a:prstGeom prst="ellipse">
            <a:avLst/>
          </a:prstGeom>
          <a:solidFill>
            <a:srgbClr val="5A6480"/>
          </a:solidFill>
          <a:ln/>
        </p:spPr>
      </p:sp>
      <p:sp>
        <p:nvSpPr>
          <p:cNvPr id="36" name="Text 34"/>
          <p:cNvSpPr/>
          <p:nvPr/>
        </p:nvSpPr>
        <p:spPr>
          <a:xfrm>
            <a:off x="8619744" y="3986784"/>
            <a:ext cx="2737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Row-by-row spreading accuracy in the eval harness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this out loud is cheaper than being asked. The two induced templates behind the demo are hand-derived from real customer files — not machine output.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pack is assembled from capabilities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is already a capability, not a scenario. That is the right shape — and it is how the next pack gets built.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25780" y="1783080"/>
            <a:ext cx="1783080" cy="13716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12700" dir="5400000">
              <a:srgbClr val="1E2761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2940" y="19385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document-intake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62940" y="23774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 · classify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62940" y="2743200"/>
            <a:ext cx="1508760" cy="274320"/>
          </a:xfrm>
          <a:prstGeom prst="roundRect">
            <a:avLst>
              <a:gd name="adj" fmla="val 33333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" y="2743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91156" y="1783080"/>
            <a:ext cx="1783080" cy="13716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12700" dir="5400000">
              <a:srgbClr val="1E2761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28316" y="19385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financial-spreading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28316" y="23774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spread · metrics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28316" y="2743200"/>
            <a:ext cx="1508760" cy="274320"/>
          </a:xfrm>
          <a:prstGeom prst="roundRect">
            <a:avLst>
              <a:gd name="adj" fmla="val 33333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2528316" y="2743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256532" y="1783080"/>
            <a:ext cx="1783080" cy="13716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12700" dir="5400000">
              <a:srgbClr val="1E2761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93692" y="19385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credit-validation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393692" y="23774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 · gate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93692" y="2743200"/>
            <a:ext cx="1508760" cy="274320"/>
          </a:xfrm>
          <a:prstGeom prst="roundRect">
            <a:avLst>
              <a:gd name="adj" fmla="val 33333"/>
            </a:avLst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4393692" y="2743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21908" y="1783080"/>
            <a:ext cx="1783080" cy="13716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12700" dir="5400000">
              <a:srgbClr val="1E2761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59068" y="19385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underwriting-decision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59068" y="23774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only, human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259068" y="2743200"/>
            <a:ext cx="1508760" cy="274320"/>
          </a:xfrm>
          <a:prstGeom prst="roundRect">
            <a:avLst>
              <a:gd name="adj" fmla="val 33333"/>
            </a:avLst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6259068" y="2743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987284" y="1783080"/>
            <a:ext cx="1783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1E2761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987284" y="1783080"/>
            <a:ext cx="1783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8A33D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8124444" y="19385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insurance-diligence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124444" y="23774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 · LOE checks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124444" y="2743200"/>
            <a:ext cx="1508760" cy="274320"/>
          </a:xfrm>
          <a:prstGeom prst="roundRect">
            <a:avLst>
              <a:gd name="adj" fmla="val 33333"/>
            </a:avLst>
          </a:prstGeom>
          <a:solidFill>
            <a:srgbClr val="E8A33D"/>
          </a:solidFill>
          <a:ln/>
        </p:spPr>
      </p:sp>
      <p:sp>
        <p:nvSpPr>
          <p:cNvPr id="30" name="Text 28"/>
          <p:cNvSpPr/>
          <p:nvPr/>
        </p:nvSpPr>
        <p:spPr>
          <a:xfrm>
            <a:off x="8124444" y="2743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852660" y="1783080"/>
            <a:ext cx="1783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1E2761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852660" y="1783080"/>
            <a:ext cx="1783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8A33D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9989820" y="19385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989820" y="23774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screening · CDD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9989820" y="2743200"/>
            <a:ext cx="1508760" cy="274320"/>
          </a:xfrm>
          <a:prstGeom prst="roundRect">
            <a:avLst>
              <a:gd name="adj" fmla="val 33333"/>
            </a:avLst>
          </a:prstGeom>
          <a:solidFill>
            <a:srgbClr val="E8A33D"/>
          </a:solidFill>
          <a:ln/>
        </p:spPr>
      </p:sp>
      <p:sp>
        <p:nvSpPr>
          <p:cNvPr id="36" name="Text 34"/>
          <p:cNvSpPr/>
          <p:nvPr/>
        </p:nvSpPr>
        <p:spPr>
          <a:xfrm>
            <a:off x="9989820" y="2743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54880" y="3429000"/>
            <a:ext cx="3749040" cy="457200"/>
          </a:xfrm>
          <a:prstGeom prst="chevron">
            <a:avLst/>
          </a:prstGeom>
          <a:solidFill>
            <a:srgbClr val="CADCFC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3429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depends_on  →  dependency closure  →  one pack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395020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to “should spread be its own scenario?”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as a capability — which it already is — and no as a KYC-style cross-scenario import. Capability manifests with depends_on already resolve a dependency closure; that is the mechanism for crafting a new pack.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48640" y="47365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actually missing for a cleaner demo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48640" y="499262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spread-only demo surface. The ci_spread demo page is a monolith carrying credit analysis and three acts. Splitting the surface is thin work; splitting the capability is already done.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48640" y="552297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48640" y="57790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insurance and KYC to capability manifests; build OutputTemplate + fill agent; deliver Wave 4b induction through it.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291840"/>
            <a:ext cx="4937760" cy="4937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822960"/>
            <a:ext cx="3108960" cy="3108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bank gets its own spread back.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our format with their labels on it — their workbook, their house metrics, their gates, filled by the platform with provenance on every cell.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5120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SDK modules · 73% of the spread path · six declarative pipeline steps · one capability that composes into the next pack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2026-08-09T23:14:14Z</dcterms:created>
  <dcterms:modified xsi:type="dcterms:W3CDTF">2026-08-09T23:14:14Z</dcterms:modified>
</cp:coreProperties>
</file>